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4" r:id="rId9"/>
    <p:sldId id="284" r:id="rId10"/>
    <p:sldId id="265" r:id="rId11"/>
    <p:sldId id="266" r:id="rId12"/>
    <p:sldId id="271" r:id="rId13"/>
    <p:sldId id="272" r:id="rId14"/>
    <p:sldId id="263" r:id="rId15"/>
    <p:sldId id="273" r:id="rId16"/>
    <p:sldId id="274" r:id="rId17"/>
    <p:sldId id="275" r:id="rId18"/>
    <p:sldId id="276" r:id="rId19"/>
    <p:sldId id="268" r:id="rId20"/>
    <p:sldId id="277" r:id="rId21"/>
    <p:sldId id="278" r:id="rId22"/>
    <p:sldId id="279" r:id="rId23"/>
    <p:sldId id="280" r:id="rId24"/>
    <p:sldId id="282" r:id="rId25"/>
    <p:sldId id="283" r:id="rId26"/>
  </p:sldIdLst>
  <p:sldSz cx="18288000" cy="10287000"/>
  <p:notesSz cx="6858000" cy="9144000"/>
  <p:embeddedFontLst>
    <p:embeddedFont>
      <p:font typeface="Arial Bold" panose="020B0704020202020204" pitchFamily="34" charset="0"/>
      <p:bold r:id="rId28"/>
    </p:embeddedFont>
    <p:embeddedFont>
      <p:font typeface="Arial Italics" panose="020B0604020202020204" charset="0"/>
      <p:regular r:id="rId29"/>
    </p:embeddedFont>
    <p:embeddedFont>
      <p:font typeface="Arimo Bold" panose="020B0604020202020204" charset="0"/>
      <p:regular r:id="rId30"/>
    </p:embeddedFont>
    <p:embeddedFont>
      <p:font typeface="Bai Jamjuree" panose="020B0604020202020204" charset="-34"/>
      <p:regular r:id="rId31"/>
    </p:embeddedFont>
    <p:embeddedFont>
      <p:font typeface="Bai Jamjuree Bold" panose="020B0604020202020204" charset="-34"/>
      <p:regular r:id="rId32"/>
    </p:embeddedFont>
    <p:embeddedFont>
      <p:font typeface="Bai Jamjuree Bold Italics" panose="020B0604020202020204" charset="-34"/>
      <p:regular r:id="rId33"/>
    </p:embeddedFont>
    <p:embeddedFont>
      <p:font typeface="Bai Jamjuree Italics" panose="020B0604020202020204" charset="-34"/>
      <p:regular r:id="rId34"/>
    </p:embeddedFont>
    <p:embeddedFont>
      <p:font typeface="Calibri (MS) Bold" panose="020B0604020202020204" charset="0"/>
      <p:regular r:id="rId35"/>
    </p:embeddedFont>
    <p:embeddedFont>
      <p:font typeface="Cambria Math" panose="02040503050406030204" pitchFamily="18" charset="0"/>
      <p:regular r:id="rId36"/>
    </p:embeddedFont>
    <p:embeddedFont>
      <p:font typeface="Noto Sans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7" autoAdjust="0"/>
    <p:restoredTop sz="86389" autoAdjust="0"/>
  </p:normalViewPr>
  <p:slideViewPr>
    <p:cSldViewPr>
      <p:cViewPr varScale="1">
        <p:scale>
          <a:sx n="55" d="100"/>
          <a:sy n="55" d="100"/>
        </p:scale>
        <p:origin x="758" y="62"/>
      </p:cViewPr>
      <p:guideLst>
        <p:guide orient="horz" pos="2160"/>
        <p:guide pos="2880"/>
      </p:guideLst>
    </p:cSldViewPr>
  </p:slideViewPr>
  <p:outlineViewPr>
    <p:cViewPr>
      <p:scale>
        <a:sx n="100" d="100"/>
        <a:sy n="100" d="100"/>
      </p:scale>
      <p:origin x="0" y="-3725"/>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B1A7E-B08A-4014-AB06-66973489612A}"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879788-15E5-4862-BE1D-275CAD03425D}" type="slidenum">
              <a:rPr lang="en-US" smtClean="0"/>
              <a:t>‹#›</a:t>
            </a:fld>
            <a:endParaRPr lang="en-US"/>
          </a:p>
        </p:txBody>
      </p:sp>
    </p:spTree>
    <p:extLst>
      <p:ext uri="{BB962C8B-B14F-4D97-AF65-F5344CB8AC3E}">
        <p14:creationId xmlns:p14="http://schemas.microsoft.com/office/powerpoint/2010/main" val="46702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Đề tài hướng tới một quá trình hoạt động liên tục: </a:t>
            </a:r>
          </a:p>
        </p:txBody>
      </p:sp>
      <p:sp>
        <p:nvSpPr>
          <p:cNvPr id="4" name="Slide Number Placeholder 3"/>
          <p:cNvSpPr>
            <a:spLocks noGrp="1"/>
          </p:cNvSpPr>
          <p:nvPr>
            <p:ph type="sldNum" sz="quarter" idx="5"/>
          </p:nvPr>
        </p:nvSpPr>
        <p:spPr/>
        <p:txBody>
          <a:bodyPr/>
          <a:lstStyle/>
          <a:p>
            <a:fld id="{77879788-15E5-4862-BE1D-275CAD03425D}" type="slidenum">
              <a:rPr lang="en-US" smtClean="0"/>
              <a:t>1</a:t>
            </a:fld>
            <a:endParaRPr lang="en-US"/>
          </a:p>
        </p:txBody>
      </p:sp>
    </p:spTree>
    <p:extLst>
      <p:ext uri="{BB962C8B-B14F-4D97-AF65-F5344CB8AC3E}">
        <p14:creationId xmlns:p14="http://schemas.microsoft.com/office/powerpoint/2010/main" val="35786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Bối cảnh UAV đang là xu hướng phát triển mạnh mẽ</a:t>
            </a:r>
          </a:p>
          <a:p>
            <a:pPr marL="171450" indent="-171450">
              <a:buFontTx/>
              <a:buChar char="-"/>
            </a:pPr>
            <a:r>
              <a:rPr lang="en-US"/>
              <a:t>Sản phẩm công nghệ chiến lược</a:t>
            </a:r>
          </a:p>
          <a:p>
            <a:pPr marL="171450" indent="-171450">
              <a:buFontTx/>
              <a:buChar char="-"/>
            </a:pPr>
            <a:r>
              <a:rPr lang="en-US"/>
              <a:t>Nắm công nghệ lõi là định hướng vô cùng quan trọng</a:t>
            </a:r>
          </a:p>
          <a:p>
            <a:pPr marL="171450" indent="-171450">
              <a:buFontTx/>
              <a:buChar char="-"/>
            </a:pPr>
            <a:r>
              <a:rPr lang="en-US" sz="1200" b="0" i="0" kern="1200">
                <a:solidFill>
                  <a:schemeClr val="tx1"/>
                </a:solidFill>
                <a:effectLst/>
                <a:latin typeface="+mn-lt"/>
                <a:ea typeface="+mn-ea"/>
                <a:cs typeface="+mn-cs"/>
              </a:rPr>
              <a:t>Theo Quyết định 2815 của thủ tướng chính phủ về khoa học, công nghệ và đổi mới sáng tạo quốc gia năm 2025,</a:t>
            </a:r>
            <a:endParaRPr lang="en-US"/>
          </a:p>
          <a:p>
            <a:pPr marL="171450" indent="-171450">
              <a:buFontTx/>
              <a:buChar char="-"/>
            </a:pPr>
            <a:r>
              <a:rPr lang="en-US"/>
              <a:t>Hiện nay nhu cầu sử dụng UAV từ Giám sát – Log – Trạm sạc, </a:t>
            </a:r>
          </a:p>
          <a:p>
            <a:pPr marL="171450" indent="-171450">
              <a:buFontTx/>
              <a:buChar char="-"/>
            </a:pPr>
            <a:r>
              <a:rPr lang="en-US"/>
              <a:t>Chính từ nhu cầu đó, đề tài cụ thể hóa thành bài toán thành tự tiếp cận, né vật cản và hạ cánh trên bãi đáp di động</a:t>
            </a:r>
          </a:p>
        </p:txBody>
      </p:sp>
      <p:sp>
        <p:nvSpPr>
          <p:cNvPr id="4" name="Slide Number Placeholder 3"/>
          <p:cNvSpPr>
            <a:spLocks noGrp="1"/>
          </p:cNvSpPr>
          <p:nvPr>
            <p:ph type="sldNum" sz="quarter" idx="5"/>
          </p:nvPr>
        </p:nvSpPr>
        <p:spPr/>
        <p:txBody>
          <a:bodyPr/>
          <a:lstStyle/>
          <a:p>
            <a:fld id="{77879788-15E5-4862-BE1D-275CAD03425D}" type="slidenum">
              <a:rPr lang="en-US" smtClean="0"/>
              <a:t>2</a:t>
            </a:fld>
            <a:endParaRPr lang="en-US"/>
          </a:p>
        </p:txBody>
      </p:sp>
    </p:spTree>
    <p:extLst>
      <p:ext uri="{BB962C8B-B14F-4D97-AF65-F5344CB8AC3E}">
        <p14:creationId xmlns:p14="http://schemas.microsoft.com/office/powerpoint/2010/main" val="106323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Để thực hiện được nhiệm vụ vừa nêu, trước hết UAV phải duy trì thông tin về bãi đáp trong khi bãi đáp liên tục thay đổi vị trí, khi mục tiêu tạm thời bị che khuất, hệ thống vẫn cần tiếp tục ước lượng để hỗ trợ quá trình bám.</a:t>
            </a:r>
          </a:p>
          <a:p>
            <a:r>
              <a:rPr lang="en-US"/>
              <a:t>Tuy nhiên, biết mục tiêu ở đâu mới là bước đầu. Trên đường tiếp cận, UAV còn phải tránh vật cản trong không gian ba chiều. Sau khi vượt qua các vật cản và đến gần bãi đáp, yêu cầu chuyển sang kiểm soát vị trí để hạ cánh với sai số nhỏ.</a:t>
            </a:r>
          </a:p>
          <a:p>
            <a:pPr marL="171450" indent="-171450">
              <a:buFontTx/>
              <a:buChar char="-"/>
            </a:pPr>
            <a:r>
              <a:rPr lang="en-US"/>
              <a:t>Ba yêu cầu này được đánh giá dựa trên bốn tiêu chí: </a:t>
            </a:r>
          </a:p>
          <a:p>
            <a:pPr marL="171450" indent="-171450">
              <a:buFontTx/>
              <a:buChar char="-"/>
            </a:pPr>
            <a:r>
              <a:rPr lang="en-US"/>
              <a:t>Khi đặt những yêu cầu này trong cùng một quá trình hoạt động, các hạn chế của những giải pháp truyền thống bắt đầu bộc lộ. </a:t>
            </a:r>
          </a:p>
          <a:p>
            <a:pPr marL="171450" indent="-171450">
              <a:buFontTx/>
              <a:buChar char="-"/>
            </a:pPr>
            <a:r>
              <a:rPr lang="en-US"/>
              <a:t>Dọc 59 độ, ngang 87 độ</a:t>
            </a:r>
          </a:p>
        </p:txBody>
      </p:sp>
      <p:sp>
        <p:nvSpPr>
          <p:cNvPr id="4" name="Slide Number Placeholder 3"/>
          <p:cNvSpPr>
            <a:spLocks noGrp="1"/>
          </p:cNvSpPr>
          <p:nvPr>
            <p:ph type="sldNum" sz="quarter" idx="5"/>
          </p:nvPr>
        </p:nvSpPr>
        <p:spPr/>
        <p:txBody>
          <a:bodyPr/>
          <a:lstStyle/>
          <a:p>
            <a:fld id="{77879788-15E5-4862-BE1D-275CAD03425D}" type="slidenum">
              <a:rPr lang="en-US" smtClean="0"/>
              <a:t>3</a:t>
            </a:fld>
            <a:endParaRPr lang="en-US"/>
          </a:p>
        </p:txBody>
      </p:sp>
    </p:spTree>
    <p:extLst>
      <p:ext uri="{BB962C8B-B14F-4D97-AF65-F5344CB8AC3E}">
        <p14:creationId xmlns:p14="http://schemas.microsoft.com/office/powerpoint/2010/main" val="2658212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Khó khăn đầu tiên nằm ở độ chính xác của 1 số loại định vị: GPS, Baro.</a:t>
            </a:r>
          </a:p>
          <a:p>
            <a:pPr marL="171450" indent="-171450">
              <a:buFontTx/>
              <a:buChar char="-"/>
            </a:pPr>
            <a:r>
              <a:rPr lang="en-US"/>
              <a:t>Bên cạnh đó, Sử dụng 1 marker trên bãi đáp khiến marker tràn FOV khi hạ thấp và UAV bị mù khi bay cao</a:t>
            </a:r>
          </a:p>
          <a:p>
            <a:pPr marL="171450" indent="-171450">
              <a:buFontTx/>
              <a:buChar char="-"/>
            </a:pPr>
            <a:r>
              <a:rPr lang="en-US"/>
              <a:t>Ngay cả khi đã có thông tin mục tiêu, thuật toán dẫn đường truyền thống vẫn có thể gặp khó khăn, nguy cơ mắc kẹt hoặc khó tiếp cận đích khi đích nằm gần vật cản.</a:t>
            </a:r>
          </a:p>
          <a:p>
            <a:r>
              <a:rPr lang="en-US"/>
              <a:t>-   Để khắc phục được 4 nhược điểm, nhóm nghiên cứu đề xuất giải pháp mới phối hợp nhiều khối chức năng</a:t>
            </a:r>
          </a:p>
        </p:txBody>
      </p:sp>
      <p:sp>
        <p:nvSpPr>
          <p:cNvPr id="4" name="Slide Number Placeholder 3"/>
          <p:cNvSpPr>
            <a:spLocks noGrp="1"/>
          </p:cNvSpPr>
          <p:nvPr>
            <p:ph type="sldNum" sz="quarter" idx="5"/>
          </p:nvPr>
        </p:nvSpPr>
        <p:spPr/>
        <p:txBody>
          <a:bodyPr/>
          <a:lstStyle/>
          <a:p>
            <a:fld id="{77879788-15E5-4862-BE1D-275CAD03425D}" type="slidenum">
              <a:rPr lang="en-US" smtClean="0"/>
              <a:t>4</a:t>
            </a:fld>
            <a:endParaRPr lang="en-US"/>
          </a:p>
        </p:txBody>
      </p:sp>
    </p:spTree>
    <p:extLst>
      <p:ext uri="{BB962C8B-B14F-4D97-AF65-F5344CB8AC3E}">
        <p14:creationId xmlns:p14="http://schemas.microsoft.com/office/powerpoint/2010/main" val="775892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Điểm nhấn của giải pháp được đề xuất nằm ở việc hệ thống: </a:t>
            </a:r>
          </a:p>
          <a:p>
            <a:pPr marL="171450" indent="-171450">
              <a:buFontTx/>
              <a:buChar char="-"/>
            </a:pPr>
            <a:endParaRPr lang="en-US"/>
          </a:p>
        </p:txBody>
      </p:sp>
      <p:sp>
        <p:nvSpPr>
          <p:cNvPr id="4" name="Slide Number Placeholder 3"/>
          <p:cNvSpPr>
            <a:spLocks noGrp="1"/>
          </p:cNvSpPr>
          <p:nvPr>
            <p:ph type="sldNum" sz="quarter" idx="5"/>
          </p:nvPr>
        </p:nvSpPr>
        <p:spPr/>
        <p:txBody>
          <a:bodyPr/>
          <a:lstStyle/>
          <a:p>
            <a:fld id="{77879788-15E5-4862-BE1D-275CAD03425D}" type="slidenum">
              <a:rPr lang="en-US" smtClean="0"/>
              <a:t>5</a:t>
            </a:fld>
            <a:endParaRPr lang="en-US"/>
          </a:p>
        </p:txBody>
      </p:sp>
    </p:spTree>
    <p:extLst>
      <p:ext uri="{BB962C8B-B14F-4D97-AF65-F5344CB8AC3E}">
        <p14:creationId xmlns:p14="http://schemas.microsoft.com/office/powerpoint/2010/main" val="1310945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Quá trình bắt đầu khi camera phát hiện marker trên bãi đáp. Từ vị trí marker trong ảnh, IBVS </a:t>
            </a:r>
          </a:p>
          <a:p>
            <a:pPr marL="171450" indent="-171450">
              <a:buFontTx/>
              <a:buChar char="-"/>
            </a:pPr>
            <a:r>
              <a:rPr lang="en-US"/>
              <a:t>Tuy nhiên, để tính đường bay, hệ thống còn cần biết vị trí tương đối giữa UAV và bãi đáp. Đây là vai trò của marker-relative:</a:t>
            </a:r>
          </a:p>
          <a:p>
            <a:pPr marL="171450" indent="-171450">
              <a:buFontTx/>
              <a:buChar char="-"/>
            </a:pPr>
            <a:r>
              <a:rPr lang="en-US"/>
              <a:t>Thông tin này được đưa vào EKF để ước lượng trạng thái mục tiêu. </a:t>
            </a:r>
          </a:p>
        </p:txBody>
      </p:sp>
      <p:sp>
        <p:nvSpPr>
          <p:cNvPr id="4" name="Slide Number Placeholder 3"/>
          <p:cNvSpPr>
            <a:spLocks noGrp="1"/>
          </p:cNvSpPr>
          <p:nvPr>
            <p:ph type="sldNum" sz="quarter" idx="5"/>
          </p:nvPr>
        </p:nvSpPr>
        <p:spPr/>
        <p:txBody>
          <a:bodyPr/>
          <a:lstStyle/>
          <a:p>
            <a:fld id="{77879788-15E5-4862-BE1D-275CAD03425D}" type="slidenum">
              <a:rPr lang="en-US" smtClean="0"/>
              <a:t>6</a:t>
            </a:fld>
            <a:endParaRPr lang="en-US"/>
          </a:p>
        </p:txBody>
      </p:sp>
    </p:spTree>
    <p:extLst>
      <p:ext uri="{BB962C8B-B14F-4D97-AF65-F5344CB8AC3E}">
        <p14:creationId xmlns:p14="http://schemas.microsoft.com/office/powerpoint/2010/main" val="334689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Từ trạng thái mục tiêu đã được ước lượng, hệ thống cần quyết định UAV nên bay theo hướng nào để tiếp cận an toàn.</a:t>
            </a:r>
          </a:p>
          <a:p>
            <a:pPr marL="171450" indent="-171450">
              <a:buFontTx/>
              <a:buChar char="-"/>
            </a:pPr>
            <a:r>
              <a:rPr lang="en-US"/>
              <a:t>Ở giai đoạn tiếp cận, I-APF kết hợp lực hút hướng về bãi đáp với lực đẩy ra xa vật cản. Hướng bay tổng hợp vì thế vừa hướng tới mục tiêu, vừa giúp UAV tránh chướng ngại trong không gian ba chiều. Các cải tiến tập trung xử lý những hạn chế đã nêu, gồm tình huống bị kẹt và dao động khi mục tiêu nằm gần vật cản.</a:t>
            </a:r>
          </a:p>
          <a:p>
            <a:pPr marL="171450" indent="-171450">
              <a:buFontTx/>
              <a:buChar char="-"/>
            </a:pPr>
            <a:r>
              <a:rPr lang="en-US"/>
              <a:t>Khi UAV đến vùng tiếp cận, đáp ứng điều kiện cho phép hạ cánh và có lệnh hạ cánh từ GCS, nhiệm vụ chuyển sang dẫn đường xuống bãi đáp. Lúc này, thuật toán điều khiển trượt SMC dẫn UAV tiếp cận theo góc định trước và hướng tới hạ cánh mềm.</a:t>
            </a:r>
          </a:p>
        </p:txBody>
      </p:sp>
      <p:sp>
        <p:nvSpPr>
          <p:cNvPr id="4" name="Slide Number Placeholder 3"/>
          <p:cNvSpPr>
            <a:spLocks noGrp="1"/>
          </p:cNvSpPr>
          <p:nvPr>
            <p:ph type="sldNum" sz="quarter" idx="5"/>
          </p:nvPr>
        </p:nvSpPr>
        <p:spPr/>
        <p:txBody>
          <a:bodyPr/>
          <a:lstStyle/>
          <a:p>
            <a:fld id="{77879788-15E5-4862-BE1D-275CAD03425D}" type="slidenum">
              <a:rPr lang="en-US" smtClean="0"/>
              <a:t>7</a:t>
            </a:fld>
            <a:endParaRPr lang="en-US"/>
          </a:p>
        </p:txBody>
      </p:sp>
    </p:spTree>
    <p:extLst>
      <p:ext uri="{BB962C8B-B14F-4D97-AF65-F5344CB8AC3E}">
        <p14:creationId xmlns:p14="http://schemas.microsoft.com/office/powerpoint/2010/main" val="1979457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Để đánh giá hiệu quả của thuật toán, bước kiểm chứng đầu tiên được thực hiện trên MATLAB và Simulink.”</a:t>
            </a:r>
          </a:p>
          <a:p>
            <a:pPr marL="171450" indent="-171450">
              <a:buFontTx/>
              <a:buChar char="-"/>
            </a:pPr>
            <a:r>
              <a:rPr lang="en-US"/>
              <a:t>Ở bước này, thuật toán được đặt trong một kịch bản mô phỏng có vị trí xuất phát, mục tiêu và các vật cản được xác định trước.</a:t>
            </a:r>
          </a:p>
          <a:p>
            <a:pPr marL="171450" indent="-171450">
              <a:buFontTx/>
              <a:buChar char="-"/>
            </a:pPr>
            <a:r>
              <a:rPr lang="en-US"/>
              <a:t>Mô phỏng cho thấy, UAV đã thực hiện được 2 pha né vật cản và hạ cánh lên bãi đáp, chứng tỏ được tính khả thi của thuật toán</a:t>
            </a:r>
          </a:p>
        </p:txBody>
      </p:sp>
      <p:sp>
        <p:nvSpPr>
          <p:cNvPr id="4" name="Slide Number Placeholder 3"/>
          <p:cNvSpPr>
            <a:spLocks noGrp="1"/>
          </p:cNvSpPr>
          <p:nvPr>
            <p:ph type="sldNum" sz="quarter" idx="5"/>
          </p:nvPr>
        </p:nvSpPr>
        <p:spPr/>
        <p:txBody>
          <a:bodyPr/>
          <a:lstStyle/>
          <a:p>
            <a:fld id="{77879788-15E5-4862-BE1D-275CAD03425D}" type="slidenum">
              <a:rPr lang="en-US" smtClean="0"/>
              <a:t>8</a:t>
            </a:fld>
            <a:endParaRPr lang="en-US"/>
          </a:p>
        </p:txBody>
      </p:sp>
    </p:spTree>
    <p:extLst>
      <p:ext uri="{BB962C8B-B14F-4D97-AF65-F5344CB8AC3E}">
        <p14:creationId xmlns:p14="http://schemas.microsoft.com/office/powerpoint/2010/main" val="134331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Tuy nhiên việc mô phỏng trên Simulink là chưa đủ khi cần kiểm tra thuật toán Ước lượng trạng thái mục tiêu bằng camera, nhóm nghiên cứu đã tiến hành mô phỏng trên gazebo</a:t>
            </a:r>
          </a:p>
          <a:p>
            <a:pPr marL="171450" indent="-171450">
              <a:buFontTx/>
              <a:buChar char="-"/>
            </a:pPr>
            <a:r>
              <a:rPr lang="en-US"/>
              <a:t>Trong môi trường mô phỏng tích hợp, kết quả được đánh giá dựa trên 4 tiêu chí được đặt ra ban đầu</a:t>
            </a:r>
          </a:p>
        </p:txBody>
      </p:sp>
      <p:sp>
        <p:nvSpPr>
          <p:cNvPr id="4" name="Slide Number Placeholder 3"/>
          <p:cNvSpPr>
            <a:spLocks noGrp="1"/>
          </p:cNvSpPr>
          <p:nvPr>
            <p:ph type="sldNum" sz="quarter" idx="5"/>
          </p:nvPr>
        </p:nvSpPr>
        <p:spPr/>
        <p:txBody>
          <a:bodyPr/>
          <a:lstStyle/>
          <a:p>
            <a:fld id="{77879788-15E5-4862-BE1D-275CAD03425D}" type="slidenum">
              <a:rPr lang="en-US" smtClean="0"/>
              <a:t>9</a:t>
            </a:fld>
            <a:endParaRPr lang="en-US"/>
          </a:p>
        </p:txBody>
      </p:sp>
    </p:spTree>
    <p:extLst>
      <p:ext uri="{BB962C8B-B14F-4D97-AF65-F5344CB8AC3E}">
        <p14:creationId xmlns:p14="http://schemas.microsoft.com/office/powerpoint/2010/main" val="3269437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Trên phương tiện thực nghiệm, luồng xử lý được giữ tương ứng với kiến trúc đã trình bày.</a:t>
            </a:r>
          </a:p>
        </p:txBody>
      </p:sp>
      <p:sp>
        <p:nvSpPr>
          <p:cNvPr id="4" name="Slide Number Placeholder 3"/>
          <p:cNvSpPr>
            <a:spLocks noGrp="1"/>
          </p:cNvSpPr>
          <p:nvPr>
            <p:ph type="sldNum" sz="quarter" idx="5"/>
          </p:nvPr>
        </p:nvSpPr>
        <p:spPr/>
        <p:txBody>
          <a:bodyPr/>
          <a:lstStyle/>
          <a:p>
            <a:fld id="{77879788-15E5-4862-BE1D-275CAD03425D}" type="slidenum">
              <a:rPr lang="en-US" smtClean="0"/>
              <a:t>10</a:t>
            </a:fld>
            <a:endParaRPr lang="en-US"/>
          </a:p>
        </p:txBody>
      </p:sp>
    </p:spTree>
    <p:extLst>
      <p:ext uri="{BB962C8B-B14F-4D97-AF65-F5344CB8AC3E}">
        <p14:creationId xmlns:p14="http://schemas.microsoft.com/office/powerpoint/2010/main" val="1329514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Dựa trên tình hình thực tế và khối lượng nghiên cứu, tiến độ dự án được chia thành ba giai đoạn.</a:t>
            </a:r>
          </a:p>
        </p:txBody>
      </p:sp>
      <p:sp>
        <p:nvSpPr>
          <p:cNvPr id="4" name="Slide Number Placeholder 3"/>
          <p:cNvSpPr>
            <a:spLocks noGrp="1"/>
          </p:cNvSpPr>
          <p:nvPr>
            <p:ph type="sldNum" sz="quarter" idx="5"/>
          </p:nvPr>
        </p:nvSpPr>
        <p:spPr/>
        <p:txBody>
          <a:bodyPr/>
          <a:lstStyle/>
          <a:p>
            <a:fld id="{77879788-15E5-4862-BE1D-275CAD03425D}" type="slidenum">
              <a:rPr lang="en-US" smtClean="0"/>
              <a:t>11</a:t>
            </a:fld>
            <a:endParaRPr lang="en-US"/>
          </a:p>
        </p:txBody>
      </p:sp>
    </p:spTree>
    <p:extLst>
      <p:ext uri="{BB962C8B-B14F-4D97-AF65-F5344CB8AC3E}">
        <p14:creationId xmlns:p14="http://schemas.microsoft.com/office/powerpoint/2010/main" val="3312121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gif"/><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drive.google.com/file/d/1-ZHhWaltxNlgP1ezshKnG-0mXzImPalj/view?usp=sharing" TargetMode="Externa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3.jpeg"/><Relationship Id="rId7" Type="http://schemas.openxmlformats.org/officeDocument/2006/relationships/image" Target="../media/image160.pn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00.png"/><Relationship Id="rId5" Type="http://schemas.openxmlformats.org/officeDocument/2006/relationships/image" Target="../media/image140.png"/><Relationship Id="rId10" Type="http://schemas.openxmlformats.org/officeDocument/2006/relationships/image" Target="../media/image190.png"/><Relationship Id="rId4" Type="http://schemas.openxmlformats.org/officeDocument/2006/relationships/image" Target="../media/image13.png"/><Relationship Id="rId9" Type="http://schemas.openxmlformats.org/officeDocument/2006/relationships/image" Target="../media/image180.pn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3.jpeg"/><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16.jpeg"/><Relationship Id="rId16"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jpeg"/><Relationship Id="rId9" Type="http://schemas.openxmlformats.org/officeDocument/2006/relationships/image" Target="../media/image36.png"/><Relationship Id="rId14" Type="http://schemas.openxmlformats.org/officeDocument/2006/relationships/image" Target="../media/image41.png"/></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20.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49.jpeg"/></Relationships>
</file>

<file path=ppt/slides/_rels/slide2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6002000" y="9318508"/>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6" name="Group 6"/>
          <p:cNvGrpSpPr/>
          <p:nvPr/>
        </p:nvGrpSpPr>
        <p:grpSpPr>
          <a:xfrm>
            <a:off x="0" y="0"/>
            <a:ext cx="18287543" cy="10287000"/>
            <a:chOff x="0" y="0"/>
            <a:chExt cx="24383390" cy="13716000"/>
          </a:xfrm>
        </p:grpSpPr>
        <p:sp>
          <p:nvSpPr>
            <p:cNvPr id="7" name="Freeform 7" descr="_cover_bg.jp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4"/>
              <a:stretch>
                <a:fillRect l="-382" r="-382"/>
              </a:stretch>
            </a:blipFill>
          </p:spPr>
          <p:txBody>
            <a:bodyPr/>
            <a:lstStyle/>
            <a:p>
              <a:endParaRPr lang="en-US"/>
            </a:p>
          </p:txBody>
        </p:sp>
      </p:grpSp>
      <p:sp>
        <p:nvSpPr>
          <p:cNvPr id="8" name="AutoShape 8"/>
          <p:cNvSpPr/>
          <p:nvPr/>
        </p:nvSpPr>
        <p:spPr>
          <a:xfrm rot="8520">
            <a:off x="1222515" y="1984058"/>
            <a:ext cx="9625041" cy="0"/>
          </a:xfrm>
          <a:prstGeom prst="line">
            <a:avLst/>
          </a:prstGeom>
          <a:ln w="9525" cap="rnd">
            <a:solidFill>
              <a:srgbClr val="FFFFFF"/>
            </a:solidFill>
            <a:prstDash val="solid"/>
            <a:headEnd type="none" w="sm" len="sm"/>
            <a:tailEnd type="none" w="sm" len="sm"/>
          </a:ln>
        </p:spPr>
        <p:txBody>
          <a:bodyPr/>
          <a:lstStyle/>
          <a:p>
            <a:endParaRPr lang="en-US"/>
          </a:p>
        </p:txBody>
      </p:sp>
      <p:sp>
        <p:nvSpPr>
          <p:cNvPr id="9" name="AutoShape 9"/>
          <p:cNvSpPr/>
          <p:nvPr/>
        </p:nvSpPr>
        <p:spPr>
          <a:xfrm>
            <a:off x="1222518" y="4778421"/>
            <a:ext cx="9625012" cy="23854"/>
          </a:xfrm>
          <a:prstGeom prst="line">
            <a:avLst/>
          </a:prstGeom>
          <a:ln w="9525" cap="rnd">
            <a:solidFill>
              <a:srgbClr val="FFFFFF"/>
            </a:solidFill>
            <a:prstDash val="solid"/>
            <a:headEnd type="none" w="sm" len="sm"/>
            <a:tailEnd type="none" w="sm" len="sm"/>
          </a:ln>
        </p:spPr>
        <p:txBody>
          <a:bodyPr/>
          <a:lstStyle/>
          <a:p>
            <a:endParaRPr lang="en-US"/>
          </a:p>
        </p:txBody>
      </p:sp>
      <p:sp>
        <p:nvSpPr>
          <p:cNvPr id="10" name="TextBox 10"/>
          <p:cNvSpPr txBox="1"/>
          <p:nvPr/>
        </p:nvSpPr>
        <p:spPr>
          <a:xfrm>
            <a:off x="1121664" y="7675354"/>
            <a:ext cx="9802368" cy="869950"/>
          </a:xfrm>
          <a:prstGeom prst="rect">
            <a:avLst/>
          </a:prstGeom>
        </p:spPr>
        <p:txBody>
          <a:bodyPr lIns="0" tIns="0" rIns="0" bIns="0" rtlCol="0" anchor="t">
            <a:spAutoFit/>
          </a:bodyPr>
          <a:lstStyle/>
          <a:p>
            <a:pPr algn="just">
              <a:lnSpc>
                <a:spcPts val="3499"/>
              </a:lnSpc>
            </a:pPr>
            <a:r>
              <a:rPr lang="en-US" sz="2499" b="1">
                <a:solidFill>
                  <a:srgbClr val="FFFFFF"/>
                </a:solidFill>
                <a:latin typeface="Arial Bold"/>
                <a:ea typeface="Arial Bold"/>
                <a:cs typeface="Arial Bold"/>
                <a:sym typeface="Arial Bold"/>
              </a:rPr>
              <a:t>Đơn vị:</a:t>
            </a:r>
            <a:r>
              <a:rPr lang="en-US" sz="2499">
                <a:solidFill>
                  <a:srgbClr val="FFFFFF"/>
                </a:solidFill>
                <a:latin typeface="Arial"/>
                <a:ea typeface="Arial"/>
                <a:cs typeface="Arial"/>
                <a:sym typeface="Arial"/>
              </a:rPr>
              <a:t> Trung tâm C3, Tổng công ty Hàng không Vũ trụ Viettel</a:t>
            </a:r>
          </a:p>
          <a:p>
            <a:pPr algn="just">
              <a:lnSpc>
                <a:spcPts val="3499"/>
              </a:lnSpc>
            </a:pPr>
            <a:r>
              <a:rPr lang="en-US" sz="2499" b="1">
                <a:solidFill>
                  <a:srgbClr val="FFFFFF"/>
                </a:solidFill>
                <a:latin typeface="Arial Bold"/>
                <a:ea typeface="Arial Bold"/>
                <a:cs typeface="Arial Bold"/>
                <a:sym typeface="Arial Bold"/>
              </a:rPr>
              <a:t>Người trình bày</a:t>
            </a:r>
            <a:r>
              <a:rPr lang="en-US" sz="2499">
                <a:solidFill>
                  <a:srgbClr val="FFFFFF"/>
                </a:solidFill>
                <a:latin typeface="Arial"/>
                <a:ea typeface="Arial"/>
                <a:cs typeface="Arial"/>
                <a:sym typeface="Arial"/>
              </a:rPr>
              <a:t>: Võ Bá Phạm Tuân</a:t>
            </a:r>
          </a:p>
        </p:txBody>
      </p:sp>
      <p:sp>
        <p:nvSpPr>
          <p:cNvPr id="11" name="TextBox 11"/>
          <p:cNvSpPr txBox="1"/>
          <p:nvPr/>
        </p:nvSpPr>
        <p:spPr>
          <a:xfrm>
            <a:off x="1121664" y="2270504"/>
            <a:ext cx="11461927" cy="3316607"/>
          </a:xfrm>
          <a:prstGeom prst="rect">
            <a:avLst/>
          </a:prstGeom>
        </p:spPr>
        <p:txBody>
          <a:bodyPr lIns="0" tIns="0" rIns="0" bIns="0" rtlCol="0" anchor="t">
            <a:spAutoFit/>
          </a:bodyPr>
          <a:lstStyle/>
          <a:p>
            <a:pPr algn="l">
              <a:lnSpc>
                <a:spcPts val="8835"/>
              </a:lnSpc>
            </a:pPr>
            <a:r>
              <a:rPr lang="en-US" sz="6310" b="1">
                <a:solidFill>
                  <a:srgbClr val="FFFFFF"/>
                </a:solidFill>
                <a:latin typeface="Noto Sans Bold"/>
                <a:ea typeface="Noto Sans Bold"/>
                <a:cs typeface="Noto Sans Bold"/>
                <a:sym typeface="Noto Sans Bold"/>
              </a:rPr>
              <a:t>QUADROTOR TỰ HÀNH</a:t>
            </a:r>
          </a:p>
          <a:p>
            <a:pPr algn="l">
              <a:lnSpc>
                <a:spcPts val="8835"/>
              </a:lnSpc>
            </a:pPr>
            <a:r>
              <a:rPr lang="en-US" sz="6310" b="1">
                <a:solidFill>
                  <a:srgbClr val="FFFFFF"/>
                </a:solidFill>
                <a:latin typeface="Noto Sans Bold"/>
                <a:ea typeface="Noto Sans Bold"/>
                <a:cs typeface="Noto Sans Bold"/>
                <a:sym typeface="Noto Sans Bold"/>
              </a:rPr>
              <a:t>VỚI MỘT CAMERA ĐA NHIỆM</a:t>
            </a:r>
          </a:p>
          <a:p>
            <a:pPr algn="l">
              <a:lnSpc>
                <a:spcPts val="8835"/>
              </a:lnSpc>
            </a:pPr>
            <a:endParaRPr lang="en-US" sz="6310" b="1">
              <a:solidFill>
                <a:srgbClr val="FFFFFF"/>
              </a:solidFill>
              <a:latin typeface="Noto Sans Bold"/>
              <a:ea typeface="Noto Sans Bold"/>
              <a:cs typeface="Noto Sans Bold"/>
              <a:sym typeface="Noto Sans Bold"/>
            </a:endParaRPr>
          </a:p>
        </p:txBody>
      </p:sp>
      <p:sp>
        <p:nvSpPr>
          <p:cNvPr id="12" name="TextBox 12"/>
          <p:cNvSpPr txBox="1"/>
          <p:nvPr/>
        </p:nvSpPr>
        <p:spPr>
          <a:xfrm>
            <a:off x="1121664" y="5114925"/>
            <a:ext cx="8327136" cy="1000125"/>
          </a:xfrm>
          <a:prstGeom prst="rect">
            <a:avLst/>
          </a:prstGeom>
        </p:spPr>
        <p:txBody>
          <a:bodyPr wrap="square" lIns="0" tIns="0" rIns="0" bIns="0" rtlCol="0" anchor="t">
            <a:spAutoFit/>
          </a:bodyPr>
          <a:lstStyle/>
          <a:p>
            <a:pPr algn="l">
              <a:lnSpc>
                <a:spcPts val="3840"/>
              </a:lnSpc>
              <a:spcBef>
                <a:spcPct val="0"/>
              </a:spcBef>
            </a:pPr>
            <a:r>
              <a:rPr lang="en-US" sz="3200">
                <a:solidFill>
                  <a:srgbClr val="FFFFFF"/>
                </a:solidFill>
                <a:latin typeface="Arial"/>
                <a:ea typeface="Arial"/>
                <a:cs typeface="Arial"/>
                <a:sym typeface="Arial"/>
              </a:rPr>
              <a:t>BÁM MỤC TIÊU DI ĐỘNG · NÉ VẬT CẢN 3D</a:t>
            </a:r>
          </a:p>
          <a:p>
            <a:pPr algn="l">
              <a:lnSpc>
                <a:spcPts val="3840"/>
              </a:lnSpc>
              <a:spcBef>
                <a:spcPct val="0"/>
              </a:spcBef>
            </a:pPr>
            <a:r>
              <a:rPr lang="en-US" sz="3200">
                <a:solidFill>
                  <a:srgbClr val="FFFFFF"/>
                </a:solidFill>
                <a:latin typeface="Arial"/>
                <a:ea typeface="Arial"/>
                <a:cs typeface="Arial"/>
                <a:sym typeface="Arial"/>
              </a:rPr>
              <a:t>HẠ CÁNH CHÍNH XÁC TRÊN BÃI ĐÁP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5969258" y="9318508"/>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6" name="Group 6"/>
          <p:cNvGrpSpPr/>
          <p:nvPr/>
        </p:nvGrpSpPr>
        <p:grpSpPr>
          <a:xfrm>
            <a:off x="-19050" y="-38100"/>
            <a:ext cx="18326100" cy="1371324"/>
            <a:chOff x="0" y="0"/>
            <a:chExt cx="24434800" cy="1828432"/>
          </a:xfrm>
        </p:grpSpPr>
        <p:sp>
          <p:nvSpPr>
            <p:cNvPr id="7" name="Freeform 7"/>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8" name="Group 8"/>
          <p:cNvGrpSpPr/>
          <p:nvPr/>
        </p:nvGrpSpPr>
        <p:grpSpPr>
          <a:xfrm>
            <a:off x="29594" y="0"/>
            <a:ext cx="9465469" cy="1112891"/>
            <a:chOff x="0" y="0"/>
            <a:chExt cx="12620625" cy="1483855"/>
          </a:xfrm>
        </p:grpSpPr>
        <p:sp>
          <p:nvSpPr>
            <p:cNvPr id="9" name="Freeform 9"/>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0" name="Group 10"/>
          <p:cNvGrpSpPr/>
          <p:nvPr/>
        </p:nvGrpSpPr>
        <p:grpSpPr>
          <a:xfrm>
            <a:off x="29594" y="0"/>
            <a:ext cx="1612373" cy="1112891"/>
            <a:chOff x="0" y="0"/>
            <a:chExt cx="2149831" cy="1483855"/>
          </a:xfrm>
        </p:grpSpPr>
        <p:sp>
          <p:nvSpPr>
            <p:cNvPr id="11" name="Freeform 11"/>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2" name="Group 12"/>
          <p:cNvGrpSpPr/>
          <p:nvPr/>
        </p:nvGrpSpPr>
        <p:grpSpPr>
          <a:xfrm>
            <a:off x="108978" y="1417199"/>
            <a:ext cx="17439932" cy="832866"/>
            <a:chOff x="0" y="0"/>
            <a:chExt cx="23253243" cy="1110488"/>
          </a:xfrm>
        </p:grpSpPr>
        <p:sp>
          <p:nvSpPr>
            <p:cNvPr id="13" name="Freeform 13"/>
            <p:cNvSpPr/>
            <p:nvPr/>
          </p:nvSpPr>
          <p:spPr>
            <a:xfrm>
              <a:off x="0" y="0"/>
              <a:ext cx="23253192" cy="1110442"/>
            </a:xfrm>
            <a:custGeom>
              <a:avLst/>
              <a:gdLst/>
              <a:ahLst/>
              <a:cxnLst/>
              <a:rect l="l" t="t" r="r" b="b"/>
              <a:pathLst>
                <a:path w="23253192" h="1110442">
                  <a:moveTo>
                    <a:pt x="0" y="0"/>
                  </a:moveTo>
                  <a:lnTo>
                    <a:pt x="23253192" y="0"/>
                  </a:lnTo>
                  <a:lnTo>
                    <a:pt x="23253192" y="1110442"/>
                  </a:lnTo>
                  <a:lnTo>
                    <a:pt x="0" y="1110442"/>
                  </a:lnTo>
                  <a:close/>
                </a:path>
              </a:pathLst>
            </a:custGeom>
            <a:solidFill>
              <a:srgbClr val="F2F2F2">
                <a:alpha val="63922"/>
              </a:srgbClr>
            </a:solidFill>
          </p:spPr>
          <p:txBody>
            <a:bodyPr/>
            <a:lstStyle/>
            <a:p>
              <a:endParaRPr lang="en-US"/>
            </a:p>
          </p:txBody>
        </p:sp>
        <p:sp>
          <p:nvSpPr>
            <p:cNvPr id="14" name="TextBox 14"/>
            <p:cNvSpPr txBox="1"/>
            <p:nvPr/>
          </p:nvSpPr>
          <p:spPr>
            <a:xfrm>
              <a:off x="0" y="-9525"/>
              <a:ext cx="23253243" cy="1120013"/>
            </a:xfrm>
            <a:prstGeom prst="rect">
              <a:avLst/>
            </a:prstGeom>
          </p:spPr>
          <p:txBody>
            <a:bodyPr lIns="50800" tIns="50800" rIns="50800" bIns="50800" rtlCol="0" anchor="t"/>
            <a:lstStyle/>
            <a:p>
              <a:pPr algn="just">
                <a:lnSpc>
                  <a:spcPts val="3600"/>
                </a:lnSpc>
              </a:pPr>
              <a:r>
                <a:rPr lang="en-US" sz="3000" b="1">
                  <a:solidFill>
                    <a:srgbClr val="DD2E3A"/>
                  </a:solidFill>
                  <a:latin typeface="Bai Jamjuree Bold"/>
                  <a:ea typeface="Bai Jamjuree Bold"/>
                  <a:cs typeface="Bai Jamjuree Bold"/>
                  <a:sym typeface="Bai Jamjuree Bold"/>
                </a:rPr>
                <a:t>Xu hướng phát triển UAV tại Việt Nam</a:t>
              </a:r>
            </a:p>
          </p:txBody>
        </p:sp>
      </p:grpSp>
      <p:grpSp>
        <p:nvGrpSpPr>
          <p:cNvPr id="15" name="Group 15"/>
          <p:cNvGrpSpPr/>
          <p:nvPr/>
        </p:nvGrpSpPr>
        <p:grpSpPr>
          <a:xfrm>
            <a:off x="1988820" y="0"/>
            <a:ext cx="6309360" cy="1110996"/>
            <a:chOff x="0" y="0"/>
            <a:chExt cx="8412480" cy="1481328"/>
          </a:xfrm>
        </p:grpSpPr>
        <p:sp>
          <p:nvSpPr>
            <p:cNvPr id="16" name="Freeform 16"/>
            <p:cNvSpPr/>
            <p:nvPr/>
          </p:nvSpPr>
          <p:spPr>
            <a:xfrm>
              <a:off x="0" y="0"/>
              <a:ext cx="8412480" cy="1481328"/>
            </a:xfrm>
            <a:custGeom>
              <a:avLst/>
              <a:gdLst/>
              <a:ahLst/>
              <a:cxnLst/>
              <a:rect l="l" t="t" r="r" b="b"/>
              <a:pathLst>
                <a:path w="8412480" h="1481328">
                  <a:moveTo>
                    <a:pt x="0" y="0"/>
                  </a:moveTo>
                  <a:lnTo>
                    <a:pt x="8412480" y="0"/>
                  </a:lnTo>
                  <a:lnTo>
                    <a:pt x="8412480" y="1481328"/>
                  </a:lnTo>
                  <a:lnTo>
                    <a:pt x="0" y="1481328"/>
                  </a:lnTo>
                  <a:close/>
                </a:path>
              </a:pathLst>
            </a:custGeom>
            <a:blipFill>
              <a:blip r:embed="rId4">
                <a:alphaModFix amt="0"/>
              </a:blip>
              <a:stretch>
                <a:fillRect t="-60655" b="-60655"/>
              </a:stretch>
            </a:blipFill>
          </p:spPr>
          <p:txBody>
            <a:bodyPr/>
            <a:lstStyle/>
            <a:p>
              <a:endParaRPr lang="en-US"/>
            </a:p>
          </p:txBody>
        </p:sp>
        <p:sp>
          <p:nvSpPr>
            <p:cNvPr id="17" name="TextBox 17"/>
            <p:cNvSpPr txBox="1"/>
            <p:nvPr/>
          </p:nvSpPr>
          <p:spPr>
            <a:xfrm>
              <a:off x="0" y="-28575"/>
              <a:ext cx="8412480" cy="1509903"/>
            </a:xfrm>
            <a:prstGeom prst="rect">
              <a:avLst/>
            </a:prstGeom>
          </p:spPr>
          <p:txBody>
            <a:bodyPr lIns="0" tIns="0" rIns="0" bIns="0" rtlCol="0" anchor="ctr"/>
            <a:lstStyle/>
            <a:p>
              <a:pPr algn="l">
                <a:lnSpc>
                  <a:spcPts val="4320"/>
                </a:lnSpc>
              </a:pPr>
              <a:r>
                <a:rPr lang="en-US" sz="3600" b="1">
                  <a:solidFill>
                    <a:srgbClr val="FFFFFF"/>
                  </a:solidFill>
                  <a:latin typeface="Arial Bold"/>
                  <a:ea typeface="Arial Bold"/>
                  <a:cs typeface="Arial Bold"/>
                  <a:sym typeface="Arial Bold"/>
                </a:rPr>
                <a:t>ĐẶT VẤN ĐỀ</a:t>
              </a:r>
            </a:p>
          </p:txBody>
        </p:sp>
      </p:grpSp>
      <p:grpSp>
        <p:nvGrpSpPr>
          <p:cNvPr id="18" name="Group 18"/>
          <p:cNvGrpSpPr/>
          <p:nvPr/>
        </p:nvGrpSpPr>
        <p:grpSpPr>
          <a:xfrm>
            <a:off x="108978" y="2115240"/>
            <a:ext cx="17439932" cy="755295"/>
            <a:chOff x="0" y="0"/>
            <a:chExt cx="23253243" cy="1007060"/>
          </a:xfrm>
        </p:grpSpPr>
        <p:sp>
          <p:nvSpPr>
            <p:cNvPr id="19" name="Freeform 19"/>
            <p:cNvSpPr/>
            <p:nvPr/>
          </p:nvSpPr>
          <p:spPr>
            <a:xfrm>
              <a:off x="0" y="0"/>
              <a:ext cx="23253192" cy="1007019"/>
            </a:xfrm>
            <a:custGeom>
              <a:avLst/>
              <a:gdLst/>
              <a:ahLst/>
              <a:cxnLst/>
              <a:rect l="l" t="t" r="r" b="b"/>
              <a:pathLst>
                <a:path w="23253192" h="1007019">
                  <a:moveTo>
                    <a:pt x="0" y="0"/>
                  </a:moveTo>
                  <a:lnTo>
                    <a:pt x="23253192" y="0"/>
                  </a:lnTo>
                  <a:lnTo>
                    <a:pt x="23253192" y="1007019"/>
                  </a:lnTo>
                  <a:lnTo>
                    <a:pt x="0" y="1007019"/>
                  </a:lnTo>
                  <a:close/>
                </a:path>
              </a:pathLst>
            </a:custGeom>
            <a:solidFill>
              <a:srgbClr val="F2F2F2">
                <a:alpha val="63922"/>
              </a:srgbClr>
            </a:solidFill>
          </p:spPr>
          <p:txBody>
            <a:bodyPr/>
            <a:lstStyle/>
            <a:p>
              <a:endParaRPr lang="en-US"/>
            </a:p>
          </p:txBody>
        </p:sp>
        <p:sp>
          <p:nvSpPr>
            <p:cNvPr id="20" name="TextBox 20"/>
            <p:cNvSpPr txBox="1"/>
            <p:nvPr/>
          </p:nvSpPr>
          <p:spPr>
            <a:xfrm>
              <a:off x="0" y="-9525"/>
              <a:ext cx="23253243" cy="1016585"/>
            </a:xfrm>
            <a:prstGeom prst="rect">
              <a:avLst/>
            </a:prstGeom>
          </p:spPr>
          <p:txBody>
            <a:bodyPr lIns="50800" tIns="50800" rIns="50800" bIns="50800" rtlCol="0" anchor="t"/>
            <a:lstStyle/>
            <a:p>
              <a:pPr algn="just">
                <a:lnSpc>
                  <a:spcPts val="3240"/>
                </a:lnSpc>
              </a:pPr>
              <a:r>
                <a:rPr lang="en-US" sz="2700" b="1">
                  <a:solidFill>
                    <a:srgbClr val="000000"/>
                  </a:solidFill>
                  <a:latin typeface="Bai Jamjuree Bold"/>
                  <a:ea typeface="Bai Jamjuree Bold"/>
                  <a:cs typeface="Bai Jamjuree Bold"/>
                  <a:sym typeface="Bai Jamjuree Bold"/>
                </a:rPr>
                <a:t>UAV là sản phẩm công nghệ chiến lược quốc gia</a:t>
              </a:r>
            </a:p>
          </p:txBody>
        </p:sp>
      </p:grpSp>
      <p:grpSp>
        <p:nvGrpSpPr>
          <p:cNvPr id="21" name="Group 21"/>
          <p:cNvGrpSpPr/>
          <p:nvPr/>
        </p:nvGrpSpPr>
        <p:grpSpPr>
          <a:xfrm>
            <a:off x="109860" y="4588128"/>
            <a:ext cx="5662320" cy="4155172"/>
            <a:chOff x="0" y="0"/>
            <a:chExt cx="1491311" cy="1094366"/>
          </a:xfrm>
        </p:grpSpPr>
        <p:sp>
          <p:nvSpPr>
            <p:cNvPr id="22" name="Freeform 22"/>
            <p:cNvSpPr/>
            <p:nvPr/>
          </p:nvSpPr>
          <p:spPr>
            <a:xfrm>
              <a:off x="0" y="0"/>
              <a:ext cx="1491311" cy="1094366"/>
            </a:xfrm>
            <a:custGeom>
              <a:avLst/>
              <a:gdLst/>
              <a:ahLst/>
              <a:cxnLst/>
              <a:rect l="l" t="t" r="r" b="b"/>
              <a:pathLst>
                <a:path w="1491311" h="1094366">
                  <a:moveTo>
                    <a:pt x="0" y="0"/>
                  </a:moveTo>
                  <a:lnTo>
                    <a:pt x="1491311" y="0"/>
                  </a:lnTo>
                  <a:lnTo>
                    <a:pt x="1491311" y="1094366"/>
                  </a:lnTo>
                  <a:lnTo>
                    <a:pt x="0" y="1094366"/>
                  </a:lnTo>
                  <a:close/>
                </a:path>
              </a:pathLst>
            </a:custGeom>
            <a:solidFill>
              <a:srgbClr val="C8D1D9"/>
            </a:solidFill>
          </p:spPr>
          <p:txBody>
            <a:bodyPr/>
            <a:lstStyle/>
            <a:p>
              <a:endParaRPr lang="en-US"/>
            </a:p>
          </p:txBody>
        </p:sp>
        <p:sp>
          <p:nvSpPr>
            <p:cNvPr id="23" name="TextBox 23"/>
            <p:cNvSpPr txBox="1"/>
            <p:nvPr/>
          </p:nvSpPr>
          <p:spPr>
            <a:xfrm>
              <a:off x="0" y="0"/>
              <a:ext cx="1491311" cy="1094366"/>
            </a:xfrm>
            <a:prstGeom prst="rect">
              <a:avLst/>
            </a:prstGeom>
          </p:spPr>
          <p:txBody>
            <a:bodyPr lIns="50800" tIns="50800" rIns="50800" bIns="50800" rtlCol="0" anchor="ctr"/>
            <a:lstStyle/>
            <a:p>
              <a:pPr algn="ctr">
                <a:lnSpc>
                  <a:spcPts val="2250"/>
                </a:lnSpc>
              </a:pPr>
              <a:endParaRPr/>
            </a:p>
          </p:txBody>
        </p:sp>
      </p:grpSp>
      <p:sp>
        <p:nvSpPr>
          <p:cNvPr id="24" name="Freeform 24"/>
          <p:cNvSpPr/>
          <p:nvPr/>
        </p:nvSpPr>
        <p:spPr>
          <a:xfrm>
            <a:off x="108978" y="4575406"/>
            <a:ext cx="5695944" cy="3034419"/>
          </a:xfrm>
          <a:custGeom>
            <a:avLst/>
            <a:gdLst/>
            <a:ahLst/>
            <a:cxnLst/>
            <a:rect l="l" t="t" r="r" b="b"/>
            <a:pathLst>
              <a:path w="5695944" h="3034419">
                <a:moveTo>
                  <a:pt x="0" y="0"/>
                </a:moveTo>
                <a:lnTo>
                  <a:pt x="5695944" y="0"/>
                </a:lnTo>
                <a:lnTo>
                  <a:pt x="5695944" y="3034419"/>
                </a:lnTo>
                <a:lnTo>
                  <a:pt x="0" y="3034419"/>
                </a:lnTo>
                <a:lnTo>
                  <a:pt x="0" y="0"/>
                </a:lnTo>
                <a:close/>
              </a:path>
            </a:pathLst>
          </a:custGeom>
          <a:blipFill>
            <a:blip r:embed="rId5"/>
            <a:stretch>
              <a:fillRect t="-3497" b="-3497"/>
            </a:stretch>
          </a:blipFill>
        </p:spPr>
        <p:txBody>
          <a:bodyPr/>
          <a:lstStyle/>
          <a:p>
            <a:endParaRPr lang="en-US"/>
          </a:p>
        </p:txBody>
      </p:sp>
      <p:grpSp>
        <p:nvGrpSpPr>
          <p:cNvPr id="25" name="Group 25"/>
          <p:cNvGrpSpPr/>
          <p:nvPr/>
        </p:nvGrpSpPr>
        <p:grpSpPr>
          <a:xfrm>
            <a:off x="122595" y="3036337"/>
            <a:ext cx="5636850" cy="1543372"/>
            <a:chOff x="0" y="0"/>
            <a:chExt cx="1484602" cy="406485"/>
          </a:xfrm>
        </p:grpSpPr>
        <p:sp>
          <p:nvSpPr>
            <p:cNvPr id="26" name="Freeform 26"/>
            <p:cNvSpPr/>
            <p:nvPr/>
          </p:nvSpPr>
          <p:spPr>
            <a:xfrm>
              <a:off x="0" y="0"/>
              <a:ext cx="1484602" cy="406485"/>
            </a:xfrm>
            <a:custGeom>
              <a:avLst/>
              <a:gdLst/>
              <a:ahLst/>
              <a:cxnLst/>
              <a:rect l="l" t="t" r="r" b="b"/>
              <a:pathLst>
                <a:path w="1484602" h="406485">
                  <a:moveTo>
                    <a:pt x="0" y="0"/>
                  </a:moveTo>
                  <a:lnTo>
                    <a:pt x="1484602" y="0"/>
                  </a:lnTo>
                  <a:lnTo>
                    <a:pt x="1484602" y="406485"/>
                  </a:lnTo>
                  <a:lnTo>
                    <a:pt x="0" y="406485"/>
                  </a:lnTo>
                  <a:close/>
                </a:path>
              </a:pathLst>
            </a:custGeom>
            <a:solidFill>
              <a:srgbClr val="595959"/>
            </a:solidFill>
            <a:ln cap="sq">
              <a:noFill/>
              <a:prstDash val="sysDot"/>
              <a:miter/>
            </a:ln>
          </p:spPr>
          <p:txBody>
            <a:bodyPr/>
            <a:lstStyle/>
            <a:p>
              <a:endParaRPr lang="en-US"/>
            </a:p>
          </p:txBody>
        </p:sp>
        <p:sp>
          <p:nvSpPr>
            <p:cNvPr id="27" name="TextBox 27"/>
            <p:cNvSpPr txBox="1"/>
            <p:nvPr/>
          </p:nvSpPr>
          <p:spPr>
            <a:xfrm>
              <a:off x="0" y="-9525"/>
              <a:ext cx="1484602" cy="416010"/>
            </a:xfrm>
            <a:prstGeom prst="rect">
              <a:avLst/>
            </a:prstGeom>
          </p:spPr>
          <p:txBody>
            <a:bodyPr lIns="50800" tIns="50800" rIns="50800" bIns="50800" rtlCol="0" anchor="ctr"/>
            <a:lstStyle/>
            <a:p>
              <a:pPr algn="l">
                <a:lnSpc>
                  <a:spcPts val="3329"/>
                </a:lnSpc>
              </a:pPr>
              <a:r>
                <a:rPr lang="en-US" sz="2774" b="1">
                  <a:solidFill>
                    <a:srgbClr val="FFFFFF"/>
                  </a:solidFill>
                  <a:latin typeface="Bai Jamjuree Bold"/>
                  <a:ea typeface="Bai Jamjuree Bold"/>
                  <a:cs typeface="Bai Jamjuree Bold"/>
                  <a:sym typeface="Bai Jamjuree Bold"/>
                </a:rPr>
                <a:t>Năm 2025</a:t>
              </a:r>
            </a:p>
            <a:p>
              <a:pPr algn="l">
                <a:lnSpc>
                  <a:spcPts val="3089"/>
                </a:lnSpc>
              </a:pPr>
              <a:r>
                <a:rPr lang="en-US" sz="2574">
                  <a:solidFill>
                    <a:srgbClr val="FFFFFF"/>
                  </a:solidFill>
                  <a:latin typeface="Bai Jamjuree"/>
                  <a:ea typeface="Bai Jamjuree"/>
                  <a:cs typeface="Bai Jamjuree"/>
                  <a:sym typeface="Bai Jamjuree"/>
                </a:rPr>
                <a:t>UAV thuộc 6 sản phẩm công nghệ chiến lược ưu tiên triển khai ngay</a:t>
              </a:r>
            </a:p>
          </p:txBody>
        </p:sp>
      </p:grpSp>
      <p:grpSp>
        <p:nvGrpSpPr>
          <p:cNvPr id="28" name="Group 28"/>
          <p:cNvGrpSpPr/>
          <p:nvPr/>
        </p:nvGrpSpPr>
        <p:grpSpPr>
          <a:xfrm>
            <a:off x="6202485" y="4588128"/>
            <a:ext cx="5662320" cy="4155172"/>
            <a:chOff x="0" y="0"/>
            <a:chExt cx="1491311" cy="1094366"/>
          </a:xfrm>
        </p:grpSpPr>
        <p:sp>
          <p:nvSpPr>
            <p:cNvPr id="29" name="Freeform 29"/>
            <p:cNvSpPr/>
            <p:nvPr/>
          </p:nvSpPr>
          <p:spPr>
            <a:xfrm>
              <a:off x="0" y="0"/>
              <a:ext cx="1491311" cy="1094366"/>
            </a:xfrm>
            <a:custGeom>
              <a:avLst/>
              <a:gdLst/>
              <a:ahLst/>
              <a:cxnLst/>
              <a:rect l="l" t="t" r="r" b="b"/>
              <a:pathLst>
                <a:path w="1491311" h="1094366">
                  <a:moveTo>
                    <a:pt x="0" y="0"/>
                  </a:moveTo>
                  <a:lnTo>
                    <a:pt x="1491311" y="0"/>
                  </a:lnTo>
                  <a:lnTo>
                    <a:pt x="1491311" y="1094366"/>
                  </a:lnTo>
                  <a:lnTo>
                    <a:pt x="0" y="1094366"/>
                  </a:lnTo>
                  <a:close/>
                </a:path>
              </a:pathLst>
            </a:custGeom>
            <a:solidFill>
              <a:srgbClr val="C8D1D9"/>
            </a:solidFill>
          </p:spPr>
          <p:txBody>
            <a:bodyPr/>
            <a:lstStyle/>
            <a:p>
              <a:endParaRPr lang="en-US"/>
            </a:p>
          </p:txBody>
        </p:sp>
        <p:sp>
          <p:nvSpPr>
            <p:cNvPr id="30" name="TextBox 30"/>
            <p:cNvSpPr txBox="1"/>
            <p:nvPr/>
          </p:nvSpPr>
          <p:spPr>
            <a:xfrm>
              <a:off x="0" y="0"/>
              <a:ext cx="1491311" cy="1094366"/>
            </a:xfrm>
            <a:prstGeom prst="rect">
              <a:avLst/>
            </a:prstGeom>
          </p:spPr>
          <p:txBody>
            <a:bodyPr lIns="50800" tIns="50800" rIns="50800" bIns="50800" rtlCol="0" anchor="ctr"/>
            <a:lstStyle/>
            <a:p>
              <a:pPr algn="ctr">
                <a:lnSpc>
                  <a:spcPts val="2250"/>
                </a:lnSpc>
              </a:pPr>
              <a:endParaRPr/>
            </a:p>
          </p:txBody>
        </p:sp>
      </p:grpSp>
      <p:grpSp>
        <p:nvGrpSpPr>
          <p:cNvPr id="31" name="Group 31"/>
          <p:cNvGrpSpPr/>
          <p:nvPr/>
        </p:nvGrpSpPr>
        <p:grpSpPr>
          <a:xfrm>
            <a:off x="6215220" y="3036337"/>
            <a:ext cx="5636850" cy="1543372"/>
            <a:chOff x="0" y="0"/>
            <a:chExt cx="1484602" cy="406485"/>
          </a:xfrm>
        </p:grpSpPr>
        <p:sp>
          <p:nvSpPr>
            <p:cNvPr id="32" name="Freeform 32"/>
            <p:cNvSpPr/>
            <p:nvPr/>
          </p:nvSpPr>
          <p:spPr>
            <a:xfrm>
              <a:off x="0" y="0"/>
              <a:ext cx="1484602" cy="406485"/>
            </a:xfrm>
            <a:custGeom>
              <a:avLst/>
              <a:gdLst/>
              <a:ahLst/>
              <a:cxnLst/>
              <a:rect l="l" t="t" r="r" b="b"/>
              <a:pathLst>
                <a:path w="1484602" h="406485">
                  <a:moveTo>
                    <a:pt x="0" y="0"/>
                  </a:moveTo>
                  <a:lnTo>
                    <a:pt x="1484602" y="0"/>
                  </a:lnTo>
                  <a:lnTo>
                    <a:pt x="1484602" y="406485"/>
                  </a:lnTo>
                  <a:lnTo>
                    <a:pt x="0" y="406485"/>
                  </a:lnTo>
                  <a:close/>
                </a:path>
              </a:pathLst>
            </a:custGeom>
            <a:solidFill>
              <a:srgbClr val="595959"/>
            </a:solidFill>
            <a:ln cap="sq">
              <a:noFill/>
              <a:prstDash val="sysDot"/>
              <a:miter/>
            </a:ln>
          </p:spPr>
          <p:txBody>
            <a:bodyPr/>
            <a:lstStyle/>
            <a:p>
              <a:endParaRPr lang="en-US"/>
            </a:p>
          </p:txBody>
        </p:sp>
        <p:sp>
          <p:nvSpPr>
            <p:cNvPr id="33" name="TextBox 33"/>
            <p:cNvSpPr txBox="1"/>
            <p:nvPr/>
          </p:nvSpPr>
          <p:spPr>
            <a:xfrm>
              <a:off x="0" y="-9525"/>
              <a:ext cx="1484602" cy="416010"/>
            </a:xfrm>
            <a:prstGeom prst="rect">
              <a:avLst/>
            </a:prstGeom>
          </p:spPr>
          <p:txBody>
            <a:bodyPr lIns="50800" tIns="50800" rIns="50800" bIns="50800" rtlCol="0" anchor="ctr"/>
            <a:lstStyle/>
            <a:p>
              <a:pPr algn="l">
                <a:lnSpc>
                  <a:spcPts val="3329"/>
                </a:lnSpc>
              </a:pPr>
              <a:r>
                <a:rPr lang="en-US" sz="2774" b="1">
                  <a:solidFill>
                    <a:srgbClr val="FFFFFF"/>
                  </a:solidFill>
                  <a:latin typeface="Bai Jamjuree Bold"/>
                  <a:ea typeface="Bai Jamjuree Bold"/>
                  <a:cs typeface="Bai Jamjuree Bold"/>
                  <a:sym typeface="Bai Jamjuree Bold"/>
                </a:rPr>
                <a:t>Mục tiêu 2027</a:t>
              </a:r>
            </a:p>
            <a:p>
              <a:pPr algn="l">
                <a:lnSpc>
                  <a:spcPts val="3089"/>
                </a:lnSpc>
              </a:pPr>
              <a:r>
                <a:rPr lang="en-US" sz="2574">
                  <a:solidFill>
                    <a:srgbClr val="FFFFFF"/>
                  </a:solidFill>
                  <a:latin typeface="Bai Jamjuree"/>
                  <a:ea typeface="Bai Jamjuree"/>
                  <a:cs typeface="Bai Jamjuree"/>
                  <a:sym typeface="Bai Jamjuree"/>
                </a:rPr>
                <a:t>Làm chủ tối thiểu 60% công nghệ lõi UAV</a:t>
              </a:r>
            </a:p>
          </p:txBody>
        </p:sp>
      </p:grpSp>
      <p:grpSp>
        <p:nvGrpSpPr>
          <p:cNvPr id="34" name="Group 34"/>
          <p:cNvGrpSpPr/>
          <p:nvPr/>
        </p:nvGrpSpPr>
        <p:grpSpPr>
          <a:xfrm>
            <a:off x="12295110" y="4588128"/>
            <a:ext cx="5662320" cy="4155172"/>
            <a:chOff x="0" y="0"/>
            <a:chExt cx="1491311" cy="1094366"/>
          </a:xfrm>
        </p:grpSpPr>
        <p:sp>
          <p:nvSpPr>
            <p:cNvPr id="35" name="Freeform 35"/>
            <p:cNvSpPr/>
            <p:nvPr/>
          </p:nvSpPr>
          <p:spPr>
            <a:xfrm>
              <a:off x="0" y="0"/>
              <a:ext cx="1491311" cy="1094366"/>
            </a:xfrm>
            <a:custGeom>
              <a:avLst/>
              <a:gdLst/>
              <a:ahLst/>
              <a:cxnLst/>
              <a:rect l="l" t="t" r="r" b="b"/>
              <a:pathLst>
                <a:path w="1491311" h="1094366">
                  <a:moveTo>
                    <a:pt x="0" y="0"/>
                  </a:moveTo>
                  <a:lnTo>
                    <a:pt x="1491311" y="0"/>
                  </a:lnTo>
                  <a:lnTo>
                    <a:pt x="1491311" y="1094366"/>
                  </a:lnTo>
                  <a:lnTo>
                    <a:pt x="0" y="1094366"/>
                  </a:lnTo>
                  <a:close/>
                </a:path>
              </a:pathLst>
            </a:custGeom>
            <a:solidFill>
              <a:srgbClr val="C8D1D9"/>
            </a:solidFill>
          </p:spPr>
          <p:txBody>
            <a:bodyPr/>
            <a:lstStyle/>
            <a:p>
              <a:endParaRPr lang="en-US"/>
            </a:p>
          </p:txBody>
        </p:sp>
        <p:sp>
          <p:nvSpPr>
            <p:cNvPr id="36" name="TextBox 36"/>
            <p:cNvSpPr txBox="1"/>
            <p:nvPr/>
          </p:nvSpPr>
          <p:spPr>
            <a:xfrm>
              <a:off x="0" y="0"/>
              <a:ext cx="1491311" cy="1094366"/>
            </a:xfrm>
            <a:prstGeom prst="rect">
              <a:avLst/>
            </a:prstGeom>
          </p:spPr>
          <p:txBody>
            <a:bodyPr lIns="50800" tIns="50800" rIns="50800" bIns="50800" rtlCol="0" anchor="ctr"/>
            <a:lstStyle/>
            <a:p>
              <a:pPr algn="ctr">
                <a:lnSpc>
                  <a:spcPts val="2250"/>
                </a:lnSpc>
              </a:pPr>
              <a:endParaRPr/>
            </a:p>
          </p:txBody>
        </p:sp>
      </p:grpSp>
      <p:grpSp>
        <p:nvGrpSpPr>
          <p:cNvPr id="37" name="Group 37"/>
          <p:cNvGrpSpPr/>
          <p:nvPr/>
        </p:nvGrpSpPr>
        <p:grpSpPr>
          <a:xfrm>
            <a:off x="12307845" y="3036337"/>
            <a:ext cx="5649585" cy="1500281"/>
            <a:chOff x="0" y="0"/>
            <a:chExt cx="1487956" cy="395136"/>
          </a:xfrm>
        </p:grpSpPr>
        <p:sp>
          <p:nvSpPr>
            <p:cNvPr id="38" name="Freeform 38"/>
            <p:cNvSpPr/>
            <p:nvPr/>
          </p:nvSpPr>
          <p:spPr>
            <a:xfrm>
              <a:off x="0" y="0"/>
              <a:ext cx="1487956" cy="395136"/>
            </a:xfrm>
            <a:custGeom>
              <a:avLst/>
              <a:gdLst/>
              <a:ahLst/>
              <a:cxnLst/>
              <a:rect l="l" t="t" r="r" b="b"/>
              <a:pathLst>
                <a:path w="1487956" h="395136">
                  <a:moveTo>
                    <a:pt x="0" y="0"/>
                  </a:moveTo>
                  <a:lnTo>
                    <a:pt x="1487956" y="0"/>
                  </a:lnTo>
                  <a:lnTo>
                    <a:pt x="1487956" y="395136"/>
                  </a:lnTo>
                  <a:lnTo>
                    <a:pt x="0" y="395136"/>
                  </a:lnTo>
                  <a:close/>
                </a:path>
              </a:pathLst>
            </a:custGeom>
            <a:solidFill>
              <a:srgbClr val="595959"/>
            </a:solidFill>
            <a:ln cap="sq">
              <a:noFill/>
              <a:prstDash val="sysDot"/>
              <a:miter/>
            </a:ln>
          </p:spPr>
          <p:txBody>
            <a:bodyPr/>
            <a:lstStyle/>
            <a:p>
              <a:endParaRPr lang="en-US"/>
            </a:p>
          </p:txBody>
        </p:sp>
        <p:sp>
          <p:nvSpPr>
            <p:cNvPr id="39" name="TextBox 39"/>
            <p:cNvSpPr txBox="1"/>
            <p:nvPr/>
          </p:nvSpPr>
          <p:spPr>
            <a:xfrm>
              <a:off x="0" y="-9525"/>
              <a:ext cx="1487956" cy="404661"/>
            </a:xfrm>
            <a:prstGeom prst="rect">
              <a:avLst/>
            </a:prstGeom>
          </p:spPr>
          <p:txBody>
            <a:bodyPr lIns="50800" tIns="50800" rIns="50800" bIns="50800" rtlCol="0" anchor="ctr"/>
            <a:lstStyle/>
            <a:p>
              <a:pPr algn="l">
                <a:lnSpc>
                  <a:spcPts val="3329"/>
                </a:lnSpc>
              </a:pPr>
              <a:r>
                <a:rPr lang="en-US" sz="2774" b="1">
                  <a:solidFill>
                    <a:srgbClr val="FFFFFF"/>
                  </a:solidFill>
                  <a:latin typeface="Bai Jamjuree Bold"/>
                  <a:ea typeface="Bai Jamjuree Bold"/>
                  <a:cs typeface="Bai Jamjuree Bold"/>
                  <a:sym typeface="Bai Jamjuree Bold"/>
                </a:rPr>
                <a:t>Mục tiêu 2030</a:t>
              </a:r>
            </a:p>
            <a:p>
              <a:pPr algn="l">
                <a:lnSpc>
                  <a:spcPts val="2969"/>
                </a:lnSpc>
              </a:pPr>
              <a:r>
                <a:rPr lang="en-US" sz="2474">
                  <a:solidFill>
                    <a:srgbClr val="FFFFFF"/>
                  </a:solidFill>
                  <a:latin typeface="Bai Jamjuree"/>
                  <a:ea typeface="Bai Jamjuree"/>
                  <a:cs typeface="Bai Jamjuree"/>
                  <a:sym typeface="Bai Jamjuree"/>
                </a:rPr>
                <a:t>Làm chủ tối thiểu 80% công nghệ lõi, đáp ứng 30% thị trường trong nước</a:t>
              </a:r>
            </a:p>
          </p:txBody>
        </p:sp>
      </p:grpSp>
      <p:sp>
        <p:nvSpPr>
          <p:cNvPr id="40" name="Freeform 40"/>
          <p:cNvSpPr/>
          <p:nvPr/>
        </p:nvSpPr>
        <p:spPr>
          <a:xfrm>
            <a:off x="6202485" y="4588128"/>
            <a:ext cx="5636398" cy="3021697"/>
          </a:xfrm>
          <a:custGeom>
            <a:avLst/>
            <a:gdLst/>
            <a:ahLst/>
            <a:cxnLst/>
            <a:rect l="l" t="t" r="r" b="b"/>
            <a:pathLst>
              <a:path w="5636398" h="3021697">
                <a:moveTo>
                  <a:pt x="0" y="0"/>
                </a:moveTo>
                <a:lnTo>
                  <a:pt x="5636397" y="0"/>
                </a:lnTo>
                <a:lnTo>
                  <a:pt x="5636397" y="3021697"/>
                </a:lnTo>
                <a:lnTo>
                  <a:pt x="0" y="3021697"/>
                </a:lnTo>
                <a:lnTo>
                  <a:pt x="0" y="0"/>
                </a:lnTo>
                <a:close/>
              </a:path>
            </a:pathLst>
          </a:custGeom>
          <a:blipFill>
            <a:blip r:embed="rId6"/>
            <a:stretch>
              <a:fillRect b="-6555"/>
            </a:stretch>
          </a:blipFill>
        </p:spPr>
        <p:txBody>
          <a:bodyPr/>
          <a:lstStyle/>
          <a:p>
            <a:endParaRPr lang="en-US"/>
          </a:p>
        </p:txBody>
      </p:sp>
      <p:sp>
        <p:nvSpPr>
          <p:cNvPr id="41" name="Freeform 41"/>
          <p:cNvSpPr/>
          <p:nvPr/>
        </p:nvSpPr>
        <p:spPr>
          <a:xfrm>
            <a:off x="12293430" y="4588128"/>
            <a:ext cx="5651265" cy="3021697"/>
          </a:xfrm>
          <a:custGeom>
            <a:avLst/>
            <a:gdLst/>
            <a:ahLst/>
            <a:cxnLst/>
            <a:rect l="l" t="t" r="r" b="b"/>
            <a:pathLst>
              <a:path w="5651265" h="3021697">
                <a:moveTo>
                  <a:pt x="0" y="0"/>
                </a:moveTo>
                <a:lnTo>
                  <a:pt x="5651265" y="0"/>
                </a:lnTo>
                <a:lnTo>
                  <a:pt x="5651265" y="3021697"/>
                </a:lnTo>
                <a:lnTo>
                  <a:pt x="0" y="3021697"/>
                </a:lnTo>
                <a:lnTo>
                  <a:pt x="0" y="0"/>
                </a:lnTo>
                <a:close/>
              </a:path>
            </a:pathLst>
          </a:custGeom>
          <a:blipFill>
            <a:blip r:embed="rId7"/>
            <a:stretch>
              <a:fillRect t="-79064" b="-153971"/>
            </a:stretch>
          </a:blipFill>
        </p:spPr>
        <p:txBody>
          <a:bodyPr/>
          <a:lstStyle/>
          <a:p>
            <a:endParaRPr lang="en-US"/>
          </a:p>
        </p:txBody>
      </p:sp>
      <p:sp>
        <p:nvSpPr>
          <p:cNvPr id="42" name="TextBox 42"/>
          <p:cNvSpPr txBox="1"/>
          <p:nvPr/>
        </p:nvSpPr>
        <p:spPr>
          <a:xfrm>
            <a:off x="122595" y="7600300"/>
            <a:ext cx="5623663" cy="1104900"/>
          </a:xfrm>
          <a:prstGeom prst="rect">
            <a:avLst/>
          </a:prstGeom>
        </p:spPr>
        <p:txBody>
          <a:bodyPr lIns="0" tIns="0" rIns="0" bIns="0" rtlCol="0" anchor="t">
            <a:spAutoFit/>
          </a:bodyPr>
          <a:lstStyle/>
          <a:p>
            <a:pPr algn="just">
              <a:lnSpc>
                <a:spcPts val="3240"/>
              </a:lnSpc>
            </a:pPr>
            <a:r>
              <a:rPr lang="en-US" sz="2700" b="1">
                <a:solidFill>
                  <a:srgbClr val="000000"/>
                </a:solidFill>
                <a:latin typeface="Bai Jamjuree Bold"/>
                <a:ea typeface="Bai Jamjuree Bold"/>
                <a:cs typeface="Bai Jamjuree Bold"/>
                <a:sym typeface="Bai Jamjuree Bold"/>
              </a:rPr>
              <a:t>Giám sát</a:t>
            </a:r>
          </a:p>
          <a:p>
            <a:pPr algn="just">
              <a:lnSpc>
                <a:spcPts val="2760"/>
              </a:lnSpc>
              <a:spcBef>
                <a:spcPct val="0"/>
              </a:spcBef>
            </a:pPr>
            <a:r>
              <a:rPr lang="en-US" sz="2300">
                <a:solidFill>
                  <a:srgbClr val="000000"/>
                </a:solidFill>
                <a:latin typeface="Bai Jamjuree"/>
                <a:ea typeface="Bai Jamjuree"/>
                <a:cs typeface="Bai Jamjuree"/>
                <a:sym typeface="Bai Jamjuree"/>
              </a:rPr>
              <a:t>Kiểm tra đường dây điện, hạ tầng và khu vực khó tiếp cận</a:t>
            </a:r>
          </a:p>
        </p:txBody>
      </p:sp>
      <p:sp>
        <p:nvSpPr>
          <p:cNvPr id="43" name="TextBox 43"/>
          <p:cNvSpPr txBox="1"/>
          <p:nvPr/>
        </p:nvSpPr>
        <p:spPr>
          <a:xfrm>
            <a:off x="6215220" y="7600300"/>
            <a:ext cx="5623663" cy="1104900"/>
          </a:xfrm>
          <a:prstGeom prst="rect">
            <a:avLst/>
          </a:prstGeom>
        </p:spPr>
        <p:txBody>
          <a:bodyPr lIns="0" tIns="0" rIns="0" bIns="0" rtlCol="0" anchor="t">
            <a:spAutoFit/>
          </a:bodyPr>
          <a:lstStyle/>
          <a:p>
            <a:pPr algn="just">
              <a:lnSpc>
                <a:spcPts val="3240"/>
              </a:lnSpc>
            </a:pPr>
            <a:r>
              <a:rPr lang="en-US" sz="2700" b="1">
                <a:solidFill>
                  <a:srgbClr val="000000"/>
                </a:solidFill>
                <a:latin typeface="Bai Jamjuree Bold"/>
                <a:ea typeface="Bai Jamjuree Bold"/>
                <a:cs typeface="Bai Jamjuree Bold"/>
                <a:sym typeface="Bai Jamjuree Bold"/>
              </a:rPr>
              <a:t>Logistics</a:t>
            </a:r>
          </a:p>
          <a:p>
            <a:pPr algn="just">
              <a:lnSpc>
                <a:spcPts val="2760"/>
              </a:lnSpc>
              <a:spcBef>
                <a:spcPct val="0"/>
              </a:spcBef>
            </a:pPr>
            <a:r>
              <a:rPr lang="en-US" sz="2300">
                <a:solidFill>
                  <a:srgbClr val="000000"/>
                </a:solidFill>
                <a:latin typeface="Bai Jamjuree"/>
                <a:ea typeface="Bai Jamjuree"/>
                <a:cs typeface="Bai Jamjuree"/>
                <a:sym typeface="Bai Jamjuree"/>
              </a:rPr>
              <a:t>Vận chuyển hàng đến cảng, kho bãi, vị trí khó tiếp cận</a:t>
            </a:r>
          </a:p>
        </p:txBody>
      </p:sp>
      <p:sp>
        <p:nvSpPr>
          <p:cNvPr id="44" name="TextBox 44"/>
          <p:cNvSpPr txBox="1"/>
          <p:nvPr/>
        </p:nvSpPr>
        <p:spPr>
          <a:xfrm>
            <a:off x="12307845" y="7600300"/>
            <a:ext cx="5623663" cy="1104900"/>
          </a:xfrm>
          <a:prstGeom prst="rect">
            <a:avLst/>
          </a:prstGeom>
        </p:spPr>
        <p:txBody>
          <a:bodyPr lIns="0" tIns="0" rIns="0" bIns="0" rtlCol="0" anchor="t">
            <a:spAutoFit/>
          </a:bodyPr>
          <a:lstStyle/>
          <a:p>
            <a:pPr algn="just">
              <a:lnSpc>
                <a:spcPts val="3240"/>
              </a:lnSpc>
            </a:pPr>
            <a:r>
              <a:rPr lang="en-US" sz="2700" b="1">
                <a:solidFill>
                  <a:srgbClr val="000000"/>
                </a:solidFill>
                <a:latin typeface="Bai Jamjuree Bold"/>
                <a:ea typeface="Bai Jamjuree Bold"/>
                <a:cs typeface="Bai Jamjuree Bold"/>
                <a:sym typeface="Bai Jamjuree Bold"/>
              </a:rPr>
              <a:t>Trạm sạc tự động</a:t>
            </a:r>
          </a:p>
          <a:p>
            <a:pPr algn="just">
              <a:lnSpc>
                <a:spcPts val="2760"/>
              </a:lnSpc>
              <a:spcBef>
                <a:spcPct val="0"/>
              </a:spcBef>
            </a:pPr>
            <a:r>
              <a:rPr lang="en-US" sz="2300">
                <a:solidFill>
                  <a:srgbClr val="000000"/>
                </a:solidFill>
                <a:latin typeface="Bai Jamjuree"/>
                <a:ea typeface="Bai Jamjuree"/>
                <a:cs typeface="Bai Jamjuree"/>
                <a:sym typeface="Bai Jamjuree"/>
              </a:rPr>
              <a:t>Bến đỗ tự nạp năng lượng để UAV hoạt động liên tục</a:t>
            </a:r>
          </a:p>
        </p:txBody>
      </p:sp>
      <p:sp>
        <p:nvSpPr>
          <p:cNvPr id="45" name="TextBox 45"/>
          <p:cNvSpPr txBox="1"/>
          <p:nvPr/>
        </p:nvSpPr>
        <p:spPr>
          <a:xfrm>
            <a:off x="120264" y="9104195"/>
            <a:ext cx="14129136" cy="419100"/>
          </a:xfrm>
          <a:prstGeom prst="rect">
            <a:avLst/>
          </a:prstGeom>
        </p:spPr>
        <p:txBody>
          <a:bodyPr wrap="square" lIns="0" tIns="0" rIns="0" bIns="0" rtlCol="0" anchor="t">
            <a:spAutoFit/>
          </a:bodyPr>
          <a:lstStyle/>
          <a:p>
            <a:pPr algn="ctr">
              <a:lnSpc>
                <a:spcPts val="3240"/>
              </a:lnSpc>
              <a:spcBef>
                <a:spcPct val="0"/>
              </a:spcBef>
            </a:pPr>
            <a:r>
              <a:rPr lang="en-US" sz="2700" b="1">
                <a:solidFill>
                  <a:srgbClr val="000000"/>
                </a:solidFill>
                <a:latin typeface="Bai Jamjuree Bold"/>
                <a:ea typeface="Bai Jamjuree Bold"/>
                <a:cs typeface="Bai Jamjuree Bold"/>
                <a:sym typeface="Bai Jamjuree Bold"/>
              </a:rPr>
              <a:t>Nguồn: QĐ 2815/QĐ-TTg (28/12/2025), Phụ lục VI–VIII · </a:t>
            </a:r>
            <a:r>
              <a:rPr lang="en-US" sz="2700">
                <a:solidFill>
                  <a:srgbClr val="000000"/>
                </a:solidFill>
                <a:latin typeface="Bai Jamjuree"/>
                <a:ea typeface="Bai Jamjuree"/>
                <a:cs typeface="Bai Jamjuree"/>
                <a:sym typeface="Bai Jamjuree"/>
              </a:rPr>
              <a:t>Ảnh chỉ mang tính minh họa</a:t>
            </a:r>
          </a:p>
        </p:txBody>
      </p:sp>
      <p:grpSp>
        <p:nvGrpSpPr>
          <p:cNvPr id="46" name="Group 46"/>
          <p:cNvGrpSpPr/>
          <p:nvPr/>
        </p:nvGrpSpPr>
        <p:grpSpPr>
          <a:xfrm>
            <a:off x="0" y="0"/>
            <a:ext cx="1645920" cy="1110996"/>
            <a:chOff x="0" y="0"/>
            <a:chExt cx="2194560" cy="1481328"/>
          </a:xfrm>
        </p:grpSpPr>
        <p:sp>
          <p:nvSpPr>
            <p:cNvPr id="47" name="Freeform 47"/>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4">
                <a:alphaModFix amt="0"/>
              </a:blip>
              <a:stretch>
                <a:fillRect l="-36604" r="-36604"/>
              </a:stretch>
            </a:blipFill>
          </p:spPr>
          <p:txBody>
            <a:bodyPr/>
            <a:lstStyle/>
            <a:p>
              <a:endParaRPr lang="en-US"/>
            </a:p>
          </p:txBody>
        </p:sp>
        <p:sp>
          <p:nvSpPr>
            <p:cNvPr id="48" name="TextBox 48"/>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01</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6002000" y="9318508"/>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6" name="Group 6"/>
          <p:cNvGrpSpPr/>
          <p:nvPr/>
        </p:nvGrpSpPr>
        <p:grpSpPr>
          <a:xfrm>
            <a:off x="-19050" y="-38100"/>
            <a:ext cx="18326100" cy="1371324"/>
            <a:chOff x="0" y="0"/>
            <a:chExt cx="24434800" cy="1828432"/>
          </a:xfrm>
        </p:grpSpPr>
        <p:sp>
          <p:nvSpPr>
            <p:cNvPr id="7" name="Freeform 7"/>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8" name="Group 8"/>
          <p:cNvGrpSpPr/>
          <p:nvPr/>
        </p:nvGrpSpPr>
        <p:grpSpPr>
          <a:xfrm>
            <a:off x="29594" y="0"/>
            <a:ext cx="9465469" cy="1112891"/>
            <a:chOff x="0" y="0"/>
            <a:chExt cx="12620625" cy="1483855"/>
          </a:xfrm>
        </p:grpSpPr>
        <p:sp>
          <p:nvSpPr>
            <p:cNvPr id="9" name="Freeform 9"/>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0" name="Group 10"/>
          <p:cNvGrpSpPr/>
          <p:nvPr/>
        </p:nvGrpSpPr>
        <p:grpSpPr>
          <a:xfrm>
            <a:off x="29594" y="0"/>
            <a:ext cx="1612373" cy="1112891"/>
            <a:chOff x="0" y="0"/>
            <a:chExt cx="2149831" cy="1483855"/>
          </a:xfrm>
        </p:grpSpPr>
        <p:sp>
          <p:nvSpPr>
            <p:cNvPr id="11" name="Freeform 11"/>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2" name="Group 12"/>
          <p:cNvGrpSpPr/>
          <p:nvPr/>
        </p:nvGrpSpPr>
        <p:grpSpPr>
          <a:xfrm>
            <a:off x="1988820" y="0"/>
            <a:ext cx="6309360" cy="1110996"/>
            <a:chOff x="0" y="0"/>
            <a:chExt cx="8412480" cy="1481328"/>
          </a:xfrm>
        </p:grpSpPr>
        <p:sp>
          <p:nvSpPr>
            <p:cNvPr id="13" name="Freeform 13"/>
            <p:cNvSpPr/>
            <p:nvPr/>
          </p:nvSpPr>
          <p:spPr>
            <a:xfrm>
              <a:off x="0" y="0"/>
              <a:ext cx="8412480" cy="1481328"/>
            </a:xfrm>
            <a:custGeom>
              <a:avLst/>
              <a:gdLst/>
              <a:ahLst/>
              <a:cxnLst/>
              <a:rect l="l" t="t" r="r" b="b"/>
              <a:pathLst>
                <a:path w="8412480" h="1481328">
                  <a:moveTo>
                    <a:pt x="0" y="0"/>
                  </a:moveTo>
                  <a:lnTo>
                    <a:pt x="8412480" y="0"/>
                  </a:lnTo>
                  <a:lnTo>
                    <a:pt x="8412480" y="1481328"/>
                  </a:lnTo>
                  <a:lnTo>
                    <a:pt x="0" y="1481328"/>
                  </a:lnTo>
                  <a:close/>
                </a:path>
              </a:pathLst>
            </a:custGeom>
            <a:blipFill>
              <a:blip r:embed="rId4">
                <a:alphaModFix amt="0"/>
              </a:blip>
              <a:stretch>
                <a:fillRect t="-60655" b="-60655"/>
              </a:stretch>
            </a:blipFill>
          </p:spPr>
          <p:txBody>
            <a:bodyPr/>
            <a:lstStyle/>
            <a:p>
              <a:endParaRPr lang="en-US"/>
            </a:p>
          </p:txBody>
        </p:sp>
        <p:sp>
          <p:nvSpPr>
            <p:cNvPr id="14" name="TextBox 14"/>
            <p:cNvSpPr txBox="1"/>
            <p:nvPr/>
          </p:nvSpPr>
          <p:spPr>
            <a:xfrm>
              <a:off x="0" y="-28575"/>
              <a:ext cx="8412480" cy="1509903"/>
            </a:xfrm>
            <a:prstGeom prst="rect">
              <a:avLst/>
            </a:prstGeom>
          </p:spPr>
          <p:txBody>
            <a:bodyPr lIns="0" tIns="0" rIns="0" bIns="0" rtlCol="0" anchor="ctr"/>
            <a:lstStyle/>
            <a:p>
              <a:pPr algn="l">
                <a:lnSpc>
                  <a:spcPts val="4320"/>
                </a:lnSpc>
              </a:pPr>
              <a:r>
                <a:rPr lang="en-US" sz="3600" b="1">
                  <a:solidFill>
                    <a:srgbClr val="FFFFFF"/>
                  </a:solidFill>
                  <a:latin typeface="Arial Bold"/>
                  <a:ea typeface="Arial Bold"/>
                  <a:cs typeface="Arial Bold"/>
                  <a:sym typeface="Arial Bold"/>
                </a:rPr>
                <a:t>ĐẶT VẤN ĐỀ</a:t>
              </a:r>
            </a:p>
          </p:txBody>
        </p:sp>
      </p:grpSp>
      <p:sp>
        <p:nvSpPr>
          <p:cNvPr id="15" name="Freeform 15"/>
          <p:cNvSpPr/>
          <p:nvPr/>
        </p:nvSpPr>
        <p:spPr>
          <a:xfrm>
            <a:off x="264233" y="1333224"/>
            <a:ext cx="11822452" cy="809095"/>
          </a:xfrm>
          <a:custGeom>
            <a:avLst/>
            <a:gdLst/>
            <a:ahLst/>
            <a:cxnLst/>
            <a:rect l="l" t="t" r="r" b="b"/>
            <a:pathLst>
              <a:path w="11822452" h="809095">
                <a:moveTo>
                  <a:pt x="0" y="0"/>
                </a:moveTo>
                <a:lnTo>
                  <a:pt x="11822452" y="0"/>
                </a:lnTo>
                <a:lnTo>
                  <a:pt x="11822452" y="809095"/>
                </a:lnTo>
                <a:lnTo>
                  <a:pt x="0" y="809095"/>
                </a:lnTo>
                <a:lnTo>
                  <a:pt x="0" y="0"/>
                </a:lnTo>
                <a:close/>
              </a:path>
            </a:pathLst>
          </a:custGeom>
          <a:blipFill>
            <a:blip r:embed="rId5"/>
            <a:stretch>
              <a:fillRect/>
            </a:stretch>
          </a:blipFill>
        </p:spPr>
        <p:txBody>
          <a:bodyPr/>
          <a:lstStyle/>
          <a:p>
            <a:endParaRPr lang="en-US"/>
          </a:p>
        </p:txBody>
      </p:sp>
      <p:sp>
        <p:nvSpPr>
          <p:cNvPr id="16" name="TextBox 16"/>
          <p:cNvSpPr txBox="1"/>
          <p:nvPr/>
        </p:nvSpPr>
        <p:spPr>
          <a:xfrm>
            <a:off x="264233" y="2095500"/>
            <a:ext cx="14042531" cy="828675"/>
          </a:xfrm>
          <a:prstGeom prst="rect">
            <a:avLst/>
          </a:prstGeom>
        </p:spPr>
        <p:txBody>
          <a:bodyPr lIns="0" tIns="0" rIns="0" bIns="0" rtlCol="0" anchor="t">
            <a:spAutoFit/>
          </a:bodyPr>
          <a:lstStyle/>
          <a:p>
            <a:pPr algn="l">
              <a:lnSpc>
                <a:spcPts val="3240"/>
              </a:lnSpc>
              <a:spcBef>
                <a:spcPct val="0"/>
              </a:spcBef>
            </a:pPr>
            <a:r>
              <a:rPr lang="en-US" sz="2700" b="1">
                <a:solidFill>
                  <a:srgbClr val="DD2E3A"/>
                </a:solidFill>
                <a:latin typeface="Bai Jamjuree Bold"/>
                <a:ea typeface="Bai Jamjuree Bold"/>
                <a:cs typeface="Bai Jamjuree Bold"/>
                <a:sym typeface="Bai Jamjuree Bold"/>
              </a:rPr>
              <a:t>Mục tiêu</a:t>
            </a:r>
            <a:r>
              <a:rPr lang="en-US" sz="2700" b="1">
                <a:solidFill>
                  <a:srgbClr val="000000"/>
                </a:solidFill>
                <a:latin typeface="Bai Jamjuree Bold"/>
                <a:ea typeface="Bai Jamjuree Bold"/>
                <a:cs typeface="Bai Jamjuree Bold"/>
                <a:sym typeface="Bai Jamjuree Bold"/>
              </a:rPr>
              <a:t>: Quadrotor bám theo bãi đáp di động, giữ theo dõi khi bãi đáp tạm thời bị che khuất, tránh vật cản trong không gian 3D và hạ cánh chính xác.</a:t>
            </a:r>
          </a:p>
        </p:txBody>
      </p:sp>
      <p:grpSp>
        <p:nvGrpSpPr>
          <p:cNvPr id="17" name="Group 17"/>
          <p:cNvGrpSpPr/>
          <p:nvPr/>
        </p:nvGrpSpPr>
        <p:grpSpPr>
          <a:xfrm>
            <a:off x="0" y="0"/>
            <a:ext cx="1645920" cy="1110996"/>
            <a:chOff x="0" y="0"/>
            <a:chExt cx="2194560" cy="1481328"/>
          </a:xfrm>
        </p:grpSpPr>
        <p:sp>
          <p:nvSpPr>
            <p:cNvPr id="18" name="Freeform 18"/>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4">
                <a:alphaModFix amt="0"/>
              </a:blip>
              <a:stretch>
                <a:fillRect l="-36604" r="-36604"/>
              </a:stretch>
            </a:blipFill>
          </p:spPr>
          <p:txBody>
            <a:bodyPr/>
            <a:lstStyle/>
            <a:p>
              <a:endParaRPr lang="en-US"/>
            </a:p>
          </p:txBody>
        </p:sp>
        <p:sp>
          <p:nvSpPr>
            <p:cNvPr id="19" name="TextBox 19"/>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01</a:t>
              </a:r>
            </a:p>
          </p:txBody>
        </p:sp>
      </p:grpSp>
      <p:grpSp>
        <p:nvGrpSpPr>
          <p:cNvPr id="20" name="Group 20"/>
          <p:cNvGrpSpPr/>
          <p:nvPr/>
        </p:nvGrpSpPr>
        <p:grpSpPr>
          <a:xfrm>
            <a:off x="390982" y="2994262"/>
            <a:ext cx="5362956" cy="3771900"/>
            <a:chOff x="0" y="0"/>
            <a:chExt cx="7150608" cy="5029200"/>
          </a:xfrm>
        </p:grpSpPr>
        <p:sp>
          <p:nvSpPr>
            <p:cNvPr id="21" name="Freeform 21"/>
            <p:cNvSpPr/>
            <p:nvPr/>
          </p:nvSpPr>
          <p:spPr>
            <a:xfrm>
              <a:off x="0" y="0"/>
              <a:ext cx="7150608" cy="5029200"/>
            </a:xfrm>
            <a:custGeom>
              <a:avLst/>
              <a:gdLst/>
              <a:ahLst/>
              <a:cxnLst/>
              <a:rect l="l" t="t" r="r" b="b"/>
              <a:pathLst>
                <a:path w="7150608" h="5029200">
                  <a:moveTo>
                    <a:pt x="0" y="219456"/>
                  </a:moveTo>
                  <a:cubicBezTo>
                    <a:pt x="0" y="98298"/>
                    <a:pt x="98298" y="0"/>
                    <a:pt x="219456" y="0"/>
                  </a:cubicBezTo>
                  <a:lnTo>
                    <a:pt x="6931152" y="0"/>
                  </a:lnTo>
                  <a:cubicBezTo>
                    <a:pt x="7052310" y="0"/>
                    <a:pt x="7150608" y="98298"/>
                    <a:pt x="7150608" y="219456"/>
                  </a:cubicBezTo>
                  <a:lnTo>
                    <a:pt x="7150608" y="4809744"/>
                  </a:lnTo>
                  <a:cubicBezTo>
                    <a:pt x="7150608" y="4930902"/>
                    <a:pt x="7052310" y="5029200"/>
                    <a:pt x="6931152" y="5029200"/>
                  </a:cubicBezTo>
                  <a:lnTo>
                    <a:pt x="219456" y="5029200"/>
                  </a:lnTo>
                  <a:cubicBezTo>
                    <a:pt x="98298" y="5029200"/>
                    <a:pt x="0" y="4930902"/>
                    <a:pt x="0" y="4809744"/>
                  </a:cubicBezTo>
                  <a:close/>
                </a:path>
              </a:pathLst>
            </a:custGeom>
            <a:solidFill>
              <a:srgbClr val="F3F4F6"/>
            </a:solidFill>
          </p:spPr>
          <p:txBody>
            <a:bodyPr/>
            <a:lstStyle/>
            <a:p>
              <a:endParaRPr lang="en-US"/>
            </a:p>
          </p:txBody>
        </p:sp>
      </p:grpSp>
      <p:grpSp>
        <p:nvGrpSpPr>
          <p:cNvPr id="22" name="Group 22"/>
          <p:cNvGrpSpPr/>
          <p:nvPr/>
        </p:nvGrpSpPr>
        <p:grpSpPr>
          <a:xfrm>
            <a:off x="596722" y="3172570"/>
            <a:ext cx="4951476" cy="1440180"/>
            <a:chOff x="0" y="0"/>
            <a:chExt cx="6601968" cy="1920240"/>
          </a:xfrm>
        </p:grpSpPr>
        <p:sp>
          <p:nvSpPr>
            <p:cNvPr id="23" name="Freeform 23"/>
            <p:cNvSpPr/>
            <p:nvPr/>
          </p:nvSpPr>
          <p:spPr>
            <a:xfrm>
              <a:off x="0" y="0"/>
              <a:ext cx="6601968" cy="1920240"/>
            </a:xfrm>
            <a:custGeom>
              <a:avLst/>
              <a:gdLst/>
              <a:ahLst/>
              <a:cxnLst/>
              <a:rect l="l" t="t" r="r" b="b"/>
              <a:pathLst>
                <a:path w="6601968" h="1920240">
                  <a:moveTo>
                    <a:pt x="0" y="182880"/>
                  </a:moveTo>
                  <a:cubicBezTo>
                    <a:pt x="0" y="81915"/>
                    <a:pt x="81915" y="0"/>
                    <a:pt x="182880" y="0"/>
                  </a:cubicBezTo>
                  <a:lnTo>
                    <a:pt x="6419088" y="0"/>
                  </a:lnTo>
                  <a:cubicBezTo>
                    <a:pt x="6520053" y="0"/>
                    <a:pt x="6601968" y="81915"/>
                    <a:pt x="6601968" y="182880"/>
                  </a:cubicBezTo>
                  <a:lnTo>
                    <a:pt x="6601968" y="1737360"/>
                  </a:lnTo>
                  <a:cubicBezTo>
                    <a:pt x="6601968" y="1838325"/>
                    <a:pt x="6520053" y="1920240"/>
                    <a:pt x="6419088" y="1920240"/>
                  </a:cubicBezTo>
                  <a:lnTo>
                    <a:pt x="182880" y="1920240"/>
                  </a:lnTo>
                  <a:cubicBezTo>
                    <a:pt x="81915" y="1920240"/>
                    <a:pt x="0" y="1838325"/>
                    <a:pt x="0" y="1737360"/>
                  </a:cubicBezTo>
                  <a:close/>
                </a:path>
              </a:pathLst>
            </a:custGeom>
            <a:solidFill>
              <a:srgbClr val="FFFFFF"/>
            </a:solidFill>
          </p:spPr>
          <p:txBody>
            <a:bodyPr/>
            <a:lstStyle/>
            <a:p>
              <a:endParaRPr lang="en-US"/>
            </a:p>
          </p:txBody>
        </p:sp>
      </p:grpSp>
      <p:sp>
        <p:nvSpPr>
          <p:cNvPr id="24" name="AutoShape 24"/>
          <p:cNvSpPr/>
          <p:nvPr/>
        </p:nvSpPr>
        <p:spPr>
          <a:xfrm>
            <a:off x="792938" y="4397501"/>
            <a:ext cx="4559044" cy="19017"/>
          </a:xfrm>
          <a:prstGeom prst="line">
            <a:avLst/>
          </a:prstGeom>
          <a:ln w="9525" cap="rnd">
            <a:solidFill>
              <a:srgbClr val="9CA3AF"/>
            </a:solidFill>
            <a:prstDash val="solid"/>
            <a:headEnd type="none" w="sm" len="sm"/>
            <a:tailEnd type="none" w="sm" len="sm"/>
          </a:ln>
        </p:spPr>
        <p:txBody>
          <a:bodyPr/>
          <a:lstStyle/>
          <a:p>
            <a:endParaRPr lang="en-US"/>
          </a:p>
        </p:txBody>
      </p:sp>
      <p:sp>
        <p:nvSpPr>
          <p:cNvPr id="25" name="AutoShape 25"/>
          <p:cNvSpPr/>
          <p:nvPr/>
        </p:nvSpPr>
        <p:spPr>
          <a:xfrm>
            <a:off x="1400634" y="3564997"/>
            <a:ext cx="861055" cy="38106"/>
          </a:xfrm>
          <a:prstGeom prst="line">
            <a:avLst/>
          </a:prstGeom>
          <a:ln w="19050" cap="rnd">
            <a:solidFill>
              <a:srgbClr val="1F2937"/>
            </a:solidFill>
            <a:prstDash val="solid"/>
            <a:headEnd type="none" w="sm" len="sm"/>
            <a:tailEnd type="none" w="sm" len="sm"/>
          </a:ln>
        </p:spPr>
        <p:txBody>
          <a:bodyPr/>
          <a:lstStyle/>
          <a:p>
            <a:endParaRPr lang="en-US"/>
          </a:p>
        </p:txBody>
      </p:sp>
      <p:grpSp>
        <p:nvGrpSpPr>
          <p:cNvPr id="26" name="Group 26"/>
          <p:cNvGrpSpPr/>
          <p:nvPr/>
        </p:nvGrpSpPr>
        <p:grpSpPr>
          <a:xfrm>
            <a:off x="1250328" y="3448985"/>
            <a:ext cx="338709" cy="78105"/>
            <a:chOff x="0" y="0"/>
            <a:chExt cx="451612" cy="104140"/>
          </a:xfrm>
        </p:grpSpPr>
        <p:sp>
          <p:nvSpPr>
            <p:cNvPr id="27" name="Freeform 27"/>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28" name="Group 28"/>
          <p:cNvGrpSpPr/>
          <p:nvPr/>
        </p:nvGrpSpPr>
        <p:grpSpPr>
          <a:xfrm>
            <a:off x="2073288" y="3448985"/>
            <a:ext cx="338709" cy="78105"/>
            <a:chOff x="0" y="0"/>
            <a:chExt cx="451612" cy="104140"/>
          </a:xfrm>
        </p:grpSpPr>
        <p:sp>
          <p:nvSpPr>
            <p:cNvPr id="29" name="Freeform 29"/>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30" name="Group 30"/>
          <p:cNvGrpSpPr/>
          <p:nvPr/>
        </p:nvGrpSpPr>
        <p:grpSpPr>
          <a:xfrm>
            <a:off x="1675524" y="3510707"/>
            <a:ext cx="311277" cy="174117"/>
            <a:chOff x="0" y="0"/>
            <a:chExt cx="415036" cy="232156"/>
          </a:xfrm>
        </p:grpSpPr>
        <p:sp>
          <p:nvSpPr>
            <p:cNvPr id="31" name="Freeform 31"/>
            <p:cNvSpPr/>
            <p:nvPr/>
          </p:nvSpPr>
          <p:spPr>
            <a:xfrm>
              <a:off x="0" y="0"/>
              <a:ext cx="415036" cy="232156"/>
            </a:xfrm>
            <a:custGeom>
              <a:avLst/>
              <a:gdLst/>
              <a:ahLst/>
              <a:cxnLst/>
              <a:rect l="l" t="t" r="r" b="b"/>
              <a:pathLst>
                <a:path w="415036" h="232156">
                  <a:moveTo>
                    <a:pt x="0" y="58039"/>
                  </a:moveTo>
                  <a:cubicBezTo>
                    <a:pt x="0" y="26035"/>
                    <a:pt x="26035" y="0"/>
                    <a:pt x="58039" y="0"/>
                  </a:cubicBezTo>
                  <a:lnTo>
                    <a:pt x="356997" y="0"/>
                  </a:lnTo>
                  <a:cubicBezTo>
                    <a:pt x="389001" y="0"/>
                    <a:pt x="415036" y="26035"/>
                    <a:pt x="415036" y="58039"/>
                  </a:cubicBezTo>
                  <a:lnTo>
                    <a:pt x="415036" y="174117"/>
                  </a:lnTo>
                  <a:cubicBezTo>
                    <a:pt x="415036" y="206121"/>
                    <a:pt x="389001" y="232156"/>
                    <a:pt x="356997" y="232156"/>
                  </a:cubicBezTo>
                  <a:lnTo>
                    <a:pt x="58039" y="232156"/>
                  </a:lnTo>
                  <a:cubicBezTo>
                    <a:pt x="26035" y="232156"/>
                    <a:pt x="0" y="206121"/>
                    <a:pt x="0" y="174117"/>
                  </a:cubicBezTo>
                  <a:close/>
                </a:path>
              </a:pathLst>
            </a:custGeom>
            <a:solidFill>
              <a:srgbClr val="1F2937"/>
            </a:solidFill>
            <a:ln w="9525" cap="sq">
              <a:solidFill>
                <a:srgbClr val="1F2937"/>
              </a:solidFill>
              <a:prstDash val="solid"/>
              <a:miter/>
            </a:ln>
          </p:spPr>
          <p:txBody>
            <a:bodyPr/>
            <a:lstStyle/>
            <a:p>
              <a:endParaRPr lang="en-US"/>
            </a:p>
          </p:txBody>
        </p:sp>
      </p:grpSp>
      <p:grpSp>
        <p:nvGrpSpPr>
          <p:cNvPr id="32" name="Group 32"/>
          <p:cNvGrpSpPr/>
          <p:nvPr/>
        </p:nvGrpSpPr>
        <p:grpSpPr>
          <a:xfrm>
            <a:off x="2301697" y="4232893"/>
            <a:ext cx="1116330" cy="183642"/>
            <a:chOff x="0" y="0"/>
            <a:chExt cx="1488440" cy="244856"/>
          </a:xfrm>
        </p:grpSpPr>
        <p:sp>
          <p:nvSpPr>
            <p:cNvPr id="33" name="Freeform 33"/>
            <p:cNvSpPr/>
            <p:nvPr/>
          </p:nvSpPr>
          <p:spPr>
            <a:xfrm>
              <a:off x="0" y="0"/>
              <a:ext cx="1488440" cy="244856"/>
            </a:xfrm>
            <a:custGeom>
              <a:avLst/>
              <a:gdLst/>
              <a:ahLst/>
              <a:cxnLst/>
              <a:rect l="l" t="t" r="r" b="b"/>
              <a:pathLst>
                <a:path w="1488440" h="244856">
                  <a:moveTo>
                    <a:pt x="0" y="0"/>
                  </a:moveTo>
                  <a:lnTo>
                    <a:pt x="1488440" y="0"/>
                  </a:lnTo>
                  <a:lnTo>
                    <a:pt x="1488440" y="244856"/>
                  </a:lnTo>
                  <a:lnTo>
                    <a:pt x="0" y="244856"/>
                  </a:lnTo>
                  <a:close/>
                </a:path>
              </a:pathLst>
            </a:custGeom>
            <a:blipFill>
              <a:blip r:embed="rId4">
                <a:alphaModFix amt="0"/>
              </a:blip>
              <a:stretch>
                <a:fillRect t="-68446" b="-68446"/>
              </a:stretch>
            </a:blipFill>
            <a:ln w="19050" cap="sq">
              <a:solidFill>
                <a:srgbClr val="6B7280"/>
              </a:solidFill>
              <a:prstDash val="dash"/>
              <a:miter/>
            </a:ln>
          </p:spPr>
          <p:txBody>
            <a:bodyPr/>
            <a:lstStyle/>
            <a:p>
              <a:endParaRPr lang="en-US"/>
            </a:p>
          </p:txBody>
        </p:sp>
      </p:grpSp>
      <p:grpSp>
        <p:nvGrpSpPr>
          <p:cNvPr id="34" name="Group 34"/>
          <p:cNvGrpSpPr/>
          <p:nvPr/>
        </p:nvGrpSpPr>
        <p:grpSpPr>
          <a:xfrm>
            <a:off x="3952380" y="4237655"/>
            <a:ext cx="1106805" cy="174117"/>
            <a:chOff x="0" y="0"/>
            <a:chExt cx="1475740" cy="232156"/>
          </a:xfrm>
        </p:grpSpPr>
        <p:sp>
          <p:nvSpPr>
            <p:cNvPr id="35" name="Freeform 35"/>
            <p:cNvSpPr/>
            <p:nvPr/>
          </p:nvSpPr>
          <p:spPr>
            <a:xfrm>
              <a:off x="0" y="0"/>
              <a:ext cx="1475740" cy="232156"/>
            </a:xfrm>
            <a:custGeom>
              <a:avLst/>
              <a:gdLst/>
              <a:ahLst/>
              <a:cxnLst/>
              <a:rect l="l" t="t" r="r" b="b"/>
              <a:pathLst>
                <a:path w="1475740" h="232156">
                  <a:moveTo>
                    <a:pt x="0" y="0"/>
                  </a:moveTo>
                  <a:lnTo>
                    <a:pt x="1475740" y="0"/>
                  </a:lnTo>
                  <a:lnTo>
                    <a:pt x="1475740" y="232156"/>
                  </a:lnTo>
                  <a:lnTo>
                    <a:pt x="0" y="232156"/>
                  </a:lnTo>
                  <a:close/>
                </a:path>
              </a:pathLst>
            </a:custGeom>
            <a:solidFill>
              <a:srgbClr val="1F2937"/>
            </a:solidFill>
            <a:ln w="9525" cap="sq">
              <a:solidFill>
                <a:srgbClr val="1F2937"/>
              </a:solidFill>
              <a:prstDash val="solid"/>
              <a:miter/>
            </a:ln>
          </p:spPr>
          <p:txBody>
            <a:bodyPr/>
            <a:lstStyle/>
            <a:p>
              <a:endParaRPr lang="en-US"/>
            </a:p>
          </p:txBody>
        </p:sp>
      </p:grpSp>
      <p:sp>
        <p:nvSpPr>
          <p:cNvPr id="36" name="AutoShape 36"/>
          <p:cNvSpPr/>
          <p:nvPr/>
        </p:nvSpPr>
        <p:spPr>
          <a:xfrm flipV="1">
            <a:off x="3429000" y="4324679"/>
            <a:ext cx="533400" cy="19084"/>
          </a:xfrm>
          <a:prstGeom prst="line">
            <a:avLst/>
          </a:prstGeom>
          <a:ln w="19050" cap="rnd">
            <a:solidFill>
              <a:srgbClr val="E0303A"/>
            </a:solidFill>
            <a:prstDash val="solid"/>
            <a:headEnd type="none" w="sm" len="sm"/>
            <a:tailEnd type="triangle" w="lg" len="med"/>
          </a:ln>
        </p:spPr>
        <p:txBody>
          <a:bodyPr/>
          <a:lstStyle/>
          <a:p>
            <a:endParaRPr lang="en-US"/>
          </a:p>
        </p:txBody>
      </p:sp>
      <p:sp>
        <p:nvSpPr>
          <p:cNvPr id="37" name="AutoShape 37"/>
          <p:cNvSpPr/>
          <p:nvPr/>
        </p:nvSpPr>
        <p:spPr>
          <a:xfrm>
            <a:off x="1819261" y="3681866"/>
            <a:ext cx="2698432" cy="545031"/>
          </a:xfrm>
          <a:prstGeom prst="line">
            <a:avLst/>
          </a:prstGeom>
          <a:ln w="9525" cap="rnd">
            <a:solidFill>
              <a:srgbClr val="E0303A"/>
            </a:solidFill>
            <a:prstDash val="solid"/>
            <a:headEnd type="none" w="sm" len="sm"/>
            <a:tailEnd type="triangle" w="lg" len="med"/>
          </a:ln>
        </p:spPr>
        <p:txBody>
          <a:bodyPr/>
          <a:lstStyle/>
          <a:p>
            <a:endParaRPr lang="en-US"/>
          </a:p>
        </p:txBody>
      </p:sp>
      <p:grpSp>
        <p:nvGrpSpPr>
          <p:cNvPr id="38" name="Group 38"/>
          <p:cNvGrpSpPr/>
          <p:nvPr/>
        </p:nvGrpSpPr>
        <p:grpSpPr>
          <a:xfrm>
            <a:off x="596722" y="4914502"/>
            <a:ext cx="493776" cy="493776"/>
            <a:chOff x="0" y="0"/>
            <a:chExt cx="658368" cy="658368"/>
          </a:xfrm>
        </p:grpSpPr>
        <p:sp>
          <p:nvSpPr>
            <p:cNvPr id="39" name="Freeform 39"/>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E0303A"/>
            </a:solidFill>
          </p:spPr>
          <p:txBody>
            <a:bodyPr/>
            <a:lstStyle/>
            <a:p>
              <a:endParaRPr lang="en-US"/>
            </a:p>
          </p:txBody>
        </p:sp>
      </p:grpSp>
      <p:grpSp>
        <p:nvGrpSpPr>
          <p:cNvPr id="40" name="Group 40"/>
          <p:cNvGrpSpPr/>
          <p:nvPr/>
        </p:nvGrpSpPr>
        <p:grpSpPr>
          <a:xfrm>
            <a:off x="596722" y="4914502"/>
            <a:ext cx="493776" cy="523951"/>
            <a:chOff x="0" y="0"/>
            <a:chExt cx="658368" cy="698602"/>
          </a:xfrm>
        </p:grpSpPr>
        <p:sp>
          <p:nvSpPr>
            <p:cNvPr id="41" name="Freeform 41"/>
            <p:cNvSpPr/>
            <p:nvPr/>
          </p:nvSpPr>
          <p:spPr>
            <a:xfrm>
              <a:off x="0" y="0"/>
              <a:ext cx="658368" cy="698602"/>
            </a:xfrm>
            <a:custGeom>
              <a:avLst/>
              <a:gdLst/>
              <a:ahLst/>
              <a:cxnLst/>
              <a:rect l="l" t="t" r="r" b="b"/>
              <a:pathLst>
                <a:path w="658368" h="698602">
                  <a:moveTo>
                    <a:pt x="0" y="0"/>
                  </a:moveTo>
                  <a:lnTo>
                    <a:pt x="658368" y="0"/>
                  </a:lnTo>
                  <a:lnTo>
                    <a:pt x="658368" y="698602"/>
                  </a:lnTo>
                  <a:lnTo>
                    <a:pt x="0" y="698602"/>
                  </a:lnTo>
                  <a:close/>
                </a:path>
              </a:pathLst>
            </a:custGeom>
            <a:blipFill>
              <a:blip r:embed="rId4">
                <a:alphaModFix amt="0"/>
              </a:blip>
              <a:stretch>
                <a:fillRect l="-78303" r="-78303" b="5759"/>
              </a:stretch>
            </a:blipFill>
          </p:spPr>
          <p:txBody>
            <a:bodyPr/>
            <a:lstStyle/>
            <a:p>
              <a:endParaRPr lang="en-US"/>
            </a:p>
          </p:txBody>
        </p:sp>
        <p:sp>
          <p:nvSpPr>
            <p:cNvPr id="42" name="TextBox 42"/>
            <p:cNvSpPr txBox="1"/>
            <p:nvPr/>
          </p:nvSpPr>
          <p:spPr>
            <a:xfrm>
              <a:off x="0" y="-9525"/>
              <a:ext cx="658368" cy="708127"/>
            </a:xfrm>
            <a:prstGeom prst="rect">
              <a:avLst/>
            </a:prstGeom>
          </p:spPr>
          <p:txBody>
            <a:bodyPr lIns="0" tIns="0" rIns="0" bIns="0" rtlCol="0" anchor="ctr"/>
            <a:lstStyle/>
            <a:p>
              <a:pPr algn="ctr">
                <a:lnSpc>
                  <a:spcPts val="2520"/>
                </a:lnSpc>
              </a:pPr>
              <a:r>
                <a:rPr lang="en-US" sz="2100" b="1">
                  <a:solidFill>
                    <a:srgbClr val="FFFFFF"/>
                  </a:solidFill>
                  <a:latin typeface="Bai Jamjuree Bold"/>
                  <a:ea typeface="Bai Jamjuree Bold"/>
                  <a:cs typeface="Bai Jamjuree Bold"/>
                  <a:sym typeface="Bai Jamjuree Bold"/>
                </a:rPr>
                <a:t>1</a:t>
              </a:r>
            </a:p>
          </p:txBody>
        </p:sp>
      </p:grpSp>
      <p:grpSp>
        <p:nvGrpSpPr>
          <p:cNvPr id="43" name="Group 43"/>
          <p:cNvGrpSpPr/>
          <p:nvPr/>
        </p:nvGrpSpPr>
        <p:grpSpPr>
          <a:xfrm>
            <a:off x="1241374" y="4736194"/>
            <a:ext cx="4320540" cy="850392"/>
            <a:chOff x="0" y="0"/>
            <a:chExt cx="5760720" cy="1133856"/>
          </a:xfrm>
        </p:grpSpPr>
        <p:sp>
          <p:nvSpPr>
            <p:cNvPr id="44" name="Freeform 44"/>
            <p:cNvSpPr/>
            <p:nvPr/>
          </p:nvSpPr>
          <p:spPr>
            <a:xfrm>
              <a:off x="0" y="0"/>
              <a:ext cx="5760720" cy="1133856"/>
            </a:xfrm>
            <a:custGeom>
              <a:avLst/>
              <a:gdLst/>
              <a:ahLst/>
              <a:cxnLst/>
              <a:rect l="l" t="t" r="r" b="b"/>
              <a:pathLst>
                <a:path w="5760720" h="1133856">
                  <a:moveTo>
                    <a:pt x="0" y="0"/>
                  </a:moveTo>
                  <a:lnTo>
                    <a:pt x="5760720" y="0"/>
                  </a:lnTo>
                  <a:lnTo>
                    <a:pt x="5760720" y="1133856"/>
                  </a:lnTo>
                  <a:lnTo>
                    <a:pt x="0" y="1133856"/>
                  </a:lnTo>
                  <a:close/>
                </a:path>
              </a:pathLst>
            </a:custGeom>
            <a:blipFill>
              <a:blip r:embed="rId4">
                <a:alphaModFix amt="0"/>
              </a:blip>
              <a:stretch>
                <a:fillRect t="-48996" b="-48996"/>
              </a:stretch>
            </a:blipFill>
          </p:spPr>
          <p:txBody>
            <a:bodyPr/>
            <a:lstStyle/>
            <a:p>
              <a:endParaRPr lang="en-US"/>
            </a:p>
          </p:txBody>
        </p:sp>
        <p:sp>
          <p:nvSpPr>
            <p:cNvPr id="45" name="TextBox 45"/>
            <p:cNvSpPr txBox="1"/>
            <p:nvPr/>
          </p:nvSpPr>
          <p:spPr>
            <a:xfrm>
              <a:off x="0" y="-9525"/>
              <a:ext cx="5760720" cy="1143381"/>
            </a:xfrm>
            <a:prstGeom prst="rect">
              <a:avLst/>
            </a:prstGeom>
          </p:spPr>
          <p:txBody>
            <a:bodyPr lIns="0" tIns="0" rIns="0" bIns="0" rtlCol="0" anchor="ctr"/>
            <a:lstStyle/>
            <a:p>
              <a:pPr algn="l">
                <a:lnSpc>
                  <a:spcPts val="3240"/>
                </a:lnSpc>
              </a:pPr>
              <a:r>
                <a:rPr lang="en-US" sz="2700" b="1">
                  <a:solidFill>
                    <a:srgbClr val="1F2937"/>
                  </a:solidFill>
                  <a:latin typeface="Bai Jamjuree Bold"/>
                  <a:ea typeface="Bai Jamjuree Bold"/>
                  <a:cs typeface="Bai Jamjuree Bold"/>
                  <a:sym typeface="Bai Jamjuree Bold"/>
                </a:rPr>
                <a:t>Bám mục tiêu di động</a:t>
              </a:r>
            </a:p>
          </p:txBody>
        </p:sp>
      </p:grpSp>
      <p:sp>
        <p:nvSpPr>
          <p:cNvPr id="46" name="TextBox 46"/>
          <p:cNvSpPr txBox="1"/>
          <p:nvPr/>
        </p:nvSpPr>
        <p:spPr>
          <a:xfrm>
            <a:off x="596722" y="5631925"/>
            <a:ext cx="4951476" cy="952500"/>
          </a:xfrm>
          <a:prstGeom prst="rect">
            <a:avLst/>
          </a:prstGeom>
        </p:spPr>
        <p:txBody>
          <a:bodyPr lIns="0" tIns="0" rIns="0" bIns="0" rtlCol="0" anchor="t">
            <a:spAutoFit/>
          </a:bodyPr>
          <a:lstStyle/>
          <a:p>
            <a:pPr algn="l">
              <a:lnSpc>
                <a:spcPts val="2520"/>
              </a:lnSpc>
            </a:pPr>
            <a:r>
              <a:rPr lang="en-US" sz="2100">
                <a:solidFill>
                  <a:srgbClr val="4B5563"/>
                </a:solidFill>
                <a:latin typeface="Bai Jamjuree"/>
                <a:ea typeface="Bai Jamjuree"/>
                <a:cs typeface="Bai Jamjuree"/>
                <a:sym typeface="Bai Jamjuree"/>
              </a:rPr>
              <a:t>Bãi đáp liên tục đổi vị trí và có thể bị che khuất tạm thời, quadrotor phải liên tục cập nhật hướng bay.</a:t>
            </a:r>
          </a:p>
        </p:txBody>
      </p:sp>
      <p:grpSp>
        <p:nvGrpSpPr>
          <p:cNvPr id="47" name="Group 47"/>
          <p:cNvGrpSpPr/>
          <p:nvPr/>
        </p:nvGrpSpPr>
        <p:grpSpPr>
          <a:xfrm>
            <a:off x="6165418" y="2994262"/>
            <a:ext cx="5362956" cy="3771900"/>
            <a:chOff x="0" y="0"/>
            <a:chExt cx="7150608" cy="5029200"/>
          </a:xfrm>
        </p:grpSpPr>
        <p:sp>
          <p:nvSpPr>
            <p:cNvPr id="48" name="Freeform 48"/>
            <p:cNvSpPr/>
            <p:nvPr/>
          </p:nvSpPr>
          <p:spPr>
            <a:xfrm>
              <a:off x="0" y="0"/>
              <a:ext cx="7150608" cy="5029200"/>
            </a:xfrm>
            <a:custGeom>
              <a:avLst/>
              <a:gdLst/>
              <a:ahLst/>
              <a:cxnLst/>
              <a:rect l="l" t="t" r="r" b="b"/>
              <a:pathLst>
                <a:path w="7150608" h="5029200">
                  <a:moveTo>
                    <a:pt x="0" y="219456"/>
                  </a:moveTo>
                  <a:cubicBezTo>
                    <a:pt x="0" y="98298"/>
                    <a:pt x="98298" y="0"/>
                    <a:pt x="219456" y="0"/>
                  </a:cubicBezTo>
                  <a:lnTo>
                    <a:pt x="6931152" y="0"/>
                  </a:lnTo>
                  <a:cubicBezTo>
                    <a:pt x="7052310" y="0"/>
                    <a:pt x="7150608" y="98298"/>
                    <a:pt x="7150608" y="219456"/>
                  </a:cubicBezTo>
                  <a:lnTo>
                    <a:pt x="7150608" y="4809744"/>
                  </a:lnTo>
                  <a:cubicBezTo>
                    <a:pt x="7150608" y="4930902"/>
                    <a:pt x="7052310" y="5029200"/>
                    <a:pt x="6931152" y="5029200"/>
                  </a:cubicBezTo>
                  <a:lnTo>
                    <a:pt x="219456" y="5029200"/>
                  </a:lnTo>
                  <a:cubicBezTo>
                    <a:pt x="98298" y="5029200"/>
                    <a:pt x="0" y="4930902"/>
                    <a:pt x="0" y="4809744"/>
                  </a:cubicBezTo>
                  <a:close/>
                </a:path>
              </a:pathLst>
            </a:custGeom>
            <a:solidFill>
              <a:srgbClr val="F3F4F6"/>
            </a:solidFill>
          </p:spPr>
          <p:txBody>
            <a:bodyPr/>
            <a:lstStyle/>
            <a:p>
              <a:endParaRPr lang="en-US"/>
            </a:p>
          </p:txBody>
        </p:sp>
      </p:grpSp>
      <p:grpSp>
        <p:nvGrpSpPr>
          <p:cNvPr id="49" name="Group 49"/>
          <p:cNvGrpSpPr/>
          <p:nvPr/>
        </p:nvGrpSpPr>
        <p:grpSpPr>
          <a:xfrm>
            <a:off x="6371158" y="3172570"/>
            <a:ext cx="4951476" cy="1440180"/>
            <a:chOff x="0" y="0"/>
            <a:chExt cx="6601968" cy="1920240"/>
          </a:xfrm>
        </p:grpSpPr>
        <p:sp>
          <p:nvSpPr>
            <p:cNvPr id="50" name="Freeform 50"/>
            <p:cNvSpPr/>
            <p:nvPr/>
          </p:nvSpPr>
          <p:spPr>
            <a:xfrm>
              <a:off x="0" y="0"/>
              <a:ext cx="6601968" cy="1920240"/>
            </a:xfrm>
            <a:custGeom>
              <a:avLst/>
              <a:gdLst/>
              <a:ahLst/>
              <a:cxnLst/>
              <a:rect l="l" t="t" r="r" b="b"/>
              <a:pathLst>
                <a:path w="6601968" h="1920240">
                  <a:moveTo>
                    <a:pt x="0" y="182880"/>
                  </a:moveTo>
                  <a:cubicBezTo>
                    <a:pt x="0" y="81915"/>
                    <a:pt x="81915" y="0"/>
                    <a:pt x="182880" y="0"/>
                  </a:cubicBezTo>
                  <a:lnTo>
                    <a:pt x="6419088" y="0"/>
                  </a:lnTo>
                  <a:cubicBezTo>
                    <a:pt x="6520053" y="0"/>
                    <a:pt x="6601968" y="81915"/>
                    <a:pt x="6601968" y="182880"/>
                  </a:cubicBezTo>
                  <a:lnTo>
                    <a:pt x="6601968" y="1737360"/>
                  </a:lnTo>
                  <a:cubicBezTo>
                    <a:pt x="6601968" y="1838325"/>
                    <a:pt x="6520053" y="1920240"/>
                    <a:pt x="6419088" y="1920240"/>
                  </a:cubicBezTo>
                  <a:lnTo>
                    <a:pt x="182880" y="1920240"/>
                  </a:lnTo>
                  <a:cubicBezTo>
                    <a:pt x="81915" y="1920240"/>
                    <a:pt x="0" y="1838325"/>
                    <a:pt x="0" y="1737360"/>
                  </a:cubicBezTo>
                  <a:close/>
                </a:path>
              </a:pathLst>
            </a:custGeom>
            <a:solidFill>
              <a:srgbClr val="FFFFFF"/>
            </a:solidFill>
          </p:spPr>
          <p:txBody>
            <a:bodyPr/>
            <a:lstStyle/>
            <a:p>
              <a:endParaRPr lang="en-US"/>
            </a:p>
          </p:txBody>
        </p:sp>
      </p:grpSp>
      <p:sp>
        <p:nvSpPr>
          <p:cNvPr id="51" name="AutoShape 51"/>
          <p:cNvSpPr/>
          <p:nvPr/>
        </p:nvSpPr>
        <p:spPr>
          <a:xfrm>
            <a:off x="6567374" y="4397501"/>
            <a:ext cx="4559044" cy="19017"/>
          </a:xfrm>
          <a:prstGeom prst="line">
            <a:avLst/>
          </a:prstGeom>
          <a:ln w="9525" cap="rnd">
            <a:solidFill>
              <a:srgbClr val="9CA3AF"/>
            </a:solidFill>
            <a:prstDash val="solid"/>
            <a:headEnd type="none" w="sm" len="sm"/>
            <a:tailEnd type="none" w="sm" len="sm"/>
          </a:ln>
        </p:spPr>
        <p:txBody>
          <a:bodyPr/>
          <a:lstStyle/>
          <a:p>
            <a:endParaRPr lang="en-US"/>
          </a:p>
        </p:txBody>
      </p:sp>
      <p:sp>
        <p:nvSpPr>
          <p:cNvPr id="52" name="AutoShape 52"/>
          <p:cNvSpPr/>
          <p:nvPr/>
        </p:nvSpPr>
        <p:spPr>
          <a:xfrm>
            <a:off x="6763590" y="3839317"/>
            <a:ext cx="861055" cy="38106"/>
          </a:xfrm>
          <a:prstGeom prst="line">
            <a:avLst/>
          </a:prstGeom>
          <a:ln w="19050" cap="rnd">
            <a:solidFill>
              <a:srgbClr val="1F2937"/>
            </a:solidFill>
            <a:prstDash val="solid"/>
            <a:headEnd type="none" w="sm" len="sm"/>
            <a:tailEnd type="none" w="sm" len="sm"/>
          </a:ln>
        </p:spPr>
        <p:txBody>
          <a:bodyPr/>
          <a:lstStyle/>
          <a:p>
            <a:endParaRPr lang="en-US"/>
          </a:p>
        </p:txBody>
      </p:sp>
      <p:grpSp>
        <p:nvGrpSpPr>
          <p:cNvPr id="53" name="Group 53"/>
          <p:cNvGrpSpPr/>
          <p:nvPr/>
        </p:nvGrpSpPr>
        <p:grpSpPr>
          <a:xfrm>
            <a:off x="6613284" y="3723305"/>
            <a:ext cx="338709" cy="78105"/>
            <a:chOff x="0" y="0"/>
            <a:chExt cx="451612" cy="104140"/>
          </a:xfrm>
        </p:grpSpPr>
        <p:sp>
          <p:nvSpPr>
            <p:cNvPr id="54" name="Freeform 54"/>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55" name="Group 55"/>
          <p:cNvGrpSpPr/>
          <p:nvPr/>
        </p:nvGrpSpPr>
        <p:grpSpPr>
          <a:xfrm>
            <a:off x="7436244" y="3723305"/>
            <a:ext cx="338709" cy="78105"/>
            <a:chOff x="0" y="0"/>
            <a:chExt cx="451612" cy="104140"/>
          </a:xfrm>
        </p:grpSpPr>
        <p:sp>
          <p:nvSpPr>
            <p:cNvPr id="56" name="Freeform 56"/>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57" name="Group 57"/>
          <p:cNvGrpSpPr/>
          <p:nvPr/>
        </p:nvGrpSpPr>
        <p:grpSpPr>
          <a:xfrm>
            <a:off x="7038480" y="3785027"/>
            <a:ext cx="311277" cy="174117"/>
            <a:chOff x="0" y="0"/>
            <a:chExt cx="415036" cy="232156"/>
          </a:xfrm>
        </p:grpSpPr>
        <p:sp>
          <p:nvSpPr>
            <p:cNvPr id="58" name="Freeform 58"/>
            <p:cNvSpPr/>
            <p:nvPr/>
          </p:nvSpPr>
          <p:spPr>
            <a:xfrm>
              <a:off x="0" y="0"/>
              <a:ext cx="415036" cy="232156"/>
            </a:xfrm>
            <a:custGeom>
              <a:avLst/>
              <a:gdLst/>
              <a:ahLst/>
              <a:cxnLst/>
              <a:rect l="l" t="t" r="r" b="b"/>
              <a:pathLst>
                <a:path w="415036" h="232156">
                  <a:moveTo>
                    <a:pt x="0" y="58039"/>
                  </a:moveTo>
                  <a:cubicBezTo>
                    <a:pt x="0" y="26035"/>
                    <a:pt x="26035" y="0"/>
                    <a:pt x="58039" y="0"/>
                  </a:cubicBezTo>
                  <a:lnTo>
                    <a:pt x="356997" y="0"/>
                  </a:lnTo>
                  <a:cubicBezTo>
                    <a:pt x="389001" y="0"/>
                    <a:pt x="415036" y="26035"/>
                    <a:pt x="415036" y="58039"/>
                  </a:cubicBezTo>
                  <a:lnTo>
                    <a:pt x="415036" y="174117"/>
                  </a:lnTo>
                  <a:cubicBezTo>
                    <a:pt x="415036" y="206121"/>
                    <a:pt x="389001" y="232156"/>
                    <a:pt x="356997" y="232156"/>
                  </a:cubicBezTo>
                  <a:lnTo>
                    <a:pt x="58039" y="232156"/>
                  </a:lnTo>
                  <a:cubicBezTo>
                    <a:pt x="26035" y="232156"/>
                    <a:pt x="0" y="206121"/>
                    <a:pt x="0" y="174117"/>
                  </a:cubicBezTo>
                  <a:close/>
                </a:path>
              </a:pathLst>
            </a:custGeom>
            <a:solidFill>
              <a:srgbClr val="1F2937"/>
            </a:solidFill>
            <a:ln w="9525" cap="sq">
              <a:solidFill>
                <a:srgbClr val="1F2937"/>
              </a:solidFill>
              <a:prstDash val="solid"/>
              <a:miter/>
            </a:ln>
          </p:spPr>
          <p:txBody>
            <a:bodyPr/>
            <a:lstStyle/>
            <a:p>
              <a:endParaRPr lang="en-US"/>
            </a:p>
          </p:txBody>
        </p:sp>
      </p:grpSp>
      <p:grpSp>
        <p:nvGrpSpPr>
          <p:cNvPr id="59" name="Group 59"/>
          <p:cNvGrpSpPr/>
          <p:nvPr/>
        </p:nvGrpSpPr>
        <p:grpSpPr>
          <a:xfrm>
            <a:off x="8565718" y="3584050"/>
            <a:ext cx="411480" cy="822960"/>
            <a:chOff x="0" y="0"/>
            <a:chExt cx="548640" cy="1097280"/>
          </a:xfrm>
        </p:grpSpPr>
        <p:sp>
          <p:nvSpPr>
            <p:cNvPr id="60" name="Freeform 60"/>
            <p:cNvSpPr/>
            <p:nvPr/>
          </p:nvSpPr>
          <p:spPr>
            <a:xfrm>
              <a:off x="0" y="0"/>
              <a:ext cx="548640" cy="1097280"/>
            </a:xfrm>
            <a:custGeom>
              <a:avLst/>
              <a:gdLst/>
              <a:ahLst/>
              <a:cxnLst/>
              <a:rect l="l" t="t" r="r" b="b"/>
              <a:pathLst>
                <a:path w="548640" h="1097280">
                  <a:moveTo>
                    <a:pt x="0" y="0"/>
                  </a:moveTo>
                  <a:lnTo>
                    <a:pt x="548640" y="0"/>
                  </a:lnTo>
                  <a:lnTo>
                    <a:pt x="548640" y="1097280"/>
                  </a:lnTo>
                  <a:lnTo>
                    <a:pt x="0" y="1097280"/>
                  </a:lnTo>
                  <a:close/>
                </a:path>
              </a:pathLst>
            </a:custGeom>
            <a:solidFill>
              <a:srgbClr val="9CA3AF"/>
            </a:solidFill>
          </p:spPr>
          <p:txBody>
            <a:bodyPr/>
            <a:lstStyle/>
            <a:p>
              <a:endParaRPr lang="en-US"/>
            </a:p>
          </p:txBody>
        </p:sp>
      </p:grpSp>
      <p:grpSp>
        <p:nvGrpSpPr>
          <p:cNvPr id="61" name="Group 61"/>
          <p:cNvGrpSpPr/>
          <p:nvPr/>
        </p:nvGrpSpPr>
        <p:grpSpPr>
          <a:xfrm>
            <a:off x="8254441" y="3437365"/>
            <a:ext cx="1034034" cy="979170"/>
            <a:chOff x="0" y="0"/>
            <a:chExt cx="1378712" cy="1305560"/>
          </a:xfrm>
        </p:grpSpPr>
        <p:sp>
          <p:nvSpPr>
            <p:cNvPr id="62" name="Freeform 62"/>
            <p:cNvSpPr/>
            <p:nvPr/>
          </p:nvSpPr>
          <p:spPr>
            <a:xfrm>
              <a:off x="0" y="0"/>
              <a:ext cx="1378712" cy="1305560"/>
            </a:xfrm>
            <a:custGeom>
              <a:avLst/>
              <a:gdLst/>
              <a:ahLst/>
              <a:cxnLst/>
              <a:rect l="l" t="t" r="r" b="b"/>
              <a:pathLst>
                <a:path w="1378712" h="1305560">
                  <a:moveTo>
                    <a:pt x="0" y="186563"/>
                  </a:moveTo>
                  <a:cubicBezTo>
                    <a:pt x="0" y="83566"/>
                    <a:pt x="83566" y="0"/>
                    <a:pt x="186563" y="0"/>
                  </a:cubicBezTo>
                  <a:lnTo>
                    <a:pt x="1192149" y="0"/>
                  </a:lnTo>
                  <a:cubicBezTo>
                    <a:pt x="1295146" y="0"/>
                    <a:pt x="1378712" y="83566"/>
                    <a:pt x="1378712" y="186563"/>
                  </a:cubicBezTo>
                  <a:lnTo>
                    <a:pt x="1378712" y="1118997"/>
                  </a:lnTo>
                  <a:cubicBezTo>
                    <a:pt x="1378712" y="1221994"/>
                    <a:pt x="1295146" y="1305560"/>
                    <a:pt x="1192149" y="1305560"/>
                  </a:cubicBezTo>
                  <a:lnTo>
                    <a:pt x="186563" y="1305560"/>
                  </a:lnTo>
                  <a:cubicBezTo>
                    <a:pt x="83566" y="1305560"/>
                    <a:pt x="0" y="1221994"/>
                    <a:pt x="0" y="1118997"/>
                  </a:cubicBezTo>
                  <a:close/>
                </a:path>
              </a:pathLst>
            </a:custGeom>
            <a:blipFill>
              <a:blip r:embed="rId4">
                <a:alphaModFix amt="0"/>
              </a:blip>
              <a:stretch>
                <a:fillRect l="-71496" r="-71496"/>
              </a:stretch>
            </a:blipFill>
            <a:ln w="19050" cap="sq">
              <a:solidFill>
                <a:srgbClr val="6B7280"/>
              </a:solidFill>
              <a:prstDash val="dash"/>
              <a:miter/>
            </a:ln>
          </p:spPr>
          <p:txBody>
            <a:bodyPr/>
            <a:lstStyle/>
            <a:p>
              <a:endParaRPr lang="en-US"/>
            </a:p>
          </p:txBody>
        </p:sp>
      </p:grpSp>
      <p:sp>
        <p:nvSpPr>
          <p:cNvPr id="63" name="AutoShape 63"/>
          <p:cNvSpPr/>
          <p:nvPr/>
        </p:nvSpPr>
        <p:spPr>
          <a:xfrm flipV="1">
            <a:off x="7380805" y="3290678"/>
            <a:ext cx="1409696" cy="518165"/>
          </a:xfrm>
          <a:prstGeom prst="line">
            <a:avLst/>
          </a:prstGeom>
          <a:ln w="19050" cap="rnd">
            <a:solidFill>
              <a:srgbClr val="E0303A"/>
            </a:solidFill>
            <a:prstDash val="solid"/>
            <a:headEnd type="none" w="sm" len="sm"/>
            <a:tailEnd type="none" w="sm" len="sm"/>
          </a:ln>
        </p:spPr>
        <p:txBody>
          <a:bodyPr/>
          <a:lstStyle/>
          <a:p>
            <a:endParaRPr lang="en-US"/>
          </a:p>
        </p:txBody>
      </p:sp>
      <p:sp>
        <p:nvSpPr>
          <p:cNvPr id="64" name="AutoShape 64"/>
          <p:cNvSpPr/>
          <p:nvPr/>
        </p:nvSpPr>
        <p:spPr>
          <a:xfrm>
            <a:off x="8752409" y="3290686"/>
            <a:ext cx="2026919" cy="586727"/>
          </a:xfrm>
          <a:prstGeom prst="line">
            <a:avLst/>
          </a:prstGeom>
          <a:ln w="19050" cap="rnd">
            <a:solidFill>
              <a:srgbClr val="E0303A"/>
            </a:solidFill>
            <a:prstDash val="solid"/>
            <a:headEnd type="none" w="sm" len="sm"/>
            <a:tailEnd type="triangle" w="lg" len="med"/>
          </a:ln>
        </p:spPr>
        <p:txBody>
          <a:bodyPr/>
          <a:lstStyle/>
          <a:p>
            <a:endParaRPr lang="en-US"/>
          </a:p>
        </p:txBody>
      </p:sp>
      <p:grpSp>
        <p:nvGrpSpPr>
          <p:cNvPr id="65" name="Group 65"/>
          <p:cNvGrpSpPr/>
          <p:nvPr/>
        </p:nvGrpSpPr>
        <p:grpSpPr>
          <a:xfrm>
            <a:off x="6371158" y="4914502"/>
            <a:ext cx="493776" cy="493776"/>
            <a:chOff x="0" y="0"/>
            <a:chExt cx="658368" cy="658368"/>
          </a:xfrm>
        </p:grpSpPr>
        <p:sp>
          <p:nvSpPr>
            <p:cNvPr id="66" name="Freeform 66"/>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E0303A"/>
            </a:solidFill>
          </p:spPr>
          <p:txBody>
            <a:bodyPr/>
            <a:lstStyle/>
            <a:p>
              <a:endParaRPr lang="en-US"/>
            </a:p>
          </p:txBody>
        </p:sp>
      </p:grpSp>
      <p:grpSp>
        <p:nvGrpSpPr>
          <p:cNvPr id="67" name="Group 67"/>
          <p:cNvGrpSpPr/>
          <p:nvPr/>
        </p:nvGrpSpPr>
        <p:grpSpPr>
          <a:xfrm>
            <a:off x="6371158" y="4914502"/>
            <a:ext cx="493776" cy="523951"/>
            <a:chOff x="0" y="0"/>
            <a:chExt cx="658368" cy="698602"/>
          </a:xfrm>
        </p:grpSpPr>
        <p:sp>
          <p:nvSpPr>
            <p:cNvPr id="68" name="Freeform 68"/>
            <p:cNvSpPr/>
            <p:nvPr/>
          </p:nvSpPr>
          <p:spPr>
            <a:xfrm>
              <a:off x="0" y="0"/>
              <a:ext cx="658368" cy="698602"/>
            </a:xfrm>
            <a:custGeom>
              <a:avLst/>
              <a:gdLst/>
              <a:ahLst/>
              <a:cxnLst/>
              <a:rect l="l" t="t" r="r" b="b"/>
              <a:pathLst>
                <a:path w="658368" h="698602">
                  <a:moveTo>
                    <a:pt x="0" y="0"/>
                  </a:moveTo>
                  <a:lnTo>
                    <a:pt x="658368" y="0"/>
                  </a:lnTo>
                  <a:lnTo>
                    <a:pt x="658368" y="698602"/>
                  </a:lnTo>
                  <a:lnTo>
                    <a:pt x="0" y="698602"/>
                  </a:lnTo>
                  <a:close/>
                </a:path>
              </a:pathLst>
            </a:custGeom>
            <a:blipFill>
              <a:blip r:embed="rId4">
                <a:alphaModFix amt="0"/>
              </a:blip>
              <a:stretch>
                <a:fillRect l="-78303" r="-78303" b="5759"/>
              </a:stretch>
            </a:blipFill>
          </p:spPr>
          <p:txBody>
            <a:bodyPr/>
            <a:lstStyle/>
            <a:p>
              <a:endParaRPr lang="en-US"/>
            </a:p>
          </p:txBody>
        </p:sp>
        <p:sp>
          <p:nvSpPr>
            <p:cNvPr id="69" name="TextBox 69"/>
            <p:cNvSpPr txBox="1"/>
            <p:nvPr/>
          </p:nvSpPr>
          <p:spPr>
            <a:xfrm>
              <a:off x="0" y="-9525"/>
              <a:ext cx="658368" cy="708127"/>
            </a:xfrm>
            <a:prstGeom prst="rect">
              <a:avLst/>
            </a:prstGeom>
          </p:spPr>
          <p:txBody>
            <a:bodyPr lIns="0" tIns="0" rIns="0" bIns="0" rtlCol="0" anchor="ctr"/>
            <a:lstStyle/>
            <a:p>
              <a:pPr algn="ctr">
                <a:lnSpc>
                  <a:spcPts val="2520"/>
                </a:lnSpc>
              </a:pPr>
              <a:r>
                <a:rPr lang="en-US" sz="2100" b="1">
                  <a:solidFill>
                    <a:srgbClr val="FFFFFF"/>
                  </a:solidFill>
                  <a:latin typeface="Bai Jamjuree Bold"/>
                  <a:ea typeface="Bai Jamjuree Bold"/>
                  <a:cs typeface="Bai Jamjuree Bold"/>
                  <a:sym typeface="Bai Jamjuree Bold"/>
                </a:rPr>
                <a:t>2</a:t>
              </a:r>
            </a:p>
          </p:txBody>
        </p:sp>
      </p:grpSp>
      <p:grpSp>
        <p:nvGrpSpPr>
          <p:cNvPr id="70" name="Group 70"/>
          <p:cNvGrpSpPr/>
          <p:nvPr/>
        </p:nvGrpSpPr>
        <p:grpSpPr>
          <a:xfrm>
            <a:off x="7015810" y="4736194"/>
            <a:ext cx="4320540" cy="850392"/>
            <a:chOff x="0" y="0"/>
            <a:chExt cx="5760720" cy="1133856"/>
          </a:xfrm>
        </p:grpSpPr>
        <p:sp>
          <p:nvSpPr>
            <p:cNvPr id="71" name="Freeform 71"/>
            <p:cNvSpPr/>
            <p:nvPr/>
          </p:nvSpPr>
          <p:spPr>
            <a:xfrm>
              <a:off x="0" y="0"/>
              <a:ext cx="5760720" cy="1133856"/>
            </a:xfrm>
            <a:custGeom>
              <a:avLst/>
              <a:gdLst/>
              <a:ahLst/>
              <a:cxnLst/>
              <a:rect l="l" t="t" r="r" b="b"/>
              <a:pathLst>
                <a:path w="5760720" h="1133856">
                  <a:moveTo>
                    <a:pt x="0" y="0"/>
                  </a:moveTo>
                  <a:lnTo>
                    <a:pt x="5760720" y="0"/>
                  </a:lnTo>
                  <a:lnTo>
                    <a:pt x="5760720" y="1133856"/>
                  </a:lnTo>
                  <a:lnTo>
                    <a:pt x="0" y="1133856"/>
                  </a:lnTo>
                  <a:close/>
                </a:path>
              </a:pathLst>
            </a:custGeom>
            <a:blipFill>
              <a:blip r:embed="rId4">
                <a:alphaModFix amt="0"/>
              </a:blip>
              <a:stretch>
                <a:fillRect t="-48996" b="-48996"/>
              </a:stretch>
            </a:blipFill>
          </p:spPr>
          <p:txBody>
            <a:bodyPr/>
            <a:lstStyle/>
            <a:p>
              <a:endParaRPr lang="en-US"/>
            </a:p>
          </p:txBody>
        </p:sp>
        <p:sp>
          <p:nvSpPr>
            <p:cNvPr id="72" name="TextBox 72"/>
            <p:cNvSpPr txBox="1"/>
            <p:nvPr/>
          </p:nvSpPr>
          <p:spPr>
            <a:xfrm>
              <a:off x="0" y="-9525"/>
              <a:ext cx="5760720" cy="1143381"/>
            </a:xfrm>
            <a:prstGeom prst="rect">
              <a:avLst/>
            </a:prstGeom>
          </p:spPr>
          <p:txBody>
            <a:bodyPr lIns="0" tIns="0" rIns="0" bIns="0" rtlCol="0" anchor="ctr"/>
            <a:lstStyle/>
            <a:p>
              <a:pPr algn="l">
                <a:lnSpc>
                  <a:spcPts val="3240"/>
                </a:lnSpc>
              </a:pPr>
              <a:r>
                <a:rPr lang="en-US" sz="2700" b="1">
                  <a:solidFill>
                    <a:srgbClr val="1F2937"/>
                  </a:solidFill>
                  <a:latin typeface="Bai Jamjuree Bold"/>
                  <a:ea typeface="Bai Jamjuree Bold"/>
                  <a:cs typeface="Bai Jamjuree Bold"/>
                  <a:sym typeface="Bai Jamjuree Bold"/>
                </a:rPr>
                <a:t>Tránh vật cản</a:t>
              </a:r>
            </a:p>
          </p:txBody>
        </p:sp>
      </p:grpSp>
      <p:sp>
        <p:nvSpPr>
          <p:cNvPr id="73" name="TextBox 73"/>
          <p:cNvSpPr txBox="1"/>
          <p:nvPr/>
        </p:nvSpPr>
        <p:spPr>
          <a:xfrm>
            <a:off x="6371158" y="5631925"/>
            <a:ext cx="4951476" cy="952500"/>
          </a:xfrm>
          <a:prstGeom prst="rect">
            <a:avLst/>
          </a:prstGeom>
        </p:spPr>
        <p:txBody>
          <a:bodyPr lIns="0" tIns="0" rIns="0" bIns="0" rtlCol="0" anchor="t">
            <a:spAutoFit/>
          </a:bodyPr>
          <a:lstStyle/>
          <a:p>
            <a:pPr algn="l">
              <a:lnSpc>
                <a:spcPts val="2520"/>
              </a:lnSpc>
            </a:pPr>
            <a:r>
              <a:rPr lang="en-US" sz="2100">
                <a:solidFill>
                  <a:srgbClr val="4B5563"/>
                </a:solidFill>
                <a:latin typeface="Bai Jamjuree"/>
                <a:ea typeface="Bai Jamjuree"/>
                <a:cs typeface="Bai Jamjuree"/>
                <a:sym typeface="Bai Jamjuree"/>
              </a:rPr>
              <a:t>Tìm đường bay an toàn trong không gian 3D, luôn giữ khoảng cách đủ xa với vật cản.</a:t>
            </a:r>
          </a:p>
        </p:txBody>
      </p:sp>
      <p:grpSp>
        <p:nvGrpSpPr>
          <p:cNvPr id="74" name="Group 74"/>
          <p:cNvGrpSpPr/>
          <p:nvPr/>
        </p:nvGrpSpPr>
        <p:grpSpPr>
          <a:xfrm>
            <a:off x="11939854" y="2994262"/>
            <a:ext cx="5362956" cy="3771900"/>
            <a:chOff x="0" y="0"/>
            <a:chExt cx="7150608" cy="5029200"/>
          </a:xfrm>
        </p:grpSpPr>
        <p:sp>
          <p:nvSpPr>
            <p:cNvPr id="75" name="Freeform 75"/>
            <p:cNvSpPr/>
            <p:nvPr/>
          </p:nvSpPr>
          <p:spPr>
            <a:xfrm>
              <a:off x="0" y="0"/>
              <a:ext cx="7150608" cy="5029200"/>
            </a:xfrm>
            <a:custGeom>
              <a:avLst/>
              <a:gdLst/>
              <a:ahLst/>
              <a:cxnLst/>
              <a:rect l="l" t="t" r="r" b="b"/>
              <a:pathLst>
                <a:path w="7150608" h="5029200">
                  <a:moveTo>
                    <a:pt x="0" y="219456"/>
                  </a:moveTo>
                  <a:cubicBezTo>
                    <a:pt x="0" y="98298"/>
                    <a:pt x="98298" y="0"/>
                    <a:pt x="219456" y="0"/>
                  </a:cubicBezTo>
                  <a:lnTo>
                    <a:pt x="6931152" y="0"/>
                  </a:lnTo>
                  <a:cubicBezTo>
                    <a:pt x="7052310" y="0"/>
                    <a:pt x="7150608" y="98298"/>
                    <a:pt x="7150608" y="219456"/>
                  </a:cubicBezTo>
                  <a:lnTo>
                    <a:pt x="7150608" y="4809744"/>
                  </a:lnTo>
                  <a:cubicBezTo>
                    <a:pt x="7150608" y="4930902"/>
                    <a:pt x="7052310" y="5029200"/>
                    <a:pt x="6931152" y="5029200"/>
                  </a:cubicBezTo>
                  <a:lnTo>
                    <a:pt x="219456" y="5029200"/>
                  </a:lnTo>
                  <a:cubicBezTo>
                    <a:pt x="98298" y="5029200"/>
                    <a:pt x="0" y="4930902"/>
                    <a:pt x="0" y="4809744"/>
                  </a:cubicBezTo>
                  <a:close/>
                </a:path>
              </a:pathLst>
            </a:custGeom>
            <a:solidFill>
              <a:srgbClr val="F3F4F6"/>
            </a:solidFill>
          </p:spPr>
          <p:txBody>
            <a:bodyPr/>
            <a:lstStyle/>
            <a:p>
              <a:endParaRPr lang="en-US"/>
            </a:p>
          </p:txBody>
        </p:sp>
      </p:grpSp>
      <p:grpSp>
        <p:nvGrpSpPr>
          <p:cNvPr id="76" name="Group 76"/>
          <p:cNvGrpSpPr/>
          <p:nvPr/>
        </p:nvGrpSpPr>
        <p:grpSpPr>
          <a:xfrm>
            <a:off x="12145594" y="3172570"/>
            <a:ext cx="4951476" cy="1440180"/>
            <a:chOff x="0" y="0"/>
            <a:chExt cx="6601968" cy="1920240"/>
          </a:xfrm>
        </p:grpSpPr>
        <p:sp>
          <p:nvSpPr>
            <p:cNvPr id="77" name="Freeform 77"/>
            <p:cNvSpPr/>
            <p:nvPr/>
          </p:nvSpPr>
          <p:spPr>
            <a:xfrm>
              <a:off x="0" y="0"/>
              <a:ext cx="6601968" cy="1920240"/>
            </a:xfrm>
            <a:custGeom>
              <a:avLst/>
              <a:gdLst/>
              <a:ahLst/>
              <a:cxnLst/>
              <a:rect l="l" t="t" r="r" b="b"/>
              <a:pathLst>
                <a:path w="6601968" h="1920240">
                  <a:moveTo>
                    <a:pt x="0" y="182880"/>
                  </a:moveTo>
                  <a:cubicBezTo>
                    <a:pt x="0" y="81915"/>
                    <a:pt x="81915" y="0"/>
                    <a:pt x="182880" y="0"/>
                  </a:cubicBezTo>
                  <a:lnTo>
                    <a:pt x="6419088" y="0"/>
                  </a:lnTo>
                  <a:cubicBezTo>
                    <a:pt x="6520053" y="0"/>
                    <a:pt x="6601968" y="81915"/>
                    <a:pt x="6601968" y="182880"/>
                  </a:cubicBezTo>
                  <a:lnTo>
                    <a:pt x="6601968" y="1737360"/>
                  </a:lnTo>
                  <a:cubicBezTo>
                    <a:pt x="6601968" y="1838325"/>
                    <a:pt x="6520053" y="1920240"/>
                    <a:pt x="6419088" y="1920240"/>
                  </a:cubicBezTo>
                  <a:lnTo>
                    <a:pt x="182880" y="1920240"/>
                  </a:lnTo>
                  <a:cubicBezTo>
                    <a:pt x="81915" y="1920240"/>
                    <a:pt x="0" y="1838325"/>
                    <a:pt x="0" y="1737360"/>
                  </a:cubicBezTo>
                  <a:close/>
                </a:path>
              </a:pathLst>
            </a:custGeom>
            <a:solidFill>
              <a:srgbClr val="FFFFFF"/>
            </a:solidFill>
          </p:spPr>
          <p:txBody>
            <a:bodyPr/>
            <a:lstStyle/>
            <a:p>
              <a:endParaRPr lang="en-US"/>
            </a:p>
          </p:txBody>
        </p:sp>
      </p:grpSp>
      <p:sp>
        <p:nvSpPr>
          <p:cNvPr id="78" name="AutoShape 78"/>
          <p:cNvSpPr/>
          <p:nvPr/>
        </p:nvSpPr>
        <p:spPr>
          <a:xfrm>
            <a:off x="12341810" y="4397501"/>
            <a:ext cx="4559044" cy="19017"/>
          </a:xfrm>
          <a:prstGeom prst="line">
            <a:avLst/>
          </a:prstGeom>
          <a:ln w="9525" cap="rnd">
            <a:solidFill>
              <a:srgbClr val="9CA3AF"/>
            </a:solidFill>
            <a:prstDash val="solid"/>
            <a:headEnd type="none" w="sm" len="sm"/>
            <a:tailEnd type="none" w="sm" len="sm"/>
          </a:ln>
        </p:spPr>
        <p:txBody>
          <a:bodyPr/>
          <a:lstStyle/>
          <a:p>
            <a:endParaRPr lang="en-US"/>
          </a:p>
        </p:txBody>
      </p:sp>
      <p:sp>
        <p:nvSpPr>
          <p:cNvPr id="79" name="AutoShape 79"/>
          <p:cNvSpPr/>
          <p:nvPr/>
        </p:nvSpPr>
        <p:spPr>
          <a:xfrm>
            <a:off x="14183946" y="3496417"/>
            <a:ext cx="861055" cy="38106"/>
          </a:xfrm>
          <a:prstGeom prst="line">
            <a:avLst/>
          </a:prstGeom>
          <a:ln w="19050" cap="rnd">
            <a:solidFill>
              <a:srgbClr val="1F2937"/>
            </a:solidFill>
            <a:prstDash val="solid"/>
            <a:headEnd type="none" w="sm" len="sm"/>
            <a:tailEnd type="none" w="sm" len="sm"/>
          </a:ln>
        </p:spPr>
        <p:txBody>
          <a:bodyPr/>
          <a:lstStyle/>
          <a:p>
            <a:endParaRPr lang="en-US"/>
          </a:p>
        </p:txBody>
      </p:sp>
      <p:grpSp>
        <p:nvGrpSpPr>
          <p:cNvPr id="80" name="Group 80"/>
          <p:cNvGrpSpPr/>
          <p:nvPr/>
        </p:nvGrpSpPr>
        <p:grpSpPr>
          <a:xfrm>
            <a:off x="14033640" y="3380405"/>
            <a:ext cx="338709" cy="78105"/>
            <a:chOff x="0" y="0"/>
            <a:chExt cx="451612" cy="104140"/>
          </a:xfrm>
        </p:grpSpPr>
        <p:sp>
          <p:nvSpPr>
            <p:cNvPr id="81" name="Freeform 81"/>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82" name="Group 82"/>
          <p:cNvGrpSpPr/>
          <p:nvPr/>
        </p:nvGrpSpPr>
        <p:grpSpPr>
          <a:xfrm>
            <a:off x="14856600" y="3380405"/>
            <a:ext cx="338709" cy="78105"/>
            <a:chOff x="0" y="0"/>
            <a:chExt cx="451612" cy="104140"/>
          </a:xfrm>
        </p:grpSpPr>
        <p:sp>
          <p:nvSpPr>
            <p:cNvPr id="83" name="Freeform 83"/>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84" name="Group 84"/>
          <p:cNvGrpSpPr/>
          <p:nvPr/>
        </p:nvGrpSpPr>
        <p:grpSpPr>
          <a:xfrm>
            <a:off x="14458836" y="3442127"/>
            <a:ext cx="311277" cy="174117"/>
            <a:chOff x="0" y="0"/>
            <a:chExt cx="415036" cy="232156"/>
          </a:xfrm>
        </p:grpSpPr>
        <p:sp>
          <p:nvSpPr>
            <p:cNvPr id="85" name="Freeform 85"/>
            <p:cNvSpPr/>
            <p:nvPr/>
          </p:nvSpPr>
          <p:spPr>
            <a:xfrm>
              <a:off x="0" y="0"/>
              <a:ext cx="415036" cy="232156"/>
            </a:xfrm>
            <a:custGeom>
              <a:avLst/>
              <a:gdLst/>
              <a:ahLst/>
              <a:cxnLst/>
              <a:rect l="l" t="t" r="r" b="b"/>
              <a:pathLst>
                <a:path w="415036" h="232156">
                  <a:moveTo>
                    <a:pt x="0" y="58039"/>
                  </a:moveTo>
                  <a:cubicBezTo>
                    <a:pt x="0" y="26035"/>
                    <a:pt x="26035" y="0"/>
                    <a:pt x="58039" y="0"/>
                  </a:cubicBezTo>
                  <a:lnTo>
                    <a:pt x="356997" y="0"/>
                  </a:lnTo>
                  <a:cubicBezTo>
                    <a:pt x="389001" y="0"/>
                    <a:pt x="415036" y="26035"/>
                    <a:pt x="415036" y="58039"/>
                  </a:cubicBezTo>
                  <a:lnTo>
                    <a:pt x="415036" y="174117"/>
                  </a:lnTo>
                  <a:cubicBezTo>
                    <a:pt x="415036" y="206121"/>
                    <a:pt x="389001" y="232156"/>
                    <a:pt x="356997" y="232156"/>
                  </a:cubicBezTo>
                  <a:lnTo>
                    <a:pt x="58039" y="232156"/>
                  </a:lnTo>
                  <a:cubicBezTo>
                    <a:pt x="26035" y="232156"/>
                    <a:pt x="0" y="206121"/>
                    <a:pt x="0" y="174117"/>
                  </a:cubicBezTo>
                  <a:close/>
                </a:path>
              </a:pathLst>
            </a:custGeom>
            <a:solidFill>
              <a:srgbClr val="1F2937"/>
            </a:solidFill>
            <a:ln w="9525" cap="sq">
              <a:solidFill>
                <a:srgbClr val="1F2937"/>
              </a:solidFill>
              <a:prstDash val="solid"/>
              <a:miter/>
            </a:ln>
          </p:spPr>
          <p:txBody>
            <a:bodyPr/>
            <a:lstStyle/>
            <a:p>
              <a:endParaRPr lang="en-US"/>
            </a:p>
          </p:txBody>
        </p:sp>
      </p:grpSp>
      <p:sp>
        <p:nvSpPr>
          <p:cNvPr id="86" name="AutoShape 86"/>
          <p:cNvSpPr/>
          <p:nvPr/>
        </p:nvSpPr>
        <p:spPr>
          <a:xfrm>
            <a:off x="14595426" y="3619862"/>
            <a:ext cx="38097" cy="586743"/>
          </a:xfrm>
          <a:prstGeom prst="line">
            <a:avLst/>
          </a:prstGeom>
          <a:ln w="19050" cap="rnd">
            <a:solidFill>
              <a:srgbClr val="E0303A"/>
            </a:solidFill>
            <a:prstDash val="solid"/>
            <a:headEnd type="none" w="sm" len="sm"/>
            <a:tailEnd type="triangle" w="lg" len="med"/>
          </a:ln>
        </p:spPr>
        <p:txBody>
          <a:bodyPr/>
          <a:lstStyle/>
          <a:p>
            <a:endParaRPr lang="en-US"/>
          </a:p>
        </p:txBody>
      </p:sp>
      <p:grpSp>
        <p:nvGrpSpPr>
          <p:cNvPr id="87" name="Group 87"/>
          <p:cNvGrpSpPr/>
          <p:nvPr/>
        </p:nvGrpSpPr>
        <p:grpSpPr>
          <a:xfrm>
            <a:off x="13992492" y="4237655"/>
            <a:ext cx="1243965" cy="174117"/>
            <a:chOff x="0" y="0"/>
            <a:chExt cx="1658620" cy="232156"/>
          </a:xfrm>
        </p:grpSpPr>
        <p:sp>
          <p:nvSpPr>
            <p:cNvPr id="88" name="Freeform 88"/>
            <p:cNvSpPr/>
            <p:nvPr/>
          </p:nvSpPr>
          <p:spPr>
            <a:xfrm>
              <a:off x="0" y="0"/>
              <a:ext cx="1658620" cy="232156"/>
            </a:xfrm>
            <a:custGeom>
              <a:avLst/>
              <a:gdLst/>
              <a:ahLst/>
              <a:cxnLst/>
              <a:rect l="l" t="t" r="r" b="b"/>
              <a:pathLst>
                <a:path w="1658620" h="232156">
                  <a:moveTo>
                    <a:pt x="0" y="0"/>
                  </a:moveTo>
                  <a:lnTo>
                    <a:pt x="1658620" y="0"/>
                  </a:lnTo>
                  <a:lnTo>
                    <a:pt x="1658620" y="232156"/>
                  </a:lnTo>
                  <a:lnTo>
                    <a:pt x="0" y="232156"/>
                  </a:lnTo>
                  <a:close/>
                </a:path>
              </a:pathLst>
            </a:custGeom>
            <a:solidFill>
              <a:srgbClr val="1F2937"/>
            </a:solidFill>
            <a:ln w="9525" cap="sq">
              <a:solidFill>
                <a:srgbClr val="1F2937"/>
              </a:solidFill>
              <a:prstDash val="solid"/>
              <a:miter/>
            </a:ln>
          </p:spPr>
          <p:txBody>
            <a:bodyPr/>
            <a:lstStyle/>
            <a:p>
              <a:endParaRPr lang="en-US"/>
            </a:p>
          </p:txBody>
        </p:sp>
      </p:grpSp>
      <p:grpSp>
        <p:nvGrpSpPr>
          <p:cNvPr id="89" name="Group 89"/>
          <p:cNvGrpSpPr/>
          <p:nvPr/>
        </p:nvGrpSpPr>
        <p:grpSpPr>
          <a:xfrm>
            <a:off x="14538750" y="4228416"/>
            <a:ext cx="151448" cy="151448"/>
            <a:chOff x="0" y="0"/>
            <a:chExt cx="201930" cy="201930"/>
          </a:xfrm>
        </p:grpSpPr>
        <p:sp>
          <p:nvSpPr>
            <p:cNvPr id="90" name="Freeform 90"/>
            <p:cNvSpPr/>
            <p:nvPr/>
          </p:nvSpPr>
          <p:spPr>
            <a:xfrm>
              <a:off x="0" y="0"/>
              <a:ext cx="201930" cy="201930"/>
            </a:xfrm>
            <a:custGeom>
              <a:avLst/>
              <a:gdLst/>
              <a:ahLst/>
              <a:cxnLst/>
              <a:rect l="l" t="t" r="r" b="b"/>
              <a:pathLst>
                <a:path w="201930" h="201930">
                  <a:moveTo>
                    <a:pt x="0" y="100965"/>
                  </a:moveTo>
                  <a:cubicBezTo>
                    <a:pt x="0" y="45212"/>
                    <a:pt x="45212" y="0"/>
                    <a:pt x="100965" y="0"/>
                  </a:cubicBezTo>
                  <a:cubicBezTo>
                    <a:pt x="156718" y="0"/>
                    <a:pt x="201930" y="45212"/>
                    <a:pt x="201930" y="100965"/>
                  </a:cubicBezTo>
                  <a:cubicBezTo>
                    <a:pt x="201930" y="156718"/>
                    <a:pt x="156718" y="201930"/>
                    <a:pt x="100965" y="201930"/>
                  </a:cubicBezTo>
                  <a:cubicBezTo>
                    <a:pt x="45212" y="201930"/>
                    <a:pt x="0" y="156718"/>
                    <a:pt x="0" y="100965"/>
                  </a:cubicBezTo>
                  <a:close/>
                </a:path>
              </a:pathLst>
            </a:custGeom>
            <a:solidFill>
              <a:srgbClr val="E0303A"/>
            </a:solidFill>
            <a:ln w="14288" cap="sq">
              <a:solidFill>
                <a:srgbClr val="FFFFFF"/>
              </a:solidFill>
              <a:prstDash val="solid"/>
              <a:miter/>
            </a:ln>
          </p:spPr>
          <p:txBody>
            <a:bodyPr/>
            <a:lstStyle/>
            <a:p>
              <a:endParaRPr lang="en-US"/>
            </a:p>
          </p:txBody>
        </p:sp>
      </p:grpSp>
      <p:grpSp>
        <p:nvGrpSpPr>
          <p:cNvPr id="91" name="Group 91"/>
          <p:cNvGrpSpPr/>
          <p:nvPr/>
        </p:nvGrpSpPr>
        <p:grpSpPr>
          <a:xfrm>
            <a:off x="12145594" y="4914502"/>
            <a:ext cx="493776" cy="493776"/>
            <a:chOff x="0" y="0"/>
            <a:chExt cx="658368" cy="658368"/>
          </a:xfrm>
        </p:grpSpPr>
        <p:sp>
          <p:nvSpPr>
            <p:cNvPr id="92" name="Freeform 92"/>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E0303A"/>
            </a:solidFill>
          </p:spPr>
          <p:txBody>
            <a:bodyPr/>
            <a:lstStyle/>
            <a:p>
              <a:endParaRPr lang="en-US"/>
            </a:p>
          </p:txBody>
        </p:sp>
      </p:grpSp>
      <p:grpSp>
        <p:nvGrpSpPr>
          <p:cNvPr id="93" name="Group 93"/>
          <p:cNvGrpSpPr/>
          <p:nvPr/>
        </p:nvGrpSpPr>
        <p:grpSpPr>
          <a:xfrm>
            <a:off x="12145594" y="4914502"/>
            <a:ext cx="493776" cy="523951"/>
            <a:chOff x="0" y="0"/>
            <a:chExt cx="658368" cy="698602"/>
          </a:xfrm>
        </p:grpSpPr>
        <p:sp>
          <p:nvSpPr>
            <p:cNvPr id="94" name="Freeform 94"/>
            <p:cNvSpPr/>
            <p:nvPr/>
          </p:nvSpPr>
          <p:spPr>
            <a:xfrm>
              <a:off x="0" y="0"/>
              <a:ext cx="658368" cy="698602"/>
            </a:xfrm>
            <a:custGeom>
              <a:avLst/>
              <a:gdLst/>
              <a:ahLst/>
              <a:cxnLst/>
              <a:rect l="l" t="t" r="r" b="b"/>
              <a:pathLst>
                <a:path w="658368" h="698602">
                  <a:moveTo>
                    <a:pt x="0" y="0"/>
                  </a:moveTo>
                  <a:lnTo>
                    <a:pt x="658368" y="0"/>
                  </a:lnTo>
                  <a:lnTo>
                    <a:pt x="658368" y="698602"/>
                  </a:lnTo>
                  <a:lnTo>
                    <a:pt x="0" y="698602"/>
                  </a:lnTo>
                  <a:close/>
                </a:path>
              </a:pathLst>
            </a:custGeom>
            <a:blipFill>
              <a:blip r:embed="rId4">
                <a:alphaModFix amt="0"/>
              </a:blip>
              <a:stretch>
                <a:fillRect l="-78303" r="-78303" b="5759"/>
              </a:stretch>
            </a:blipFill>
          </p:spPr>
          <p:txBody>
            <a:bodyPr/>
            <a:lstStyle/>
            <a:p>
              <a:endParaRPr lang="en-US"/>
            </a:p>
          </p:txBody>
        </p:sp>
        <p:sp>
          <p:nvSpPr>
            <p:cNvPr id="95" name="TextBox 95"/>
            <p:cNvSpPr txBox="1"/>
            <p:nvPr/>
          </p:nvSpPr>
          <p:spPr>
            <a:xfrm>
              <a:off x="0" y="-9525"/>
              <a:ext cx="658368" cy="708127"/>
            </a:xfrm>
            <a:prstGeom prst="rect">
              <a:avLst/>
            </a:prstGeom>
          </p:spPr>
          <p:txBody>
            <a:bodyPr lIns="0" tIns="0" rIns="0" bIns="0" rtlCol="0" anchor="ctr"/>
            <a:lstStyle/>
            <a:p>
              <a:pPr algn="ctr">
                <a:lnSpc>
                  <a:spcPts val="2520"/>
                </a:lnSpc>
              </a:pPr>
              <a:r>
                <a:rPr lang="en-US" sz="2100" b="1">
                  <a:solidFill>
                    <a:srgbClr val="FFFFFF"/>
                  </a:solidFill>
                  <a:latin typeface="Bai Jamjuree Bold"/>
                  <a:ea typeface="Bai Jamjuree Bold"/>
                  <a:cs typeface="Bai Jamjuree Bold"/>
                  <a:sym typeface="Bai Jamjuree Bold"/>
                </a:rPr>
                <a:t>3</a:t>
              </a:r>
            </a:p>
          </p:txBody>
        </p:sp>
      </p:grpSp>
      <p:grpSp>
        <p:nvGrpSpPr>
          <p:cNvPr id="96" name="Group 96"/>
          <p:cNvGrpSpPr/>
          <p:nvPr/>
        </p:nvGrpSpPr>
        <p:grpSpPr>
          <a:xfrm>
            <a:off x="12790246" y="4736194"/>
            <a:ext cx="4320540" cy="1088669"/>
            <a:chOff x="0" y="0"/>
            <a:chExt cx="5760720" cy="1451559"/>
          </a:xfrm>
        </p:grpSpPr>
        <p:sp>
          <p:nvSpPr>
            <p:cNvPr id="97" name="Freeform 97"/>
            <p:cNvSpPr/>
            <p:nvPr/>
          </p:nvSpPr>
          <p:spPr>
            <a:xfrm>
              <a:off x="0" y="0"/>
              <a:ext cx="5760720" cy="1451559"/>
            </a:xfrm>
            <a:custGeom>
              <a:avLst/>
              <a:gdLst/>
              <a:ahLst/>
              <a:cxnLst/>
              <a:rect l="l" t="t" r="r" b="b"/>
              <a:pathLst>
                <a:path w="5760720" h="1451559">
                  <a:moveTo>
                    <a:pt x="0" y="0"/>
                  </a:moveTo>
                  <a:lnTo>
                    <a:pt x="5760720" y="0"/>
                  </a:lnTo>
                  <a:lnTo>
                    <a:pt x="5760720" y="1451559"/>
                  </a:lnTo>
                  <a:lnTo>
                    <a:pt x="0" y="1451559"/>
                  </a:lnTo>
                  <a:close/>
                </a:path>
              </a:pathLst>
            </a:custGeom>
            <a:blipFill>
              <a:blip r:embed="rId4">
                <a:alphaModFix amt="0"/>
              </a:blip>
              <a:stretch>
                <a:fillRect t="-38272" b="-16385"/>
              </a:stretch>
            </a:blipFill>
          </p:spPr>
          <p:txBody>
            <a:bodyPr/>
            <a:lstStyle/>
            <a:p>
              <a:endParaRPr lang="en-US"/>
            </a:p>
          </p:txBody>
        </p:sp>
        <p:sp>
          <p:nvSpPr>
            <p:cNvPr id="98" name="TextBox 98"/>
            <p:cNvSpPr txBox="1"/>
            <p:nvPr/>
          </p:nvSpPr>
          <p:spPr>
            <a:xfrm>
              <a:off x="0" y="-9525"/>
              <a:ext cx="5760720" cy="1461084"/>
            </a:xfrm>
            <a:prstGeom prst="rect">
              <a:avLst/>
            </a:prstGeom>
          </p:spPr>
          <p:txBody>
            <a:bodyPr lIns="0" tIns="0" rIns="0" bIns="0" rtlCol="0" anchor="ctr"/>
            <a:lstStyle/>
            <a:p>
              <a:pPr algn="l">
                <a:lnSpc>
                  <a:spcPts val="3240"/>
                </a:lnSpc>
              </a:pPr>
              <a:r>
                <a:rPr lang="en-US" sz="2700" b="1">
                  <a:solidFill>
                    <a:srgbClr val="1F2937"/>
                  </a:solidFill>
                  <a:latin typeface="Bai Jamjuree Bold"/>
                  <a:ea typeface="Bai Jamjuree Bold"/>
                  <a:cs typeface="Bai Jamjuree Bold"/>
                  <a:sym typeface="Bai Jamjuree Bold"/>
                </a:rPr>
                <a:t>Hạ cánh chính xác trên bãi đáp</a:t>
              </a:r>
            </a:p>
          </p:txBody>
        </p:sp>
      </p:grpSp>
      <p:sp>
        <p:nvSpPr>
          <p:cNvPr id="99" name="TextBox 99"/>
          <p:cNvSpPr txBox="1"/>
          <p:nvPr/>
        </p:nvSpPr>
        <p:spPr>
          <a:xfrm>
            <a:off x="12145594" y="5800725"/>
            <a:ext cx="4951476" cy="638175"/>
          </a:xfrm>
          <a:prstGeom prst="rect">
            <a:avLst/>
          </a:prstGeom>
        </p:spPr>
        <p:txBody>
          <a:bodyPr lIns="0" tIns="0" rIns="0" bIns="0" rtlCol="0" anchor="t">
            <a:spAutoFit/>
          </a:bodyPr>
          <a:lstStyle/>
          <a:p>
            <a:pPr algn="l">
              <a:lnSpc>
                <a:spcPts val="2520"/>
              </a:lnSpc>
            </a:pPr>
            <a:r>
              <a:rPr lang="en-US" sz="2100">
                <a:solidFill>
                  <a:srgbClr val="4B5563"/>
                </a:solidFill>
                <a:latin typeface="Bai Jamjuree"/>
                <a:ea typeface="Bai Jamjuree"/>
                <a:cs typeface="Bai Jamjuree"/>
                <a:sym typeface="Bai Jamjuree"/>
              </a:rPr>
              <a:t>Tiếp cận bãi đáp nhỏ và hạ cánh đúng vị trí với sai số nhỏ.</a:t>
            </a:r>
          </a:p>
        </p:txBody>
      </p:sp>
      <p:grpSp>
        <p:nvGrpSpPr>
          <p:cNvPr id="100" name="Group 100"/>
          <p:cNvGrpSpPr/>
          <p:nvPr/>
        </p:nvGrpSpPr>
        <p:grpSpPr>
          <a:xfrm>
            <a:off x="390982" y="6903322"/>
            <a:ext cx="5486400" cy="446380"/>
            <a:chOff x="0" y="0"/>
            <a:chExt cx="7315200" cy="595173"/>
          </a:xfrm>
        </p:grpSpPr>
        <p:sp>
          <p:nvSpPr>
            <p:cNvPr id="101" name="Freeform 101"/>
            <p:cNvSpPr/>
            <p:nvPr/>
          </p:nvSpPr>
          <p:spPr>
            <a:xfrm>
              <a:off x="0" y="0"/>
              <a:ext cx="7315200" cy="595173"/>
            </a:xfrm>
            <a:custGeom>
              <a:avLst/>
              <a:gdLst/>
              <a:ahLst/>
              <a:cxnLst/>
              <a:rect l="l" t="t" r="r" b="b"/>
              <a:pathLst>
                <a:path w="7315200" h="595173">
                  <a:moveTo>
                    <a:pt x="0" y="0"/>
                  </a:moveTo>
                  <a:lnTo>
                    <a:pt x="7315200" y="0"/>
                  </a:lnTo>
                  <a:lnTo>
                    <a:pt x="7315200" y="595173"/>
                  </a:lnTo>
                  <a:lnTo>
                    <a:pt x="0" y="595173"/>
                  </a:lnTo>
                  <a:close/>
                </a:path>
              </a:pathLst>
            </a:custGeom>
            <a:blipFill>
              <a:blip r:embed="rId4">
                <a:alphaModFix amt="0"/>
              </a:blip>
              <a:stretch>
                <a:fillRect t="-196470" b="-182506"/>
              </a:stretch>
            </a:blipFill>
          </p:spPr>
          <p:txBody>
            <a:bodyPr/>
            <a:lstStyle/>
            <a:p>
              <a:endParaRPr lang="en-US"/>
            </a:p>
          </p:txBody>
        </p:sp>
        <p:sp>
          <p:nvSpPr>
            <p:cNvPr id="102" name="TextBox 102"/>
            <p:cNvSpPr txBox="1"/>
            <p:nvPr/>
          </p:nvSpPr>
          <p:spPr>
            <a:xfrm>
              <a:off x="0" y="0"/>
              <a:ext cx="7315200" cy="595173"/>
            </a:xfrm>
            <a:prstGeom prst="rect">
              <a:avLst/>
            </a:prstGeom>
          </p:spPr>
          <p:txBody>
            <a:bodyPr lIns="0" tIns="0" rIns="0" bIns="0" rtlCol="0" anchor="ctr"/>
            <a:lstStyle/>
            <a:p>
              <a:pPr algn="l">
                <a:lnSpc>
                  <a:spcPts val="2160"/>
                </a:lnSpc>
              </a:pPr>
              <a:r>
                <a:rPr lang="en-US" sz="1800" b="1">
                  <a:solidFill>
                    <a:srgbClr val="E0303A"/>
                  </a:solidFill>
                  <a:latin typeface="Bai Jamjuree Bold"/>
                  <a:ea typeface="Bai Jamjuree Bold"/>
                  <a:cs typeface="Bai Jamjuree Bold"/>
                  <a:sym typeface="Bai Jamjuree Bold"/>
                </a:rPr>
                <a:t>TIÊU CHÍ ĐÁNH GIÁ</a:t>
              </a:r>
            </a:p>
          </p:txBody>
        </p:sp>
      </p:grpSp>
      <p:grpSp>
        <p:nvGrpSpPr>
          <p:cNvPr id="103" name="Group 103"/>
          <p:cNvGrpSpPr/>
          <p:nvPr/>
        </p:nvGrpSpPr>
        <p:grpSpPr>
          <a:xfrm>
            <a:off x="6563182" y="6903322"/>
            <a:ext cx="10739628" cy="412356"/>
            <a:chOff x="0" y="0"/>
            <a:chExt cx="14319504" cy="549808"/>
          </a:xfrm>
        </p:grpSpPr>
        <p:sp>
          <p:nvSpPr>
            <p:cNvPr id="104" name="Freeform 104"/>
            <p:cNvSpPr/>
            <p:nvPr/>
          </p:nvSpPr>
          <p:spPr>
            <a:xfrm>
              <a:off x="0" y="0"/>
              <a:ext cx="14319504" cy="549808"/>
            </a:xfrm>
            <a:custGeom>
              <a:avLst/>
              <a:gdLst/>
              <a:ahLst/>
              <a:cxnLst/>
              <a:rect l="l" t="t" r="r" b="b"/>
              <a:pathLst>
                <a:path w="14319504" h="549808">
                  <a:moveTo>
                    <a:pt x="0" y="0"/>
                  </a:moveTo>
                  <a:lnTo>
                    <a:pt x="14319504" y="0"/>
                  </a:lnTo>
                  <a:lnTo>
                    <a:pt x="14319504" y="549808"/>
                  </a:lnTo>
                  <a:lnTo>
                    <a:pt x="0" y="549808"/>
                  </a:lnTo>
                  <a:close/>
                </a:path>
              </a:pathLst>
            </a:custGeom>
            <a:blipFill>
              <a:blip r:embed="rId4">
                <a:alphaModFix amt="0"/>
              </a:blip>
              <a:stretch>
                <a:fillRect t="-460911" b="-454046"/>
              </a:stretch>
            </a:blipFill>
          </p:spPr>
          <p:txBody>
            <a:bodyPr/>
            <a:lstStyle/>
            <a:p>
              <a:endParaRPr lang="en-US"/>
            </a:p>
          </p:txBody>
        </p:sp>
        <p:sp>
          <p:nvSpPr>
            <p:cNvPr id="105" name="TextBox 105"/>
            <p:cNvSpPr txBox="1"/>
            <p:nvPr/>
          </p:nvSpPr>
          <p:spPr>
            <a:xfrm>
              <a:off x="0" y="9525"/>
              <a:ext cx="14319504" cy="540283"/>
            </a:xfrm>
            <a:prstGeom prst="rect">
              <a:avLst/>
            </a:prstGeom>
          </p:spPr>
          <p:txBody>
            <a:bodyPr lIns="0" tIns="0" rIns="0" bIns="0" rtlCol="0" anchor="ctr"/>
            <a:lstStyle/>
            <a:p>
              <a:pPr algn="r">
                <a:lnSpc>
                  <a:spcPts val="1980"/>
                </a:lnSpc>
              </a:pPr>
              <a:r>
                <a:rPr lang="en-US" sz="1650">
                  <a:solidFill>
                    <a:srgbClr val="6B7280"/>
                  </a:solidFill>
                  <a:latin typeface="Bai Jamjuree"/>
                  <a:ea typeface="Bai Jamjuree"/>
                  <a:cs typeface="Bai Jamjuree"/>
                  <a:sym typeface="Bai Jamjuree"/>
                </a:rPr>
                <a:t>Ngưỡng yêu cầu đặt ra cho hệ thống</a:t>
              </a:r>
            </a:p>
          </p:txBody>
        </p:sp>
      </p:grpSp>
      <p:grpSp>
        <p:nvGrpSpPr>
          <p:cNvPr id="106" name="Group 106"/>
          <p:cNvGrpSpPr/>
          <p:nvPr/>
        </p:nvGrpSpPr>
        <p:grpSpPr>
          <a:xfrm>
            <a:off x="381457" y="7346425"/>
            <a:ext cx="3990861" cy="1939290"/>
            <a:chOff x="0" y="0"/>
            <a:chExt cx="5321148" cy="2585720"/>
          </a:xfrm>
        </p:grpSpPr>
        <p:sp>
          <p:nvSpPr>
            <p:cNvPr id="107" name="Freeform 107"/>
            <p:cNvSpPr/>
            <p:nvPr/>
          </p:nvSpPr>
          <p:spPr>
            <a:xfrm>
              <a:off x="0" y="0"/>
              <a:ext cx="5321046" cy="2585720"/>
            </a:xfrm>
            <a:custGeom>
              <a:avLst/>
              <a:gdLst/>
              <a:ahLst/>
              <a:cxnLst/>
              <a:rect l="l" t="t" r="r" b="b"/>
              <a:pathLst>
                <a:path w="5321046" h="2585720">
                  <a:moveTo>
                    <a:pt x="0" y="184658"/>
                  </a:moveTo>
                  <a:cubicBezTo>
                    <a:pt x="0" y="82677"/>
                    <a:pt x="82677" y="0"/>
                    <a:pt x="184658" y="0"/>
                  </a:cubicBezTo>
                  <a:lnTo>
                    <a:pt x="5136388" y="0"/>
                  </a:lnTo>
                  <a:cubicBezTo>
                    <a:pt x="5238369" y="0"/>
                    <a:pt x="5321046" y="82677"/>
                    <a:pt x="5321046" y="184658"/>
                  </a:cubicBezTo>
                  <a:lnTo>
                    <a:pt x="5321046" y="2401062"/>
                  </a:lnTo>
                  <a:cubicBezTo>
                    <a:pt x="5321046" y="2503043"/>
                    <a:pt x="5238369" y="2585720"/>
                    <a:pt x="5136388" y="2585720"/>
                  </a:cubicBezTo>
                  <a:lnTo>
                    <a:pt x="184658" y="2585720"/>
                  </a:lnTo>
                  <a:cubicBezTo>
                    <a:pt x="82677" y="2585720"/>
                    <a:pt x="0" y="2503043"/>
                    <a:pt x="0" y="2401062"/>
                  </a:cubicBezTo>
                  <a:close/>
                </a:path>
              </a:pathLst>
            </a:custGeom>
            <a:solidFill>
              <a:srgbClr val="FFFFFF"/>
            </a:solidFill>
            <a:ln w="19050" cap="sq">
              <a:solidFill>
                <a:srgbClr val="9CA3AF"/>
              </a:solidFill>
              <a:prstDash val="solid"/>
              <a:miter/>
            </a:ln>
          </p:spPr>
          <p:txBody>
            <a:bodyPr/>
            <a:lstStyle/>
            <a:p>
              <a:endParaRPr lang="en-US"/>
            </a:p>
          </p:txBody>
        </p:sp>
      </p:grpSp>
      <p:sp>
        <p:nvSpPr>
          <p:cNvPr id="108" name="TextBox 108"/>
          <p:cNvSpPr txBox="1"/>
          <p:nvPr/>
        </p:nvSpPr>
        <p:spPr>
          <a:xfrm>
            <a:off x="596722" y="7456153"/>
            <a:ext cx="3560331" cy="323850"/>
          </a:xfrm>
          <a:prstGeom prst="rect">
            <a:avLst/>
          </a:prstGeom>
        </p:spPr>
        <p:txBody>
          <a:bodyPr lIns="0" tIns="0" rIns="0" bIns="0" rtlCol="0" anchor="t">
            <a:spAutoFit/>
          </a:bodyPr>
          <a:lstStyle/>
          <a:p>
            <a:pPr algn="l">
              <a:lnSpc>
                <a:spcPts val="2520"/>
              </a:lnSpc>
            </a:pPr>
            <a:r>
              <a:rPr lang="en-US" sz="2100" b="1">
                <a:solidFill>
                  <a:srgbClr val="1F2937"/>
                </a:solidFill>
                <a:latin typeface="Bai Jamjuree Bold"/>
                <a:ea typeface="Bai Jamjuree Bold"/>
                <a:cs typeface="Bai Jamjuree Bold"/>
                <a:sym typeface="Bai Jamjuree Bold"/>
              </a:rPr>
              <a:t>Thời gian khóa mục tiêu</a:t>
            </a:r>
          </a:p>
        </p:txBody>
      </p:sp>
      <p:grpSp>
        <p:nvGrpSpPr>
          <p:cNvPr id="109" name="Group 109"/>
          <p:cNvGrpSpPr/>
          <p:nvPr/>
        </p:nvGrpSpPr>
        <p:grpSpPr>
          <a:xfrm>
            <a:off x="592912" y="7903828"/>
            <a:ext cx="3560331" cy="1057427"/>
            <a:chOff x="0" y="0"/>
            <a:chExt cx="4747108" cy="1409903"/>
          </a:xfrm>
        </p:grpSpPr>
        <p:sp>
          <p:nvSpPr>
            <p:cNvPr id="110" name="Freeform 110"/>
            <p:cNvSpPr/>
            <p:nvPr/>
          </p:nvSpPr>
          <p:spPr>
            <a:xfrm>
              <a:off x="0" y="0"/>
              <a:ext cx="4747108" cy="1409903"/>
            </a:xfrm>
            <a:custGeom>
              <a:avLst/>
              <a:gdLst/>
              <a:ahLst/>
              <a:cxnLst/>
              <a:rect l="l" t="t" r="r" b="b"/>
              <a:pathLst>
                <a:path w="4747108" h="1409903">
                  <a:moveTo>
                    <a:pt x="0" y="0"/>
                  </a:moveTo>
                  <a:lnTo>
                    <a:pt x="4747108" y="0"/>
                  </a:lnTo>
                  <a:lnTo>
                    <a:pt x="4747108" y="1409903"/>
                  </a:lnTo>
                  <a:lnTo>
                    <a:pt x="0" y="1409903"/>
                  </a:lnTo>
                  <a:close/>
                </a:path>
              </a:pathLst>
            </a:custGeom>
            <a:blipFill>
              <a:blip r:embed="rId4">
                <a:alphaModFix amt="0"/>
              </a:blip>
              <a:stretch>
                <a:fillRect t="-33177" b="1966"/>
              </a:stretch>
            </a:blipFill>
          </p:spPr>
          <p:txBody>
            <a:bodyPr/>
            <a:lstStyle/>
            <a:p>
              <a:endParaRPr lang="en-US"/>
            </a:p>
          </p:txBody>
        </p:sp>
        <p:sp>
          <p:nvSpPr>
            <p:cNvPr id="111" name="TextBox 111"/>
            <p:cNvSpPr txBox="1"/>
            <p:nvPr/>
          </p:nvSpPr>
          <p:spPr>
            <a:xfrm>
              <a:off x="0" y="0"/>
              <a:ext cx="4747108" cy="1409903"/>
            </a:xfrm>
            <a:prstGeom prst="rect">
              <a:avLst/>
            </a:prstGeom>
          </p:spPr>
          <p:txBody>
            <a:bodyPr lIns="0" tIns="0" rIns="0" bIns="0" rtlCol="0" anchor="ctr"/>
            <a:lstStyle/>
            <a:p>
              <a:pPr algn="l">
                <a:lnSpc>
                  <a:spcPts val="5040"/>
                </a:lnSpc>
              </a:pPr>
              <a:r>
                <a:rPr lang="en-US" sz="4200" b="1">
                  <a:solidFill>
                    <a:srgbClr val="E0303A"/>
                  </a:solidFill>
                  <a:latin typeface="Bai Jamjuree Bold"/>
                  <a:ea typeface="Bai Jamjuree Bold"/>
                  <a:cs typeface="Bai Jamjuree Bold"/>
                  <a:sym typeface="Bai Jamjuree Bold"/>
                </a:rPr>
                <a:t>&lt; 1 s</a:t>
              </a:r>
            </a:p>
          </p:txBody>
        </p:sp>
      </p:grpSp>
      <p:sp>
        <p:nvSpPr>
          <p:cNvPr id="112" name="TextBox 112"/>
          <p:cNvSpPr txBox="1"/>
          <p:nvPr/>
        </p:nvSpPr>
        <p:spPr>
          <a:xfrm>
            <a:off x="596722" y="8833087"/>
            <a:ext cx="3560331" cy="238125"/>
          </a:xfrm>
          <a:prstGeom prst="rect">
            <a:avLst/>
          </a:prstGeom>
        </p:spPr>
        <p:txBody>
          <a:bodyPr lIns="0" tIns="0" rIns="0" bIns="0" rtlCol="0" anchor="t">
            <a:spAutoFit/>
          </a:bodyPr>
          <a:lstStyle/>
          <a:p>
            <a:pPr algn="l">
              <a:lnSpc>
                <a:spcPts val="1980"/>
              </a:lnSpc>
            </a:pPr>
            <a:r>
              <a:rPr lang="en-US" sz="1650">
                <a:solidFill>
                  <a:srgbClr val="6B7280"/>
                </a:solidFill>
                <a:latin typeface="Bai Jamjuree"/>
                <a:ea typeface="Bai Jamjuree"/>
                <a:cs typeface="Bai Jamjuree"/>
                <a:sym typeface="Bai Jamjuree"/>
              </a:rPr>
              <a:t>khóa mục tiêu ban đầu</a:t>
            </a:r>
          </a:p>
        </p:txBody>
      </p:sp>
      <p:grpSp>
        <p:nvGrpSpPr>
          <p:cNvPr id="113" name="Group 113"/>
          <p:cNvGrpSpPr/>
          <p:nvPr/>
        </p:nvGrpSpPr>
        <p:grpSpPr>
          <a:xfrm>
            <a:off x="4696168" y="7346425"/>
            <a:ext cx="3990861" cy="1939290"/>
            <a:chOff x="0" y="0"/>
            <a:chExt cx="5321148" cy="2585720"/>
          </a:xfrm>
        </p:grpSpPr>
        <p:sp>
          <p:nvSpPr>
            <p:cNvPr id="114" name="Freeform 114"/>
            <p:cNvSpPr/>
            <p:nvPr/>
          </p:nvSpPr>
          <p:spPr>
            <a:xfrm>
              <a:off x="0" y="0"/>
              <a:ext cx="5321046" cy="2585720"/>
            </a:xfrm>
            <a:custGeom>
              <a:avLst/>
              <a:gdLst/>
              <a:ahLst/>
              <a:cxnLst/>
              <a:rect l="l" t="t" r="r" b="b"/>
              <a:pathLst>
                <a:path w="5321046" h="2585720">
                  <a:moveTo>
                    <a:pt x="0" y="184658"/>
                  </a:moveTo>
                  <a:cubicBezTo>
                    <a:pt x="0" y="82677"/>
                    <a:pt x="82677" y="0"/>
                    <a:pt x="184658" y="0"/>
                  </a:cubicBezTo>
                  <a:lnTo>
                    <a:pt x="5136388" y="0"/>
                  </a:lnTo>
                  <a:cubicBezTo>
                    <a:pt x="5238369" y="0"/>
                    <a:pt x="5321046" y="82677"/>
                    <a:pt x="5321046" y="184658"/>
                  </a:cubicBezTo>
                  <a:lnTo>
                    <a:pt x="5321046" y="2401062"/>
                  </a:lnTo>
                  <a:cubicBezTo>
                    <a:pt x="5321046" y="2503043"/>
                    <a:pt x="5238369" y="2585720"/>
                    <a:pt x="5136388" y="2585720"/>
                  </a:cubicBezTo>
                  <a:lnTo>
                    <a:pt x="184658" y="2585720"/>
                  </a:lnTo>
                  <a:cubicBezTo>
                    <a:pt x="82677" y="2585720"/>
                    <a:pt x="0" y="2503043"/>
                    <a:pt x="0" y="2401062"/>
                  </a:cubicBezTo>
                  <a:close/>
                </a:path>
              </a:pathLst>
            </a:custGeom>
            <a:solidFill>
              <a:srgbClr val="FFFFFF"/>
            </a:solidFill>
            <a:ln w="19050" cap="sq">
              <a:solidFill>
                <a:srgbClr val="9CA3AF"/>
              </a:solidFill>
              <a:prstDash val="solid"/>
              <a:miter/>
            </a:ln>
          </p:spPr>
          <p:txBody>
            <a:bodyPr/>
            <a:lstStyle/>
            <a:p>
              <a:endParaRPr lang="en-US"/>
            </a:p>
          </p:txBody>
        </p:sp>
      </p:grpSp>
      <p:sp>
        <p:nvSpPr>
          <p:cNvPr id="115" name="TextBox 115"/>
          <p:cNvSpPr txBox="1"/>
          <p:nvPr/>
        </p:nvSpPr>
        <p:spPr>
          <a:xfrm>
            <a:off x="4911433" y="7456153"/>
            <a:ext cx="3560331" cy="638175"/>
          </a:xfrm>
          <a:prstGeom prst="rect">
            <a:avLst/>
          </a:prstGeom>
        </p:spPr>
        <p:txBody>
          <a:bodyPr lIns="0" tIns="0" rIns="0" bIns="0" rtlCol="0" anchor="t">
            <a:spAutoFit/>
          </a:bodyPr>
          <a:lstStyle/>
          <a:p>
            <a:pPr algn="l">
              <a:lnSpc>
                <a:spcPts val="2520"/>
              </a:lnSpc>
            </a:pPr>
            <a:r>
              <a:rPr lang="en-US" sz="2100" b="1">
                <a:solidFill>
                  <a:srgbClr val="1F2937"/>
                </a:solidFill>
                <a:latin typeface="Bai Jamjuree Bold"/>
                <a:ea typeface="Bai Jamjuree Bold"/>
                <a:cs typeface="Bai Jamjuree Bold"/>
                <a:sym typeface="Bai Jamjuree Bold"/>
              </a:rPr>
              <a:t>Khoảng cách tối thiểu tới vật cản</a:t>
            </a:r>
          </a:p>
        </p:txBody>
      </p:sp>
      <p:grpSp>
        <p:nvGrpSpPr>
          <p:cNvPr id="116" name="Group 116"/>
          <p:cNvGrpSpPr/>
          <p:nvPr/>
        </p:nvGrpSpPr>
        <p:grpSpPr>
          <a:xfrm>
            <a:off x="4907623" y="7889959"/>
            <a:ext cx="3560331" cy="1057427"/>
            <a:chOff x="0" y="0"/>
            <a:chExt cx="4747108" cy="1409903"/>
          </a:xfrm>
        </p:grpSpPr>
        <p:sp>
          <p:nvSpPr>
            <p:cNvPr id="117" name="Freeform 117"/>
            <p:cNvSpPr/>
            <p:nvPr/>
          </p:nvSpPr>
          <p:spPr>
            <a:xfrm>
              <a:off x="0" y="0"/>
              <a:ext cx="4747108" cy="1409903"/>
            </a:xfrm>
            <a:custGeom>
              <a:avLst/>
              <a:gdLst/>
              <a:ahLst/>
              <a:cxnLst/>
              <a:rect l="l" t="t" r="r" b="b"/>
              <a:pathLst>
                <a:path w="4747108" h="1409903">
                  <a:moveTo>
                    <a:pt x="0" y="0"/>
                  </a:moveTo>
                  <a:lnTo>
                    <a:pt x="4747108" y="0"/>
                  </a:lnTo>
                  <a:lnTo>
                    <a:pt x="4747108" y="1409903"/>
                  </a:lnTo>
                  <a:lnTo>
                    <a:pt x="0" y="1409903"/>
                  </a:lnTo>
                  <a:close/>
                </a:path>
              </a:pathLst>
            </a:custGeom>
            <a:blipFill>
              <a:blip r:embed="rId4">
                <a:alphaModFix amt="0"/>
              </a:blip>
              <a:stretch>
                <a:fillRect t="-33177" b="1966"/>
              </a:stretch>
            </a:blipFill>
          </p:spPr>
          <p:txBody>
            <a:bodyPr/>
            <a:lstStyle/>
            <a:p>
              <a:endParaRPr lang="en-US"/>
            </a:p>
          </p:txBody>
        </p:sp>
        <p:sp>
          <p:nvSpPr>
            <p:cNvPr id="118" name="TextBox 118"/>
            <p:cNvSpPr txBox="1"/>
            <p:nvPr/>
          </p:nvSpPr>
          <p:spPr>
            <a:xfrm>
              <a:off x="0" y="0"/>
              <a:ext cx="4747108" cy="1409903"/>
            </a:xfrm>
            <a:prstGeom prst="rect">
              <a:avLst/>
            </a:prstGeom>
          </p:spPr>
          <p:txBody>
            <a:bodyPr lIns="0" tIns="0" rIns="0" bIns="0" rtlCol="0" anchor="ctr"/>
            <a:lstStyle/>
            <a:p>
              <a:pPr algn="l">
                <a:lnSpc>
                  <a:spcPts val="5040"/>
                </a:lnSpc>
              </a:pPr>
              <a:r>
                <a:rPr lang="en-US" sz="4200" b="1">
                  <a:solidFill>
                    <a:srgbClr val="E0303A"/>
                  </a:solidFill>
                  <a:latin typeface="Bai Jamjuree Bold"/>
                  <a:ea typeface="Bai Jamjuree Bold"/>
                  <a:cs typeface="Bai Jamjuree Bold"/>
                  <a:sym typeface="Bai Jamjuree Bold"/>
                </a:rPr>
                <a:t>&gt; 0,8 m</a:t>
              </a:r>
            </a:p>
          </p:txBody>
        </p:sp>
      </p:grpSp>
      <p:sp>
        <p:nvSpPr>
          <p:cNvPr id="119" name="TextBox 119"/>
          <p:cNvSpPr txBox="1"/>
          <p:nvPr/>
        </p:nvSpPr>
        <p:spPr>
          <a:xfrm>
            <a:off x="4911433" y="8833087"/>
            <a:ext cx="3560331" cy="238125"/>
          </a:xfrm>
          <a:prstGeom prst="rect">
            <a:avLst/>
          </a:prstGeom>
        </p:spPr>
        <p:txBody>
          <a:bodyPr lIns="0" tIns="0" rIns="0" bIns="0" rtlCol="0" anchor="t">
            <a:spAutoFit/>
          </a:bodyPr>
          <a:lstStyle/>
          <a:p>
            <a:pPr algn="l">
              <a:lnSpc>
                <a:spcPts val="1980"/>
              </a:lnSpc>
            </a:pPr>
            <a:r>
              <a:rPr lang="en-US" sz="1650">
                <a:solidFill>
                  <a:srgbClr val="6B7280"/>
                </a:solidFill>
                <a:latin typeface="Bai Jamjuree"/>
                <a:ea typeface="Bai Jamjuree"/>
                <a:cs typeface="Bai Jamjuree"/>
                <a:sym typeface="Bai Jamjuree"/>
              </a:rPr>
              <a:t>đối với mọi vật cản</a:t>
            </a:r>
          </a:p>
        </p:txBody>
      </p:sp>
      <p:grpSp>
        <p:nvGrpSpPr>
          <p:cNvPr id="120" name="Group 120"/>
          <p:cNvGrpSpPr/>
          <p:nvPr/>
        </p:nvGrpSpPr>
        <p:grpSpPr>
          <a:xfrm>
            <a:off x="9010879" y="7346425"/>
            <a:ext cx="3990861" cy="1939290"/>
            <a:chOff x="0" y="0"/>
            <a:chExt cx="5321148" cy="2585720"/>
          </a:xfrm>
        </p:grpSpPr>
        <p:sp>
          <p:nvSpPr>
            <p:cNvPr id="121" name="Freeform 121"/>
            <p:cNvSpPr/>
            <p:nvPr/>
          </p:nvSpPr>
          <p:spPr>
            <a:xfrm>
              <a:off x="0" y="0"/>
              <a:ext cx="5321046" cy="2585720"/>
            </a:xfrm>
            <a:custGeom>
              <a:avLst/>
              <a:gdLst/>
              <a:ahLst/>
              <a:cxnLst/>
              <a:rect l="l" t="t" r="r" b="b"/>
              <a:pathLst>
                <a:path w="5321046" h="2585720">
                  <a:moveTo>
                    <a:pt x="0" y="184658"/>
                  </a:moveTo>
                  <a:cubicBezTo>
                    <a:pt x="0" y="82677"/>
                    <a:pt x="82677" y="0"/>
                    <a:pt x="184658" y="0"/>
                  </a:cubicBezTo>
                  <a:lnTo>
                    <a:pt x="5136388" y="0"/>
                  </a:lnTo>
                  <a:cubicBezTo>
                    <a:pt x="5238369" y="0"/>
                    <a:pt x="5321046" y="82677"/>
                    <a:pt x="5321046" y="184658"/>
                  </a:cubicBezTo>
                  <a:lnTo>
                    <a:pt x="5321046" y="2401062"/>
                  </a:lnTo>
                  <a:cubicBezTo>
                    <a:pt x="5321046" y="2503043"/>
                    <a:pt x="5238369" y="2585720"/>
                    <a:pt x="5136388" y="2585720"/>
                  </a:cubicBezTo>
                  <a:lnTo>
                    <a:pt x="184658" y="2585720"/>
                  </a:lnTo>
                  <a:cubicBezTo>
                    <a:pt x="82677" y="2585720"/>
                    <a:pt x="0" y="2503043"/>
                    <a:pt x="0" y="2401062"/>
                  </a:cubicBezTo>
                  <a:close/>
                </a:path>
              </a:pathLst>
            </a:custGeom>
            <a:solidFill>
              <a:srgbClr val="FFFFFF"/>
            </a:solidFill>
            <a:ln w="19050" cap="sq">
              <a:solidFill>
                <a:srgbClr val="9CA3AF"/>
              </a:solidFill>
              <a:prstDash val="solid"/>
              <a:miter/>
            </a:ln>
          </p:spPr>
          <p:txBody>
            <a:bodyPr/>
            <a:lstStyle/>
            <a:p>
              <a:endParaRPr lang="en-US"/>
            </a:p>
          </p:txBody>
        </p:sp>
      </p:grpSp>
      <p:sp>
        <p:nvSpPr>
          <p:cNvPr id="122" name="TextBox 122"/>
          <p:cNvSpPr txBox="1"/>
          <p:nvPr/>
        </p:nvSpPr>
        <p:spPr>
          <a:xfrm>
            <a:off x="9226144" y="7456153"/>
            <a:ext cx="3560331" cy="323850"/>
          </a:xfrm>
          <a:prstGeom prst="rect">
            <a:avLst/>
          </a:prstGeom>
        </p:spPr>
        <p:txBody>
          <a:bodyPr lIns="0" tIns="0" rIns="0" bIns="0" rtlCol="0" anchor="t">
            <a:spAutoFit/>
          </a:bodyPr>
          <a:lstStyle/>
          <a:p>
            <a:pPr algn="l">
              <a:lnSpc>
                <a:spcPts val="2520"/>
              </a:lnSpc>
            </a:pPr>
            <a:r>
              <a:rPr lang="en-US" sz="2100" b="1">
                <a:solidFill>
                  <a:srgbClr val="1F2937"/>
                </a:solidFill>
                <a:latin typeface="Bai Jamjuree Bold"/>
                <a:ea typeface="Bai Jamjuree Bold"/>
                <a:cs typeface="Bai Jamjuree Bold"/>
                <a:sym typeface="Bai Jamjuree Bold"/>
              </a:rPr>
              <a:t>Sai số hạ cánh trên bãi đáp</a:t>
            </a:r>
          </a:p>
        </p:txBody>
      </p:sp>
      <p:grpSp>
        <p:nvGrpSpPr>
          <p:cNvPr id="123" name="Group 123"/>
          <p:cNvGrpSpPr/>
          <p:nvPr/>
        </p:nvGrpSpPr>
        <p:grpSpPr>
          <a:xfrm>
            <a:off x="9226144" y="7808578"/>
            <a:ext cx="3560331" cy="1057427"/>
            <a:chOff x="0" y="0"/>
            <a:chExt cx="4747108" cy="1409903"/>
          </a:xfrm>
        </p:grpSpPr>
        <p:sp>
          <p:nvSpPr>
            <p:cNvPr id="124" name="Freeform 124"/>
            <p:cNvSpPr/>
            <p:nvPr/>
          </p:nvSpPr>
          <p:spPr>
            <a:xfrm>
              <a:off x="0" y="0"/>
              <a:ext cx="4747108" cy="1409903"/>
            </a:xfrm>
            <a:custGeom>
              <a:avLst/>
              <a:gdLst/>
              <a:ahLst/>
              <a:cxnLst/>
              <a:rect l="l" t="t" r="r" b="b"/>
              <a:pathLst>
                <a:path w="4747108" h="1409903">
                  <a:moveTo>
                    <a:pt x="0" y="0"/>
                  </a:moveTo>
                  <a:lnTo>
                    <a:pt x="4747108" y="0"/>
                  </a:lnTo>
                  <a:lnTo>
                    <a:pt x="4747108" y="1409903"/>
                  </a:lnTo>
                  <a:lnTo>
                    <a:pt x="0" y="1409903"/>
                  </a:lnTo>
                  <a:close/>
                </a:path>
              </a:pathLst>
            </a:custGeom>
            <a:blipFill>
              <a:blip r:embed="rId4">
                <a:alphaModFix amt="0"/>
              </a:blip>
              <a:stretch>
                <a:fillRect t="-33177" b="1966"/>
              </a:stretch>
            </a:blipFill>
          </p:spPr>
          <p:txBody>
            <a:bodyPr/>
            <a:lstStyle/>
            <a:p>
              <a:endParaRPr lang="en-US"/>
            </a:p>
          </p:txBody>
        </p:sp>
        <p:sp>
          <p:nvSpPr>
            <p:cNvPr id="125" name="TextBox 125"/>
            <p:cNvSpPr txBox="1"/>
            <p:nvPr/>
          </p:nvSpPr>
          <p:spPr>
            <a:xfrm>
              <a:off x="0" y="0"/>
              <a:ext cx="4747108" cy="1409903"/>
            </a:xfrm>
            <a:prstGeom prst="rect">
              <a:avLst/>
            </a:prstGeom>
          </p:spPr>
          <p:txBody>
            <a:bodyPr lIns="0" tIns="0" rIns="0" bIns="0" rtlCol="0" anchor="ctr"/>
            <a:lstStyle/>
            <a:p>
              <a:pPr algn="l">
                <a:lnSpc>
                  <a:spcPts val="5040"/>
                </a:lnSpc>
              </a:pPr>
              <a:r>
                <a:rPr lang="en-US" sz="4200" b="1">
                  <a:solidFill>
                    <a:srgbClr val="E0303A"/>
                  </a:solidFill>
                  <a:latin typeface="Bai Jamjuree Bold"/>
                  <a:ea typeface="Bai Jamjuree Bold"/>
                  <a:cs typeface="Bai Jamjuree Bold"/>
                  <a:sym typeface="Bai Jamjuree Bold"/>
                </a:rPr>
                <a:t>&lt; 30 cm</a:t>
              </a:r>
            </a:p>
          </p:txBody>
        </p:sp>
      </p:grpSp>
      <p:sp>
        <p:nvSpPr>
          <p:cNvPr id="126" name="TextBox 126"/>
          <p:cNvSpPr txBox="1"/>
          <p:nvPr/>
        </p:nvSpPr>
        <p:spPr>
          <a:xfrm>
            <a:off x="9226144" y="8833087"/>
            <a:ext cx="3560331" cy="238125"/>
          </a:xfrm>
          <a:prstGeom prst="rect">
            <a:avLst/>
          </a:prstGeom>
        </p:spPr>
        <p:txBody>
          <a:bodyPr lIns="0" tIns="0" rIns="0" bIns="0" rtlCol="0" anchor="t">
            <a:spAutoFit/>
          </a:bodyPr>
          <a:lstStyle/>
          <a:p>
            <a:pPr algn="l">
              <a:lnSpc>
                <a:spcPts val="1980"/>
              </a:lnSpc>
            </a:pPr>
            <a:r>
              <a:rPr lang="en-US" sz="1650">
                <a:solidFill>
                  <a:srgbClr val="6B7280"/>
                </a:solidFill>
                <a:latin typeface="Bai Jamjuree"/>
                <a:ea typeface="Bai Jamjuree"/>
                <a:cs typeface="Bai Jamjuree"/>
                <a:sym typeface="Bai Jamjuree"/>
              </a:rPr>
              <a:t>lệch ngang so với tâm bãi đáp</a:t>
            </a:r>
          </a:p>
        </p:txBody>
      </p:sp>
      <p:grpSp>
        <p:nvGrpSpPr>
          <p:cNvPr id="127" name="Group 127"/>
          <p:cNvGrpSpPr/>
          <p:nvPr/>
        </p:nvGrpSpPr>
        <p:grpSpPr>
          <a:xfrm>
            <a:off x="13325589" y="7346425"/>
            <a:ext cx="3990861" cy="1939290"/>
            <a:chOff x="0" y="0"/>
            <a:chExt cx="5321148" cy="2585720"/>
          </a:xfrm>
        </p:grpSpPr>
        <p:sp>
          <p:nvSpPr>
            <p:cNvPr id="128" name="Freeform 128"/>
            <p:cNvSpPr/>
            <p:nvPr/>
          </p:nvSpPr>
          <p:spPr>
            <a:xfrm>
              <a:off x="0" y="0"/>
              <a:ext cx="5321046" cy="2585720"/>
            </a:xfrm>
            <a:custGeom>
              <a:avLst/>
              <a:gdLst/>
              <a:ahLst/>
              <a:cxnLst/>
              <a:rect l="l" t="t" r="r" b="b"/>
              <a:pathLst>
                <a:path w="5321046" h="2585720">
                  <a:moveTo>
                    <a:pt x="0" y="184658"/>
                  </a:moveTo>
                  <a:cubicBezTo>
                    <a:pt x="0" y="82677"/>
                    <a:pt x="82677" y="0"/>
                    <a:pt x="184658" y="0"/>
                  </a:cubicBezTo>
                  <a:lnTo>
                    <a:pt x="5136388" y="0"/>
                  </a:lnTo>
                  <a:cubicBezTo>
                    <a:pt x="5238369" y="0"/>
                    <a:pt x="5321046" y="82677"/>
                    <a:pt x="5321046" y="184658"/>
                  </a:cubicBezTo>
                  <a:lnTo>
                    <a:pt x="5321046" y="2401062"/>
                  </a:lnTo>
                  <a:cubicBezTo>
                    <a:pt x="5321046" y="2503043"/>
                    <a:pt x="5238369" y="2585720"/>
                    <a:pt x="5136388" y="2585720"/>
                  </a:cubicBezTo>
                  <a:lnTo>
                    <a:pt x="184658" y="2585720"/>
                  </a:lnTo>
                  <a:cubicBezTo>
                    <a:pt x="82677" y="2585720"/>
                    <a:pt x="0" y="2503043"/>
                    <a:pt x="0" y="2401062"/>
                  </a:cubicBezTo>
                  <a:close/>
                </a:path>
              </a:pathLst>
            </a:custGeom>
            <a:solidFill>
              <a:srgbClr val="FFFFFF"/>
            </a:solidFill>
            <a:ln w="19050" cap="sq">
              <a:solidFill>
                <a:srgbClr val="9CA3AF"/>
              </a:solidFill>
              <a:prstDash val="solid"/>
              <a:miter/>
            </a:ln>
          </p:spPr>
          <p:txBody>
            <a:bodyPr/>
            <a:lstStyle/>
            <a:p>
              <a:endParaRPr lang="en-US"/>
            </a:p>
          </p:txBody>
        </p:sp>
      </p:grpSp>
      <p:sp>
        <p:nvSpPr>
          <p:cNvPr id="129" name="TextBox 129"/>
          <p:cNvSpPr txBox="1"/>
          <p:nvPr/>
        </p:nvSpPr>
        <p:spPr>
          <a:xfrm>
            <a:off x="13540854" y="7456153"/>
            <a:ext cx="3560331" cy="323850"/>
          </a:xfrm>
          <a:prstGeom prst="rect">
            <a:avLst/>
          </a:prstGeom>
        </p:spPr>
        <p:txBody>
          <a:bodyPr lIns="0" tIns="0" rIns="0" bIns="0" rtlCol="0" anchor="t">
            <a:spAutoFit/>
          </a:bodyPr>
          <a:lstStyle/>
          <a:p>
            <a:pPr algn="l">
              <a:lnSpc>
                <a:spcPts val="2520"/>
              </a:lnSpc>
            </a:pPr>
            <a:r>
              <a:rPr lang="en-US" sz="2100" b="1">
                <a:solidFill>
                  <a:srgbClr val="1F2937"/>
                </a:solidFill>
                <a:latin typeface="Bai Jamjuree Bold"/>
                <a:ea typeface="Bai Jamjuree Bold"/>
                <a:cs typeface="Bai Jamjuree Bold"/>
                <a:sym typeface="Bai Jamjuree Bold"/>
              </a:rPr>
              <a:t>Tỷ lệ hoàn thành nhiệm vụ</a:t>
            </a:r>
          </a:p>
        </p:txBody>
      </p:sp>
      <p:grpSp>
        <p:nvGrpSpPr>
          <p:cNvPr id="130" name="Group 130"/>
          <p:cNvGrpSpPr/>
          <p:nvPr/>
        </p:nvGrpSpPr>
        <p:grpSpPr>
          <a:xfrm>
            <a:off x="13535139" y="7889959"/>
            <a:ext cx="3560331" cy="1057427"/>
            <a:chOff x="0" y="0"/>
            <a:chExt cx="4747108" cy="1409903"/>
          </a:xfrm>
        </p:grpSpPr>
        <p:sp>
          <p:nvSpPr>
            <p:cNvPr id="131" name="Freeform 131"/>
            <p:cNvSpPr/>
            <p:nvPr/>
          </p:nvSpPr>
          <p:spPr>
            <a:xfrm>
              <a:off x="0" y="0"/>
              <a:ext cx="4747108" cy="1409903"/>
            </a:xfrm>
            <a:custGeom>
              <a:avLst/>
              <a:gdLst/>
              <a:ahLst/>
              <a:cxnLst/>
              <a:rect l="l" t="t" r="r" b="b"/>
              <a:pathLst>
                <a:path w="4747108" h="1409903">
                  <a:moveTo>
                    <a:pt x="0" y="0"/>
                  </a:moveTo>
                  <a:lnTo>
                    <a:pt x="4747108" y="0"/>
                  </a:lnTo>
                  <a:lnTo>
                    <a:pt x="4747108" y="1409903"/>
                  </a:lnTo>
                  <a:lnTo>
                    <a:pt x="0" y="1409903"/>
                  </a:lnTo>
                  <a:close/>
                </a:path>
              </a:pathLst>
            </a:custGeom>
            <a:blipFill>
              <a:blip r:embed="rId4">
                <a:alphaModFix amt="0"/>
              </a:blip>
              <a:stretch>
                <a:fillRect t="-33177" b="1966"/>
              </a:stretch>
            </a:blipFill>
          </p:spPr>
          <p:txBody>
            <a:bodyPr/>
            <a:lstStyle/>
            <a:p>
              <a:endParaRPr lang="en-US"/>
            </a:p>
          </p:txBody>
        </p:sp>
        <p:sp>
          <p:nvSpPr>
            <p:cNvPr id="132" name="TextBox 132"/>
            <p:cNvSpPr txBox="1"/>
            <p:nvPr/>
          </p:nvSpPr>
          <p:spPr>
            <a:xfrm>
              <a:off x="0" y="0"/>
              <a:ext cx="4747108" cy="1409903"/>
            </a:xfrm>
            <a:prstGeom prst="rect">
              <a:avLst/>
            </a:prstGeom>
          </p:spPr>
          <p:txBody>
            <a:bodyPr lIns="0" tIns="0" rIns="0" bIns="0" rtlCol="0" anchor="ctr"/>
            <a:lstStyle/>
            <a:p>
              <a:pPr algn="l">
                <a:lnSpc>
                  <a:spcPts val="5040"/>
                </a:lnSpc>
              </a:pPr>
              <a:r>
                <a:rPr lang="en-US" sz="4200" b="1">
                  <a:solidFill>
                    <a:srgbClr val="E0303A"/>
                  </a:solidFill>
                  <a:latin typeface="Bai Jamjuree Bold"/>
                  <a:ea typeface="Bai Jamjuree Bold"/>
                  <a:cs typeface="Bai Jamjuree Bold"/>
                  <a:sym typeface="Bai Jamjuree Bold"/>
                </a:rPr>
                <a:t>≥ 90%</a:t>
              </a:r>
            </a:p>
          </p:txBody>
        </p:sp>
      </p:grpSp>
      <p:sp>
        <p:nvSpPr>
          <p:cNvPr id="133" name="TextBox 133"/>
          <p:cNvSpPr txBox="1"/>
          <p:nvPr/>
        </p:nvSpPr>
        <p:spPr>
          <a:xfrm>
            <a:off x="13540854" y="8833087"/>
            <a:ext cx="3560331" cy="238125"/>
          </a:xfrm>
          <a:prstGeom prst="rect">
            <a:avLst/>
          </a:prstGeom>
        </p:spPr>
        <p:txBody>
          <a:bodyPr lIns="0" tIns="0" rIns="0" bIns="0" rtlCol="0" anchor="t">
            <a:spAutoFit/>
          </a:bodyPr>
          <a:lstStyle/>
          <a:p>
            <a:pPr algn="l">
              <a:lnSpc>
                <a:spcPts val="1980"/>
              </a:lnSpc>
            </a:pPr>
            <a:r>
              <a:rPr lang="en-US" sz="1650">
                <a:solidFill>
                  <a:srgbClr val="6B7280"/>
                </a:solidFill>
                <a:latin typeface="Bai Jamjuree"/>
                <a:ea typeface="Bai Jamjuree"/>
                <a:cs typeface="Bai Jamjuree"/>
                <a:sym typeface="Bai Jamjuree"/>
              </a:rPr>
              <a:t>hoàn thành trọn nhiệm vụ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335786"/>
            <a:chOff x="0" y="0"/>
            <a:chExt cx="24403304" cy="1781048"/>
          </a:xfrm>
        </p:grpSpPr>
        <p:sp>
          <p:nvSpPr>
            <p:cNvPr id="3" name="Freeform 3"/>
            <p:cNvSpPr/>
            <p:nvPr/>
          </p:nvSpPr>
          <p:spPr>
            <a:xfrm>
              <a:off x="0" y="0"/>
              <a:ext cx="24403304" cy="1781048"/>
            </a:xfrm>
            <a:custGeom>
              <a:avLst/>
              <a:gdLst/>
              <a:ahLst/>
              <a:cxnLst/>
              <a:rect l="l" t="t" r="r" b="b"/>
              <a:pathLst>
                <a:path w="24403304" h="1781048">
                  <a:moveTo>
                    <a:pt x="0" y="0"/>
                  </a:moveTo>
                  <a:lnTo>
                    <a:pt x="24403304" y="0"/>
                  </a:lnTo>
                  <a:lnTo>
                    <a:pt x="24403304" y="1781048"/>
                  </a:lnTo>
                  <a:lnTo>
                    <a:pt x="0" y="1781048"/>
                  </a:lnTo>
                  <a:close/>
                </a:path>
              </a:pathLst>
            </a:custGeom>
            <a:solidFill>
              <a:srgbClr val="F0F0F0"/>
            </a:solidFill>
            <a:ln w="19050" cap="sq">
              <a:solidFill>
                <a:srgbClr val="F0F0F0"/>
              </a:solidFill>
              <a:prstDash val="solid"/>
              <a:miter/>
            </a:ln>
          </p:spPr>
          <p:txBody>
            <a:bodyPr/>
            <a:lstStyle/>
            <a:p>
              <a:endParaRPr lang="en-US"/>
            </a:p>
          </p:txBody>
        </p:sp>
      </p:grpSp>
      <p:sp>
        <p:nvSpPr>
          <p:cNvPr id="4" name="AutoShape 4"/>
          <p:cNvSpPr/>
          <p:nvPr/>
        </p:nvSpPr>
        <p:spPr>
          <a:xfrm rot="5340">
            <a:off x="-14297" y="1307211"/>
            <a:ext cx="18312022" cy="0"/>
          </a:xfrm>
          <a:prstGeom prst="line">
            <a:avLst/>
          </a:prstGeom>
          <a:ln w="19050" cap="rnd">
            <a:solidFill>
              <a:srgbClr val="D9D9D9"/>
            </a:solidFill>
            <a:prstDash val="solid"/>
            <a:headEnd type="none" w="sm" len="sm"/>
            <a:tailEnd type="none" w="sm" len="sm"/>
          </a:ln>
        </p:spPr>
        <p:txBody>
          <a:bodyPr/>
          <a:lstStyle/>
          <a:p>
            <a:endParaRPr lang="en-US"/>
          </a:p>
        </p:txBody>
      </p:sp>
      <p:grpSp>
        <p:nvGrpSpPr>
          <p:cNvPr id="5" name="Group 5"/>
          <p:cNvGrpSpPr/>
          <p:nvPr/>
        </p:nvGrpSpPr>
        <p:grpSpPr>
          <a:xfrm>
            <a:off x="1636395" y="-9525"/>
            <a:ext cx="7974330" cy="1130046"/>
            <a:chOff x="0" y="0"/>
            <a:chExt cx="10632440" cy="1506728"/>
          </a:xfrm>
        </p:grpSpPr>
        <p:sp>
          <p:nvSpPr>
            <p:cNvPr id="6" name="Freeform 6"/>
            <p:cNvSpPr/>
            <p:nvPr/>
          </p:nvSpPr>
          <p:spPr>
            <a:xfrm>
              <a:off x="0" y="0"/>
              <a:ext cx="10632440" cy="1506728"/>
            </a:xfrm>
            <a:custGeom>
              <a:avLst/>
              <a:gdLst/>
              <a:ahLst/>
              <a:cxnLst/>
              <a:rect l="l" t="t" r="r" b="b"/>
              <a:pathLst>
                <a:path w="10632440" h="1506728">
                  <a:moveTo>
                    <a:pt x="0" y="0"/>
                  </a:moveTo>
                  <a:lnTo>
                    <a:pt x="10632440" y="0"/>
                  </a:lnTo>
                  <a:lnTo>
                    <a:pt x="9440926" y="1506728"/>
                  </a:lnTo>
                  <a:lnTo>
                    <a:pt x="0" y="1506728"/>
                  </a:lnTo>
                  <a:close/>
                </a:path>
              </a:pathLst>
            </a:custGeom>
            <a:solidFill>
              <a:srgbClr val="595959"/>
            </a:solidFill>
            <a:ln w="19050" cap="sq">
              <a:solidFill>
                <a:srgbClr val="595959"/>
              </a:solidFill>
              <a:prstDash val="solid"/>
              <a:miter/>
            </a:ln>
          </p:spPr>
          <p:txBody>
            <a:bodyPr/>
            <a:lstStyle/>
            <a:p>
              <a:endParaRPr lang="en-US"/>
            </a:p>
          </p:txBody>
        </p:sp>
      </p:grpSp>
      <p:grpSp>
        <p:nvGrpSpPr>
          <p:cNvPr id="7" name="Group 7"/>
          <p:cNvGrpSpPr/>
          <p:nvPr/>
        </p:nvGrpSpPr>
        <p:grpSpPr>
          <a:xfrm>
            <a:off x="-9525" y="-9525"/>
            <a:ext cx="1664970" cy="1130046"/>
            <a:chOff x="0" y="0"/>
            <a:chExt cx="2219960" cy="1506728"/>
          </a:xfrm>
        </p:grpSpPr>
        <p:sp>
          <p:nvSpPr>
            <p:cNvPr id="8" name="Freeform 8"/>
            <p:cNvSpPr/>
            <p:nvPr/>
          </p:nvSpPr>
          <p:spPr>
            <a:xfrm>
              <a:off x="0" y="0"/>
              <a:ext cx="2219960" cy="1506728"/>
            </a:xfrm>
            <a:custGeom>
              <a:avLst/>
              <a:gdLst/>
              <a:ahLst/>
              <a:cxnLst/>
              <a:rect l="l" t="t" r="r" b="b"/>
              <a:pathLst>
                <a:path w="2219960" h="1506728">
                  <a:moveTo>
                    <a:pt x="0" y="0"/>
                  </a:moveTo>
                  <a:lnTo>
                    <a:pt x="2219960" y="0"/>
                  </a:lnTo>
                  <a:lnTo>
                    <a:pt x="2219960" y="1506728"/>
                  </a:lnTo>
                  <a:lnTo>
                    <a:pt x="0" y="1506728"/>
                  </a:lnTo>
                  <a:close/>
                </a:path>
              </a:pathLst>
            </a:custGeom>
            <a:solidFill>
              <a:srgbClr val="DD2E3A"/>
            </a:solidFill>
            <a:ln w="19050" cap="sq">
              <a:solidFill>
                <a:srgbClr val="DD2E3A"/>
              </a:solidFill>
              <a:prstDash val="solid"/>
              <a:miter/>
            </a:ln>
          </p:spPr>
          <p:txBody>
            <a:bodyPr/>
            <a:lstStyle/>
            <a:p>
              <a:endParaRPr lang="en-US"/>
            </a:p>
          </p:txBody>
        </p:sp>
      </p:grpSp>
      <p:grpSp>
        <p:nvGrpSpPr>
          <p:cNvPr id="9" name="Group 9"/>
          <p:cNvGrpSpPr/>
          <p:nvPr/>
        </p:nvGrpSpPr>
        <p:grpSpPr>
          <a:xfrm>
            <a:off x="0" y="0"/>
            <a:ext cx="1645920" cy="1110996"/>
            <a:chOff x="0" y="0"/>
            <a:chExt cx="2194560" cy="1481328"/>
          </a:xfrm>
        </p:grpSpPr>
        <p:sp>
          <p:nvSpPr>
            <p:cNvPr id="10" name="Freeform 10"/>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3">
                <a:alphaModFix amt="0"/>
              </a:blip>
              <a:stretch>
                <a:fillRect l="-36604" r="-36604"/>
              </a:stretch>
            </a:blipFill>
          </p:spPr>
          <p:txBody>
            <a:bodyPr/>
            <a:lstStyle/>
            <a:p>
              <a:endParaRPr lang="en-US"/>
            </a:p>
          </p:txBody>
        </p:sp>
        <p:sp>
          <p:nvSpPr>
            <p:cNvPr id="11" name="TextBox 11"/>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01</a:t>
              </a:r>
            </a:p>
          </p:txBody>
        </p:sp>
      </p:grpSp>
      <p:grpSp>
        <p:nvGrpSpPr>
          <p:cNvPr id="12" name="Group 12"/>
          <p:cNvGrpSpPr/>
          <p:nvPr/>
        </p:nvGrpSpPr>
        <p:grpSpPr>
          <a:xfrm>
            <a:off x="1988820" y="0"/>
            <a:ext cx="6309360" cy="1110996"/>
            <a:chOff x="0" y="0"/>
            <a:chExt cx="8412480" cy="1481328"/>
          </a:xfrm>
        </p:grpSpPr>
        <p:sp>
          <p:nvSpPr>
            <p:cNvPr id="13" name="Freeform 13"/>
            <p:cNvSpPr/>
            <p:nvPr/>
          </p:nvSpPr>
          <p:spPr>
            <a:xfrm>
              <a:off x="0" y="0"/>
              <a:ext cx="8412480" cy="1481328"/>
            </a:xfrm>
            <a:custGeom>
              <a:avLst/>
              <a:gdLst/>
              <a:ahLst/>
              <a:cxnLst/>
              <a:rect l="l" t="t" r="r" b="b"/>
              <a:pathLst>
                <a:path w="8412480" h="1481328">
                  <a:moveTo>
                    <a:pt x="0" y="0"/>
                  </a:moveTo>
                  <a:lnTo>
                    <a:pt x="8412480" y="0"/>
                  </a:lnTo>
                  <a:lnTo>
                    <a:pt x="8412480" y="1481328"/>
                  </a:lnTo>
                  <a:lnTo>
                    <a:pt x="0" y="1481328"/>
                  </a:lnTo>
                  <a:close/>
                </a:path>
              </a:pathLst>
            </a:custGeom>
            <a:blipFill>
              <a:blip r:embed="rId3">
                <a:alphaModFix amt="0"/>
              </a:blip>
              <a:stretch>
                <a:fillRect t="-60655" b="-60655"/>
              </a:stretch>
            </a:blipFill>
          </p:spPr>
          <p:txBody>
            <a:bodyPr/>
            <a:lstStyle/>
            <a:p>
              <a:endParaRPr lang="en-US"/>
            </a:p>
          </p:txBody>
        </p:sp>
        <p:sp>
          <p:nvSpPr>
            <p:cNvPr id="14" name="TextBox 14"/>
            <p:cNvSpPr txBox="1"/>
            <p:nvPr/>
          </p:nvSpPr>
          <p:spPr>
            <a:xfrm>
              <a:off x="0" y="-28575"/>
              <a:ext cx="8412480" cy="1509903"/>
            </a:xfrm>
            <a:prstGeom prst="rect">
              <a:avLst/>
            </a:prstGeom>
          </p:spPr>
          <p:txBody>
            <a:bodyPr lIns="0" tIns="0" rIns="0" bIns="0" rtlCol="0" anchor="ctr"/>
            <a:lstStyle/>
            <a:p>
              <a:pPr algn="l">
                <a:lnSpc>
                  <a:spcPts val="4320"/>
                </a:lnSpc>
              </a:pPr>
              <a:r>
                <a:rPr lang="en-US" sz="3600" b="1">
                  <a:solidFill>
                    <a:srgbClr val="FFFFFF"/>
                  </a:solidFill>
                  <a:latin typeface="Arial Bold"/>
                  <a:ea typeface="Arial Bold"/>
                  <a:cs typeface="Arial Bold"/>
                  <a:sym typeface="Arial Bold"/>
                </a:rPr>
                <a:t>ĐẶT VẤN ĐỀ</a:t>
              </a:r>
            </a:p>
          </p:txBody>
        </p:sp>
      </p:grpSp>
      <p:grpSp>
        <p:nvGrpSpPr>
          <p:cNvPr id="15" name="Group 15"/>
          <p:cNvGrpSpPr/>
          <p:nvPr/>
        </p:nvGrpSpPr>
        <p:grpSpPr>
          <a:xfrm>
            <a:off x="443103" y="1416939"/>
            <a:ext cx="17465802" cy="732282"/>
            <a:chOff x="0" y="0"/>
            <a:chExt cx="23287736" cy="976376"/>
          </a:xfrm>
        </p:grpSpPr>
        <p:sp>
          <p:nvSpPr>
            <p:cNvPr id="16" name="Freeform 16"/>
            <p:cNvSpPr/>
            <p:nvPr/>
          </p:nvSpPr>
          <p:spPr>
            <a:xfrm>
              <a:off x="0" y="0"/>
              <a:ext cx="23287737" cy="976376"/>
            </a:xfrm>
            <a:custGeom>
              <a:avLst/>
              <a:gdLst/>
              <a:ahLst/>
              <a:cxnLst/>
              <a:rect l="l" t="t" r="r" b="b"/>
              <a:pathLst>
                <a:path w="23287737" h="976376">
                  <a:moveTo>
                    <a:pt x="0" y="0"/>
                  </a:moveTo>
                  <a:lnTo>
                    <a:pt x="23287737" y="0"/>
                  </a:lnTo>
                  <a:lnTo>
                    <a:pt x="23287737" y="976376"/>
                  </a:lnTo>
                  <a:lnTo>
                    <a:pt x="0" y="976376"/>
                  </a:lnTo>
                  <a:close/>
                </a:path>
              </a:pathLst>
            </a:custGeom>
            <a:solidFill>
              <a:srgbClr val="F2F2F2"/>
            </a:solidFill>
            <a:ln w="19050" cap="sq">
              <a:solidFill>
                <a:srgbClr val="F2F2F2"/>
              </a:solidFill>
              <a:prstDash val="solid"/>
              <a:miter/>
            </a:ln>
          </p:spPr>
          <p:txBody>
            <a:bodyPr/>
            <a:lstStyle/>
            <a:p>
              <a:endParaRPr lang="en-US"/>
            </a:p>
          </p:txBody>
        </p:sp>
      </p:grpSp>
      <p:grpSp>
        <p:nvGrpSpPr>
          <p:cNvPr id="17" name="Group 17"/>
          <p:cNvGrpSpPr/>
          <p:nvPr/>
        </p:nvGrpSpPr>
        <p:grpSpPr>
          <a:xfrm>
            <a:off x="548640" y="1426464"/>
            <a:ext cx="17282160" cy="902284"/>
            <a:chOff x="0" y="0"/>
            <a:chExt cx="23042880" cy="1203046"/>
          </a:xfrm>
        </p:grpSpPr>
        <p:sp>
          <p:nvSpPr>
            <p:cNvPr id="18" name="Freeform 18"/>
            <p:cNvSpPr/>
            <p:nvPr/>
          </p:nvSpPr>
          <p:spPr>
            <a:xfrm>
              <a:off x="0" y="0"/>
              <a:ext cx="23042880" cy="1203046"/>
            </a:xfrm>
            <a:custGeom>
              <a:avLst/>
              <a:gdLst/>
              <a:ahLst/>
              <a:cxnLst/>
              <a:rect l="l" t="t" r="r" b="b"/>
              <a:pathLst>
                <a:path w="23042880" h="1203046">
                  <a:moveTo>
                    <a:pt x="0" y="0"/>
                  </a:moveTo>
                  <a:lnTo>
                    <a:pt x="23042880" y="0"/>
                  </a:lnTo>
                  <a:lnTo>
                    <a:pt x="23042880" y="1203046"/>
                  </a:lnTo>
                  <a:lnTo>
                    <a:pt x="0" y="1203046"/>
                  </a:lnTo>
                  <a:close/>
                </a:path>
              </a:pathLst>
            </a:custGeom>
            <a:blipFill>
              <a:blip r:embed="rId3">
                <a:alphaModFix amt="0"/>
              </a:blip>
              <a:stretch>
                <a:fillRect t="-333688" b="-312735"/>
              </a:stretch>
            </a:blipFill>
          </p:spPr>
          <p:txBody>
            <a:bodyPr/>
            <a:lstStyle/>
            <a:p>
              <a:endParaRPr lang="en-US"/>
            </a:p>
          </p:txBody>
        </p:sp>
        <p:sp>
          <p:nvSpPr>
            <p:cNvPr id="19" name="TextBox 19"/>
            <p:cNvSpPr txBox="1"/>
            <p:nvPr/>
          </p:nvSpPr>
          <p:spPr>
            <a:xfrm>
              <a:off x="0" y="9525"/>
              <a:ext cx="23042880" cy="1193521"/>
            </a:xfrm>
            <a:prstGeom prst="rect">
              <a:avLst/>
            </a:prstGeom>
          </p:spPr>
          <p:txBody>
            <a:bodyPr lIns="0" tIns="0" rIns="0" bIns="0" rtlCol="0" anchor="ctr"/>
            <a:lstStyle/>
            <a:p>
              <a:pPr algn="l">
                <a:lnSpc>
                  <a:spcPts val="4320"/>
                </a:lnSpc>
              </a:pPr>
              <a:r>
                <a:rPr lang="en-US" sz="3600" b="1">
                  <a:solidFill>
                    <a:srgbClr val="262626"/>
                  </a:solidFill>
                  <a:latin typeface="Bai Jamjuree Bold"/>
                  <a:ea typeface="Bai Jamjuree Bold"/>
                  <a:cs typeface="Bai Jamjuree Bold"/>
                  <a:sym typeface="Bai Jamjuree Bold"/>
                </a:rPr>
                <a:t>4 NHƯỢC ĐIỂM CỦA CÁC GIẢI PHÁP TRUYỀN THỐNG</a:t>
              </a:r>
            </a:p>
          </p:txBody>
        </p:sp>
      </p:grpSp>
      <p:grpSp>
        <p:nvGrpSpPr>
          <p:cNvPr id="20" name="Group 20"/>
          <p:cNvGrpSpPr/>
          <p:nvPr/>
        </p:nvGrpSpPr>
        <p:grpSpPr>
          <a:xfrm>
            <a:off x="813435" y="2527935"/>
            <a:ext cx="8180070" cy="3310890"/>
            <a:chOff x="0" y="0"/>
            <a:chExt cx="10906760" cy="4414520"/>
          </a:xfrm>
        </p:grpSpPr>
        <p:sp>
          <p:nvSpPr>
            <p:cNvPr id="21" name="Freeform 21"/>
            <p:cNvSpPr/>
            <p:nvPr/>
          </p:nvSpPr>
          <p:spPr>
            <a:xfrm>
              <a:off x="0" y="0"/>
              <a:ext cx="10906760" cy="4414520"/>
            </a:xfrm>
            <a:custGeom>
              <a:avLst/>
              <a:gdLst/>
              <a:ahLst/>
              <a:cxnLst/>
              <a:rect l="l" t="t" r="r" b="b"/>
              <a:pathLst>
                <a:path w="10906760" h="4414520">
                  <a:moveTo>
                    <a:pt x="0" y="183896"/>
                  </a:moveTo>
                  <a:cubicBezTo>
                    <a:pt x="0" y="82296"/>
                    <a:pt x="82296" y="0"/>
                    <a:pt x="183896" y="0"/>
                  </a:cubicBezTo>
                  <a:lnTo>
                    <a:pt x="10722864" y="0"/>
                  </a:lnTo>
                  <a:cubicBezTo>
                    <a:pt x="10824464" y="0"/>
                    <a:pt x="10906760" y="82296"/>
                    <a:pt x="10906760" y="183896"/>
                  </a:cubicBezTo>
                  <a:lnTo>
                    <a:pt x="10906760" y="4230624"/>
                  </a:lnTo>
                  <a:cubicBezTo>
                    <a:pt x="10906760" y="4332224"/>
                    <a:pt x="10824464" y="4414520"/>
                    <a:pt x="10722864" y="4414520"/>
                  </a:cubicBezTo>
                  <a:lnTo>
                    <a:pt x="183896" y="4414520"/>
                  </a:lnTo>
                  <a:cubicBezTo>
                    <a:pt x="82296" y="4414520"/>
                    <a:pt x="0" y="4332224"/>
                    <a:pt x="0" y="4230624"/>
                  </a:cubicBezTo>
                  <a:close/>
                </a:path>
              </a:pathLst>
            </a:custGeom>
            <a:solidFill>
              <a:srgbClr val="F2F2F2"/>
            </a:solidFill>
            <a:ln w="19050" cap="sq">
              <a:solidFill>
                <a:srgbClr val="D9D9D9"/>
              </a:solidFill>
              <a:prstDash val="solid"/>
              <a:miter/>
            </a:ln>
          </p:spPr>
          <p:txBody>
            <a:bodyPr/>
            <a:lstStyle/>
            <a:p>
              <a:endParaRPr lang="en-US"/>
            </a:p>
          </p:txBody>
        </p:sp>
      </p:grpSp>
      <p:grpSp>
        <p:nvGrpSpPr>
          <p:cNvPr id="22" name="Group 22"/>
          <p:cNvGrpSpPr/>
          <p:nvPr/>
        </p:nvGrpSpPr>
        <p:grpSpPr>
          <a:xfrm>
            <a:off x="1087755" y="2486787"/>
            <a:ext cx="1184910" cy="101346"/>
            <a:chOff x="0" y="0"/>
            <a:chExt cx="1579880" cy="135128"/>
          </a:xfrm>
        </p:grpSpPr>
        <p:sp>
          <p:nvSpPr>
            <p:cNvPr id="23" name="Freeform 23"/>
            <p:cNvSpPr/>
            <p:nvPr/>
          </p:nvSpPr>
          <p:spPr>
            <a:xfrm>
              <a:off x="0" y="0"/>
              <a:ext cx="1579880" cy="135128"/>
            </a:xfrm>
            <a:custGeom>
              <a:avLst/>
              <a:gdLst/>
              <a:ahLst/>
              <a:cxnLst/>
              <a:rect l="l" t="t" r="r" b="b"/>
              <a:pathLst>
                <a:path w="1579880" h="135128">
                  <a:moveTo>
                    <a:pt x="0" y="0"/>
                  </a:moveTo>
                  <a:lnTo>
                    <a:pt x="1579880" y="0"/>
                  </a:lnTo>
                  <a:lnTo>
                    <a:pt x="1579880" y="135128"/>
                  </a:lnTo>
                  <a:lnTo>
                    <a:pt x="0" y="135128"/>
                  </a:lnTo>
                  <a:close/>
                </a:path>
              </a:pathLst>
            </a:custGeom>
            <a:solidFill>
              <a:srgbClr val="DD2E3A"/>
            </a:solidFill>
            <a:ln w="19050" cap="sq">
              <a:solidFill>
                <a:srgbClr val="DD2E3A"/>
              </a:solidFill>
              <a:prstDash val="solid"/>
              <a:miter/>
            </a:ln>
          </p:spPr>
          <p:txBody>
            <a:bodyPr/>
            <a:lstStyle/>
            <a:p>
              <a:endParaRPr lang="en-US"/>
            </a:p>
          </p:txBody>
        </p:sp>
      </p:grpSp>
      <p:grpSp>
        <p:nvGrpSpPr>
          <p:cNvPr id="24" name="Group 24"/>
          <p:cNvGrpSpPr/>
          <p:nvPr/>
        </p:nvGrpSpPr>
        <p:grpSpPr>
          <a:xfrm>
            <a:off x="1087755" y="2829687"/>
            <a:ext cx="773430" cy="773430"/>
            <a:chOff x="0" y="0"/>
            <a:chExt cx="1031240" cy="1031240"/>
          </a:xfrm>
        </p:grpSpPr>
        <p:sp>
          <p:nvSpPr>
            <p:cNvPr id="25" name="Freeform 25"/>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DD2E3A"/>
            </a:solidFill>
            <a:ln w="19050" cap="sq">
              <a:solidFill>
                <a:srgbClr val="DD2E3A"/>
              </a:solidFill>
              <a:prstDash val="solid"/>
              <a:miter/>
            </a:ln>
          </p:spPr>
          <p:txBody>
            <a:bodyPr/>
            <a:lstStyle/>
            <a:p>
              <a:endParaRPr lang="en-US"/>
            </a:p>
          </p:txBody>
        </p:sp>
      </p:grpSp>
      <p:grpSp>
        <p:nvGrpSpPr>
          <p:cNvPr id="26" name="Group 26"/>
          <p:cNvGrpSpPr/>
          <p:nvPr/>
        </p:nvGrpSpPr>
        <p:grpSpPr>
          <a:xfrm>
            <a:off x="1097280" y="2839212"/>
            <a:ext cx="754380" cy="754380"/>
            <a:chOff x="0" y="0"/>
            <a:chExt cx="1005840" cy="1005840"/>
          </a:xfrm>
        </p:grpSpPr>
        <p:sp>
          <p:nvSpPr>
            <p:cNvPr id="27" name="Freeform 27"/>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28" name="TextBox 28"/>
            <p:cNvSpPr txBox="1"/>
            <p:nvPr/>
          </p:nvSpPr>
          <p:spPr>
            <a:xfrm>
              <a:off x="0" y="-9525"/>
              <a:ext cx="1005840" cy="1015365"/>
            </a:xfrm>
            <a:prstGeom prst="rect">
              <a:avLst/>
            </a:prstGeom>
          </p:spPr>
          <p:txBody>
            <a:bodyPr lIns="0" tIns="0" rIns="0" bIns="0" rtlCol="0" anchor="ctr"/>
            <a:lstStyle/>
            <a:p>
              <a:pPr algn="ctr">
                <a:lnSpc>
                  <a:spcPts val="2879"/>
                </a:lnSpc>
              </a:pPr>
              <a:r>
                <a:rPr lang="en-US" sz="2400" b="1">
                  <a:solidFill>
                    <a:srgbClr val="FFFFFF"/>
                  </a:solidFill>
                  <a:latin typeface="Bai Jamjuree Bold"/>
                  <a:ea typeface="Bai Jamjuree Bold"/>
                  <a:cs typeface="Bai Jamjuree Bold"/>
                  <a:sym typeface="Bai Jamjuree Bold"/>
                </a:rPr>
                <a:t>01</a:t>
              </a:r>
            </a:p>
          </p:txBody>
        </p:sp>
      </p:grpSp>
      <p:grpSp>
        <p:nvGrpSpPr>
          <p:cNvPr id="29" name="Group 29"/>
          <p:cNvGrpSpPr/>
          <p:nvPr/>
        </p:nvGrpSpPr>
        <p:grpSpPr>
          <a:xfrm>
            <a:off x="2057400" y="2839212"/>
            <a:ext cx="4114800" cy="754380"/>
            <a:chOff x="0" y="0"/>
            <a:chExt cx="5486400" cy="1005840"/>
          </a:xfrm>
        </p:grpSpPr>
        <p:sp>
          <p:nvSpPr>
            <p:cNvPr id="30" name="Freeform 30"/>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31" name="TextBox 31"/>
            <p:cNvSpPr txBox="1"/>
            <p:nvPr/>
          </p:nvSpPr>
          <p:spPr>
            <a:xfrm>
              <a:off x="0" y="-9525"/>
              <a:ext cx="5486400" cy="1015365"/>
            </a:xfrm>
            <a:prstGeom prst="rect">
              <a:avLst/>
            </a:prstGeom>
          </p:spPr>
          <p:txBody>
            <a:bodyPr lIns="0" tIns="0" rIns="0" bIns="0" rtlCol="0" anchor="ctr"/>
            <a:lstStyle/>
            <a:p>
              <a:pPr algn="l">
                <a:lnSpc>
                  <a:spcPts val="3240"/>
                </a:lnSpc>
              </a:pPr>
              <a:r>
                <a:rPr lang="en-US" sz="2700" b="1">
                  <a:solidFill>
                    <a:srgbClr val="262626"/>
                  </a:solidFill>
                  <a:latin typeface="Bai Jamjuree Bold"/>
                  <a:ea typeface="Bai Jamjuree Bold"/>
                  <a:cs typeface="Bai Jamjuree Bold"/>
                  <a:sym typeface="Bai Jamjuree Bold"/>
                </a:rPr>
                <a:t>Định vị GPS toàn cầu</a:t>
              </a:r>
            </a:p>
          </p:txBody>
        </p:sp>
      </p:grpSp>
      <p:grpSp>
        <p:nvGrpSpPr>
          <p:cNvPr id="32" name="Group 32"/>
          <p:cNvGrpSpPr/>
          <p:nvPr/>
        </p:nvGrpSpPr>
        <p:grpSpPr>
          <a:xfrm>
            <a:off x="1087755" y="5106543"/>
            <a:ext cx="5093970" cy="512826"/>
            <a:chOff x="0" y="0"/>
            <a:chExt cx="6791960" cy="683768"/>
          </a:xfrm>
        </p:grpSpPr>
        <p:sp>
          <p:nvSpPr>
            <p:cNvPr id="33" name="Freeform 33"/>
            <p:cNvSpPr/>
            <p:nvPr/>
          </p:nvSpPr>
          <p:spPr>
            <a:xfrm>
              <a:off x="0" y="0"/>
              <a:ext cx="6791960" cy="683768"/>
            </a:xfrm>
            <a:custGeom>
              <a:avLst/>
              <a:gdLst/>
              <a:ahLst/>
              <a:cxnLst/>
              <a:rect l="l" t="t" r="r" b="b"/>
              <a:pathLst>
                <a:path w="6791960" h="683768">
                  <a:moveTo>
                    <a:pt x="0" y="341884"/>
                  </a:moveTo>
                  <a:cubicBezTo>
                    <a:pt x="0" y="153035"/>
                    <a:pt x="153035" y="0"/>
                    <a:pt x="341884" y="0"/>
                  </a:cubicBezTo>
                  <a:lnTo>
                    <a:pt x="6450076" y="0"/>
                  </a:lnTo>
                  <a:cubicBezTo>
                    <a:pt x="6638925" y="0"/>
                    <a:pt x="6791960" y="153035"/>
                    <a:pt x="6791960" y="341884"/>
                  </a:cubicBezTo>
                  <a:cubicBezTo>
                    <a:pt x="6791960" y="530733"/>
                    <a:pt x="6638925" y="683768"/>
                    <a:pt x="6450076" y="683768"/>
                  </a:cubicBezTo>
                  <a:lnTo>
                    <a:pt x="341884" y="683768"/>
                  </a:lnTo>
                  <a:cubicBezTo>
                    <a:pt x="153035" y="683768"/>
                    <a:pt x="0" y="530733"/>
                    <a:pt x="0" y="341884"/>
                  </a:cubicBezTo>
                  <a:close/>
                </a:path>
              </a:pathLst>
            </a:custGeom>
            <a:solidFill>
              <a:srgbClr val="FCE4E6"/>
            </a:solidFill>
            <a:ln w="19050" cap="sq">
              <a:solidFill>
                <a:srgbClr val="DD2E3A"/>
              </a:solidFill>
              <a:prstDash val="solid"/>
              <a:miter/>
            </a:ln>
          </p:spPr>
          <p:txBody>
            <a:bodyPr/>
            <a:lstStyle/>
            <a:p>
              <a:endParaRPr lang="en-US"/>
            </a:p>
          </p:txBody>
        </p:sp>
      </p:grpSp>
      <p:grpSp>
        <p:nvGrpSpPr>
          <p:cNvPr id="34" name="Group 34"/>
          <p:cNvGrpSpPr/>
          <p:nvPr/>
        </p:nvGrpSpPr>
        <p:grpSpPr>
          <a:xfrm>
            <a:off x="1097280" y="5116068"/>
            <a:ext cx="5074920" cy="493776"/>
            <a:chOff x="0" y="0"/>
            <a:chExt cx="6766560" cy="658368"/>
          </a:xfrm>
        </p:grpSpPr>
        <p:sp>
          <p:nvSpPr>
            <p:cNvPr id="35" name="Freeform 35"/>
            <p:cNvSpPr/>
            <p:nvPr/>
          </p:nvSpPr>
          <p:spPr>
            <a:xfrm>
              <a:off x="0" y="0"/>
              <a:ext cx="6766560" cy="658368"/>
            </a:xfrm>
            <a:custGeom>
              <a:avLst/>
              <a:gdLst/>
              <a:ahLst/>
              <a:cxnLst/>
              <a:rect l="l" t="t" r="r" b="b"/>
              <a:pathLst>
                <a:path w="6766560" h="658368">
                  <a:moveTo>
                    <a:pt x="0" y="0"/>
                  </a:moveTo>
                  <a:lnTo>
                    <a:pt x="6766560" y="0"/>
                  </a:lnTo>
                  <a:lnTo>
                    <a:pt x="6766560" y="658368"/>
                  </a:lnTo>
                  <a:lnTo>
                    <a:pt x="0" y="658368"/>
                  </a:lnTo>
                  <a:close/>
                </a:path>
              </a:pathLst>
            </a:custGeom>
            <a:blipFill>
              <a:blip r:embed="rId3">
                <a:alphaModFix amt="0"/>
              </a:blip>
              <a:stretch>
                <a:fillRect t="-150262" b="-150262"/>
              </a:stretch>
            </a:blipFill>
          </p:spPr>
          <p:txBody>
            <a:bodyPr/>
            <a:lstStyle/>
            <a:p>
              <a:endParaRPr lang="en-US"/>
            </a:p>
          </p:txBody>
        </p:sp>
        <p:sp>
          <p:nvSpPr>
            <p:cNvPr id="36" name="TextBox 36"/>
            <p:cNvSpPr txBox="1"/>
            <p:nvPr/>
          </p:nvSpPr>
          <p:spPr>
            <a:xfrm>
              <a:off x="0" y="0"/>
              <a:ext cx="6766560" cy="658368"/>
            </a:xfrm>
            <a:prstGeom prst="rect">
              <a:avLst/>
            </a:prstGeom>
          </p:spPr>
          <p:txBody>
            <a:bodyPr lIns="0" tIns="0" rIns="0" bIns="0" rtlCol="0" anchor="ctr"/>
            <a:lstStyle/>
            <a:p>
              <a:pPr algn="ctr">
                <a:lnSpc>
                  <a:spcPts val="2340"/>
                </a:lnSpc>
              </a:pPr>
              <a:r>
                <a:rPr lang="en-US" sz="1950" b="1">
                  <a:solidFill>
                    <a:srgbClr val="B0202B"/>
                  </a:solidFill>
                  <a:latin typeface="Bai Jamjuree Bold"/>
                  <a:ea typeface="Bai Jamjuree Bold"/>
                  <a:cs typeface="Bai Jamjuree Bold"/>
                  <a:sym typeface="Bai Jamjuree Bold"/>
                </a:rPr>
                <a:t>Sai số GPS 1.0–2.5 m</a:t>
              </a:r>
            </a:p>
          </p:txBody>
        </p:sp>
      </p:grpSp>
      <p:grpSp>
        <p:nvGrpSpPr>
          <p:cNvPr id="37" name="Group 37"/>
          <p:cNvGrpSpPr/>
          <p:nvPr/>
        </p:nvGrpSpPr>
        <p:grpSpPr>
          <a:xfrm>
            <a:off x="6436995" y="2802255"/>
            <a:ext cx="2282190" cy="2762250"/>
            <a:chOff x="0" y="0"/>
            <a:chExt cx="3042920" cy="3683000"/>
          </a:xfrm>
        </p:grpSpPr>
        <p:sp>
          <p:nvSpPr>
            <p:cNvPr id="38" name="Freeform 38"/>
            <p:cNvSpPr/>
            <p:nvPr/>
          </p:nvSpPr>
          <p:spPr>
            <a:xfrm>
              <a:off x="0" y="0"/>
              <a:ext cx="3042920" cy="3683000"/>
            </a:xfrm>
            <a:custGeom>
              <a:avLst/>
              <a:gdLst/>
              <a:ahLst/>
              <a:cxnLst/>
              <a:rect l="l" t="t" r="r" b="b"/>
              <a:pathLst>
                <a:path w="3042920" h="3683000">
                  <a:moveTo>
                    <a:pt x="0" y="0"/>
                  </a:moveTo>
                  <a:lnTo>
                    <a:pt x="3042920" y="0"/>
                  </a:lnTo>
                  <a:lnTo>
                    <a:pt x="3042920" y="3683000"/>
                  </a:lnTo>
                  <a:lnTo>
                    <a:pt x="0" y="3683000"/>
                  </a:lnTo>
                  <a:close/>
                </a:path>
              </a:pathLst>
            </a:custGeom>
            <a:blipFill>
              <a:blip r:embed="rId4"/>
              <a:stretch>
                <a:fillRect l="-18965" r="-18965"/>
              </a:stretch>
            </a:blipFill>
            <a:ln w="19050" cap="sq">
              <a:solidFill>
                <a:srgbClr val="7F7F7F"/>
              </a:solidFill>
              <a:prstDash val="dash"/>
              <a:miter/>
            </a:ln>
          </p:spPr>
          <p:txBody>
            <a:bodyPr/>
            <a:lstStyle/>
            <a:p>
              <a:endParaRPr lang="en-US"/>
            </a:p>
          </p:txBody>
        </p:sp>
      </p:grpSp>
      <p:grpSp>
        <p:nvGrpSpPr>
          <p:cNvPr id="39" name="Group 39"/>
          <p:cNvGrpSpPr/>
          <p:nvPr/>
        </p:nvGrpSpPr>
        <p:grpSpPr>
          <a:xfrm>
            <a:off x="9317355" y="2527935"/>
            <a:ext cx="8180070" cy="3310890"/>
            <a:chOff x="0" y="0"/>
            <a:chExt cx="10906760" cy="4414520"/>
          </a:xfrm>
        </p:grpSpPr>
        <p:sp>
          <p:nvSpPr>
            <p:cNvPr id="40" name="Freeform 40"/>
            <p:cNvSpPr/>
            <p:nvPr/>
          </p:nvSpPr>
          <p:spPr>
            <a:xfrm>
              <a:off x="0" y="0"/>
              <a:ext cx="10906760" cy="4414520"/>
            </a:xfrm>
            <a:custGeom>
              <a:avLst/>
              <a:gdLst/>
              <a:ahLst/>
              <a:cxnLst/>
              <a:rect l="l" t="t" r="r" b="b"/>
              <a:pathLst>
                <a:path w="10906760" h="4414520">
                  <a:moveTo>
                    <a:pt x="0" y="183896"/>
                  </a:moveTo>
                  <a:cubicBezTo>
                    <a:pt x="0" y="82296"/>
                    <a:pt x="82296" y="0"/>
                    <a:pt x="183896" y="0"/>
                  </a:cubicBezTo>
                  <a:lnTo>
                    <a:pt x="10722864" y="0"/>
                  </a:lnTo>
                  <a:cubicBezTo>
                    <a:pt x="10824464" y="0"/>
                    <a:pt x="10906760" y="82296"/>
                    <a:pt x="10906760" y="183896"/>
                  </a:cubicBezTo>
                  <a:lnTo>
                    <a:pt x="10906760" y="4230624"/>
                  </a:lnTo>
                  <a:cubicBezTo>
                    <a:pt x="10906760" y="4332224"/>
                    <a:pt x="10824464" y="4414520"/>
                    <a:pt x="10722864" y="4414520"/>
                  </a:cubicBezTo>
                  <a:lnTo>
                    <a:pt x="183896" y="4414520"/>
                  </a:lnTo>
                  <a:cubicBezTo>
                    <a:pt x="82296" y="4414520"/>
                    <a:pt x="0" y="4332224"/>
                    <a:pt x="0" y="4230624"/>
                  </a:cubicBezTo>
                  <a:close/>
                </a:path>
              </a:pathLst>
            </a:custGeom>
            <a:solidFill>
              <a:srgbClr val="F2F2F2"/>
            </a:solidFill>
            <a:ln w="19050" cap="sq">
              <a:solidFill>
                <a:srgbClr val="D9D9D9"/>
              </a:solidFill>
              <a:prstDash val="solid"/>
              <a:miter/>
            </a:ln>
          </p:spPr>
          <p:txBody>
            <a:bodyPr/>
            <a:lstStyle/>
            <a:p>
              <a:endParaRPr lang="en-US"/>
            </a:p>
          </p:txBody>
        </p:sp>
      </p:grpSp>
      <p:grpSp>
        <p:nvGrpSpPr>
          <p:cNvPr id="41" name="Group 41"/>
          <p:cNvGrpSpPr/>
          <p:nvPr/>
        </p:nvGrpSpPr>
        <p:grpSpPr>
          <a:xfrm>
            <a:off x="9591675" y="2486787"/>
            <a:ext cx="1184910" cy="101346"/>
            <a:chOff x="0" y="0"/>
            <a:chExt cx="1579880" cy="135128"/>
          </a:xfrm>
        </p:grpSpPr>
        <p:sp>
          <p:nvSpPr>
            <p:cNvPr id="42" name="Freeform 42"/>
            <p:cNvSpPr/>
            <p:nvPr/>
          </p:nvSpPr>
          <p:spPr>
            <a:xfrm>
              <a:off x="0" y="0"/>
              <a:ext cx="1579880" cy="135128"/>
            </a:xfrm>
            <a:custGeom>
              <a:avLst/>
              <a:gdLst/>
              <a:ahLst/>
              <a:cxnLst/>
              <a:rect l="l" t="t" r="r" b="b"/>
              <a:pathLst>
                <a:path w="1579880" h="135128">
                  <a:moveTo>
                    <a:pt x="0" y="0"/>
                  </a:moveTo>
                  <a:lnTo>
                    <a:pt x="1579880" y="0"/>
                  </a:lnTo>
                  <a:lnTo>
                    <a:pt x="1579880" y="135128"/>
                  </a:lnTo>
                  <a:lnTo>
                    <a:pt x="0" y="135128"/>
                  </a:lnTo>
                  <a:close/>
                </a:path>
              </a:pathLst>
            </a:custGeom>
            <a:solidFill>
              <a:srgbClr val="DD2E3A"/>
            </a:solidFill>
            <a:ln w="19050" cap="sq">
              <a:solidFill>
                <a:srgbClr val="DD2E3A"/>
              </a:solidFill>
              <a:prstDash val="solid"/>
              <a:miter/>
            </a:ln>
          </p:spPr>
          <p:txBody>
            <a:bodyPr/>
            <a:lstStyle/>
            <a:p>
              <a:endParaRPr lang="en-US"/>
            </a:p>
          </p:txBody>
        </p:sp>
      </p:grpSp>
      <p:grpSp>
        <p:nvGrpSpPr>
          <p:cNvPr id="43" name="Group 43"/>
          <p:cNvGrpSpPr/>
          <p:nvPr/>
        </p:nvGrpSpPr>
        <p:grpSpPr>
          <a:xfrm>
            <a:off x="9591675" y="2829687"/>
            <a:ext cx="773430" cy="773430"/>
            <a:chOff x="0" y="0"/>
            <a:chExt cx="1031240" cy="1031240"/>
          </a:xfrm>
        </p:grpSpPr>
        <p:sp>
          <p:nvSpPr>
            <p:cNvPr id="44" name="Freeform 44"/>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DD2E3A"/>
            </a:solidFill>
            <a:ln w="19050" cap="sq">
              <a:solidFill>
                <a:srgbClr val="DD2E3A"/>
              </a:solidFill>
              <a:prstDash val="solid"/>
              <a:miter/>
            </a:ln>
          </p:spPr>
          <p:txBody>
            <a:bodyPr/>
            <a:lstStyle/>
            <a:p>
              <a:endParaRPr lang="en-US"/>
            </a:p>
          </p:txBody>
        </p:sp>
      </p:grpSp>
      <p:grpSp>
        <p:nvGrpSpPr>
          <p:cNvPr id="45" name="Group 45"/>
          <p:cNvGrpSpPr/>
          <p:nvPr/>
        </p:nvGrpSpPr>
        <p:grpSpPr>
          <a:xfrm>
            <a:off x="9601200" y="2839212"/>
            <a:ext cx="754380" cy="754380"/>
            <a:chOff x="0" y="0"/>
            <a:chExt cx="1005840" cy="1005840"/>
          </a:xfrm>
        </p:grpSpPr>
        <p:sp>
          <p:nvSpPr>
            <p:cNvPr id="46" name="Freeform 46"/>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47" name="TextBox 47"/>
            <p:cNvSpPr txBox="1"/>
            <p:nvPr/>
          </p:nvSpPr>
          <p:spPr>
            <a:xfrm>
              <a:off x="0" y="-9525"/>
              <a:ext cx="1005840" cy="1015365"/>
            </a:xfrm>
            <a:prstGeom prst="rect">
              <a:avLst/>
            </a:prstGeom>
          </p:spPr>
          <p:txBody>
            <a:bodyPr lIns="0" tIns="0" rIns="0" bIns="0" rtlCol="0" anchor="ctr"/>
            <a:lstStyle/>
            <a:p>
              <a:pPr algn="ctr">
                <a:lnSpc>
                  <a:spcPts val="2879"/>
                </a:lnSpc>
              </a:pPr>
              <a:r>
                <a:rPr lang="en-US" sz="2400" b="1">
                  <a:solidFill>
                    <a:srgbClr val="FFFFFF"/>
                  </a:solidFill>
                  <a:latin typeface="Bai Jamjuree Bold"/>
                  <a:ea typeface="Bai Jamjuree Bold"/>
                  <a:cs typeface="Bai Jamjuree Bold"/>
                  <a:sym typeface="Bai Jamjuree Bold"/>
                </a:rPr>
                <a:t>02</a:t>
              </a:r>
            </a:p>
          </p:txBody>
        </p:sp>
      </p:grpSp>
      <p:grpSp>
        <p:nvGrpSpPr>
          <p:cNvPr id="48" name="Group 48"/>
          <p:cNvGrpSpPr/>
          <p:nvPr/>
        </p:nvGrpSpPr>
        <p:grpSpPr>
          <a:xfrm>
            <a:off x="10561320" y="2676087"/>
            <a:ext cx="4114800" cy="1251794"/>
            <a:chOff x="0" y="-217500"/>
            <a:chExt cx="5486400" cy="1669059"/>
          </a:xfrm>
        </p:grpSpPr>
        <p:sp>
          <p:nvSpPr>
            <p:cNvPr id="49" name="Freeform 49"/>
            <p:cNvSpPr/>
            <p:nvPr/>
          </p:nvSpPr>
          <p:spPr>
            <a:xfrm>
              <a:off x="0" y="0"/>
              <a:ext cx="5486400" cy="1451559"/>
            </a:xfrm>
            <a:custGeom>
              <a:avLst/>
              <a:gdLst/>
              <a:ahLst/>
              <a:cxnLst/>
              <a:rect l="l" t="t" r="r" b="b"/>
              <a:pathLst>
                <a:path w="5486400" h="1451559">
                  <a:moveTo>
                    <a:pt x="0" y="0"/>
                  </a:moveTo>
                  <a:lnTo>
                    <a:pt x="5486400" y="0"/>
                  </a:lnTo>
                  <a:lnTo>
                    <a:pt x="5486400" y="1451559"/>
                  </a:lnTo>
                  <a:lnTo>
                    <a:pt x="0" y="1451559"/>
                  </a:lnTo>
                  <a:close/>
                </a:path>
              </a:pathLst>
            </a:custGeom>
            <a:blipFill>
              <a:blip r:embed="rId3">
                <a:alphaModFix amt="0"/>
              </a:blip>
              <a:stretch>
                <a:fillRect t="-38999" b="-8293"/>
              </a:stretch>
            </a:blipFill>
          </p:spPr>
          <p:txBody>
            <a:bodyPr/>
            <a:lstStyle/>
            <a:p>
              <a:endParaRPr lang="en-US"/>
            </a:p>
          </p:txBody>
        </p:sp>
        <p:sp>
          <p:nvSpPr>
            <p:cNvPr id="50" name="TextBox 50"/>
            <p:cNvSpPr txBox="1"/>
            <p:nvPr/>
          </p:nvSpPr>
          <p:spPr>
            <a:xfrm>
              <a:off x="0" y="-217500"/>
              <a:ext cx="5486400" cy="1461084"/>
            </a:xfrm>
            <a:prstGeom prst="rect">
              <a:avLst/>
            </a:prstGeom>
          </p:spPr>
          <p:txBody>
            <a:bodyPr lIns="0" tIns="0" rIns="0" bIns="0" rtlCol="0" anchor="ctr"/>
            <a:lstStyle/>
            <a:p>
              <a:pPr algn="l">
                <a:lnSpc>
                  <a:spcPts val="3240"/>
                </a:lnSpc>
              </a:pPr>
              <a:r>
                <a:rPr lang="en-US" sz="2700" b="1">
                  <a:solidFill>
                    <a:srgbClr val="262626"/>
                  </a:solidFill>
                  <a:latin typeface="Bai Jamjuree Bold"/>
                  <a:ea typeface="Bai Jamjuree Bold"/>
                  <a:cs typeface="Bai Jamjuree Bold"/>
                  <a:sym typeface="Bai Jamjuree Bold"/>
                </a:rPr>
                <a:t>Một marker ArUco</a:t>
              </a:r>
            </a:p>
          </p:txBody>
        </p:sp>
      </p:grpSp>
      <p:grpSp>
        <p:nvGrpSpPr>
          <p:cNvPr id="51" name="Group 51"/>
          <p:cNvGrpSpPr/>
          <p:nvPr/>
        </p:nvGrpSpPr>
        <p:grpSpPr>
          <a:xfrm>
            <a:off x="9591675" y="5106543"/>
            <a:ext cx="5093970" cy="512826"/>
            <a:chOff x="0" y="0"/>
            <a:chExt cx="6791960" cy="683768"/>
          </a:xfrm>
        </p:grpSpPr>
        <p:sp>
          <p:nvSpPr>
            <p:cNvPr id="52" name="Freeform 52"/>
            <p:cNvSpPr/>
            <p:nvPr/>
          </p:nvSpPr>
          <p:spPr>
            <a:xfrm>
              <a:off x="0" y="0"/>
              <a:ext cx="6791960" cy="683768"/>
            </a:xfrm>
            <a:custGeom>
              <a:avLst/>
              <a:gdLst/>
              <a:ahLst/>
              <a:cxnLst/>
              <a:rect l="l" t="t" r="r" b="b"/>
              <a:pathLst>
                <a:path w="6791960" h="683768">
                  <a:moveTo>
                    <a:pt x="0" y="341884"/>
                  </a:moveTo>
                  <a:cubicBezTo>
                    <a:pt x="0" y="153035"/>
                    <a:pt x="153035" y="0"/>
                    <a:pt x="341884" y="0"/>
                  </a:cubicBezTo>
                  <a:lnTo>
                    <a:pt x="6450076" y="0"/>
                  </a:lnTo>
                  <a:cubicBezTo>
                    <a:pt x="6638925" y="0"/>
                    <a:pt x="6791960" y="153035"/>
                    <a:pt x="6791960" y="341884"/>
                  </a:cubicBezTo>
                  <a:cubicBezTo>
                    <a:pt x="6791960" y="530733"/>
                    <a:pt x="6638925" y="683768"/>
                    <a:pt x="6450076" y="683768"/>
                  </a:cubicBezTo>
                  <a:lnTo>
                    <a:pt x="341884" y="683768"/>
                  </a:lnTo>
                  <a:cubicBezTo>
                    <a:pt x="153035" y="683768"/>
                    <a:pt x="0" y="530733"/>
                    <a:pt x="0" y="341884"/>
                  </a:cubicBezTo>
                  <a:close/>
                </a:path>
              </a:pathLst>
            </a:custGeom>
            <a:solidFill>
              <a:srgbClr val="FCE4E6"/>
            </a:solidFill>
            <a:ln w="19050" cap="sq">
              <a:solidFill>
                <a:srgbClr val="DD2E3A"/>
              </a:solidFill>
              <a:prstDash val="solid"/>
              <a:miter/>
            </a:ln>
          </p:spPr>
          <p:txBody>
            <a:bodyPr/>
            <a:lstStyle/>
            <a:p>
              <a:endParaRPr lang="en-US"/>
            </a:p>
          </p:txBody>
        </p:sp>
      </p:grpSp>
      <p:grpSp>
        <p:nvGrpSpPr>
          <p:cNvPr id="53" name="Group 53"/>
          <p:cNvGrpSpPr/>
          <p:nvPr/>
        </p:nvGrpSpPr>
        <p:grpSpPr>
          <a:xfrm>
            <a:off x="9601200" y="5116068"/>
            <a:ext cx="5074920" cy="493776"/>
            <a:chOff x="0" y="0"/>
            <a:chExt cx="6766560" cy="658368"/>
          </a:xfrm>
        </p:grpSpPr>
        <p:sp>
          <p:nvSpPr>
            <p:cNvPr id="54" name="Freeform 54"/>
            <p:cNvSpPr/>
            <p:nvPr/>
          </p:nvSpPr>
          <p:spPr>
            <a:xfrm>
              <a:off x="0" y="0"/>
              <a:ext cx="6766560" cy="658368"/>
            </a:xfrm>
            <a:custGeom>
              <a:avLst/>
              <a:gdLst/>
              <a:ahLst/>
              <a:cxnLst/>
              <a:rect l="l" t="t" r="r" b="b"/>
              <a:pathLst>
                <a:path w="6766560" h="658368">
                  <a:moveTo>
                    <a:pt x="0" y="0"/>
                  </a:moveTo>
                  <a:lnTo>
                    <a:pt x="6766560" y="0"/>
                  </a:lnTo>
                  <a:lnTo>
                    <a:pt x="6766560" y="658368"/>
                  </a:lnTo>
                  <a:lnTo>
                    <a:pt x="0" y="658368"/>
                  </a:lnTo>
                  <a:close/>
                </a:path>
              </a:pathLst>
            </a:custGeom>
            <a:blipFill>
              <a:blip r:embed="rId3">
                <a:alphaModFix amt="0"/>
              </a:blip>
              <a:stretch>
                <a:fillRect t="-150262" b="-150262"/>
              </a:stretch>
            </a:blipFill>
          </p:spPr>
          <p:txBody>
            <a:bodyPr/>
            <a:lstStyle/>
            <a:p>
              <a:endParaRPr lang="en-US"/>
            </a:p>
          </p:txBody>
        </p:sp>
        <p:sp>
          <p:nvSpPr>
            <p:cNvPr id="55" name="TextBox 55"/>
            <p:cNvSpPr txBox="1"/>
            <p:nvPr/>
          </p:nvSpPr>
          <p:spPr>
            <a:xfrm>
              <a:off x="0" y="0"/>
              <a:ext cx="6766560" cy="658368"/>
            </a:xfrm>
            <a:prstGeom prst="rect">
              <a:avLst/>
            </a:prstGeom>
          </p:spPr>
          <p:txBody>
            <a:bodyPr lIns="0" tIns="0" rIns="0" bIns="0" rtlCol="0" anchor="ctr"/>
            <a:lstStyle/>
            <a:p>
              <a:pPr algn="ctr">
                <a:lnSpc>
                  <a:spcPts val="2340"/>
                </a:lnSpc>
              </a:pPr>
              <a:r>
                <a:rPr lang="en-US" sz="1950" b="1">
                  <a:solidFill>
                    <a:srgbClr val="B0202B"/>
                  </a:solidFill>
                  <a:latin typeface="Bai Jamjuree Bold"/>
                  <a:ea typeface="Bai Jamjuree Bold"/>
                  <a:cs typeface="Bai Jamjuree Bold"/>
                  <a:sym typeface="Bai Jamjuree Bold"/>
                </a:rPr>
                <a:t>Tràn FOV &lt; 0.4 m · mù &gt; 2 m</a:t>
              </a:r>
            </a:p>
          </p:txBody>
        </p:sp>
      </p:grpSp>
      <p:grpSp>
        <p:nvGrpSpPr>
          <p:cNvPr id="56" name="Group 56"/>
          <p:cNvGrpSpPr/>
          <p:nvPr/>
        </p:nvGrpSpPr>
        <p:grpSpPr>
          <a:xfrm>
            <a:off x="14940915" y="2802255"/>
            <a:ext cx="2282190" cy="2762250"/>
            <a:chOff x="0" y="0"/>
            <a:chExt cx="3042920" cy="3683000"/>
          </a:xfrm>
        </p:grpSpPr>
        <p:sp>
          <p:nvSpPr>
            <p:cNvPr id="57" name="Freeform 57"/>
            <p:cNvSpPr/>
            <p:nvPr/>
          </p:nvSpPr>
          <p:spPr>
            <a:xfrm>
              <a:off x="0" y="0"/>
              <a:ext cx="3042920" cy="3683000"/>
            </a:xfrm>
            <a:custGeom>
              <a:avLst/>
              <a:gdLst/>
              <a:ahLst/>
              <a:cxnLst/>
              <a:rect l="l" t="t" r="r" b="b"/>
              <a:pathLst>
                <a:path w="3042920" h="3683000">
                  <a:moveTo>
                    <a:pt x="0" y="0"/>
                  </a:moveTo>
                  <a:lnTo>
                    <a:pt x="3042920" y="0"/>
                  </a:lnTo>
                  <a:lnTo>
                    <a:pt x="3042920" y="3683000"/>
                  </a:lnTo>
                  <a:lnTo>
                    <a:pt x="0" y="3683000"/>
                  </a:lnTo>
                  <a:close/>
                </a:path>
              </a:pathLst>
            </a:custGeom>
            <a:blipFill>
              <a:blip r:embed="rId5"/>
              <a:stretch>
                <a:fillRect l="-3052" r="-3052"/>
              </a:stretch>
            </a:blipFill>
            <a:ln w="19050" cap="sq">
              <a:solidFill>
                <a:srgbClr val="7F7F7F"/>
              </a:solidFill>
              <a:prstDash val="dash"/>
              <a:miter/>
            </a:ln>
          </p:spPr>
          <p:txBody>
            <a:bodyPr/>
            <a:lstStyle/>
            <a:p>
              <a:endParaRPr lang="en-US"/>
            </a:p>
          </p:txBody>
        </p:sp>
      </p:grpSp>
      <p:grpSp>
        <p:nvGrpSpPr>
          <p:cNvPr id="58" name="Group 58"/>
          <p:cNvGrpSpPr/>
          <p:nvPr/>
        </p:nvGrpSpPr>
        <p:grpSpPr>
          <a:xfrm>
            <a:off x="813435" y="6025515"/>
            <a:ext cx="8180070" cy="3310890"/>
            <a:chOff x="0" y="0"/>
            <a:chExt cx="10906760" cy="4414520"/>
          </a:xfrm>
        </p:grpSpPr>
        <p:sp>
          <p:nvSpPr>
            <p:cNvPr id="59" name="Freeform 59"/>
            <p:cNvSpPr/>
            <p:nvPr/>
          </p:nvSpPr>
          <p:spPr>
            <a:xfrm>
              <a:off x="0" y="0"/>
              <a:ext cx="10906760" cy="4414520"/>
            </a:xfrm>
            <a:custGeom>
              <a:avLst/>
              <a:gdLst/>
              <a:ahLst/>
              <a:cxnLst/>
              <a:rect l="l" t="t" r="r" b="b"/>
              <a:pathLst>
                <a:path w="10906760" h="4414520">
                  <a:moveTo>
                    <a:pt x="0" y="183896"/>
                  </a:moveTo>
                  <a:cubicBezTo>
                    <a:pt x="0" y="82296"/>
                    <a:pt x="82296" y="0"/>
                    <a:pt x="183896" y="0"/>
                  </a:cubicBezTo>
                  <a:lnTo>
                    <a:pt x="10722864" y="0"/>
                  </a:lnTo>
                  <a:cubicBezTo>
                    <a:pt x="10824464" y="0"/>
                    <a:pt x="10906760" y="82296"/>
                    <a:pt x="10906760" y="183896"/>
                  </a:cubicBezTo>
                  <a:lnTo>
                    <a:pt x="10906760" y="4230624"/>
                  </a:lnTo>
                  <a:cubicBezTo>
                    <a:pt x="10906760" y="4332224"/>
                    <a:pt x="10824464" y="4414520"/>
                    <a:pt x="10722864" y="4414520"/>
                  </a:cubicBezTo>
                  <a:lnTo>
                    <a:pt x="183896" y="4414520"/>
                  </a:lnTo>
                  <a:cubicBezTo>
                    <a:pt x="82296" y="4414520"/>
                    <a:pt x="0" y="4332224"/>
                    <a:pt x="0" y="4230624"/>
                  </a:cubicBezTo>
                  <a:close/>
                </a:path>
              </a:pathLst>
            </a:custGeom>
            <a:solidFill>
              <a:srgbClr val="F2F2F2"/>
            </a:solidFill>
            <a:ln w="19050" cap="sq">
              <a:solidFill>
                <a:srgbClr val="D9D9D9"/>
              </a:solidFill>
              <a:prstDash val="solid"/>
              <a:miter/>
            </a:ln>
          </p:spPr>
          <p:txBody>
            <a:bodyPr/>
            <a:lstStyle/>
            <a:p>
              <a:endParaRPr lang="en-US"/>
            </a:p>
          </p:txBody>
        </p:sp>
      </p:grpSp>
      <p:grpSp>
        <p:nvGrpSpPr>
          <p:cNvPr id="60" name="Group 60"/>
          <p:cNvGrpSpPr/>
          <p:nvPr/>
        </p:nvGrpSpPr>
        <p:grpSpPr>
          <a:xfrm>
            <a:off x="1087755" y="5984367"/>
            <a:ext cx="1184910" cy="101346"/>
            <a:chOff x="0" y="0"/>
            <a:chExt cx="1579880" cy="135128"/>
          </a:xfrm>
        </p:grpSpPr>
        <p:sp>
          <p:nvSpPr>
            <p:cNvPr id="61" name="Freeform 61"/>
            <p:cNvSpPr/>
            <p:nvPr/>
          </p:nvSpPr>
          <p:spPr>
            <a:xfrm>
              <a:off x="0" y="0"/>
              <a:ext cx="1579880" cy="135128"/>
            </a:xfrm>
            <a:custGeom>
              <a:avLst/>
              <a:gdLst/>
              <a:ahLst/>
              <a:cxnLst/>
              <a:rect l="l" t="t" r="r" b="b"/>
              <a:pathLst>
                <a:path w="1579880" h="135128">
                  <a:moveTo>
                    <a:pt x="0" y="0"/>
                  </a:moveTo>
                  <a:lnTo>
                    <a:pt x="1579880" y="0"/>
                  </a:lnTo>
                  <a:lnTo>
                    <a:pt x="1579880" y="135128"/>
                  </a:lnTo>
                  <a:lnTo>
                    <a:pt x="0" y="135128"/>
                  </a:lnTo>
                  <a:close/>
                </a:path>
              </a:pathLst>
            </a:custGeom>
            <a:solidFill>
              <a:srgbClr val="DD2E3A"/>
            </a:solidFill>
            <a:ln w="19050" cap="sq">
              <a:solidFill>
                <a:srgbClr val="DD2E3A"/>
              </a:solidFill>
              <a:prstDash val="solid"/>
              <a:miter/>
            </a:ln>
          </p:spPr>
          <p:txBody>
            <a:bodyPr/>
            <a:lstStyle/>
            <a:p>
              <a:endParaRPr lang="en-US"/>
            </a:p>
          </p:txBody>
        </p:sp>
      </p:grpSp>
      <p:grpSp>
        <p:nvGrpSpPr>
          <p:cNvPr id="62" name="Group 62"/>
          <p:cNvGrpSpPr/>
          <p:nvPr/>
        </p:nvGrpSpPr>
        <p:grpSpPr>
          <a:xfrm>
            <a:off x="1087755" y="6327267"/>
            <a:ext cx="773430" cy="773430"/>
            <a:chOff x="0" y="0"/>
            <a:chExt cx="1031240" cy="1031240"/>
          </a:xfrm>
        </p:grpSpPr>
        <p:sp>
          <p:nvSpPr>
            <p:cNvPr id="63" name="Freeform 63"/>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DD2E3A"/>
            </a:solidFill>
            <a:ln w="19050" cap="sq">
              <a:solidFill>
                <a:srgbClr val="DD2E3A"/>
              </a:solidFill>
              <a:prstDash val="solid"/>
              <a:miter/>
            </a:ln>
          </p:spPr>
          <p:txBody>
            <a:bodyPr/>
            <a:lstStyle/>
            <a:p>
              <a:endParaRPr lang="en-US"/>
            </a:p>
          </p:txBody>
        </p:sp>
      </p:grpSp>
      <p:grpSp>
        <p:nvGrpSpPr>
          <p:cNvPr id="64" name="Group 64"/>
          <p:cNvGrpSpPr/>
          <p:nvPr/>
        </p:nvGrpSpPr>
        <p:grpSpPr>
          <a:xfrm>
            <a:off x="1097280" y="6336792"/>
            <a:ext cx="754380" cy="754380"/>
            <a:chOff x="0" y="0"/>
            <a:chExt cx="1005840" cy="1005840"/>
          </a:xfrm>
        </p:grpSpPr>
        <p:sp>
          <p:nvSpPr>
            <p:cNvPr id="65" name="Freeform 65"/>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66" name="TextBox 66"/>
            <p:cNvSpPr txBox="1"/>
            <p:nvPr/>
          </p:nvSpPr>
          <p:spPr>
            <a:xfrm>
              <a:off x="0" y="-9525"/>
              <a:ext cx="1005840" cy="1015365"/>
            </a:xfrm>
            <a:prstGeom prst="rect">
              <a:avLst/>
            </a:prstGeom>
          </p:spPr>
          <p:txBody>
            <a:bodyPr lIns="0" tIns="0" rIns="0" bIns="0" rtlCol="0" anchor="ctr"/>
            <a:lstStyle/>
            <a:p>
              <a:pPr algn="ctr">
                <a:lnSpc>
                  <a:spcPts val="2879"/>
                </a:lnSpc>
              </a:pPr>
              <a:r>
                <a:rPr lang="en-US" sz="2400" b="1">
                  <a:solidFill>
                    <a:srgbClr val="FFFFFF"/>
                  </a:solidFill>
                  <a:latin typeface="Bai Jamjuree Bold"/>
                  <a:ea typeface="Bai Jamjuree Bold"/>
                  <a:cs typeface="Bai Jamjuree Bold"/>
                  <a:sym typeface="Bai Jamjuree Bold"/>
                </a:rPr>
                <a:t>03</a:t>
              </a:r>
            </a:p>
          </p:txBody>
        </p:sp>
      </p:grpSp>
      <p:grpSp>
        <p:nvGrpSpPr>
          <p:cNvPr id="67" name="Group 67"/>
          <p:cNvGrpSpPr/>
          <p:nvPr/>
        </p:nvGrpSpPr>
        <p:grpSpPr>
          <a:xfrm>
            <a:off x="2057400" y="6336792"/>
            <a:ext cx="4114800" cy="754380"/>
            <a:chOff x="0" y="0"/>
            <a:chExt cx="5486400" cy="1005840"/>
          </a:xfrm>
        </p:grpSpPr>
        <p:sp>
          <p:nvSpPr>
            <p:cNvPr id="68" name="Freeform 68"/>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69" name="TextBox 69"/>
            <p:cNvSpPr txBox="1"/>
            <p:nvPr/>
          </p:nvSpPr>
          <p:spPr>
            <a:xfrm>
              <a:off x="0" y="-9525"/>
              <a:ext cx="5486400" cy="1015365"/>
            </a:xfrm>
            <a:prstGeom prst="rect">
              <a:avLst/>
            </a:prstGeom>
          </p:spPr>
          <p:txBody>
            <a:bodyPr lIns="0" tIns="0" rIns="0" bIns="0" rtlCol="0" anchor="ctr"/>
            <a:lstStyle/>
            <a:p>
              <a:pPr algn="l">
                <a:lnSpc>
                  <a:spcPts val="3240"/>
                </a:lnSpc>
              </a:pPr>
              <a:r>
                <a:rPr lang="en-US" sz="2700" b="1">
                  <a:solidFill>
                    <a:srgbClr val="262626"/>
                  </a:solidFill>
                  <a:latin typeface="Bai Jamjuree Bold"/>
                  <a:ea typeface="Bai Jamjuree Bold"/>
                  <a:cs typeface="Bai Jamjuree Bold"/>
                  <a:sym typeface="Bai Jamjuree Bold"/>
                </a:rPr>
                <a:t> Barometer</a:t>
              </a:r>
            </a:p>
          </p:txBody>
        </p:sp>
      </p:grpSp>
      <p:grpSp>
        <p:nvGrpSpPr>
          <p:cNvPr id="70" name="Group 70"/>
          <p:cNvGrpSpPr/>
          <p:nvPr/>
        </p:nvGrpSpPr>
        <p:grpSpPr>
          <a:xfrm>
            <a:off x="1087755" y="8604123"/>
            <a:ext cx="5093970" cy="512826"/>
            <a:chOff x="0" y="0"/>
            <a:chExt cx="6791960" cy="683768"/>
          </a:xfrm>
        </p:grpSpPr>
        <p:sp>
          <p:nvSpPr>
            <p:cNvPr id="71" name="Freeform 71"/>
            <p:cNvSpPr/>
            <p:nvPr/>
          </p:nvSpPr>
          <p:spPr>
            <a:xfrm>
              <a:off x="0" y="0"/>
              <a:ext cx="6791960" cy="683768"/>
            </a:xfrm>
            <a:custGeom>
              <a:avLst/>
              <a:gdLst/>
              <a:ahLst/>
              <a:cxnLst/>
              <a:rect l="l" t="t" r="r" b="b"/>
              <a:pathLst>
                <a:path w="6791960" h="683768">
                  <a:moveTo>
                    <a:pt x="0" y="341884"/>
                  </a:moveTo>
                  <a:cubicBezTo>
                    <a:pt x="0" y="153035"/>
                    <a:pt x="153035" y="0"/>
                    <a:pt x="341884" y="0"/>
                  </a:cubicBezTo>
                  <a:lnTo>
                    <a:pt x="6450076" y="0"/>
                  </a:lnTo>
                  <a:cubicBezTo>
                    <a:pt x="6638925" y="0"/>
                    <a:pt x="6791960" y="153035"/>
                    <a:pt x="6791960" y="341884"/>
                  </a:cubicBezTo>
                  <a:cubicBezTo>
                    <a:pt x="6791960" y="530733"/>
                    <a:pt x="6638925" y="683768"/>
                    <a:pt x="6450076" y="683768"/>
                  </a:cubicBezTo>
                  <a:lnTo>
                    <a:pt x="341884" y="683768"/>
                  </a:lnTo>
                  <a:cubicBezTo>
                    <a:pt x="153035" y="683768"/>
                    <a:pt x="0" y="530733"/>
                    <a:pt x="0" y="341884"/>
                  </a:cubicBezTo>
                  <a:close/>
                </a:path>
              </a:pathLst>
            </a:custGeom>
            <a:solidFill>
              <a:srgbClr val="FCE4E6"/>
            </a:solidFill>
            <a:ln w="19050" cap="sq">
              <a:solidFill>
                <a:srgbClr val="DD2E3A"/>
              </a:solidFill>
              <a:prstDash val="solid"/>
              <a:miter/>
            </a:ln>
          </p:spPr>
          <p:txBody>
            <a:bodyPr/>
            <a:lstStyle/>
            <a:p>
              <a:endParaRPr lang="en-US"/>
            </a:p>
          </p:txBody>
        </p:sp>
      </p:grpSp>
      <p:grpSp>
        <p:nvGrpSpPr>
          <p:cNvPr id="72" name="Group 72"/>
          <p:cNvGrpSpPr/>
          <p:nvPr/>
        </p:nvGrpSpPr>
        <p:grpSpPr>
          <a:xfrm>
            <a:off x="1097280" y="8613648"/>
            <a:ext cx="5074920" cy="493776"/>
            <a:chOff x="0" y="0"/>
            <a:chExt cx="6766560" cy="658368"/>
          </a:xfrm>
        </p:grpSpPr>
        <p:sp>
          <p:nvSpPr>
            <p:cNvPr id="73" name="Freeform 73"/>
            <p:cNvSpPr/>
            <p:nvPr/>
          </p:nvSpPr>
          <p:spPr>
            <a:xfrm>
              <a:off x="0" y="0"/>
              <a:ext cx="6766560" cy="658368"/>
            </a:xfrm>
            <a:custGeom>
              <a:avLst/>
              <a:gdLst/>
              <a:ahLst/>
              <a:cxnLst/>
              <a:rect l="l" t="t" r="r" b="b"/>
              <a:pathLst>
                <a:path w="6766560" h="658368">
                  <a:moveTo>
                    <a:pt x="0" y="0"/>
                  </a:moveTo>
                  <a:lnTo>
                    <a:pt x="6766560" y="0"/>
                  </a:lnTo>
                  <a:lnTo>
                    <a:pt x="6766560" y="658368"/>
                  </a:lnTo>
                  <a:lnTo>
                    <a:pt x="0" y="658368"/>
                  </a:lnTo>
                  <a:close/>
                </a:path>
              </a:pathLst>
            </a:custGeom>
            <a:blipFill>
              <a:blip r:embed="rId3">
                <a:alphaModFix amt="0"/>
              </a:blip>
              <a:stretch>
                <a:fillRect t="-150262" b="-150262"/>
              </a:stretch>
            </a:blipFill>
          </p:spPr>
          <p:txBody>
            <a:bodyPr/>
            <a:lstStyle/>
            <a:p>
              <a:endParaRPr lang="en-US"/>
            </a:p>
          </p:txBody>
        </p:sp>
        <p:sp>
          <p:nvSpPr>
            <p:cNvPr id="74" name="TextBox 74"/>
            <p:cNvSpPr txBox="1"/>
            <p:nvPr/>
          </p:nvSpPr>
          <p:spPr>
            <a:xfrm>
              <a:off x="0" y="0"/>
              <a:ext cx="6766560" cy="658368"/>
            </a:xfrm>
            <a:prstGeom prst="rect">
              <a:avLst/>
            </a:prstGeom>
          </p:spPr>
          <p:txBody>
            <a:bodyPr lIns="0" tIns="0" rIns="0" bIns="0" rtlCol="0" anchor="ctr"/>
            <a:lstStyle/>
            <a:p>
              <a:pPr algn="ctr">
                <a:lnSpc>
                  <a:spcPts val="2340"/>
                </a:lnSpc>
              </a:pPr>
              <a:r>
                <a:rPr lang="en-US" sz="1950" b="1">
                  <a:solidFill>
                    <a:srgbClr val="B0202B"/>
                  </a:solidFill>
                  <a:latin typeface="Bai Jamjuree Bold"/>
                  <a:ea typeface="Bai Jamjuree Bold"/>
                  <a:cs typeface="Bai Jamjuree Bold"/>
                  <a:sym typeface="Bai Jamjuree Bold"/>
                </a:rPr>
                <a:t>Baro trôi ≈ 0.5 m</a:t>
              </a:r>
            </a:p>
          </p:txBody>
        </p:sp>
      </p:grpSp>
      <p:grpSp>
        <p:nvGrpSpPr>
          <p:cNvPr id="75" name="Group 75"/>
          <p:cNvGrpSpPr/>
          <p:nvPr/>
        </p:nvGrpSpPr>
        <p:grpSpPr>
          <a:xfrm>
            <a:off x="6436995" y="6299835"/>
            <a:ext cx="2282190" cy="2762250"/>
            <a:chOff x="0" y="0"/>
            <a:chExt cx="3042920" cy="3683000"/>
          </a:xfrm>
        </p:grpSpPr>
        <p:sp>
          <p:nvSpPr>
            <p:cNvPr id="76" name="Freeform 76"/>
            <p:cNvSpPr/>
            <p:nvPr/>
          </p:nvSpPr>
          <p:spPr>
            <a:xfrm>
              <a:off x="0" y="0"/>
              <a:ext cx="3042920" cy="3683000"/>
            </a:xfrm>
            <a:custGeom>
              <a:avLst/>
              <a:gdLst/>
              <a:ahLst/>
              <a:cxnLst/>
              <a:rect l="l" t="t" r="r" b="b"/>
              <a:pathLst>
                <a:path w="3042920" h="3683000">
                  <a:moveTo>
                    <a:pt x="0" y="0"/>
                  </a:moveTo>
                  <a:lnTo>
                    <a:pt x="3042920" y="0"/>
                  </a:lnTo>
                  <a:lnTo>
                    <a:pt x="3042920" y="3683000"/>
                  </a:lnTo>
                  <a:lnTo>
                    <a:pt x="0" y="3683000"/>
                  </a:lnTo>
                  <a:close/>
                </a:path>
              </a:pathLst>
            </a:custGeom>
            <a:blipFill>
              <a:blip r:embed="rId6"/>
              <a:stretch>
                <a:fillRect l="-21451" r="-21451"/>
              </a:stretch>
            </a:blipFill>
            <a:ln w="19050" cap="sq">
              <a:solidFill>
                <a:srgbClr val="7F7F7F"/>
              </a:solidFill>
              <a:prstDash val="dash"/>
              <a:miter/>
            </a:ln>
          </p:spPr>
          <p:txBody>
            <a:bodyPr/>
            <a:lstStyle/>
            <a:p>
              <a:endParaRPr lang="en-US"/>
            </a:p>
          </p:txBody>
        </p:sp>
      </p:grpSp>
      <p:grpSp>
        <p:nvGrpSpPr>
          <p:cNvPr id="77" name="Group 77"/>
          <p:cNvGrpSpPr/>
          <p:nvPr/>
        </p:nvGrpSpPr>
        <p:grpSpPr>
          <a:xfrm>
            <a:off x="9317355" y="6025515"/>
            <a:ext cx="8180070" cy="3310890"/>
            <a:chOff x="0" y="0"/>
            <a:chExt cx="10906760" cy="4414520"/>
          </a:xfrm>
        </p:grpSpPr>
        <p:sp>
          <p:nvSpPr>
            <p:cNvPr id="78" name="Freeform 78"/>
            <p:cNvSpPr/>
            <p:nvPr/>
          </p:nvSpPr>
          <p:spPr>
            <a:xfrm>
              <a:off x="0" y="0"/>
              <a:ext cx="10906760" cy="4414520"/>
            </a:xfrm>
            <a:custGeom>
              <a:avLst/>
              <a:gdLst/>
              <a:ahLst/>
              <a:cxnLst/>
              <a:rect l="l" t="t" r="r" b="b"/>
              <a:pathLst>
                <a:path w="10906760" h="4414520">
                  <a:moveTo>
                    <a:pt x="0" y="183896"/>
                  </a:moveTo>
                  <a:cubicBezTo>
                    <a:pt x="0" y="82296"/>
                    <a:pt x="82296" y="0"/>
                    <a:pt x="183896" y="0"/>
                  </a:cubicBezTo>
                  <a:lnTo>
                    <a:pt x="10722864" y="0"/>
                  </a:lnTo>
                  <a:cubicBezTo>
                    <a:pt x="10824464" y="0"/>
                    <a:pt x="10906760" y="82296"/>
                    <a:pt x="10906760" y="183896"/>
                  </a:cubicBezTo>
                  <a:lnTo>
                    <a:pt x="10906760" y="4230624"/>
                  </a:lnTo>
                  <a:cubicBezTo>
                    <a:pt x="10906760" y="4332224"/>
                    <a:pt x="10824464" y="4414520"/>
                    <a:pt x="10722864" y="4414520"/>
                  </a:cubicBezTo>
                  <a:lnTo>
                    <a:pt x="183896" y="4414520"/>
                  </a:lnTo>
                  <a:cubicBezTo>
                    <a:pt x="82296" y="4414520"/>
                    <a:pt x="0" y="4332224"/>
                    <a:pt x="0" y="4230624"/>
                  </a:cubicBezTo>
                  <a:close/>
                </a:path>
              </a:pathLst>
            </a:custGeom>
            <a:solidFill>
              <a:srgbClr val="F2F2F2"/>
            </a:solidFill>
            <a:ln w="19050" cap="sq">
              <a:solidFill>
                <a:srgbClr val="D9D9D9"/>
              </a:solidFill>
              <a:prstDash val="solid"/>
              <a:miter/>
            </a:ln>
          </p:spPr>
          <p:txBody>
            <a:bodyPr/>
            <a:lstStyle/>
            <a:p>
              <a:endParaRPr lang="en-US"/>
            </a:p>
          </p:txBody>
        </p:sp>
      </p:grpSp>
      <p:grpSp>
        <p:nvGrpSpPr>
          <p:cNvPr id="79" name="Group 79"/>
          <p:cNvGrpSpPr/>
          <p:nvPr/>
        </p:nvGrpSpPr>
        <p:grpSpPr>
          <a:xfrm>
            <a:off x="9591675" y="5984367"/>
            <a:ext cx="1184910" cy="101346"/>
            <a:chOff x="0" y="0"/>
            <a:chExt cx="1579880" cy="135128"/>
          </a:xfrm>
        </p:grpSpPr>
        <p:sp>
          <p:nvSpPr>
            <p:cNvPr id="80" name="Freeform 80"/>
            <p:cNvSpPr/>
            <p:nvPr/>
          </p:nvSpPr>
          <p:spPr>
            <a:xfrm>
              <a:off x="0" y="0"/>
              <a:ext cx="1579880" cy="135128"/>
            </a:xfrm>
            <a:custGeom>
              <a:avLst/>
              <a:gdLst/>
              <a:ahLst/>
              <a:cxnLst/>
              <a:rect l="l" t="t" r="r" b="b"/>
              <a:pathLst>
                <a:path w="1579880" h="135128">
                  <a:moveTo>
                    <a:pt x="0" y="0"/>
                  </a:moveTo>
                  <a:lnTo>
                    <a:pt x="1579880" y="0"/>
                  </a:lnTo>
                  <a:lnTo>
                    <a:pt x="1579880" y="135128"/>
                  </a:lnTo>
                  <a:lnTo>
                    <a:pt x="0" y="135128"/>
                  </a:lnTo>
                  <a:close/>
                </a:path>
              </a:pathLst>
            </a:custGeom>
            <a:solidFill>
              <a:srgbClr val="DD2E3A"/>
            </a:solidFill>
            <a:ln w="19050" cap="sq">
              <a:solidFill>
                <a:srgbClr val="DD2E3A"/>
              </a:solidFill>
              <a:prstDash val="solid"/>
              <a:miter/>
            </a:ln>
          </p:spPr>
          <p:txBody>
            <a:bodyPr/>
            <a:lstStyle/>
            <a:p>
              <a:endParaRPr lang="en-US"/>
            </a:p>
          </p:txBody>
        </p:sp>
      </p:grpSp>
      <p:grpSp>
        <p:nvGrpSpPr>
          <p:cNvPr id="81" name="Group 81"/>
          <p:cNvGrpSpPr/>
          <p:nvPr/>
        </p:nvGrpSpPr>
        <p:grpSpPr>
          <a:xfrm>
            <a:off x="9591675" y="6327267"/>
            <a:ext cx="773430" cy="773430"/>
            <a:chOff x="0" y="0"/>
            <a:chExt cx="1031240" cy="1031240"/>
          </a:xfrm>
        </p:grpSpPr>
        <p:sp>
          <p:nvSpPr>
            <p:cNvPr id="82" name="Freeform 82"/>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DD2E3A"/>
            </a:solidFill>
            <a:ln w="19050" cap="sq">
              <a:solidFill>
                <a:srgbClr val="DD2E3A"/>
              </a:solidFill>
              <a:prstDash val="solid"/>
              <a:miter/>
            </a:ln>
          </p:spPr>
          <p:txBody>
            <a:bodyPr/>
            <a:lstStyle/>
            <a:p>
              <a:endParaRPr lang="en-US"/>
            </a:p>
          </p:txBody>
        </p:sp>
      </p:grpSp>
      <p:grpSp>
        <p:nvGrpSpPr>
          <p:cNvPr id="83" name="Group 83"/>
          <p:cNvGrpSpPr/>
          <p:nvPr/>
        </p:nvGrpSpPr>
        <p:grpSpPr>
          <a:xfrm>
            <a:off x="9601200" y="6336792"/>
            <a:ext cx="754380" cy="754380"/>
            <a:chOff x="0" y="0"/>
            <a:chExt cx="1005840" cy="1005840"/>
          </a:xfrm>
        </p:grpSpPr>
        <p:sp>
          <p:nvSpPr>
            <p:cNvPr id="84" name="Freeform 84"/>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85" name="TextBox 85"/>
            <p:cNvSpPr txBox="1"/>
            <p:nvPr/>
          </p:nvSpPr>
          <p:spPr>
            <a:xfrm>
              <a:off x="0" y="-9525"/>
              <a:ext cx="1005840" cy="1015365"/>
            </a:xfrm>
            <a:prstGeom prst="rect">
              <a:avLst/>
            </a:prstGeom>
          </p:spPr>
          <p:txBody>
            <a:bodyPr lIns="0" tIns="0" rIns="0" bIns="0" rtlCol="0" anchor="ctr"/>
            <a:lstStyle/>
            <a:p>
              <a:pPr algn="ctr">
                <a:lnSpc>
                  <a:spcPts val="2879"/>
                </a:lnSpc>
              </a:pPr>
              <a:r>
                <a:rPr lang="en-US" sz="2400" b="1">
                  <a:solidFill>
                    <a:srgbClr val="FFFFFF"/>
                  </a:solidFill>
                  <a:latin typeface="Bai Jamjuree Bold"/>
                  <a:ea typeface="Bai Jamjuree Bold"/>
                  <a:cs typeface="Bai Jamjuree Bold"/>
                  <a:sym typeface="Bai Jamjuree Bold"/>
                </a:rPr>
                <a:t>04</a:t>
              </a:r>
            </a:p>
          </p:txBody>
        </p:sp>
      </p:grpSp>
      <p:grpSp>
        <p:nvGrpSpPr>
          <p:cNvPr id="86" name="Group 86"/>
          <p:cNvGrpSpPr/>
          <p:nvPr/>
        </p:nvGrpSpPr>
        <p:grpSpPr>
          <a:xfrm>
            <a:off x="10561320" y="6336792"/>
            <a:ext cx="4114800" cy="754380"/>
            <a:chOff x="0" y="0"/>
            <a:chExt cx="5486400" cy="1005840"/>
          </a:xfrm>
        </p:grpSpPr>
        <p:sp>
          <p:nvSpPr>
            <p:cNvPr id="87" name="Freeform 87"/>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88" name="TextBox 88"/>
            <p:cNvSpPr txBox="1"/>
            <p:nvPr/>
          </p:nvSpPr>
          <p:spPr>
            <a:xfrm>
              <a:off x="0" y="-9525"/>
              <a:ext cx="5486400" cy="1015365"/>
            </a:xfrm>
            <a:prstGeom prst="rect">
              <a:avLst/>
            </a:prstGeom>
          </p:spPr>
          <p:txBody>
            <a:bodyPr lIns="0" tIns="0" rIns="0" bIns="0" rtlCol="0" anchor="ctr"/>
            <a:lstStyle/>
            <a:p>
              <a:pPr algn="l">
                <a:lnSpc>
                  <a:spcPts val="3240"/>
                </a:lnSpc>
              </a:pPr>
              <a:r>
                <a:rPr lang="en-US" sz="2700" b="1">
                  <a:solidFill>
                    <a:srgbClr val="262626"/>
                  </a:solidFill>
                  <a:latin typeface="Bai Jamjuree Bold"/>
                  <a:ea typeface="Bai Jamjuree Bold"/>
                  <a:cs typeface="Bai Jamjuree Bold"/>
                  <a:sym typeface="Bai Jamjuree Bold"/>
                </a:rPr>
                <a:t>APF truyền thống</a:t>
              </a:r>
            </a:p>
          </p:txBody>
        </p:sp>
      </p:grpSp>
      <p:grpSp>
        <p:nvGrpSpPr>
          <p:cNvPr id="89" name="Group 89"/>
          <p:cNvGrpSpPr/>
          <p:nvPr/>
        </p:nvGrpSpPr>
        <p:grpSpPr>
          <a:xfrm>
            <a:off x="9591675" y="8604123"/>
            <a:ext cx="5093970" cy="512826"/>
            <a:chOff x="0" y="0"/>
            <a:chExt cx="6791960" cy="683768"/>
          </a:xfrm>
        </p:grpSpPr>
        <p:sp>
          <p:nvSpPr>
            <p:cNvPr id="90" name="Freeform 90"/>
            <p:cNvSpPr/>
            <p:nvPr/>
          </p:nvSpPr>
          <p:spPr>
            <a:xfrm>
              <a:off x="0" y="0"/>
              <a:ext cx="6791960" cy="683768"/>
            </a:xfrm>
            <a:custGeom>
              <a:avLst/>
              <a:gdLst/>
              <a:ahLst/>
              <a:cxnLst/>
              <a:rect l="l" t="t" r="r" b="b"/>
              <a:pathLst>
                <a:path w="6791960" h="683768">
                  <a:moveTo>
                    <a:pt x="0" y="341884"/>
                  </a:moveTo>
                  <a:cubicBezTo>
                    <a:pt x="0" y="153035"/>
                    <a:pt x="153035" y="0"/>
                    <a:pt x="341884" y="0"/>
                  </a:cubicBezTo>
                  <a:lnTo>
                    <a:pt x="6450076" y="0"/>
                  </a:lnTo>
                  <a:cubicBezTo>
                    <a:pt x="6638925" y="0"/>
                    <a:pt x="6791960" y="153035"/>
                    <a:pt x="6791960" y="341884"/>
                  </a:cubicBezTo>
                  <a:cubicBezTo>
                    <a:pt x="6791960" y="530733"/>
                    <a:pt x="6638925" y="683768"/>
                    <a:pt x="6450076" y="683768"/>
                  </a:cubicBezTo>
                  <a:lnTo>
                    <a:pt x="341884" y="683768"/>
                  </a:lnTo>
                  <a:cubicBezTo>
                    <a:pt x="153035" y="683768"/>
                    <a:pt x="0" y="530733"/>
                    <a:pt x="0" y="341884"/>
                  </a:cubicBezTo>
                  <a:close/>
                </a:path>
              </a:pathLst>
            </a:custGeom>
            <a:solidFill>
              <a:srgbClr val="FCE4E6"/>
            </a:solidFill>
            <a:ln w="19050" cap="sq">
              <a:solidFill>
                <a:srgbClr val="DD2E3A"/>
              </a:solidFill>
              <a:prstDash val="solid"/>
              <a:miter/>
            </a:ln>
          </p:spPr>
          <p:txBody>
            <a:bodyPr/>
            <a:lstStyle/>
            <a:p>
              <a:endParaRPr lang="en-US"/>
            </a:p>
          </p:txBody>
        </p:sp>
      </p:grpSp>
      <p:grpSp>
        <p:nvGrpSpPr>
          <p:cNvPr id="91" name="Group 91"/>
          <p:cNvGrpSpPr/>
          <p:nvPr/>
        </p:nvGrpSpPr>
        <p:grpSpPr>
          <a:xfrm>
            <a:off x="9601200" y="8613648"/>
            <a:ext cx="5074920" cy="493776"/>
            <a:chOff x="0" y="0"/>
            <a:chExt cx="6766560" cy="658368"/>
          </a:xfrm>
        </p:grpSpPr>
        <p:sp>
          <p:nvSpPr>
            <p:cNvPr id="92" name="Freeform 92"/>
            <p:cNvSpPr/>
            <p:nvPr/>
          </p:nvSpPr>
          <p:spPr>
            <a:xfrm>
              <a:off x="0" y="0"/>
              <a:ext cx="6766560" cy="658368"/>
            </a:xfrm>
            <a:custGeom>
              <a:avLst/>
              <a:gdLst/>
              <a:ahLst/>
              <a:cxnLst/>
              <a:rect l="l" t="t" r="r" b="b"/>
              <a:pathLst>
                <a:path w="6766560" h="658368">
                  <a:moveTo>
                    <a:pt x="0" y="0"/>
                  </a:moveTo>
                  <a:lnTo>
                    <a:pt x="6766560" y="0"/>
                  </a:lnTo>
                  <a:lnTo>
                    <a:pt x="6766560" y="658368"/>
                  </a:lnTo>
                  <a:lnTo>
                    <a:pt x="0" y="658368"/>
                  </a:lnTo>
                  <a:close/>
                </a:path>
              </a:pathLst>
            </a:custGeom>
            <a:blipFill>
              <a:blip r:embed="rId3">
                <a:alphaModFix amt="0"/>
              </a:blip>
              <a:stretch>
                <a:fillRect t="-150262" b="-150262"/>
              </a:stretch>
            </a:blipFill>
          </p:spPr>
          <p:txBody>
            <a:bodyPr/>
            <a:lstStyle/>
            <a:p>
              <a:endParaRPr lang="en-US"/>
            </a:p>
          </p:txBody>
        </p:sp>
        <p:sp>
          <p:nvSpPr>
            <p:cNvPr id="93" name="TextBox 93"/>
            <p:cNvSpPr txBox="1"/>
            <p:nvPr/>
          </p:nvSpPr>
          <p:spPr>
            <a:xfrm>
              <a:off x="0" y="0"/>
              <a:ext cx="6766560" cy="658368"/>
            </a:xfrm>
            <a:prstGeom prst="rect">
              <a:avLst/>
            </a:prstGeom>
          </p:spPr>
          <p:txBody>
            <a:bodyPr lIns="0" tIns="0" rIns="0" bIns="0" rtlCol="0" anchor="ctr"/>
            <a:lstStyle/>
            <a:p>
              <a:pPr algn="ctr">
                <a:lnSpc>
                  <a:spcPts val="2340"/>
                </a:lnSpc>
              </a:pPr>
              <a:r>
                <a:rPr lang="en-US" sz="1950" b="1">
                  <a:solidFill>
                    <a:srgbClr val="B0202B"/>
                  </a:solidFill>
                  <a:latin typeface="Bai Jamjuree Bold"/>
                  <a:ea typeface="Bai Jamjuree Bold"/>
                  <a:cs typeface="Bai Jamjuree Bold"/>
                  <a:sym typeface="Bai Jamjuree Bold"/>
                </a:rPr>
                <a:t>Kẹt bẫy · GNRON</a:t>
              </a:r>
            </a:p>
          </p:txBody>
        </p:sp>
      </p:grpSp>
      <p:grpSp>
        <p:nvGrpSpPr>
          <p:cNvPr id="94" name="Group 94"/>
          <p:cNvGrpSpPr/>
          <p:nvPr/>
        </p:nvGrpSpPr>
        <p:grpSpPr>
          <a:xfrm>
            <a:off x="14940915" y="6299835"/>
            <a:ext cx="2282190" cy="2762250"/>
            <a:chOff x="0" y="0"/>
            <a:chExt cx="3042920" cy="3683000"/>
          </a:xfrm>
        </p:grpSpPr>
        <p:sp>
          <p:nvSpPr>
            <p:cNvPr id="95" name="Freeform 95"/>
            <p:cNvSpPr/>
            <p:nvPr/>
          </p:nvSpPr>
          <p:spPr>
            <a:xfrm>
              <a:off x="0" y="0"/>
              <a:ext cx="3042920" cy="3683000"/>
            </a:xfrm>
            <a:custGeom>
              <a:avLst/>
              <a:gdLst/>
              <a:ahLst/>
              <a:cxnLst/>
              <a:rect l="l" t="t" r="r" b="b"/>
              <a:pathLst>
                <a:path w="3042920" h="3683000">
                  <a:moveTo>
                    <a:pt x="0" y="0"/>
                  </a:moveTo>
                  <a:lnTo>
                    <a:pt x="3042920" y="0"/>
                  </a:lnTo>
                  <a:lnTo>
                    <a:pt x="3042920" y="3683000"/>
                  </a:lnTo>
                  <a:lnTo>
                    <a:pt x="0" y="3683000"/>
                  </a:lnTo>
                  <a:close/>
                </a:path>
              </a:pathLst>
            </a:custGeom>
            <a:blipFill>
              <a:blip r:embed="rId7"/>
              <a:stretch>
                <a:fillRect l="-4033" r="-4033"/>
              </a:stretch>
            </a:blipFill>
            <a:ln w="19050" cap="sq">
              <a:solidFill>
                <a:srgbClr val="7F7F7F"/>
              </a:solidFill>
              <a:prstDash val="dash"/>
              <a:miter/>
            </a:ln>
          </p:spPr>
          <p:txBody>
            <a:bodyPr/>
            <a:lstStyle/>
            <a:p>
              <a:endParaRPr lang="en-US"/>
            </a:p>
          </p:txBody>
        </p:sp>
      </p:grpSp>
      <p:sp>
        <p:nvSpPr>
          <p:cNvPr id="96" name="TextBox 96"/>
          <p:cNvSpPr txBox="1"/>
          <p:nvPr/>
        </p:nvSpPr>
        <p:spPr>
          <a:xfrm>
            <a:off x="1097280" y="3762375"/>
            <a:ext cx="5074920" cy="638175"/>
          </a:xfrm>
          <a:prstGeom prst="rect">
            <a:avLst/>
          </a:prstGeom>
        </p:spPr>
        <p:txBody>
          <a:bodyPr lIns="0" tIns="0" rIns="0" bIns="0" rtlCol="0" anchor="t">
            <a:spAutoFit/>
          </a:bodyPr>
          <a:lstStyle/>
          <a:p>
            <a:pPr algn="l">
              <a:lnSpc>
                <a:spcPts val="2520"/>
              </a:lnSpc>
            </a:pPr>
            <a:r>
              <a:rPr lang="en-US" sz="2100">
                <a:solidFill>
                  <a:srgbClr val="595959"/>
                </a:solidFill>
                <a:latin typeface="Bai Jamjuree"/>
                <a:ea typeface="Bai Jamjuree"/>
                <a:cs typeface="Bai Jamjuree"/>
                <a:sym typeface="Bai Jamjuree"/>
              </a:rPr>
              <a:t>Sai số trôi dạt lớn. Không thể đáp trúng bãi Ø 50 cm.</a:t>
            </a:r>
          </a:p>
        </p:txBody>
      </p:sp>
      <p:sp>
        <p:nvSpPr>
          <p:cNvPr id="97" name="TextBox 97"/>
          <p:cNvSpPr txBox="1"/>
          <p:nvPr/>
        </p:nvSpPr>
        <p:spPr>
          <a:xfrm>
            <a:off x="9601200" y="3762375"/>
            <a:ext cx="5074920" cy="638175"/>
          </a:xfrm>
          <a:prstGeom prst="rect">
            <a:avLst/>
          </a:prstGeom>
        </p:spPr>
        <p:txBody>
          <a:bodyPr lIns="0" tIns="0" rIns="0" bIns="0" rtlCol="0" anchor="t">
            <a:spAutoFit/>
          </a:bodyPr>
          <a:lstStyle/>
          <a:p>
            <a:pPr algn="l">
              <a:lnSpc>
                <a:spcPts val="2520"/>
              </a:lnSpc>
            </a:pPr>
            <a:r>
              <a:rPr lang="en-US" sz="2100">
                <a:solidFill>
                  <a:srgbClr val="595959"/>
                </a:solidFill>
                <a:latin typeface="Bai Jamjuree"/>
                <a:ea typeface="Bai Jamjuree"/>
                <a:cs typeface="Bai Jamjuree"/>
                <a:sym typeface="Bai Jamjuree"/>
              </a:rPr>
              <a:t>Marker lớn → tràn FOV khi hạ thấp. Marker nhỏ → mù khi bay cao.</a:t>
            </a:r>
          </a:p>
        </p:txBody>
      </p:sp>
      <p:sp>
        <p:nvSpPr>
          <p:cNvPr id="98" name="TextBox 98"/>
          <p:cNvSpPr txBox="1"/>
          <p:nvPr/>
        </p:nvSpPr>
        <p:spPr>
          <a:xfrm>
            <a:off x="1097280" y="7259955"/>
            <a:ext cx="5074920" cy="320601"/>
          </a:xfrm>
          <a:prstGeom prst="rect">
            <a:avLst/>
          </a:prstGeom>
        </p:spPr>
        <p:txBody>
          <a:bodyPr lIns="0" tIns="0" rIns="0" bIns="0" rtlCol="0" anchor="t">
            <a:spAutoFit/>
          </a:bodyPr>
          <a:lstStyle/>
          <a:p>
            <a:pPr algn="l">
              <a:lnSpc>
                <a:spcPts val="2520"/>
              </a:lnSpc>
            </a:pPr>
            <a:r>
              <a:rPr lang="en-US" sz="2100">
                <a:solidFill>
                  <a:srgbClr val="595959"/>
                </a:solidFill>
                <a:latin typeface="Bai Jamjuree"/>
                <a:ea typeface="Bai Jamjuree"/>
                <a:cs typeface="Bai Jamjuree"/>
                <a:sym typeface="Bai Jamjuree"/>
              </a:rPr>
              <a:t>Độ trôi của khí áp kế </a:t>
            </a:r>
          </a:p>
        </p:txBody>
      </p:sp>
      <p:sp>
        <p:nvSpPr>
          <p:cNvPr id="99" name="TextBox 99"/>
          <p:cNvSpPr txBox="1"/>
          <p:nvPr/>
        </p:nvSpPr>
        <p:spPr>
          <a:xfrm>
            <a:off x="9601200" y="7259955"/>
            <a:ext cx="5074920" cy="638175"/>
          </a:xfrm>
          <a:prstGeom prst="rect">
            <a:avLst/>
          </a:prstGeom>
        </p:spPr>
        <p:txBody>
          <a:bodyPr lIns="0" tIns="0" rIns="0" bIns="0" rtlCol="0" anchor="t">
            <a:spAutoFit/>
          </a:bodyPr>
          <a:lstStyle/>
          <a:p>
            <a:pPr algn="l">
              <a:lnSpc>
                <a:spcPts val="2520"/>
              </a:lnSpc>
            </a:pPr>
            <a:r>
              <a:rPr lang="en-US" sz="2100">
                <a:solidFill>
                  <a:srgbClr val="595959"/>
                </a:solidFill>
                <a:latin typeface="Bai Jamjuree"/>
                <a:ea typeface="Bai Jamjuree"/>
                <a:cs typeface="Bai Jamjuree"/>
                <a:sym typeface="Bai Jamjuree"/>
              </a:rPr>
              <a:t>Kẹt cực tiểu địa phương; GNRON đẩy drone văng ra khi đích gần vật cản.</a:t>
            </a:r>
          </a:p>
        </p:txBody>
      </p:sp>
      <p:grpSp>
        <p:nvGrpSpPr>
          <p:cNvPr id="100" name="Group 100"/>
          <p:cNvGrpSpPr/>
          <p:nvPr/>
        </p:nvGrpSpPr>
        <p:grpSpPr>
          <a:xfrm>
            <a:off x="15920733" y="9431655"/>
            <a:ext cx="1988172" cy="688105"/>
            <a:chOff x="0" y="0"/>
            <a:chExt cx="2650896" cy="917473"/>
          </a:xfrm>
        </p:grpSpPr>
        <p:sp>
          <p:nvSpPr>
            <p:cNvPr id="101" name="Freeform 101"/>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8"/>
              <a:stretch>
                <a:fillRect l="-183" r="-185" b="-2"/>
              </a:stretch>
            </a:blipFill>
          </p:spPr>
          <p:txBody>
            <a:bodyPr/>
            <a:lstStyle/>
            <a:p>
              <a:endParaRPr lang="en-US"/>
            </a:p>
          </p:txBody>
        </p:sp>
      </p:grpSp>
      <p:grpSp>
        <p:nvGrpSpPr>
          <p:cNvPr id="102" name="Group 102"/>
          <p:cNvGrpSpPr/>
          <p:nvPr/>
        </p:nvGrpSpPr>
        <p:grpSpPr>
          <a:xfrm>
            <a:off x="0" y="9536906"/>
            <a:ext cx="15704172" cy="107156"/>
            <a:chOff x="0" y="0"/>
            <a:chExt cx="20938896" cy="142875"/>
          </a:xfrm>
        </p:grpSpPr>
        <p:sp>
          <p:nvSpPr>
            <p:cNvPr id="103" name="Freeform 10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335786"/>
            <a:chOff x="0" y="0"/>
            <a:chExt cx="24403304" cy="1781048"/>
          </a:xfrm>
        </p:grpSpPr>
        <p:sp>
          <p:nvSpPr>
            <p:cNvPr id="3" name="Freeform 3"/>
            <p:cNvSpPr/>
            <p:nvPr/>
          </p:nvSpPr>
          <p:spPr>
            <a:xfrm>
              <a:off x="0" y="0"/>
              <a:ext cx="24403304" cy="1781048"/>
            </a:xfrm>
            <a:custGeom>
              <a:avLst/>
              <a:gdLst/>
              <a:ahLst/>
              <a:cxnLst/>
              <a:rect l="l" t="t" r="r" b="b"/>
              <a:pathLst>
                <a:path w="24403304" h="1781048">
                  <a:moveTo>
                    <a:pt x="0" y="0"/>
                  </a:moveTo>
                  <a:lnTo>
                    <a:pt x="24403304" y="0"/>
                  </a:lnTo>
                  <a:lnTo>
                    <a:pt x="24403304" y="1781048"/>
                  </a:lnTo>
                  <a:lnTo>
                    <a:pt x="0" y="1781048"/>
                  </a:lnTo>
                  <a:close/>
                </a:path>
              </a:pathLst>
            </a:custGeom>
            <a:solidFill>
              <a:srgbClr val="F0F0F0"/>
            </a:solidFill>
            <a:ln w="19050" cap="sq">
              <a:solidFill>
                <a:srgbClr val="F0F0F0"/>
              </a:solidFill>
              <a:prstDash val="solid"/>
              <a:miter/>
            </a:ln>
          </p:spPr>
          <p:txBody>
            <a:bodyPr/>
            <a:lstStyle/>
            <a:p>
              <a:endParaRPr lang="en-US"/>
            </a:p>
          </p:txBody>
        </p:sp>
      </p:grpSp>
      <p:sp>
        <p:nvSpPr>
          <p:cNvPr id="4" name="AutoShape 4"/>
          <p:cNvSpPr/>
          <p:nvPr/>
        </p:nvSpPr>
        <p:spPr>
          <a:xfrm rot="5340">
            <a:off x="-14297" y="1307211"/>
            <a:ext cx="18312022" cy="0"/>
          </a:xfrm>
          <a:prstGeom prst="line">
            <a:avLst/>
          </a:prstGeom>
          <a:ln w="19050" cap="rnd">
            <a:solidFill>
              <a:srgbClr val="D9D9D9"/>
            </a:solidFill>
            <a:prstDash val="solid"/>
            <a:headEnd type="none" w="sm" len="sm"/>
            <a:tailEnd type="none" w="sm" len="sm"/>
          </a:ln>
        </p:spPr>
        <p:txBody>
          <a:bodyPr/>
          <a:lstStyle/>
          <a:p>
            <a:endParaRPr lang="en-US"/>
          </a:p>
        </p:txBody>
      </p:sp>
      <p:grpSp>
        <p:nvGrpSpPr>
          <p:cNvPr id="5" name="Group 5"/>
          <p:cNvGrpSpPr/>
          <p:nvPr/>
        </p:nvGrpSpPr>
        <p:grpSpPr>
          <a:xfrm>
            <a:off x="1636395" y="-9525"/>
            <a:ext cx="9618062" cy="1130046"/>
            <a:chOff x="0" y="0"/>
            <a:chExt cx="12824083" cy="1506728"/>
          </a:xfrm>
        </p:grpSpPr>
        <p:sp>
          <p:nvSpPr>
            <p:cNvPr id="6" name="Freeform 6"/>
            <p:cNvSpPr/>
            <p:nvPr/>
          </p:nvSpPr>
          <p:spPr>
            <a:xfrm>
              <a:off x="0" y="0"/>
              <a:ext cx="12824083" cy="1506728"/>
            </a:xfrm>
            <a:custGeom>
              <a:avLst/>
              <a:gdLst/>
              <a:ahLst/>
              <a:cxnLst/>
              <a:rect l="l" t="t" r="r" b="b"/>
              <a:pathLst>
                <a:path w="12824083" h="1506728">
                  <a:moveTo>
                    <a:pt x="0" y="0"/>
                  </a:moveTo>
                  <a:lnTo>
                    <a:pt x="12824083" y="0"/>
                  </a:lnTo>
                  <a:lnTo>
                    <a:pt x="11386965" y="1506728"/>
                  </a:lnTo>
                  <a:lnTo>
                    <a:pt x="0" y="1506728"/>
                  </a:lnTo>
                  <a:close/>
                </a:path>
              </a:pathLst>
            </a:custGeom>
            <a:solidFill>
              <a:srgbClr val="595959"/>
            </a:solidFill>
            <a:ln w="19050" cap="sq">
              <a:solidFill>
                <a:srgbClr val="595959"/>
              </a:solidFill>
              <a:prstDash val="solid"/>
              <a:miter/>
            </a:ln>
          </p:spPr>
          <p:txBody>
            <a:bodyPr/>
            <a:lstStyle/>
            <a:p>
              <a:endParaRPr lang="en-US"/>
            </a:p>
          </p:txBody>
        </p:sp>
      </p:grpSp>
      <p:grpSp>
        <p:nvGrpSpPr>
          <p:cNvPr id="7" name="Group 7"/>
          <p:cNvGrpSpPr/>
          <p:nvPr/>
        </p:nvGrpSpPr>
        <p:grpSpPr>
          <a:xfrm>
            <a:off x="-9525" y="-9525"/>
            <a:ext cx="1664970" cy="1130046"/>
            <a:chOff x="0" y="0"/>
            <a:chExt cx="2219960" cy="1506728"/>
          </a:xfrm>
        </p:grpSpPr>
        <p:sp>
          <p:nvSpPr>
            <p:cNvPr id="8" name="Freeform 8"/>
            <p:cNvSpPr/>
            <p:nvPr/>
          </p:nvSpPr>
          <p:spPr>
            <a:xfrm>
              <a:off x="0" y="0"/>
              <a:ext cx="2219960" cy="1506728"/>
            </a:xfrm>
            <a:custGeom>
              <a:avLst/>
              <a:gdLst/>
              <a:ahLst/>
              <a:cxnLst/>
              <a:rect l="l" t="t" r="r" b="b"/>
              <a:pathLst>
                <a:path w="2219960" h="1506728">
                  <a:moveTo>
                    <a:pt x="0" y="0"/>
                  </a:moveTo>
                  <a:lnTo>
                    <a:pt x="2219960" y="0"/>
                  </a:lnTo>
                  <a:lnTo>
                    <a:pt x="2219960" y="1506728"/>
                  </a:lnTo>
                  <a:lnTo>
                    <a:pt x="0" y="1506728"/>
                  </a:lnTo>
                  <a:close/>
                </a:path>
              </a:pathLst>
            </a:custGeom>
            <a:solidFill>
              <a:srgbClr val="DD2E3A"/>
            </a:solidFill>
            <a:ln w="19050" cap="sq">
              <a:solidFill>
                <a:srgbClr val="DD2E3A"/>
              </a:solidFill>
              <a:prstDash val="solid"/>
              <a:miter/>
            </a:ln>
          </p:spPr>
          <p:txBody>
            <a:bodyPr/>
            <a:lstStyle/>
            <a:p>
              <a:endParaRPr lang="en-US"/>
            </a:p>
          </p:txBody>
        </p:sp>
      </p:grpSp>
      <p:grpSp>
        <p:nvGrpSpPr>
          <p:cNvPr id="9" name="Group 9"/>
          <p:cNvGrpSpPr/>
          <p:nvPr/>
        </p:nvGrpSpPr>
        <p:grpSpPr>
          <a:xfrm>
            <a:off x="0" y="0"/>
            <a:ext cx="1645920" cy="1110996"/>
            <a:chOff x="0" y="0"/>
            <a:chExt cx="2194560" cy="1481328"/>
          </a:xfrm>
        </p:grpSpPr>
        <p:sp>
          <p:nvSpPr>
            <p:cNvPr id="10" name="Freeform 10"/>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3">
                <a:alphaModFix amt="0"/>
              </a:blip>
              <a:stretch>
                <a:fillRect l="-36604" r="-36604"/>
              </a:stretch>
            </a:blipFill>
          </p:spPr>
          <p:txBody>
            <a:bodyPr/>
            <a:lstStyle/>
            <a:p>
              <a:endParaRPr lang="en-US"/>
            </a:p>
          </p:txBody>
        </p:sp>
        <p:sp>
          <p:nvSpPr>
            <p:cNvPr id="11" name="TextBox 11"/>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02</a:t>
              </a:r>
            </a:p>
          </p:txBody>
        </p:sp>
      </p:grpSp>
      <p:grpSp>
        <p:nvGrpSpPr>
          <p:cNvPr id="12" name="Group 12"/>
          <p:cNvGrpSpPr/>
          <p:nvPr/>
        </p:nvGrpSpPr>
        <p:grpSpPr>
          <a:xfrm>
            <a:off x="372999" y="1350264"/>
            <a:ext cx="17465802" cy="732282"/>
            <a:chOff x="0" y="0"/>
            <a:chExt cx="23287736" cy="976376"/>
          </a:xfrm>
        </p:grpSpPr>
        <p:sp>
          <p:nvSpPr>
            <p:cNvPr id="13" name="Freeform 13"/>
            <p:cNvSpPr/>
            <p:nvPr/>
          </p:nvSpPr>
          <p:spPr>
            <a:xfrm>
              <a:off x="0" y="0"/>
              <a:ext cx="23287737" cy="976376"/>
            </a:xfrm>
            <a:custGeom>
              <a:avLst/>
              <a:gdLst/>
              <a:ahLst/>
              <a:cxnLst/>
              <a:rect l="l" t="t" r="r" b="b"/>
              <a:pathLst>
                <a:path w="23287737" h="976376">
                  <a:moveTo>
                    <a:pt x="0" y="0"/>
                  </a:moveTo>
                  <a:lnTo>
                    <a:pt x="23287737" y="0"/>
                  </a:lnTo>
                  <a:lnTo>
                    <a:pt x="23287737" y="976376"/>
                  </a:lnTo>
                  <a:lnTo>
                    <a:pt x="0" y="976376"/>
                  </a:lnTo>
                  <a:close/>
                </a:path>
              </a:pathLst>
            </a:custGeom>
            <a:solidFill>
              <a:srgbClr val="F2F2F2"/>
            </a:solidFill>
            <a:ln w="19050" cap="sq">
              <a:solidFill>
                <a:srgbClr val="F2F2F2"/>
              </a:solidFill>
              <a:prstDash val="solid"/>
              <a:miter/>
            </a:ln>
          </p:spPr>
          <p:txBody>
            <a:bodyPr/>
            <a:lstStyle/>
            <a:p>
              <a:endParaRPr lang="en-US"/>
            </a:p>
          </p:txBody>
        </p:sp>
      </p:grpSp>
      <p:grpSp>
        <p:nvGrpSpPr>
          <p:cNvPr id="14" name="Group 14"/>
          <p:cNvGrpSpPr/>
          <p:nvPr/>
        </p:nvGrpSpPr>
        <p:grpSpPr>
          <a:xfrm>
            <a:off x="478536" y="1359789"/>
            <a:ext cx="17282160" cy="902284"/>
            <a:chOff x="0" y="0"/>
            <a:chExt cx="23042880" cy="1203046"/>
          </a:xfrm>
        </p:grpSpPr>
        <p:sp>
          <p:nvSpPr>
            <p:cNvPr id="15" name="Freeform 15"/>
            <p:cNvSpPr/>
            <p:nvPr/>
          </p:nvSpPr>
          <p:spPr>
            <a:xfrm>
              <a:off x="0" y="0"/>
              <a:ext cx="23042880" cy="1203046"/>
            </a:xfrm>
            <a:custGeom>
              <a:avLst/>
              <a:gdLst/>
              <a:ahLst/>
              <a:cxnLst/>
              <a:rect l="l" t="t" r="r" b="b"/>
              <a:pathLst>
                <a:path w="23042880" h="1203046">
                  <a:moveTo>
                    <a:pt x="0" y="0"/>
                  </a:moveTo>
                  <a:lnTo>
                    <a:pt x="23042880" y="0"/>
                  </a:lnTo>
                  <a:lnTo>
                    <a:pt x="23042880" y="1203046"/>
                  </a:lnTo>
                  <a:lnTo>
                    <a:pt x="0" y="1203046"/>
                  </a:lnTo>
                  <a:close/>
                </a:path>
              </a:pathLst>
            </a:custGeom>
            <a:blipFill>
              <a:blip r:embed="rId3">
                <a:alphaModFix amt="0"/>
              </a:blip>
              <a:stretch>
                <a:fillRect t="-333688" b="-312735"/>
              </a:stretch>
            </a:blipFill>
          </p:spPr>
          <p:txBody>
            <a:bodyPr/>
            <a:lstStyle/>
            <a:p>
              <a:endParaRPr lang="en-US"/>
            </a:p>
          </p:txBody>
        </p:sp>
        <p:sp>
          <p:nvSpPr>
            <p:cNvPr id="16" name="TextBox 16"/>
            <p:cNvSpPr txBox="1"/>
            <p:nvPr/>
          </p:nvSpPr>
          <p:spPr>
            <a:xfrm>
              <a:off x="0" y="9525"/>
              <a:ext cx="23042880" cy="1193521"/>
            </a:xfrm>
            <a:prstGeom prst="rect">
              <a:avLst/>
            </a:prstGeom>
          </p:spPr>
          <p:txBody>
            <a:bodyPr lIns="0" tIns="0" rIns="0" bIns="0" rtlCol="0" anchor="ctr"/>
            <a:lstStyle/>
            <a:p>
              <a:pPr algn="l">
                <a:lnSpc>
                  <a:spcPts val="4320"/>
                </a:lnSpc>
              </a:pPr>
              <a:r>
                <a:rPr lang="en-US" sz="3600" b="1">
                  <a:solidFill>
                    <a:srgbClr val="262626"/>
                  </a:solidFill>
                  <a:latin typeface="Bai Jamjuree Bold"/>
                  <a:ea typeface="Bai Jamjuree Bold"/>
                  <a:cs typeface="Bai Jamjuree Bold"/>
                  <a:sym typeface="Bai Jamjuree Bold"/>
                </a:rPr>
                <a:t>SÁNG KIẾN GIẢI PHÁP ĐỀ XUẤT</a:t>
              </a:r>
            </a:p>
          </p:txBody>
        </p:sp>
      </p:grpSp>
      <p:grpSp>
        <p:nvGrpSpPr>
          <p:cNvPr id="17" name="Group 17"/>
          <p:cNvGrpSpPr/>
          <p:nvPr/>
        </p:nvGrpSpPr>
        <p:grpSpPr>
          <a:xfrm>
            <a:off x="1839767" y="216789"/>
            <a:ext cx="8695727" cy="1283419"/>
            <a:chOff x="0" y="0"/>
            <a:chExt cx="11594302" cy="1711226"/>
          </a:xfrm>
        </p:grpSpPr>
        <p:sp>
          <p:nvSpPr>
            <p:cNvPr id="18" name="Freeform 18"/>
            <p:cNvSpPr/>
            <p:nvPr/>
          </p:nvSpPr>
          <p:spPr>
            <a:xfrm>
              <a:off x="0" y="0"/>
              <a:ext cx="11594302" cy="1711226"/>
            </a:xfrm>
            <a:custGeom>
              <a:avLst/>
              <a:gdLst/>
              <a:ahLst/>
              <a:cxnLst/>
              <a:rect l="l" t="t" r="r" b="b"/>
              <a:pathLst>
                <a:path w="11594302" h="1711226">
                  <a:moveTo>
                    <a:pt x="0" y="0"/>
                  </a:moveTo>
                  <a:lnTo>
                    <a:pt x="11594302" y="0"/>
                  </a:lnTo>
                  <a:lnTo>
                    <a:pt x="11594302" y="1711226"/>
                  </a:lnTo>
                  <a:lnTo>
                    <a:pt x="0" y="1711226"/>
                  </a:lnTo>
                  <a:close/>
                </a:path>
              </a:pathLst>
            </a:custGeom>
            <a:blipFill>
              <a:blip r:embed="rId3">
                <a:alphaModFix amt="0"/>
              </a:blip>
              <a:stretch>
                <a:fillRect t="-52506" r="27442" b="-39072"/>
              </a:stretch>
            </a:blipFill>
          </p:spPr>
          <p:txBody>
            <a:bodyPr/>
            <a:lstStyle/>
            <a:p>
              <a:endParaRPr lang="en-US"/>
            </a:p>
          </p:txBody>
        </p:sp>
        <p:sp>
          <p:nvSpPr>
            <p:cNvPr id="19" name="TextBox 19"/>
            <p:cNvSpPr txBox="1"/>
            <p:nvPr/>
          </p:nvSpPr>
          <p:spPr>
            <a:xfrm>
              <a:off x="0" y="-28575"/>
              <a:ext cx="11594302" cy="1739801"/>
            </a:xfrm>
            <a:prstGeom prst="rect">
              <a:avLst/>
            </a:prstGeom>
          </p:spPr>
          <p:txBody>
            <a:bodyPr lIns="0" tIns="0" rIns="0" bIns="0" rtlCol="0" anchor="ctr"/>
            <a:lstStyle/>
            <a:p>
              <a:pPr algn="l">
                <a:lnSpc>
                  <a:spcPts val="4320"/>
                </a:lnSpc>
              </a:pPr>
              <a:r>
                <a:rPr lang="en-US" sz="3600" b="1">
                  <a:solidFill>
                    <a:srgbClr val="FFFFFF"/>
                  </a:solidFill>
                  <a:latin typeface="Arial Bold"/>
                  <a:ea typeface="Arial Bold"/>
                  <a:cs typeface="Arial Bold"/>
                  <a:sym typeface="Arial Bold"/>
                </a:rPr>
                <a:t>ĐÓNG GÓP &amp; KIẾN TRÚC TỔNG QUAN</a:t>
              </a:r>
            </a:p>
            <a:p>
              <a:pPr algn="l">
                <a:lnSpc>
                  <a:spcPts val="4320"/>
                </a:lnSpc>
              </a:pPr>
              <a:endParaRPr lang="en-US" sz="3600" b="1">
                <a:solidFill>
                  <a:srgbClr val="FFFFFF"/>
                </a:solidFill>
                <a:latin typeface="Arial Bold"/>
                <a:ea typeface="Arial Bold"/>
                <a:cs typeface="Arial Bold"/>
                <a:sym typeface="Arial Bold"/>
              </a:endParaRPr>
            </a:p>
          </p:txBody>
        </p:sp>
      </p:grpSp>
      <p:grpSp>
        <p:nvGrpSpPr>
          <p:cNvPr id="20" name="Group 20"/>
          <p:cNvGrpSpPr/>
          <p:nvPr/>
        </p:nvGrpSpPr>
        <p:grpSpPr>
          <a:xfrm>
            <a:off x="17793" y="9899142"/>
            <a:ext cx="15704172" cy="67818"/>
            <a:chOff x="0" y="0"/>
            <a:chExt cx="20938896" cy="90424"/>
          </a:xfrm>
        </p:grpSpPr>
        <p:sp>
          <p:nvSpPr>
            <p:cNvPr id="21" name="Freeform 21"/>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grpSp>
        <p:nvGrpSpPr>
          <p:cNvPr id="22" name="Group 22"/>
          <p:cNvGrpSpPr/>
          <p:nvPr/>
        </p:nvGrpSpPr>
        <p:grpSpPr>
          <a:xfrm>
            <a:off x="15715107" y="9456321"/>
            <a:ext cx="1988172" cy="688105"/>
            <a:chOff x="0" y="0"/>
            <a:chExt cx="2650896" cy="917473"/>
          </a:xfrm>
        </p:grpSpPr>
        <p:sp>
          <p:nvSpPr>
            <p:cNvPr id="23" name="Freeform 23"/>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sp>
        <p:nvSpPr>
          <p:cNvPr id="24" name="TextBox 24"/>
          <p:cNvSpPr txBox="1"/>
          <p:nvPr/>
        </p:nvSpPr>
        <p:spPr>
          <a:xfrm>
            <a:off x="443103" y="2128858"/>
            <a:ext cx="16312495" cy="742950"/>
          </a:xfrm>
          <a:prstGeom prst="rect">
            <a:avLst/>
          </a:prstGeom>
        </p:spPr>
        <p:txBody>
          <a:bodyPr lIns="0" tIns="0" rIns="0" bIns="0" rtlCol="0" anchor="t">
            <a:spAutoFit/>
          </a:bodyPr>
          <a:lstStyle/>
          <a:p>
            <a:pPr algn="l">
              <a:lnSpc>
                <a:spcPts val="2999"/>
              </a:lnSpc>
              <a:spcBef>
                <a:spcPct val="0"/>
              </a:spcBef>
            </a:pPr>
            <a:r>
              <a:rPr lang="en-US" sz="2499" b="1">
                <a:solidFill>
                  <a:srgbClr val="DD2E3A"/>
                </a:solidFill>
                <a:latin typeface="Bai Jamjuree Bold"/>
                <a:ea typeface="Bai Jamjuree Bold"/>
                <a:cs typeface="Bai Jamjuree Bold"/>
                <a:sym typeface="Bai Jamjuree Bold"/>
              </a:rPr>
              <a:t>Ý tưởng</a:t>
            </a:r>
            <a:r>
              <a:rPr lang="en-US" sz="2499" b="1">
                <a:solidFill>
                  <a:srgbClr val="7F7F7F"/>
                </a:solidFill>
                <a:latin typeface="Bai Jamjuree Bold"/>
                <a:ea typeface="Bai Jamjuree Bold"/>
                <a:cs typeface="Bai Jamjuree Bold"/>
                <a:sym typeface="Bai Jamjuree Bold"/>
              </a:rPr>
              <a:t>: </a:t>
            </a:r>
            <a:r>
              <a:rPr lang="en-US" sz="2499">
                <a:solidFill>
                  <a:srgbClr val="7F7F7F"/>
                </a:solidFill>
                <a:latin typeface="Bai Jamjuree"/>
                <a:ea typeface="Bai Jamjuree Bold"/>
                <a:cs typeface="Bai Jamjuree"/>
                <a:sym typeface="Bai Jamjuree"/>
              </a:rPr>
              <a:t>K</a:t>
            </a:r>
            <a:r>
              <a:rPr lang="en-US" sz="2499">
                <a:solidFill>
                  <a:srgbClr val="7F7F7F"/>
                </a:solidFill>
                <a:latin typeface="Bai Jamjuree"/>
                <a:ea typeface="Bai Jamjuree"/>
                <a:cs typeface="Bai Jamjuree"/>
                <a:sym typeface="Bai Jamjuree"/>
              </a:rPr>
              <a:t>iến trúc mô-đun camera nhận biết và ước lượng vị trí bãi đáp, các khối tính lệnh bay, bộ điều phối chọn lệnh theo từng giai đoạn, bộ điều khiển bay thực thi chuyển động và hạ cánh.</a:t>
            </a:r>
          </a:p>
        </p:txBody>
      </p:sp>
      <p:grpSp>
        <p:nvGrpSpPr>
          <p:cNvPr id="25" name="Group 25"/>
          <p:cNvGrpSpPr/>
          <p:nvPr/>
        </p:nvGrpSpPr>
        <p:grpSpPr>
          <a:xfrm>
            <a:off x="558927" y="3007995"/>
            <a:ext cx="2743200" cy="4937760"/>
            <a:chOff x="0" y="0"/>
            <a:chExt cx="3657600" cy="6583680"/>
          </a:xfrm>
        </p:grpSpPr>
        <p:sp>
          <p:nvSpPr>
            <p:cNvPr id="26" name="Freeform 26"/>
            <p:cNvSpPr/>
            <p:nvPr/>
          </p:nvSpPr>
          <p:spPr>
            <a:xfrm>
              <a:off x="0" y="0"/>
              <a:ext cx="3657600" cy="6583680"/>
            </a:xfrm>
            <a:custGeom>
              <a:avLst/>
              <a:gdLst/>
              <a:ahLst/>
              <a:cxnLst/>
              <a:rect l="l" t="t" r="r" b="b"/>
              <a:pathLst>
                <a:path w="3657600" h="6583680">
                  <a:moveTo>
                    <a:pt x="0" y="182880"/>
                  </a:moveTo>
                  <a:cubicBezTo>
                    <a:pt x="0" y="81915"/>
                    <a:pt x="81915" y="0"/>
                    <a:pt x="182880" y="0"/>
                  </a:cubicBezTo>
                  <a:lnTo>
                    <a:pt x="3474720" y="0"/>
                  </a:lnTo>
                  <a:cubicBezTo>
                    <a:pt x="3575685" y="0"/>
                    <a:pt x="3657600" y="81915"/>
                    <a:pt x="3657600" y="182880"/>
                  </a:cubicBezTo>
                  <a:lnTo>
                    <a:pt x="3657600" y="6400800"/>
                  </a:lnTo>
                  <a:cubicBezTo>
                    <a:pt x="3657600" y="6501765"/>
                    <a:pt x="3575685" y="6583680"/>
                    <a:pt x="3474720" y="6583680"/>
                  </a:cubicBezTo>
                  <a:lnTo>
                    <a:pt x="182880" y="6583680"/>
                  </a:lnTo>
                  <a:cubicBezTo>
                    <a:pt x="81915" y="6583680"/>
                    <a:pt x="0" y="6501765"/>
                    <a:pt x="0" y="6400800"/>
                  </a:cubicBezTo>
                  <a:close/>
                </a:path>
              </a:pathLst>
            </a:custGeom>
            <a:solidFill>
              <a:srgbClr val="F3F4F6"/>
            </a:solidFill>
          </p:spPr>
          <p:txBody>
            <a:bodyPr/>
            <a:lstStyle/>
            <a:p>
              <a:endParaRPr lang="en-US"/>
            </a:p>
          </p:txBody>
        </p:sp>
      </p:grpSp>
      <p:grpSp>
        <p:nvGrpSpPr>
          <p:cNvPr id="27" name="Group 27"/>
          <p:cNvGrpSpPr/>
          <p:nvPr/>
        </p:nvGrpSpPr>
        <p:grpSpPr>
          <a:xfrm>
            <a:off x="723519" y="3090291"/>
            <a:ext cx="2414016" cy="412356"/>
            <a:chOff x="0" y="0"/>
            <a:chExt cx="3218688" cy="549808"/>
          </a:xfrm>
        </p:grpSpPr>
        <p:sp>
          <p:nvSpPr>
            <p:cNvPr id="28" name="Freeform 28"/>
            <p:cNvSpPr/>
            <p:nvPr/>
          </p:nvSpPr>
          <p:spPr>
            <a:xfrm>
              <a:off x="0" y="0"/>
              <a:ext cx="3218688" cy="549808"/>
            </a:xfrm>
            <a:custGeom>
              <a:avLst/>
              <a:gdLst/>
              <a:ahLst/>
              <a:cxnLst/>
              <a:rect l="l" t="t" r="r" b="b"/>
              <a:pathLst>
                <a:path w="3218688" h="549808">
                  <a:moveTo>
                    <a:pt x="0" y="0"/>
                  </a:moveTo>
                  <a:lnTo>
                    <a:pt x="3218688" y="0"/>
                  </a:lnTo>
                  <a:lnTo>
                    <a:pt x="3218688" y="549808"/>
                  </a:lnTo>
                  <a:lnTo>
                    <a:pt x="0" y="549808"/>
                  </a:lnTo>
                  <a:close/>
                </a:path>
              </a:pathLst>
            </a:custGeom>
            <a:blipFill>
              <a:blip r:embed="rId3">
                <a:alphaModFix amt="0"/>
              </a:blip>
              <a:stretch>
                <a:fillRect t="-64175" b="-63963"/>
              </a:stretch>
            </a:blipFill>
          </p:spPr>
          <p:txBody>
            <a:bodyPr/>
            <a:lstStyle/>
            <a:p>
              <a:endParaRPr lang="en-US"/>
            </a:p>
          </p:txBody>
        </p:sp>
        <p:sp>
          <p:nvSpPr>
            <p:cNvPr id="29" name="TextBox 29"/>
            <p:cNvSpPr txBox="1"/>
            <p:nvPr/>
          </p:nvSpPr>
          <p:spPr>
            <a:xfrm>
              <a:off x="0" y="9525"/>
              <a:ext cx="3218688" cy="540283"/>
            </a:xfrm>
            <a:prstGeom prst="rect">
              <a:avLst/>
            </a:prstGeom>
          </p:spPr>
          <p:txBody>
            <a:bodyPr lIns="0" tIns="0" rIns="0" bIns="0" rtlCol="0" anchor="ctr"/>
            <a:lstStyle/>
            <a:p>
              <a:pPr algn="l">
                <a:lnSpc>
                  <a:spcPts val="1980"/>
                </a:lnSpc>
              </a:pPr>
              <a:r>
                <a:rPr lang="en-US" sz="1650" b="1">
                  <a:solidFill>
                    <a:srgbClr val="E0303A"/>
                  </a:solidFill>
                  <a:latin typeface="Bai Jamjuree Bold"/>
                  <a:ea typeface="Bai Jamjuree Bold"/>
                  <a:cs typeface="Bai Jamjuree Bold"/>
                  <a:sym typeface="Bai Jamjuree Bold"/>
                </a:rPr>
                <a:t>ĐẦU VÀO</a:t>
              </a:r>
            </a:p>
          </p:txBody>
        </p:sp>
      </p:grpSp>
      <p:grpSp>
        <p:nvGrpSpPr>
          <p:cNvPr id="30" name="Group 30"/>
          <p:cNvGrpSpPr/>
          <p:nvPr/>
        </p:nvGrpSpPr>
        <p:grpSpPr>
          <a:xfrm>
            <a:off x="688943" y="3618071"/>
            <a:ext cx="2483167" cy="2071688"/>
            <a:chOff x="0" y="0"/>
            <a:chExt cx="3310890" cy="2762250"/>
          </a:xfrm>
        </p:grpSpPr>
        <p:sp>
          <p:nvSpPr>
            <p:cNvPr id="31" name="Freeform 31"/>
            <p:cNvSpPr/>
            <p:nvPr/>
          </p:nvSpPr>
          <p:spPr>
            <a:xfrm>
              <a:off x="0" y="0"/>
              <a:ext cx="3310890" cy="2762250"/>
            </a:xfrm>
            <a:custGeom>
              <a:avLst/>
              <a:gdLst/>
              <a:ahLst/>
              <a:cxnLst/>
              <a:rect l="l" t="t" r="r" b="b"/>
              <a:pathLst>
                <a:path w="3310890" h="2762250">
                  <a:moveTo>
                    <a:pt x="0" y="147320"/>
                  </a:moveTo>
                  <a:cubicBezTo>
                    <a:pt x="0" y="65913"/>
                    <a:pt x="65913" y="0"/>
                    <a:pt x="147320" y="0"/>
                  </a:cubicBezTo>
                  <a:lnTo>
                    <a:pt x="3163570" y="0"/>
                  </a:lnTo>
                  <a:cubicBezTo>
                    <a:pt x="3244977" y="0"/>
                    <a:pt x="3310890" y="65913"/>
                    <a:pt x="3310890" y="147320"/>
                  </a:cubicBezTo>
                  <a:lnTo>
                    <a:pt x="3310890" y="2614930"/>
                  </a:lnTo>
                  <a:cubicBezTo>
                    <a:pt x="3310890" y="2696337"/>
                    <a:pt x="3244977" y="2762250"/>
                    <a:pt x="3163570" y="2762250"/>
                  </a:cubicBezTo>
                  <a:lnTo>
                    <a:pt x="147320" y="2762250"/>
                  </a:lnTo>
                  <a:cubicBezTo>
                    <a:pt x="65913" y="2762250"/>
                    <a:pt x="0" y="2696337"/>
                    <a:pt x="0" y="2614930"/>
                  </a:cubicBezTo>
                  <a:close/>
                </a:path>
              </a:pathLst>
            </a:custGeom>
            <a:solidFill>
              <a:srgbClr val="FFFFFF"/>
            </a:solidFill>
            <a:ln w="14288" cap="sq">
              <a:solidFill>
                <a:srgbClr val="9CA3AF"/>
              </a:solidFill>
              <a:prstDash val="solid"/>
              <a:miter/>
            </a:ln>
          </p:spPr>
          <p:txBody>
            <a:bodyPr/>
            <a:lstStyle/>
            <a:p>
              <a:endParaRPr lang="en-US"/>
            </a:p>
          </p:txBody>
        </p:sp>
      </p:grpSp>
      <p:sp>
        <p:nvSpPr>
          <p:cNvPr id="32" name="TextBox 32"/>
          <p:cNvSpPr txBox="1"/>
          <p:nvPr/>
        </p:nvSpPr>
        <p:spPr>
          <a:xfrm>
            <a:off x="860679" y="4503039"/>
            <a:ext cx="2139696" cy="1038225"/>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Camera chiều sâu</a:t>
            </a:r>
          </a:p>
          <a:p>
            <a:pPr algn="l">
              <a:lnSpc>
                <a:spcPts val="1980"/>
              </a:lnSpc>
            </a:pPr>
            <a:r>
              <a:rPr lang="en-US" sz="1650">
                <a:solidFill>
                  <a:srgbClr val="4B5563"/>
                </a:solidFill>
                <a:latin typeface="Bai Jamjuree"/>
                <a:ea typeface="Bai Jamjuree"/>
                <a:cs typeface="Bai Jamjuree"/>
                <a:sym typeface="Bai Jamjuree"/>
              </a:rPr>
              <a:t>Gắn trên gimbal 1 trục; nhìn bãi đáp, vật cản</a:t>
            </a:r>
          </a:p>
        </p:txBody>
      </p:sp>
      <p:grpSp>
        <p:nvGrpSpPr>
          <p:cNvPr id="33" name="Group 33"/>
          <p:cNvGrpSpPr/>
          <p:nvPr/>
        </p:nvGrpSpPr>
        <p:grpSpPr>
          <a:xfrm>
            <a:off x="901827" y="3803523"/>
            <a:ext cx="685800" cy="411480"/>
            <a:chOff x="0" y="0"/>
            <a:chExt cx="914400" cy="548640"/>
          </a:xfrm>
        </p:grpSpPr>
        <p:sp>
          <p:nvSpPr>
            <p:cNvPr id="34" name="Freeform 34"/>
            <p:cNvSpPr/>
            <p:nvPr/>
          </p:nvSpPr>
          <p:spPr>
            <a:xfrm>
              <a:off x="0" y="0"/>
              <a:ext cx="914400" cy="548640"/>
            </a:xfrm>
            <a:custGeom>
              <a:avLst/>
              <a:gdLst/>
              <a:ahLst/>
              <a:cxnLst/>
              <a:rect l="l" t="t" r="r" b="b"/>
              <a:pathLst>
                <a:path w="914400" h="548640">
                  <a:moveTo>
                    <a:pt x="0" y="73152"/>
                  </a:moveTo>
                  <a:cubicBezTo>
                    <a:pt x="0" y="32766"/>
                    <a:pt x="32766" y="0"/>
                    <a:pt x="73152" y="0"/>
                  </a:cubicBezTo>
                  <a:lnTo>
                    <a:pt x="841248" y="0"/>
                  </a:lnTo>
                  <a:cubicBezTo>
                    <a:pt x="881634" y="0"/>
                    <a:pt x="914400" y="32766"/>
                    <a:pt x="914400" y="73152"/>
                  </a:cubicBezTo>
                  <a:lnTo>
                    <a:pt x="914400" y="475488"/>
                  </a:lnTo>
                  <a:cubicBezTo>
                    <a:pt x="914400" y="515874"/>
                    <a:pt x="881634" y="548640"/>
                    <a:pt x="841248" y="548640"/>
                  </a:cubicBezTo>
                  <a:lnTo>
                    <a:pt x="73152" y="548640"/>
                  </a:lnTo>
                  <a:cubicBezTo>
                    <a:pt x="32766" y="548640"/>
                    <a:pt x="0" y="515874"/>
                    <a:pt x="0" y="475488"/>
                  </a:cubicBezTo>
                  <a:close/>
                </a:path>
              </a:pathLst>
            </a:custGeom>
            <a:solidFill>
              <a:srgbClr val="1F2937"/>
            </a:solidFill>
          </p:spPr>
          <p:txBody>
            <a:bodyPr/>
            <a:lstStyle/>
            <a:p>
              <a:endParaRPr lang="en-US"/>
            </a:p>
          </p:txBody>
        </p:sp>
      </p:grpSp>
      <p:grpSp>
        <p:nvGrpSpPr>
          <p:cNvPr id="35" name="Group 35"/>
          <p:cNvGrpSpPr/>
          <p:nvPr/>
        </p:nvGrpSpPr>
        <p:grpSpPr>
          <a:xfrm>
            <a:off x="1098042" y="3862578"/>
            <a:ext cx="293370" cy="293370"/>
            <a:chOff x="0" y="0"/>
            <a:chExt cx="391160" cy="391160"/>
          </a:xfrm>
        </p:grpSpPr>
        <p:sp>
          <p:nvSpPr>
            <p:cNvPr id="36" name="Freeform 36"/>
            <p:cNvSpPr/>
            <p:nvPr/>
          </p:nvSpPr>
          <p:spPr>
            <a:xfrm>
              <a:off x="0" y="0"/>
              <a:ext cx="391160" cy="391160"/>
            </a:xfrm>
            <a:custGeom>
              <a:avLst/>
              <a:gdLst/>
              <a:ahLst/>
              <a:cxnLst/>
              <a:rect l="l" t="t" r="r" b="b"/>
              <a:pathLst>
                <a:path w="391160" h="391160">
                  <a:moveTo>
                    <a:pt x="0" y="195580"/>
                  </a:moveTo>
                  <a:cubicBezTo>
                    <a:pt x="0" y="87503"/>
                    <a:pt x="87503" y="0"/>
                    <a:pt x="195580" y="0"/>
                  </a:cubicBezTo>
                  <a:cubicBezTo>
                    <a:pt x="303657" y="0"/>
                    <a:pt x="391160" y="87503"/>
                    <a:pt x="391160" y="195580"/>
                  </a:cubicBezTo>
                  <a:cubicBezTo>
                    <a:pt x="391160" y="303657"/>
                    <a:pt x="303657" y="391160"/>
                    <a:pt x="195580" y="391160"/>
                  </a:cubicBezTo>
                  <a:cubicBezTo>
                    <a:pt x="87503" y="391160"/>
                    <a:pt x="0" y="303657"/>
                    <a:pt x="0" y="195580"/>
                  </a:cubicBezTo>
                  <a:close/>
                </a:path>
              </a:pathLst>
            </a:custGeom>
            <a:solidFill>
              <a:srgbClr val="FFFFFF"/>
            </a:solidFill>
            <a:ln w="19050" cap="sq">
              <a:solidFill>
                <a:srgbClr val="9CA3AF"/>
              </a:solidFill>
              <a:prstDash val="solid"/>
              <a:miter/>
            </a:ln>
          </p:spPr>
          <p:txBody>
            <a:bodyPr/>
            <a:lstStyle/>
            <a:p>
              <a:endParaRPr lang="en-US"/>
            </a:p>
          </p:txBody>
        </p:sp>
      </p:grpSp>
      <p:grpSp>
        <p:nvGrpSpPr>
          <p:cNvPr id="37" name="Group 37"/>
          <p:cNvGrpSpPr/>
          <p:nvPr/>
        </p:nvGrpSpPr>
        <p:grpSpPr>
          <a:xfrm>
            <a:off x="688943" y="5812631"/>
            <a:ext cx="2483167" cy="2003108"/>
            <a:chOff x="0" y="0"/>
            <a:chExt cx="3310890" cy="2670810"/>
          </a:xfrm>
        </p:grpSpPr>
        <p:sp>
          <p:nvSpPr>
            <p:cNvPr id="38" name="Freeform 38"/>
            <p:cNvSpPr/>
            <p:nvPr/>
          </p:nvSpPr>
          <p:spPr>
            <a:xfrm>
              <a:off x="0" y="0"/>
              <a:ext cx="3310890" cy="2670810"/>
            </a:xfrm>
            <a:custGeom>
              <a:avLst/>
              <a:gdLst/>
              <a:ahLst/>
              <a:cxnLst/>
              <a:rect l="l" t="t" r="r" b="b"/>
              <a:pathLst>
                <a:path w="3310890" h="2670810">
                  <a:moveTo>
                    <a:pt x="0" y="147320"/>
                  </a:moveTo>
                  <a:cubicBezTo>
                    <a:pt x="0" y="65913"/>
                    <a:pt x="65913" y="0"/>
                    <a:pt x="147320" y="0"/>
                  </a:cubicBezTo>
                  <a:lnTo>
                    <a:pt x="3163570" y="0"/>
                  </a:lnTo>
                  <a:cubicBezTo>
                    <a:pt x="3244977" y="0"/>
                    <a:pt x="3310890" y="65913"/>
                    <a:pt x="3310890" y="147320"/>
                  </a:cubicBezTo>
                  <a:lnTo>
                    <a:pt x="3310890" y="2523490"/>
                  </a:lnTo>
                  <a:cubicBezTo>
                    <a:pt x="3310890" y="2604897"/>
                    <a:pt x="3244977" y="2670810"/>
                    <a:pt x="3163570" y="2670810"/>
                  </a:cubicBezTo>
                  <a:lnTo>
                    <a:pt x="147320" y="2670810"/>
                  </a:lnTo>
                  <a:cubicBezTo>
                    <a:pt x="65913" y="2670810"/>
                    <a:pt x="0" y="2604897"/>
                    <a:pt x="0" y="2523490"/>
                  </a:cubicBezTo>
                  <a:close/>
                </a:path>
              </a:pathLst>
            </a:custGeom>
            <a:solidFill>
              <a:srgbClr val="FFFFFF"/>
            </a:solidFill>
            <a:ln w="14288" cap="sq">
              <a:solidFill>
                <a:srgbClr val="9CA3AF"/>
              </a:solidFill>
              <a:prstDash val="solid"/>
              <a:miter/>
            </a:ln>
          </p:spPr>
          <p:txBody>
            <a:bodyPr/>
            <a:lstStyle/>
            <a:p>
              <a:endParaRPr lang="en-US"/>
            </a:p>
          </p:txBody>
        </p:sp>
      </p:grpSp>
      <p:sp>
        <p:nvSpPr>
          <p:cNvPr id="39" name="TextBox 39"/>
          <p:cNvSpPr txBox="1"/>
          <p:nvPr/>
        </p:nvSpPr>
        <p:spPr>
          <a:xfrm>
            <a:off x="860679" y="6697599"/>
            <a:ext cx="2139696" cy="790575"/>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Bãi đáp 2 marker</a:t>
            </a:r>
          </a:p>
          <a:p>
            <a:pPr algn="l">
              <a:lnSpc>
                <a:spcPts val="1980"/>
              </a:lnSpc>
            </a:pPr>
            <a:r>
              <a:rPr lang="en-US" sz="1650">
                <a:solidFill>
                  <a:srgbClr val="4B5563"/>
                </a:solidFill>
                <a:latin typeface="Bai Jamjuree"/>
                <a:ea typeface="Bai Jamjuree"/>
                <a:cs typeface="Bai Jamjuree"/>
                <a:sym typeface="Bai Jamjuree"/>
              </a:rPr>
              <a:t>Hai marker khác cỡ trên một tấm</a:t>
            </a:r>
          </a:p>
        </p:txBody>
      </p:sp>
      <p:grpSp>
        <p:nvGrpSpPr>
          <p:cNvPr id="40" name="Group 40"/>
          <p:cNvGrpSpPr/>
          <p:nvPr/>
        </p:nvGrpSpPr>
        <p:grpSpPr>
          <a:xfrm>
            <a:off x="910209" y="5910453"/>
            <a:ext cx="586740" cy="586740"/>
            <a:chOff x="0" y="0"/>
            <a:chExt cx="782320" cy="782320"/>
          </a:xfrm>
        </p:grpSpPr>
        <p:sp>
          <p:nvSpPr>
            <p:cNvPr id="41" name="Freeform 41"/>
            <p:cNvSpPr/>
            <p:nvPr/>
          </p:nvSpPr>
          <p:spPr>
            <a:xfrm>
              <a:off x="0" y="0"/>
              <a:ext cx="782320" cy="782320"/>
            </a:xfrm>
            <a:custGeom>
              <a:avLst/>
              <a:gdLst/>
              <a:ahLst/>
              <a:cxnLst/>
              <a:rect l="l" t="t" r="r" b="b"/>
              <a:pathLst>
                <a:path w="782320" h="782320">
                  <a:moveTo>
                    <a:pt x="0" y="0"/>
                  </a:moveTo>
                  <a:lnTo>
                    <a:pt x="782320" y="0"/>
                  </a:lnTo>
                  <a:lnTo>
                    <a:pt x="782320" y="782320"/>
                  </a:lnTo>
                  <a:lnTo>
                    <a:pt x="0" y="782320"/>
                  </a:lnTo>
                  <a:close/>
                </a:path>
              </a:pathLst>
            </a:custGeom>
            <a:solidFill>
              <a:srgbClr val="FFFFFF"/>
            </a:solidFill>
            <a:ln w="38100" cap="sq">
              <a:solidFill>
                <a:srgbClr val="1F2937"/>
              </a:solidFill>
              <a:prstDash val="solid"/>
              <a:miter/>
            </a:ln>
          </p:spPr>
          <p:txBody>
            <a:bodyPr/>
            <a:lstStyle/>
            <a:p>
              <a:endParaRPr lang="en-US"/>
            </a:p>
          </p:txBody>
        </p:sp>
      </p:grpSp>
      <p:grpSp>
        <p:nvGrpSpPr>
          <p:cNvPr id="42" name="Group 42"/>
          <p:cNvGrpSpPr/>
          <p:nvPr/>
        </p:nvGrpSpPr>
        <p:grpSpPr>
          <a:xfrm>
            <a:off x="1107567" y="6107811"/>
            <a:ext cx="192024" cy="192024"/>
            <a:chOff x="0" y="0"/>
            <a:chExt cx="256032" cy="256032"/>
          </a:xfrm>
        </p:grpSpPr>
        <p:sp>
          <p:nvSpPr>
            <p:cNvPr id="43" name="Freeform 43"/>
            <p:cNvSpPr/>
            <p:nvPr/>
          </p:nvSpPr>
          <p:spPr>
            <a:xfrm>
              <a:off x="0" y="0"/>
              <a:ext cx="256032" cy="256032"/>
            </a:xfrm>
            <a:custGeom>
              <a:avLst/>
              <a:gdLst/>
              <a:ahLst/>
              <a:cxnLst/>
              <a:rect l="l" t="t" r="r" b="b"/>
              <a:pathLst>
                <a:path w="256032" h="256032">
                  <a:moveTo>
                    <a:pt x="0" y="0"/>
                  </a:moveTo>
                  <a:lnTo>
                    <a:pt x="256032" y="0"/>
                  </a:lnTo>
                  <a:lnTo>
                    <a:pt x="256032" y="256032"/>
                  </a:lnTo>
                  <a:lnTo>
                    <a:pt x="0" y="256032"/>
                  </a:lnTo>
                  <a:close/>
                </a:path>
              </a:pathLst>
            </a:custGeom>
            <a:solidFill>
              <a:srgbClr val="1F2937"/>
            </a:solidFill>
          </p:spPr>
          <p:txBody>
            <a:bodyPr/>
            <a:lstStyle/>
            <a:p>
              <a:endParaRPr lang="en-US"/>
            </a:p>
          </p:txBody>
        </p:sp>
      </p:grpSp>
      <p:grpSp>
        <p:nvGrpSpPr>
          <p:cNvPr id="44" name="Group 44"/>
          <p:cNvGrpSpPr/>
          <p:nvPr/>
        </p:nvGrpSpPr>
        <p:grpSpPr>
          <a:xfrm>
            <a:off x="3645027" y="3007995"/>
            <a:ext cx="3497580" cy="5404104"/>
            <a:chOff x="0" y="0"/>
            <a:chExt cx="4663440" cy="7205472"/>
          </a:xfrm>
        </p:grpSpPr>
        <p:sp>
          <p:nvSpPr>
            <p:cNvPr id="45" name="Freeform 45"/>
            <p:cNvSpPr/>
            <p:nvPr/>
          </p:nvSpPr>
          <p:spPr>
            <a:xfrm>
              <a:off x="0" y="0"/>
              <a:ext cx="4663440" cy="7205473"/>
            </a:xfrm>
            <a:custGeom>
              <a:avLst/>
              <a:gdLst/>
              <a:ahLst/>
              <a:cxnLst/>
              <a:rect l="l" t="t" r="r" b="b"/>
              <a:pathLst>
                <a:path w="4663440" h="7205473">
                  <a:moveTo>
                    <a:pt x="0" y="200152"/>
                  </a:moveTo>
                  <a:cubicBezTo>
                    <a:pt x="0" y="89651"/>
                    <a:pt x="81915" y="0"/>
                    <a:pt x="182880" y="0"/>
                  </a:cubicBezTo>
                  <a:lnTo>
                    <a:pt x="4480560" y="0"/>
                  </a:lnTo>
                  <a:cubicBezTo>
                    <a:pt x="4581525" y="0"/>
                    <a:pt x="4663440" y="89651"/>
                    <a:pt x="4663440" y="200152"/>
                  </a:cubicBezTo>
                  <a:lnTo>
                    <a:pt x="4663440" y="7005320"/>
                  </a:lnTo>
                  <a:cubicBezTo>
                    <a:pt x="4663440" y="7115821"/>
                    <a:pt x="4581525" y="7205473"/>
                    <a:pt x="4480560" y="7205473"/>
                  </a:cubicBezTo>
                  <a:lnTo>
                    <a:pt x="182880" y="7205473"/>
                  </a:lnTo>
                  <a:cubicBezTo>
                    <a:pt x="81915" y="7205473"/>
                    <a:pt x="0" y="7115821"/>
                    <a:pt x="0" y="7005320"/>
                  </a:cubicBezTo>
                  <a:close/>
                </a:path>
              </a:pathLst>
            </a:custGeom>
            <a:solidFill>
              <a:srgbClr val="F3F4F6"/>
            </a:solidFill>
          </p:spPr>
          <p:txBody>
            <a:bodyPr/>
            <a:lstStyle/>
            <a:p>
              <a:endParaRPr lang="en-US"/>
            </a:p>
          </p:txBody>
        </p:sp>
      </p:grpSp>
      <p:grpSp>
        <p:nvGrpSpPr>
          <p:cNvPr id="46" name="Group 46"/>
          <p:cNvGrpSpPr/>
          <p:nvPr/>
        </p:nvGrpSpPr>
        <p:grpSpPr>
          <a:xfrm>
            <a:off x="3809619" y="3090291"/>
            <a:ext cx="3168396" cy="412356"/>
            <a:chOff x="0" y="0"/>
            <a:chExt cx="4224528" cy="549808"/>
          </a:xfrm>
        </p:grpSpPr>
        <p:sp>
          <p:nvSpPr>
            <p:cNvPr id="47" name="Freeform 47"/>
            <p:cNvSpPr/>
            <p:nvPr/>
          </p:nvSpPr>
          <p:spPr>
            <a:xfrm>
              <a:off x="0" y="0"/>
              <a:ext cx="4224528" cy="549808"/>
            </a:xfrm>
            <a:custGeom>
              <a:avLst/>
              <a:gdLst/>
              <a:ahLst/>
              <a:cxnLst/>
              <a:rect l="l" t="t" r="r" b="b"/>
              <a:pathLst>
                <a:path w="4224528" h="549808">
                  <a:moveTo>
                    <a:pt x="0" y="0"/>
                  </a:moveTo>
                  <a:lnTo>
                    <a:pt x="4224528" y="0"/>
                  </a:lnTo>
                  <a:lnTo>
                    <a:pt x="4224528" y="549808"/>
                  </a:lnTo>
                  <a:lnTo>
                    <a:pt x="0" y="549808"/>
                  </a:lnTo>
                  <a:close/>
                </a:path>
              </a:pathLst>
            </a:custGeom>
            <a:blipFill>
              <a:blip r:embed="rId3">
                <a:alphaModFix amt="0"/>
              </a:blip>
              <a:stretch>
                <a:fillRect t="-99822" b="-99609"/>
              </a:stretch>
            </a:blipFill>
          </p:spPr>
          <p:txBody>
            <a:bodyPr/>
            <a:lstStyle/>
            <a:p>
              <a:endParaRPr lang="en-US"/>
            </a:p>
          </p:txBody>
        </p:sp>
        <p:sp>
          <p:nvSpPr>
            <p:cNvPr id="48" name="TextBox 48"/>
            <p:cNvSpPr txBox="1"/>
            <p:nvPr/>
          </p:nvSpPr>
          <p:spPr>
            <a:xfrm>
              <a:off x="0" y="9525"/>
              <a:ext cx="4224528" cy="540283"/>
            </a:xfrm>
            <a:prstGeom prst="rect">
              <a:avLst/>
            </a:prstGeom>
          </p:spPr>
          <p:txBody>
            <a:bodyPr lIns="0" tIns="0" rIns="0" bIns="0" rtlCol="0" anchor="ctr"/>
            <a:lstStyle/>
            <a:p>
              <a:pPr algn="l">
                <a:lnSpc>
                  <a:spcPts val="1980"/>
                </a:lnSpc>
              </a:pPr>
              <a:r>
                <a:rPr lang="en-US" sz="1650" b="1">
                  <a:solidFill>
                    <a:srgbClr val="E0303A"/>
                  </a:solidFill>
                  <a:latin typeface="Bai Jamjuree Bold"/>
                  <a:ea typeface="Bai Jamjuree Bold"/>
                  <a:cs typeface="Bai Jamjuree Bold"/>
                  <a:sym typeface="Bai Jamjuree Bold"/>
                </a:rPr>
                <a:t>NHẬN BIẾT MỤC TIÊU</a:t>
              </a:r>
            </a:p>
          </p:txBody>
        </p:sp>
      </p:grpSp>
      <p:grpSp>
        <p:nvGrpSpPr>
          <p:cNvPr id="49" name="Group 49"/>
          <p:cNvGrpSpPr/>
          <p:nvPr/>
        </p:nvGrpSpPr>
        <p:grpSpPr>
          <a:xfrm>
            <a:off x="3775043" y="3618071"/>
            <a:ext cx="3237548" cy="1481328"/>
            <a:chOff x="0" y="0"/>
            <a:chExt cx="4316730" cy="1975104"/>
          </a:xfrm>
        </p:grpSpPr>
        <p:sp>
          <p:nvSpPr>
            <p:cNvPr id="50" name="Freeform 50"/>
            <p:cNvSpPr/>
            <p:nvPr/>
          </p:nvSpPr>
          <p:spPr>
            <a:xfrm>
              <a:off x="0" y="0"/>
              <a:ext cx="4316730" cy="1975104"/>
            </a:xfrm>
            <a:custGeom>
              <a:avLst/>
              <a:gdLst/>
              <a:ahLst/>
              <a:cxnLst/>
              <a:rect l="l" t="t" r="r" b="b"/>
              <a:pathLst>
                <a:path w="4316730" h="1975104">
                  <a:moveTo>
                    <a:pt x="0" y="108945"/>
                  </a:moveTo>
                  <a:cubicBezTo>
                    <a:pt x="0" y="48744"/>
                    <a:pt x="65913" y="0"/>
                    <a:pt x="147320" y="0"/>
                  </a:cubicBezTo>
                  <a:lnTo>
                    <a:pt x="4169410" y="0"/>
                  </a:lnTo>
                  <a:cubicBezTo>
                    <a:pt x="4250817" y="0"/>
                    <a:pt x="4316730" y="48744"/>
                    <a:pt x="4316730" y="108945"/>
                  </a:cubicBezTo>
                  <a:lnTo>
                    <a:pt x="4316730" y="1866159"/>
                  </a:lnTo>
                  <a:cubicBezTo>
                    <a:pt x="4316730" y="1926360"/>
                    <a:pt x="4250817" y="1975104"/>
                    <a:pt x="4169410" y="1975104"/>
                  </a:cubicBezTo>
                  <a:lnTo>
                    <a:pt x="147320" y="1975104"/>
                  </a:lnTo>
                  <a:cubicBezTo>
                    <a:pt x="65913" y="1975104"/>
                    <a:pt x="0" y="1926360"/>
                    <a:pt x="0" y="1866159"/>
                  </a:cubicBezTo>
                  <a:close/>
                </a:path>
              </a:pathLst>
            </a:custGeom>
            <a:solidFill>
              <a:srgbClr val="FFFFFF"/>
            </a:solidFill>
            <a:ln w="14288" cap="sq">
              <a:solidFill>
                <a:srgbClr val="9CA3AF"/>
              </a:solidFill>
              <a:prstDash val="solid"/>
              <a:miter/>
            </a:ln>
          </p:spPr>
          <p:txBody>
            <a:bodyPr/>
            <a:lstStyle/>
            <a:p>
              <a:endParaRPr lang="en-US"/>
            </a:p>
          </p:txBody>
        </p:sp>
      </p:grpSp>
      <p:sp>
        <p:nvSpPr>
          <p:cNvPr id="51" name="TextBox 51"/>
          <p:cNvSpPr txBox="1"/>
          <p:nvPr/>
        </p:nvSpPr>
        <p:spPr>
          <a:xfrm>
            <a:off x="3862867" y="3734943"/>
            <a:ext cx="3072003" cy="1019175"/>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Nhận biết và bám bãi đáp</a:t>
            </a:r>
          </a:p>
          <a:p>
            <a:pPr algn="l">
              <a:lnSpc>
                <a:spcPts val="1800"/>
              </a:lnSpc>
            </a:pPr>
            <a:r>
              <a:rPr lang="en-US" sz="1500" b="1">
                <a:solidFill>
                  <a:srgbClr val="0E7490"/>
                </a:solidFill>
                <a:latin typeface="Bai Jamjuree Bold"/>
                <a:ea typeface="Bai Jamjuree Bold"/>
                <a:cs typeface="Bai Jamjuree Bold"/>
                <a:sym typeface="Bai Jamjuree Bold"/>
              </a:rPr>
              <a:t>IBVS</a:t>
            </a:r>
          </a:p>
          <a:p>
            <a:pPr algn="l">
              <a:lnSpc>
                <a:spcPts val="1980"/>
              </a:lnSpc>
            </a:pPr>
            <a:r>
              <a:rPr lang="en-US" sz="1650">
                <a:solidFill>
                  <a:srgbClr val="4B5563"/>
                </a:solidFill>
                <a:latin typeface="Bai Jamjuree"/>
                <a:ea typeface="Bai Jamjuree"/>
                <a:cs typeface="Bai Jamjuree"/>
                <a:sym typeface="Bai Jamjuree"/>
              </a:rPr>
              <a:t>Giữ bãi đáp ở giữa khung hình bằng cách chỉnh hướng quay</a:t>
            </a:r>
          </a:p>
        </p:txBody>
      </p:sp>
      <p:grpSp>
        <p:nvGrpSpPr>
          <p:cNvPr id="52" name="Group 52"/>
          <p:cNvGrpSpPr/>
          <p:nvPr/>
        </p:nvGrpSpPr>
        <p:grpSpPr>
          <a:xfrm>
            <a:off x="3780095" y="5167694"/>
            <a:ext cx="3237548" cy="1440180"/>
            <a:chOff x="0" y="0"/>
            <a:chExt cx="4316730" cy="1920240"/>
          </a:xfrm>
        </p:grpSpPr>
        <p:sp>
          <p:nvSpPr>
            <p:cNvPr id="53" name="Freeform 53"/>
            <p:cNvSpPr/>
            <p:nvPr/>
          </p:nvSpPr>
          <p:spPr>
            <a:xfrm>
              <a:off x="0" y="0"/>
              <a:ext cx="4316730" cy="1920240"/>
            </a:xfrm>
            <a:custGeom>
              <a:avLst/>
              <a:gdLst/>
              <a:ahLst/>
              <a:cxnLst/>
              <a:rect l="l" t="t" r="r" b="b"/>
              <a:pathLst>
                <a:path w="4316730" h="1920240">
                  <a:moveTo>
                    <a:pt x="0" y="102413"/>
                  </a:moveTo>
                  <a:cubicBezTo>
                    <a:pt x="0" y="45821"/>
                    <a:pt x="65913" y="0"/>
                    <a:pt x="147320" y="0"/>
                  </a:cubicBezTo>
                  <a:lnTo>
                    <a:pt x="4169410" y="0"/>
                  </a:lnTo>
                  <a:cubicBezTo>
                    <a:pt x="4250817" y="0"/>
                    <a:pt x="4316730" y="45821"/>
                    <a:pt x="4316730" y="102413"/>
                  </a:cubicBezTo>
                  <a:lnTo>
                    <a:pt x="4316730" y="1817827"/>
                  </a:lnTo>
                  <a:cubicBezTo>
                    <a:pt x="4316730" y="1874419"/>
                    <a:pt x="4250817" y="1920240"/>
                    <a:pt x="4169410" y="1920240"/>
                  </a:cubicBezTo>
                  <a:lnTo>
                    <a:pt x="147320" y="1920240"/>
                  </a:lnTo>
                  <a:cubicBezTo>
                    <a:pt x="65913" y="1920240"/>
                    <a:pt x="0" y="1874419"/>
                    <a:pt x="0" y="1817827"/>
                  </a:cubicBezTo>
                  <a:close/>
                </a:path>
              </a:pathLst>
            </a:custGeom>
            <a:solidFill>
              <a:srgbClr val="FFFFFF"/>
            </a:solidFill>
            <a:ln w="14288" cap="sq">
              <a:solidFill>
                <a:srgbClr val="9CA3AF"/>
              </a:solidFill>
              <a:prstDash val="solid"/>
              <a:miter/>
            </a:ln>
          </p:spPr>
          <p:txBody>
            <a:bodyPr/>
            <a:lstStyle/>
            <a:p>
              <a:endParaRPr lang="en-US"/>
            </a:p>
          </p:txBody>
        </p:sp>
      </p:grpSp>
      <p:sp>
        <p:nvSpPr>
          <p:cNvPr id="54" name="TextBox 54"/>
          <p:cNvSpPr txBox="1"/>
          <p:nvPr/>
        </p:nvSpPr>
        <p:spPr>
          <a:xfrm>
            <a:off x="3902202" y="5213699"/>
            <a:ext cx="3115440" cy="1314450"/>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Ước lượng vị trí khi bị che khuất</a:t>
            </a:r>
          </a:p>
          <a:p>
            <a:pPr algn="l">
              <a:lnSpc>
                <a:spcPts val="1800"/>
              </a:lnSpc>
            </a:pPr>
            <a:r>
              <a:rPr lang="en-US" sz="1500" b="1">
                <a:solidFill>
                  <a:srgbClr val="0E7490"/>
                </a:solidFill>
                <a:latin typeface="Bai Jamjuree Bold"/>
                <a:ea typeface="Bai Jamjuree Bold"/>
                <a:cs typeface="Bai Jamjuree Bold"/>
                <a:sym typeface="Bai Jamjuree Bold"/>
              </a:rPr>
              <a:t>EKF</a:t>
            </a:r>
          </a:p>
          <a:p>
            <a:pPr algn="l">
              <a:lnSpc>
                <a:spcPts val="1980"/>
              </a:lnSpc>
            </a:pPr>
            <a:r>
              <a:rPr lang="en-US" sz="1650">
                <a:solidFill>
                  <a:srgbClr val="4B5563"/>
                </a:solidFill>
                <a:latin typeface="Bai Jamjuree"/>
                <a:ea typeface="Bai Jamjuree"/>
                <a:cs typeface="Bai Jamjuree"/>
                <a:sym typeface="Bai Jamjuree"/>
              </a:rPr>
              <a:t>Dùng dữ liệu trước đó để ước lượng tiếp trong thời gian ngắn</a:t>
            </a:r>
          </a:p>
        </p:txBody>
      </p:sp>
      <p:grpSp>
        <p:nvGrpSpPr>
          <p:cNvPr id="55" name="Group 55"/>
          <p:cNvGrpSpPr/>
          <p:nvPr/>
        </p:nvGrpSpPr>
        <p:grpSpPr>
          <a:xfrm>
            <a:off x="7485507" y="3007995"/>
            <a:ext cx="3771900" cy="4937760"/>
            <a:chOff x="0" y="0"/>
            <a:chExt cx="5029200" cy="6583680"/>
          </a:xfrm>
        </p:grpSpPr>
        <p:sp>
          <p:nvSpPr>
            <p:cNvPr id="56" name="Freeform 56"/>
            <p:cNvSpPr/>
            <p:nvPr/>
          </p:nvSpPr>
          <p:spPr>
            <a:xfrm>
              <a:off x="0" y="0"/>
              <a:ext cx="5029200" cy="6583680"/>
            </a:xfrm>
            <a:custGeom>
              <a:avLst/>
              <a:gdLst/>
              <a:ahLst/>
              <a:cxnLst/>
              <a:rect l="l" t="t" r="r" b="b"/>
              <a:pathLst>
                <a:path w="5029200" h="6583680">
                  <a:moveTo>
                    <a:pt x="0" y="182880"/>
                  </a:moveTo>
                  <a:cubicBezTo>
                    <a:pt x="0" y="81915"/>
                    <a:pt x="81915" y="0"/>
                    <a:pt x="182880" y="0"/>
                  </a:cubicBezTo>
                  <a:lnTo>
                    <a:pt x="4846320" y="0"/>
                  </a:lnTo>
                  <a:cubicBezTo>
                    <a:pt x="4947285" y="0"/>
                    <a:pt x="5029200" y="81915"/>
                    <a:pt x="5029200" y="182880"/>
                  </a:cubicBezTo>
                  <a:lnTo>
                    <a:pt x="5029200" y="6400800"/>
                  </a:lnTo>
                  <a:cubicBezTo>
                    <a:pt x="5029200" y="6501765"/>
                    <a:pt x="4947285" y="6583680"/>
                    <a:pt x="4846320" y="6583680"/>
                  </a:cubicBezTo>
                  <a:lnTo>
                    <a:pt x="182880" y="6583680"/>
                  </a:lnTo>
                  <a:cubicBezTo>
                    <a:pt x="81915" y="6583680"/>
                    <a:pt x="0" y="6501765"/>
                    <a:pt x="0" y="6400800"/>
                  </a:cubicBezTo>
                  <a:close/>
                </a:path>
              </a:pathLst>
            </a:custGeom>
            <a:solidFill>
              <a:srgbClr val="F3F4F6"/>
            </a:solidFill>
          </p:spPr>
          <p:txBody>
            <a:bodyPr/>
            <a:lstStyle/>
            <a:p>
              <a:endParaRPr lang="en-US"/>
            </a:p>
          </p:txBody>
        </p:sp>
      </p:grpSp>
      <p:grpSp>
        <p:nvGrpSpPr>
          <p:cNvPr id="57" name="Group 57"/>
          <p:cNvGrpSpPr/>
          <p:nvPr/>
        </p:nvGrpSpPr>
        <p:grpSpPr>
          <a:xfrm>
            <a:off x="7650099" y="3090291"/>
            <a:ext cx="3442716" cy="412356"/>
            <a:chOff x="0" y="0"/>
            <a:chExt cx="4590288" cy="549808"/>
          </a:xfrm>
        </p:grpSpPr>
        <p:sp>
          <p:nvSpPr>
            <p:cNvPr id="58" name="Freeform 58"/>
            <p:cNvSpPr/>
            <p:nvPr/>
          </p:nvSpPr>
          <p:spPr>
            <a:xfrm>
              <a:off x="0" y="0"/>
              <a:ext cx="4590288" cy="549808"/>
            </a:xfrm>
            <a:custGeom>
              <a:avLst/>
              <a:gdLst/>
              <a:ahLst/>
              <a:cxnLst/>
              <a:rect l="l" t="t" r="r" b="b"/>
              <a:pathLst>
                <a:path w="4590288" h="549808">
                  <a:moveTo>
                    <a:pt x="0" y="0"/>
                  </a:moveTo>
                  <a:lnTo>
                    <a:pt x="4590288" y="0"/>
                  </a:lnTo>
                  <a:lnTo>
                    <a:pt x="4590288" y="549808"/>
                  </a:lnTo>
                  <a:lnTo>
                    <a:pt x="0" y="549808"/>
                  </a:lnTo>
                  <a:close/>
                </a:path>
              </a:pathLst>
            </a:custGeom>
            <a:blipFill>
              <a:blip r:embed="rId3">
                <a:alphaModFix amt="0"/>
              </a:blip>
              <a:stretch>
                <a:fillRect t="-112784" b="-112572"/>
              </a:stretch>
            </a:blipFill>
          </p:spPr>
          <p:txBody>
            <a:bodyPr/>
            <a:lstStyle/>
            <a:p>
              <a:endParaRPr lang="en-US"/>
            </a:p>
          </p:txBody>
        </p:sp>
        <p:sp>
          <p:nvSpPr>
            <p:cNvPr id="59" name="TextBox 59"/>
            <p:cNvSpPr txBox="1"/>
            <p:nvPr/>
          </p:nvSpPr>
          <p:spPr>
            <a:xfrm>
              <a:off x="0" y="9525"/>
              <a:ext cx="4590288" cy="540283"/>
            </a:xfrm>
            <a:prstGeom prst="rect">
              <a:avLst/>
            </a:prstGeom>
          </p:spPr>
          <p:txBody>
            <a:bodyPr lIns="0" tIns="0" rIns="0" bIns="0" rtlCol="0" anchor="ctr"/>
            <a:lstStyle/>
            <a:p>
              <a:pPr algn="l">
                <a:lnSpc>
                  <a:spcPts val="1980"/>
                </a:lnSpc>
              </a:pPr>
              <a:r>
                <a:rPr lang="en-US" sz="1650" b="1">
                  <a:solidFill>
                    <a:srgbClr val="E0303A"/>
                  </a:solidFill>
                  <a:latin typeface="Bai Jamjuree Bold"/>
                  <a:ea typeface="Bai Jamjuree Bold"/>
                  <a:cs typeface="Bai Jamjuree Bold"/>
                  <a:sym typeface="Bai Jamjuree Bold"/>
                </a:rPr>
                <a:t>TÍNH TOÁN LỆNH BAY</a:t>
              </a:r>
            </a:p>
          </p:txBody>
        </p:sp>
      </p:grpSp>
      <p:grpSp>
        <p:nvGrpSpPr>
          <p:cNvPr id="60" name="Group 60"/>
          <p:cNvGrpSpPr/>
          <p:nvPr/>
        </p:nvGrpSpPr>
        <p:grpSpPr>
          <a:xfrm>
            <a:off x="7615523" y="3618071"/>
            <a:ext cx="3511867" cy="1358456"/>
            <a:chOff x="0" y="0"/>
            <a:chExt cx="4682490" cy="1811274"/>
          </a:xfrm>
        </p:grpSpPr>
        <p:sp>
          <p:nvSpPr>
            <p:cNvPr id="61" name="Freeform 61"/>
            <p:cNvSpPr/>
            <p:nvPr/>
          </p:nvSpPr>
          <p:spPr>
            <a:xfrm>
              <a:off x="0" y="0"/>
              <a:ext cx="4682490" cy="1811274"/>
            </a:xfrm>
            <a:custGeom>
              <a:avLst/>
              <a:gdLst/>
              <a:ahLst/>
              <a:cxnLst/>
              <a:rect l="l" t="t" r="r" b="b"/>
              <a:pathLst>
                <a:path w="4682490" h="1811274">
                  <a:moveTo>
                    <a:pt x="0" y="147828"/>
                  </a:moveTo>
                  <a:cubicBezTo>
                    <a:pt x="0" y="66167"/>
                    <a:pt x="66167" y="0"/>
                    <a:pt x="147828" y="0"/>
                  </a:cubicBezTo>
                  <a:lnTo>
                    <a:pt x="4534662" y="0"/>
                  </a:lnTo>
                  <a:cubicBezTo>
                    <a:pt x="4616323" y="0"/>
                    <a:pt x="4682490" y="66167"/>
                    <a:pt x="4682490" y="147828"/>
                  </a:cubicBezTo>
                  <a:lnTo>
                    <a:pt x="4682490" y="1663446"/>
                  </a:lnTo>
                  <a:cubicBezTo>
                    <a:pt x="4682490" y="1745107"/>
                    <a:pt x="4616323" y="1811274"/>
                    <a:pt x="4534662" y="1811274"/>
                  </a:cubicBezTo>
                  <a:lnTo>
                    <a:pt x="147828" y="1811274"/>
                  </a:lnTo>
                  <a:cubicBezTo>
                    <a:pt x="66167" y="1811274"/>
                    <a:pt x="0" y="1745107"/>
                    <a:pt x="0" y="1663446"/>
                  </a:cubicBezTo>
                  <a:close/>
                </a:path>
              </a:pathLst>
            </a:custGeom>
            <a:solidFill>
              <a:srgbClr val="FFFFFF"/>
            </a:solidFill>
            <a:ln w="14288" cap="sq">
              <a:solidFill>
                <a:srgbClr val="9CA3AF"/>
              </a:solidFill>
              <a:prstDash val="solid"/>
              <a:miter/>
            </a:ln>
          </p:spPr>
          <p:txBody>
            <a:bodyPr/>
            <a:lstStyle/>
            <a:p>
              <a:endParaRPr lang="en-US"/>
            </a:p>
          </p:txBody>
        </p:sp>
      </p:grpSp>
      <p:sp>
        <p:nvSpPr>
          <p:cNvPr id="62" name="TextBox 62"/>
          <p:cNvSpPr txBox="1"/>
          <p:nvPr/>
        </p:nvSpPr>
        <p:spPr>
          <a:xfrm>
            <a:off x="7787259" y="3734943"/>
            <a:ext cx="2756916" cy="1282402"/>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Hướng bay tránh vật cản</a:t>
            </a:r>
          </a:p>
          <a:p>
            <a:pPr algn="l">
              <a:lnSpc>
                <a:spcPts val="1800"/>
              </a:lnSpc>
            </a:pPr>
            <a:r>
              <a:rPr lang="en-US" sz="1500" b="1">
                <a:solidFill>
                  <a:srgbClr val="0E7490"/>
                </a:solidFill>
                <a:latin typeface="Bai Jamjuree Bold"/>
                <a:ea typeface="Bai Jamjuree Bold"/>
                <a:cs typeface="Bai Jamjuree Bold"/>
                <a:sym typeface="Bai Jamjuree Bold"/>
              </a:rPr>
              <a:t>I-APF · Xử lý tình huống bị kẹt</a:t>
            </a:r>
          </a:p>
          <a:p>
            <a:pPr algn="l">
              <a:lnSpc>
                <a:spcPts val="1800"/>
              </a:lnSpc>
            </a:pPr>
            <a:endParaRPr lang="en-US" sz="1500" b="1">
              <a:solidFill>
                <a:srgbClr val="0E7490"/>
              </a:solidFill>
              <a:latin typeface="Bai Jamjuree Bold"/>
              <a:ea typeface="Bai Jamjuree Bold"/>
              <a:cs typeface="Bai Jamjuree Bold"/>
              <a:sym typeface="Bai Jamjuree Bold"/>
            </a:endParaRPr>
          </a:p>
        </p:txBody>
      </p:sp>
      <p:grpSp>
        <p:nvGrpSpPr>
          <p:cNvPr id="63" name="Group 63"/>
          <p:cNvGrpSpPr/>
          <p:nvPr/>
        </p:nvGrpSpPr>
        <p:grpSpPr>
          <a:xfrm>
            <a:off x="7615523" y="5099399"/>
            <a:ext cx="3511867" cy="1358456"/>
            <a:chOff x="0" y="0"/>
            <a:chExt cx="4682490" cy="1811274"/>
          </a:xfrm>
        </p:grpSpPr>
        <p:sp>
          <p:nvSpPr>
            <p:cNvPr id="64" name="Freeform 64"/>
            <p:cNvSpPr/>
            <p:nvPr/>
          </p:nvSpPr>
          <p:spPr>
            <a:xfrm>
              <a:off x="0" y="0"/>
              <a:ext cx="4682490" cy="1811274"/>
            </a:xfrm>
            <a:custGeom>
              <a:avLst/>
              <a:gdLst/>
              <a:ahLst/>
              <a:cxnLst/>
              <a:rect l="l" t="t" r="r" b="b"/>
              <a:pathLst>
                <a:path w="4682490" h="1811274">
                  <a:moveTo>
                    <a:pt x="0" y="147828"/>
                  </a:moveTo>
                  <a:cubicBezTo>
                    <a:pt x="0" y="66167"/>
                    <a:pt x="66167" y="0"/>
                    <a:pt x="147828" y="0"/>
                  </a:cubicBezTo>
                  <a:lnTo>
                    <a:pt x="4534662" y="0"/>
                  </a:lnTo>
                  <a:cubicBezTo>
                    <a:pt x="4616323" y="0"/>
                    <a:pt x="4682490" y="66167"/>
                    <a:pt x="4682490" y="147828"/>
                  </a:cubicBezTo>
                  <a:lnTo>
                    <a:pt x="4682490" y="1663446"/>
                  </a:lnTo>
                  <a:cubicBezTo>
                    <a:pt x="4682490" y="1745107"/>
                    <a:pt x="4616323" y="1811274"/>
                    <a:pt x="4534662" y="1811274"/>
                  </a:cubicBezTo>
                  <a:lnTo>
                    <a:pt x="147828" y="1811274"/>
                  </a:lnTo>
                  <a:cubicBezTo>
                    <a:pt x="66167" y="1811274"/>
                    <a:pt x="0" y="1745107"/>
                    <a:pt x="0" y="1663446"/>
                  </a:cubicBezTo>
                  <a:close/>
                </a:path>
              </a:pathLst>
            </a:custGeom>
            <a:solidFill>
              <a:srgbClr val="FFFFFF"/>
            </a:solidFill>
            <a:ln w="14288" cap="sq">
              <a:solidFill>
                <a:srgbClr val="9CA3AF"/>
              </a:solidFill>
              <a:prstDash val="solid"/>
              <a:miter/>
            </a:ln>
          </p:spPr>
          <p:txBody>
            <a:bodyPr/>
            <a:lstStyle/>
            <a:p>
              <a:endParaRPr lang="en-US"/>
            </a:p>
          </p:txBody>
        </p:sp>
      </p:grpSp>
      <p:sp>
        <p:nvSpPr>
          <p:cNvPr id="65" name="TextBox 65"/>
          <p:cNvSpPr txBox="1"/>
          <p:nvPr/>
        </p:nvSpPr>
        <p:spPr>
          <a:xfrm>
            <a:off x="7787259" y="5216271"/>
            <a:ext cx="2756916" cy="1318951"/>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Dẫn đường hạ cánh theo dốc</a:t>
            </a:r>
          </a:p>
          <a:p>
            <a:pPr algn="l">
              <a:lnSpc>
                <a:spcPts val="1800"/>
              </a:lnSpc>
            </a:pPr>
            <a:r>
              <a:rPr lang="en-US" sz="1500" b="1">
                <a:solidFill>
                  <a:srgbClr val="0E7490"/>
                </a:solidFill>
                <a:latin typeface="Bai Jamjuree Bold"/>
                <a:ea typeface="Bai Jamjuree Bold"/>
                <a:cs typeface="Bai Jamjuree Bold"/>
                <a:sym typeface="Bai Jamjuree Bold"/>
              </a:rPr>
              <a:t>SMC · Hạ cánh theo đường chéo</a:t>
            </a:r>
          </a:p>
          <a:p>
            <a:pPr algn="l">
              <a:lnSpc>
                <a:spcPts val="2340"/>
              </a:lnSpc>
            </a:pPr>
            <a:endParaRPr lang="en-US" sz="1500" b="1">
              <a:solidFill>
                <a:srgbClr val="0E7490"/>
              </a:solidFill>
              <a:latin typeface="Bai Jamjuree Bold"/>
              <a:ea typeface="Bai Jamjuree Bold"/>
              <a:cs typeface="Bai Jamjuree Bold"/>
              <a:sym typeface="Bai Jamjuree Bold"/>
            </a:endParaRPr>
          </a:p>
        </p:txBody>
      </p:sp>
      <p:grpSp>
        <p:nvGrpSpPr>
          <p:cNvPr id="66" name="Group 66"/>
          <p:cNvGrpSpPr/>
          <p:nvPr/>
        </p:nvGrpSpPr>
        <p:grpSpPr>
          <a:xfrm>
            <a:off x="7615523" y="6580727"/>
            <a:ext cx="3511867" cy="1235012"/>
            <a:chOff x="0" y="0"/>
            <a:chExt cx="4682490" cy="1646682"/>
          </a:xfrm>
        </p:grpSpPr>
        <p:sp>
          <p:nvSpPr>
            <p:cNvPr id="67" name="Freeform 67"/>
            <p:cNvSpPr/>
            <p:nvPr/>
          </p:nvSpPr>
          <p:spPr>
            <a:xfrm>
              <a:off x="0" y="0"/>
              <a:ext cx="4682490" cy="1646682"/>
            </a:xfrm>
            <a:custGeom>
              <a:avLst/>
              <a:gdLst/>
              <a:ahLst/>
              <a:cxnLst/>
              <a:rect l="l" t="t" r="r" b="b"/>
              <a:pathLst>
                <a:path w="4682490" h="1646682">
                  <a:moveTo>
                    <a:pt x="0" y="148082"/>
                  </a:moveTo>
                  <a:cubicBezTo>
                    <a:pt x="0" y="66294"/>
                    <a:pt x="66294" y="0"/>
                    <a:pt x="148082" y="0"/>
                  </a:cubicBezTo>
                  <a:lnTo>
                    <a:pt x="4534408" y="0"/>
                  </a:lnTo>
                  <a:cubicBezTo>
                    <a:pt x="4616196" y="0"/>
                    <a:pt x="4682490" y="66294"/>
                    <a:pt x="4682490" y="148082"/>
                  </a:cubicBezTo>
                  <a:lnTo>
                    <a:pt x="4682490" y="1498600"/>
                  </a:lnTo>
                  <a:cubicBezTo>
                    <a:pt x="4682490" y="1580388"/>
                    <a:pt x="4616196" y="1646682"/>
                    <a:pt x="4534408" y="1646682"/>
                  </a:cubicBezTo>
                  <a:lnTo>
                    <a:pt x="148082" y="1646682"/>
                  </a:lnTo>
                  <a:cubicBezTo>
                    <a:pt x="66294" y="1646682"/>
                    <a:pt x="0" y="1580388"/>
                    <a:pt x="0" y="1498600"/>
                  </a:cubicBezTo>
                  <a:close/>
                </a:path>
              </a:pathLst>
            </a:custGeom>
            <a:solidFill>
              <a:srgbClr val="FFFFFF"/>
            </a:solidFill>
            <a:ln w="14288" cap="sq">
              <a:solidFill>
                <a:srgbClr val="9CA3AF"/>
              </a:solidFill>
              <a:prstDash val="solid"/>
              <a:miter/>
            </a:ln>
          </p:spPr>
          <p:txBody>
            <a:bodyPr/>
            <a:lstStyle/>
            <a:p>
              <a:endParaRPr lang="en-US"/>
            </a:p>
          </p:txBody>
        </p:sp>
      </p:grpSp>
      <p:sp>
        <p:nvSpPr>
          <p:cNvPr id="68" name="TextBox 68"/>
          <p:cNvSpPr txBox="1"/>
          <p:nvPr/>
        </p:nvSpPr>
        <p:spPr>
          <a:xfrm>
            <a:off x="7787259" y="6697599"/>
            <a:ext cx="2756916" cy="981075"/>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Cấp phép hạ cánh</a:t>
            </a:r>
          </a:p>
          <a:p>
            <a:pPr algn="l">
              <a:lnSpc>
                <a:spcPts val="1800"/>
              </a:lnSpc>
            </a:pPr>
            <a:r>
              <a:rPr lang="en-US" sz="1500" b="1">
                <a:solidFill>
                  <a:srgbClr val="0E7490"/>
                </a:solidFill>
                <a:latin typeface="Bai Jamjuree Bold"/>
                <a:ea typeface="Bai Jamjuree Bold"/>
                <a:cs typeface="Bai Jamjuree Bold"/>
                <a:sym typeface="Bai Jamjuree Bold"/>
              </a:rPr>
              <a:t>Covariance Gate · Đủ tin cậy mới hạ</a:t>
            </a:r>
          </a:p>
          <a:p>
            <a:pPr algn="l">
              <a:lnSpc>
                <a:spcPts val="1800"/>
              </a:lnSpc>
            </a:pPr>
            <a:endParaRPr lang="en-US" sz="1500" b="1">
              <a:solidFill>
                <a:srgbClr val="0E7490"/>
              </a:solidFill>
              <a:latin typeface="Bai Jamjuree Bold"/>
              <a:ea typeface="Bai Jamjuree Bold"/>
              <a:cs typeface="Bai Jamjuree Bold"/>
              <a:sym typeface="Bai Jamjuree Bold"/>
            </a:endParaRPr>
          </a:p>
        </p:txBody>
      </p:sp>
      <p:grpSp>
        <p:nvGrpSpPr>
          <p:cNvPr id="69" name="Group 69"/>
          <p:cNvGrpSpPr/>
          <p:nvPr/>
        </p:nvGrpSpPr>
        <p:grpSpPr>
          <a:xfrm>
            <a:off x="11600307" y="3007995"/>
            <a:ext cx="2331720" cy="4937760"/>
            <a:chOff x="0" y="0"/>
            <a:chExt cx="3108960" cy="6583680"/>
          </a:xfrm>
        </p:grpSpPr>
        <p:sp>
          <p:nvSpPr>
            <p:cNvPr id="70" name="Freeform 70"/>
            <p:cNvSpPr/>
            <p:nvPr/>
          </p:nvSpPr>
          <p:spPr>
            <a:xfrm>
              <a:off x="0" y="0"/>
              <a:ext cx="3108960" cy="6583680"/>
            </a:xfrm>
            <a:custGeom>
              <a:avLst/>
              <a:gdLst/>
              <a:ahLst/>
              <a:cxnLst/>
              <a:rect l="l" t="t" r="r" b="b"/>
              <a:pathLst>
                <a:path w="3108960" h="6583680">
                  <a:moveTo>
                    <a:pt x="0" y="182880"/>
                  </a:moveTo>
                  <a:cubicBezTo>
                    <a:pt x="0" y="81915"/>
                    <a:pt x="81915" y="0"/>
                    <a:pt x="182880" y="0"/>
                  </a:cubicBezTo>
                  <a:lnTo>
                    <a:pt x="2926080" y="0"/>
                  </a:lnTo>
                  <a:cubicBezTo>
                    <a:pt x="3027045" y="0"/>
                    <a:pt x="3108960" y="81915"/>
                    <a:pt x="3108960" y="182880"/>
                  </a:cubicBezTo>
                  <a:lnTo>
                    <a:pt x="3108960" y="6400800"/>
                  </a:lnTo>
                  <a:cubicBezTo>
                    <a:pt x="3108960" y="6501765"/>
                    <a:pt x="3027045" y="6583680"/>
                    <a:pt x="2926080" y="6583680"/>
                  </a:cubicBezTo>
                  <a:lnTo>
                    <a:pt x="182880" y="6583680"/>
                  </a:lnTo>
                  <a:cubicBezTo>
                    <a:pt x="81915" y="6583680"/>
                    <a:pt x="0" y="6501765"/>
                    <a:pt x="0" y="6400800"/>
                  </a:cubicBezTo>
                  <a:close/>
                </a:path>
              </a:pathLst>
            </a:custGeom>
            <a:solidFill>
              <a:srgbClr val="F3F4F6"/>
            </a:solidFill>
          </p:spPr>
          <p:txBody>
            <a:bodyPr/>
            <a:lstStyle/>
            <a:p>
              <a:endParaRPr lang="en-US"/>
            </a:p>
          </p:txBody>
        </p:sp>
      </p:grpSp>
      <p:grpSp>
        <p:nvGrpSpPr>
          <p:cNvPr id="71" name="Group 71"/>
          <p:cNvGrpSpPr/>
          <p:nvPr/>
        </p:nvGrpSpPr>
        <p:grpSpPr>
          <a:xfrm>
            <a:off x="11764899" y="3090291"/>
            <a:ext cx="2002536" cy="412356"/>
            <a:chOff x="0" y="0"/>
            <a:chExt cx="2670048" cy="549808"/>
          </a:xfrm>
        </p:grpSpPr>
        <p:sp>
          <p:nvSpPr>
            <p:cNvPr id="72" name="Freeform 72"/>
            <p:cNvSpPr/>
            <p:nvPr/>
          </p:nvSpPr>
          <p:spPr>
            <a:xfrm>
              <a:off x="0" y="0"/>
              <a:ext cx="2670048" cy="549808"/>
            </a:xfrm>
            <a:custGeom>
              <a:avLst/>
              <a:gdLst/>
              <a:ahLst/>
              <a:cxnLst/>
              <a:rect l="l" t="t" r="r" b="b"/>
              <a:pathLst>
                <a:path w="2670048" h="549808">
                  <a:moveTo>
                    <a:pt x="0" y="0"/>
                  </a:moveTo>
                  <a:lnTo>
                    <a:pt x="2670048" y="0"/>
                  </a:lnTo>
                  <a:lnTo>
                    <a:pt x="2670048" y="549808"/>
                  </a:lnTo>
                  <a:lnTo>
                    <a:pt x="0" y="549808"/>
                  </a:lnTo>
                  <a:close/>
                </a:path>
              </a:pathLst>
            </a:custGeom>
            <a:blipFill>
              <a:blip r:embed="rId3">
                <a:alphaModFix amt="0"/>
              </a:blip>
              <a:stretch>
                <a:fillRect t="-44731" b="-44519"/>
              </a:stretch>
            </a:blipFill>
          </p:spPr>
          <p:txBody>
            <a:bodyPr/>
            <a:lstStyle/>
            <a:p>
              <a:endParaRPr lang="en-US"/>
            </a:p>
          </p:txBody>
        </p:sp>
        <p:sp>
          <p:nvSpPr>
            <p:cNvPr id="73" name="TextBox 73"/>
            <p:cNvSpPr txBox="1"/>
            <p:nvPr/>
          </p:nvSpPr>
          <p:spPr>
            <a:xfrm>
              <a:off x="0" y="9525"/>
              <a:ext cx="2670048" cy="540283"/>
            </a:xfrm>
            <a:prstGeom prst="rect">
              <a:avLst/>
            </a:prstGeom>
          </p:spPr>
          <p:txBody>
            <a:bodyPr lIns="0" tIns="0" rIns="0" bIns="0" rtlCol="0" anchor="ctr"/>
            <a:lstStyle/>
            <a:p>
              <a:pPr algn="l">
                <a:lnSpc>
                  <a:spcPts val="1980"/>
                </a:lnSpc>
              </a:pPr>
              <a:r>
                <a:rPr lang="en-US" sz="1650" b="1">
                  <a:solidFill>
                    <a:srgbClr val="E0303A"/>
                  </a:solidFill>
                  <a:latin typeface="Bai Jamjuree Bold"/>
                  <a:ea typeface="Bai Jamjuree Bold"/>
                  <a:cs typeface="Bai Jamjuree Bold"/>
                  <a:sym typeface="Bai Jamjuree Bold"/>
                </a:rPr>
                <a:t>ĐIỀU PHỐI</a:t>
              </a:r>
            </a:p>
          </p:txBody>
        </p:sp>
      </p:grpSp>
      <p:grpSp>
        <p:nvGrpSpPr>
          <p:cNvPr id="74" name="Group 74"/>
          <p:cNvGrpSpPr/>
          <p:nvPr/>
        </p:nvGrpSpPr>
        <p:grpSpPr>
          <a:xfrm>
            <a:off x="11730323" y="3618071"/>
            <a:ext cx="2071688" cy="4197668"/>
            <a:chOff x="0" y="0"/>
            <a:chExt cx="2762250" cy="5596890"/>
          </a:xfrm>
        </p:grpSpPr>
        <p:sp>
          <p:nvSpPr>
            <p:cNvPr id="75" name="Freeform 75"/>
            <p:cNvSpPr/>
            <p:nvPr/>
          </p:nvSpPr>
          <p:spPr>
            <a:xfrm>
              <a:off x="0" y="0"/>
              <a:ext cx="2762250" cy="5596890"/>
            </a:xfrm>
            <a:custGeom>
              <a:avLst/>
              <a:gdLst/>
              <a:ahLst/>
              <a:cxnLst/>
              <a:rect l="l" t="t" r="r" b="b"/>
              <a:pathLst>
                <a:path w="2762250" h="5596890">
                  <a:moveTo>
                    <a:pt x="0" y="147320"/>
                  </a:moveTo>
                  <a:cubicBezTo>
                    <a:pt x="0" y="65913"/>
                    <a:pt x="65913" y="0"/>
                    <a:pt x="147320" y="0"/>
                  </a:cubicBezTo>
                  <a:lnTo>
                    <a:pt x="2614930" y="0"/>
                  </a:lnTo>
                  <a:cubicBezTo>
                    <a:pt x="2696337" y="0"/>
                    <a:pt x="2762250" y="65913"/>
                    <a:pt x="2762250" y="147320"/>
                  </a:cubicBezTo>
                  <a:lnTo>
                    <a:pt x="2762250" y="5449570"/>
                  </a:lnTo>
                  <a:cubicBezTo>
                    <a:pt x="2762250" y="5530977"/>
                    <a:pt x="2696337" y="5596890"/>
                    <a:pt x="2614930" y="5596890"/>
                  </a:cubicBezTo>
                  <a:lnTo>
                    <a:pt x="147320" y="5596890"/>
                  </a:lnTo>
                  <a:cubicBezTo>
                    <a:pt x="65913" y="5596890"/>
                    <a:pt x="0" y="5530977"/>
                    <a:pt x="0" y="5449570"/>
                  </a:cubicBezTo>
                  <a:close/>
                </a:path>
              </a:pathLst>
            </a:custGeom>
            <a:solidFill>
              <a:srgbClr val="FFFFFF"/>
            </a:solidFill>
            <a:ln w="14288" cap="sq">
              <a:solidFill>
                <a:srgbClr val="9CA3AF"/>
              </a:solidFill>
              <a:prstDash val="solid"/>
              <a:miter/>
            </a:ln>
          </p:spPr>
          <p:txBody>
            <a:bodyPr/>
            <a:lstStyle/>
            <a:p>
              <a:endParaRPr lang="en-US"/>
            </a:p>
          </p:txBody>
        </p:sp>
      </p:grpSp>
      <p:sp>
        <p:nvSpPr>
          <p:cNvPr id="76" name="TextBox 76"/>
          <p:cNvSpPr txBox="1"/>
          <p:nvPr/>
        </p:nvSpPr>
        <p:spPr>
          <a:xfrm>
            <a:off x="11902059" y="3734943"/>
            <a:ext cx="1728216" cy="1809750"/>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Điều phối nhiệm vụ</a:t>
            </a:r>
          </a:p>
          <a:p>
            <a:pPr algn="l">
              <a:lnSpc>
                <a:spcPts val="1800"/>
              </a:lnSpc>
            </a:pPr>
            <a:r>
              <a:rPr lang="en-US" sz="1500" b="1">
                <a:solidFill>
                  <a:srgbClr val="0E7490"/>
                </a:solidFill>
                <a:latin typeface="Bai Jamjuree Bold"/>
                <a:ea typeface="Bai Jamjuree Bold"/>
                <a:cs typeface="Bai Jamjuree Bold"/>
                <a:sym typeface="Bai Jamjuree Bold"/>
              </a:rPr>
              <a:t>FSM</a:t>
            </a:r>
          </a:p>
          <a:p>
            <a:pPr algn="l">
              <a:lnSpc>
                <a:spcPts val="1980"/>
              </a:lnSpc>
            </a:pPr>
            <a:r>
              <a:rPr lang="en-US" sz="1650">
                <a:solidFill>
                  <a:srgbClr val="4B5563"/>
                </a:solidFill>
                <a:latin typeface="Bai Jamjuree"/>
                <a:ea typeface="Bai Jamjuree"/>
                <a:cs typeface="Bai Jamjuree"/>
                <a:sym typeface="Bai Jamjuree"/>
              </a:rPr>
              <a:t>Chọn lệnh bay theo từng giai đoạn và gửi sang bộ điều khiển bay</a:t>
            </a:r>
          </a:p>
        </p:txBody>
      </p:sp>
      <p:grpSp>
        <p:nvGrpSpPr>
          <p:cNvPr id="77" name="Group 77"/>
          <p:cNvGrpSpPr/>
          <p:nvPr/>
        </p:nvGrpSpPr>
        <p:grpSpPr>
          <a:xfrm>
            <a:off x="14274927" y="3007995"/>
            <a:ext cx="3195828" cy="4937760"/>
            <a:chOff x="0" y="0"/>
            <a:chExt cx="4261104" cy="6583680"/>
          </a:xfrm>
        </p:grpSpPr>
        <p:sp>
          <p:nvSpPr>
            <p:cNvPr id="78" name="Freeform 78"/>
            <p:cNvSpPr/>
            <p:nvPr/>
          </p:nvSpPr>
          <p:spPr>
            <a:xfrm>
              <a:off x="0" y="0"/>
              <a:ext cx="4261104" cy="6583680"/>
            </a:xfrm>
            <a:custGeom>
              <a:avLst/>
              <a:gdLst/>
              <a:ahLst/>
              <a:cxnLst/>
              <a:rect l="l" t="t" r="r" b="b"/>
              <a:pathLst>
                <a:path w="4261104" h="6583680">
                  <a:moveTo>
                    <a:pt x="0" y="182880"/>
                  </a:moveTo>
                  <a:cubicBezTo>
                    <a:pt x="0" y="81915"/>
                    <a:pt x="81915" y="0"/>
                    <a:pt x="182880" y="0"/>
                  </a:cubicBezTo>
                  <a:lnTo>
                    <a:pt x="4078224" y="0"/>
                  </a:lnTo>
                  <a:cubicBezTo>
                    <a:pt x="4179189" y="0"/>
                    <a:pt x="4261104" y="81915"/>
                    <a:pt x="4261104" y="182880"/>
                  </a:cubicBezTo>
                  <a:lnTo>
                    <a:pt x="4261104" y="6400800"/>
                  </a:lnTo>
                  <a:cubicBezTo>
                    <a:pt x="4261104" y="6501765"/>
                    <a:pt x="4179189" y="6583680"/>
                    <a:pt x="4078224" y="6583680"/>
                  </a:cubicBezTo>
                  <a:lnTo>
                    <a:pt x="182880" y="6583680"/>
                  </a:lnTo>
                  <a:cubicBezTo>
                    <a:pt x="81915" y="6583680"/>
                    <a:pt x="0" y="6501765"/>
                    <a:pt x="0" y="6400800"/>
                  </a:cubicBezTo>
                  <a:close/>
                </a:path>
              </a:pathLst>
            </a:custGeom>
            <a:solidFill>
              <a:srgbClr val="F3F4F6"/>
            </a:solidFill>
          </p:spPr>
          <p:txBody>
            <a:bodyPr/>
            <a:lstStyle/>
            <a:p>
              <a:endParaRPr lang="en-US"/>
            </a:p>
          </p:txBody>
        </p:sp>
      </p:grpSp>
      <p:grpSp>
        <p:nvGrpSpPr>
          <p:cNvPr id="79" name="Group 79"/>
          <p:cNvGrpSpPr/>
          <p:nvPr/>
        </p:nvGrpSpPr>
        <p:grpSpPr>
          <a:xfrm>
            <a:off x="14439519" y="3090291"/>
            <a:ext cx="2866644" cy="412356"/>
            <a:chOff x="0" y="0"/>
            <a:chExt cx="3822192" cy="549808"/>
          </a:xfrm>
        </p:grpSpPr>
        <p:sp>
          <p:nvSpPr>
            <p:cNvPr id="80" name="Freeform 80"/>
            <p:cNvSpPr/>
            <p:nvPr/>
          </p:nvSpPr>
          <p:spPr>
            <a:xfrm>
              <a:off x="0" y="0"/>
              <a:ext cx="3822192" cy="549808"/>
            </a:xfrm>
            <a:custGeom>
              <a:avLst/>
              <a:gdLst/>
              <a:ahLst/>
              <a:cxnLst/>
              <a:rect l="l" t="t" r="r" b="b"/>
              <a:pathLst>
                <a:path w="3822192" h="549808">
                  <a:moveTo>
                    <a:pt x="0" y="0"/>
                  </a:moveTo>
                  <a:lnTo>
                    <a:pt x="3822192" y="0"/>
                  </a:lnTo>
                  <a:lnTo>
                    <a:pt x="3822192" y="549808"/>
                  </a:lnTo>
                  <a:lnTo>
                    <a:pt x="0" y="549808"/>
                  </a:lnTo>
                  <a:close/>
                </a:path>
              </a:pathLst>
            </a:custGeom>
            <a:blipFill>
              <a:blip r:embed="rId3">
                <a:alphaModFix amt="0"/>
              </a:blip>
              <a:stretch>
                <a:fillRect t="-85563" b="-85351"/>
              </a:stretch>
            </a:blipFill>
          </p:spPr>
          <p:txBody>
            <a:bodyPr/>
            <a:lstStyle/>
            <a:p>
              <a:endParaRPr lang="en-US"/>
            </a:p>
          </p:txBody>
        </p:sp>
        <p:sp>
          <p:nvSpPr>
            <p:cNvPr id="81" name="TextBox 81"/>
            <p:cNvSpPr txBox="1"/>
            <p:nvPr/>
          </p:nvSpPr>
          <p:spPr>
            <a:xfrm>
              <a:off x="0" y="9525"/>
              <a:ext cx="3822192" cy="540283"/>
            </a:xfrm>
            <a:prstGeom prst="rect">
              <a:avLst/>
            </a:prstGeom>
          </p:spPr>
          <p:txBody>
            <a:bodyPr lIns="0" tIns="0" rIns="0" bIns="0" rtlCol="0" anchor="ctr"/>
            <a:lstStyle/>
            <a:p>
              <a:pPr algn="l">
                <a:lnSpc>
                  <a:spcPts val="1980"/>
                </a:lnSpc>
              </a:pPr>
              <a:r>
                <a:rPr lang="en-US" sz="1650" b="1">
                  <a:solidFill>
                    <a:srgbClr val="E0303A"/>
                  </a:solidFill>
                  <a:latin typeface="Bai Jamjuree Bold"/>
                  <a:ea typeface="Bai Jamjuree Bold"/>
                  <a:cs typeface="Bai Jamjuree Bold"/>
                  <a:sym typeface="Bai Jamjuree Bold"/>
                </a:rPr>
                <a:t>THỰC THI</a:t>
              </a:r>
            </a:p>
          </p:txBody>
        </p:sp>
      </p:grpSp>
      <p:grpSp>
        <p:nvGrpSpPr>
          <p:cNvPr id="82" name="Group 82"/>
          <p:cNvGrpSpPr/>
          <p:nvPr/>
        </p:nvGrpSpPr>
        <p:grpSpPr>
          <a:xfrm>
            <a:off x="14404943" y="3618071"/>
            <a:ext cx="2935796" cy="2071688"/>
            <a:chOff x="0" y="0"/>
            <a:chExt cx="3914394" cy="2762250"/>
          </a:xfrm>
        </p:grpSpPr>
        <p:sp>
          <p:nvSpPr>
            <p:cNvPr id="83" name="Freeform 83"/>
            <p:cNvSpPr/>
            <p:nvPr/>
          </p:nvSpPr>
          <p:spPr>
            <a:xfrm>
              <a:off x="0" y="0"/>
              <a:ext cx="3914394" cy="2762250"/>
            </a:xfrm>
            <a:custGeom>
              <a:avLst/>
              <a:gdLst/>
              <a:ahLst/>
              <a:cxnLst/>
              <a:rect l="l" t="t" r="r" b="b"/>
              <a:pathLst>
                <a:path w="3914394" h="2762250">
                  <a:moveTo>
                    <a:pt x="0" y="147320"/>
                  </a:moveTo>
                  <a:cubicBezTo>
                    <a:pt x="0" y="65913"/>
                    <a:pt x="65913" y="0"/>
                    <a:pt x="147320" y="0"/>
                  </a:cubicBezTo>
                  <a:lnTo>
                    <a:pt x="3767074" y="0"/>
                  </a:lnTo>
                  <a:cubicBezTo>
                    <a:pt x="3848481" y="0"/>
                    <a:pt x="3914394" y="65913"/>
                    <a:pt x="3914394" y="147320"/>
                  </a:cubicBezTo>
                  <a:lnTo>
                    <a:pt x="3914394" y="2614930"/>
                  </a:lnTo>
                  <a:cubicBezTo>
                    <a:pt x="3914394" y="2696337"/>
                    <a:pt x="3848481" y="2762250"/>
                    <a:pt x="3767074" y="2762250"/>
                  </a:cubicBezTo>
                  <a:lnTo>
                    <a:pt x="147320" y="2762250"/>
                  </a:lnTo>
                  <a:cubicBezTo>
                    <a:pt x="65913" y="2762250"/>
                    <a:pt x="0" y="2696337"/>
                    <a:pt x="0" y="2614930"/>
                  </a:cubicBezTo>
                  <a:close/>
                </a:path>
              </a:pathLst>
            </a:custGeom>
            <a:solidFill>
              <a:srgbClr val="FFFFFF"/>
            </a:solidFill>
            <a:ln w="14288" cap="sq">
              <a:solidFill>
                <a:srgbClr val="9CA3AF"/>
              </a:solidFill>
              <a:prstDash val="solid"/>
              <a:miter/>
            </a:ln>
          </p:spPr>
          <p:txBody>
            <a:bodyPr/>
            <a:lstStyle/>
            <a:p>
              <a:endParaRPr lang="en-US"/>
            </a:p>
          </p:txBody>
        </p:sp>
      </p:grpSp>
      <p:sp>
        <p:nvSpPr>
          <p:cNvPr id="84" name="TextBox 84"/>
          <p:cNvSpPr txBox="1"/>
          <p:nvPr/>
        </p:nvSpPr>
        <p:spPr>
          <a:xfrm>
            <a:off x="14576679" y="3734943"/>
            <a:ext cx="2592324" cy="1019175"/>
          </a:xfrm>
          <a:prstGeom prst="rect">
            <a:avLst/>
          </a:prstGeom>
        </p:spPr>
        <p:txBody>
          <a:bodyPr lIns="0" tIns="0" rIns="0" bIns="0" rtlCol="0" anchor="t">
            <a:spAutoFit/>
          </a:bodyPr>
          <a:lstStyle/>
          <a:p>
            <a:pPr algn="l">
              <a:lnSpc>
                <a:spcPts val="2340"/>
              </a:lnSpc>
            </a:pPr>
            <a:r>
              <a:rPr lang="en-US" sz="1950" b="1">
                <a:solidFill>
                  <a:srgbClr val="1F2937"/>
                </a:solidFill>
                <a:latin typeface="Bai Jamjuree Bold"/>
                <a:ea typeface="Bai Jamjuree Bold"/>
                <a:cs typeface="Bai Jamjuree Bold"/>
                <a:sym typeface="Bai Jamjuree Bold"/>
              </a:rPr>
              <a:t>Bộ điều khiển bay</a:t>
            </a:r>
          </a:p>
          <a:p>
            <a:pPr algn="l">
              <a:lnSpc>
                <a:spcPts val="1800"/>
              </a:lnSpc>
            </a:pPr>
            <a:r>
              <a:rPr lang="en-US" sz="1500" b="1">
                <a:solidFill>
                  <a:srgbClr val="0E7490"/>
                </a:solidFill>
                <a:latin typeface="Bai Jamjuree Bold"/>
                <a:ea typeface="Bai Jamjuree Bold"/>
                <a:cs typeface="Bai Jamjuree Bold"/>
                <a:sym typeface="Bai Jamjuree Bold"/>
              </a:rPr>
              <a:t>PX4 · Pixhawk 6C</a:t>
            </a:r>
          </a:p>
          <a:p>
            <a:pPr algn="l">
              <a:lnSpc>
                <a:spcPts val="1980"/>
              </a:lnSpc>
            </a:pPr>
            <a:r>
              <a:rPr lang="en-US" sz="1650">
                <a:solidFill>
                  <a:srgbClr val="4B5563"/>
                </a:solidFill>
                <a:latin typeface="Bai Jamjuree"/>
                <a:ea typeface="Bai Jamjuree"/>
                <a:cs typeface="Bai Jamjuree"/>
                <a:sym typeface="Bai Jamjuree"/>
              </a:rPr>
              <a:t>Biến lệnh thành chuyển động 4 cánh quạt</a:t>
            </a:r>
          </a:p>
        </p:txBody>
      </p:sp>
      <p:grpSp>
        <p:nvGrpSpPr>
          <p:cNvPr id="85" name="Group 85"/>
          <p:cNvGrpSpPr/>
          <p:nvPr/>
        </p:nvGrpSpPr>
        <p:grpSpPr>
          <a:xfrm>
            <a:off x="14404943" y="6018371"/>
            <a:ext cx="2935796" cy="1797367"/>
            <a:chOff x="0" y="0"/>
            <a:chExt cx="3914394" cy="2396490"/>
          </a:xfrm>
        </p:grpSpPr>
        <p:sp>
          <p:nvSpPr>
            <p:cNvPr id="86" name="Freeform 86"/>
            <p:cNvSpPr/>
            <p:nvPr/>
          </p:nvSpPr>
          <p:spPr>
            <a:xfrm>
              <a:off x="0" y="0"/>
              <a:ext cx="3914394" cy="2396490"/>
            </a:xfrm>
            <a:custGeom>
              <a:avLst/>
              <a:gdLst/>
              <a:ahLst/>
              <a:cxnLst/>
              <a:rect l="l" t="t" r="r" b="b"/>
              <a:pathLst>
                <a:path w="3914394" h="2396490">
                  <a:moveTo>
                    <a:pt x="0" y="147447"/>
                  </a:moveTo>
                  <a:cubicBezTo>
                    <a:pt x="0" y="66040"/>
                    <a:pt x="66040" y="0"/>
                    <a:pt x="147447" y="0"/>
                  </a:cubicBezTo>
                  <a:lnTo>
                    <a:pt x="3766947" y="0"/>
                  </a:lnTo>
                  <a:cubicBezTo>
                    <a:pt x="3848354" y="0"/>
                    <a:pt x="3914394" y="66040"/>
                    <a:pt x="3914394" y="147447"/>
                  </a:cubicBezTo>
                  <a:lnTo>
                    <a:pt x="3914394" y="2249043"/>
                  </a:lnTo>
                  <a:cubicBezTo>
                    <a:pt x="3914394" y="2330450"/>
                    <a:pt x="3848354" y="2396490"/>
                    <a:pt x="3766947" y="2396490"/>
                  </a:cubicBezTo>
                  <a:lnTo>
                    <a:pt x="147447" y="2396490"/>
                  </a:lnTo>
                  <a:cubicBezTo>
                    <a:pt x="66040" y="2396490"/>
                    <a:pt x="0" y="2330450"/>
                    <a:pt x="0" y="2249043"/>
                  </a:cubicBezTo>
                  <a:close/>
                </a:path>
              </a:pathLst>
            </a:custGeom>
            <a:solidFill>
              <a:srgbClr val="FFFFFF"/>
            </a:solidFill>
            <a:ln w="14288" cap="sq">
              <a:solidFill>
                <a:srgbClr val="9CA3AF"/>
              </a:solidFill>
              <a:prstDash val="solid"/>
              <a:miter/>
            </a:ln>
          </p:spPr>
          <p:txBody>
            <a:bodyPr/>
            <a:lstStyle/>
            <a:p>
              <a:endParaRPr lang="en-US"/>
            </a:p>
          </p:txBody>
        </p:sp>
      </p:grpSp>
      <p:sp>
        <p:nvSpPr>
          <p:cNvPr id="87" name="AutoShape 87"/>
          <p:cNvSpPr/>
          <p:nvPr/>
        </p:nvSpPr>
        <p:spPr>
          <a:xfrm>
            <a:off x="15442313" y="6445374"/>
            <a:ext cx="861055" cy="38106"/>
          </a:xfrm>
          <a:prstGeom prst="line">
            <a:avLst/>
          </a:prstGeom>
          <a:ln w="19050" cap="rnd">
            <a:solidFill>
              <a:srgbClr val="1F2937"/>
            </a:solidFill>
            <a:prstDash val="solid"/>
            <a:headEnd type="none" w="sm" len="sm"/>
            <a:tailEnd type="none" w="sm" len="sm"/>
          </a:ln>
        </p:spPr>
        <p:txBody>
          <a:bodyPr/>
          <a:lstStyle/>
          <a:p>
            <a:endParaRPr lang="en-US"/>
          </a:p>
        </p:txBody>
      </p:sp>
      <p:grpSp>
        <p:nvGrpSpPr>
          <p:cNvPr id="88" name="Group 88"/>
          <p:cNvGrpSpPr/>
          <p:nvPr/>
        </p:nvGrpSpPr>
        <p:grpSpPr>
          <a:xfrm>
            <a:off x="15292006" y="6329362"/>
            <a:ext cx="338709" cy="78105"/>
            <a:chOff x="0" y="0"/>
            <a:chExt cx="451612" cy="104140"/>
          </a:xfrm>
        </p:grpSpPr>
        <p:sp>
          <p:nvSpPr>
            <p:cNvPr id="89" name="Freeform 89"/>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90" name="Group 90"/>
          <p:cNvGrpSpPr/>
          <p:nvPr/>
        </p:nvGrpSpPr>
        <p:grpSpPr>
          <a:xfrm>
            <a:off x="16114966" y="6329362"/>
            <a:ext cx="338709" cy="78105"/>
            <a:chOff x="0" y="0"/>
            <a:chExt cx="451612" cy="104140"/>
          </a:xfrm>
        </p:grpSpPr>
        <p:sp>
          <p:nvSpPr>
            <p:cNvPr id="91" name="Freeform 91"/>
            <p:cNvSpPr/>
            <p:nvPr/>
          </p:nvSpPr>
          <p:spPr>
            <a:xfrm>
              <a:off x="0" y="0"/>
              <a:ext cx="451612" cy="104140"/>
            </a:xfrm>
            <a:custGeom>
              <a:avLst/>
              <a:gdLst/>
              <a:ahLst/>
              <a:cxnLst/>
              <a:rect l="l" t="t" r="r" b="b"/>
              <a:pathLst>
                <a:path w="451612" h="104140">
                  <a:moveTo>
                    <a:pt x="0" y="52070"/>
                  </a:moveTo>
                  <a:cubicBezTo>
                    <a:pt x="0" y="23368"/>
                    <a:pt x="101092" y="0"/>
                    <a:pt x="225806" y="0"/>
                  </a:cubicBezTo>
                  <a:cubicBezTo>
                    <a:pt x="350520" y="0"/>
                    <a:pt x="451612" y="23368"/>
                    <a:pt x="451612" y="52070"/>
                  </a:cubicBezTo>
                  <a:cubicBezTo>
                    <a:pt x="451612" y="80772"/>
                    <a:pt x="350520" y="104140"/>
                    <a:pt x="225806" y="104140"/>
                  </a:cubicBezTo>
                  <a:cubicBezTo>
                    <a:pt x="101092" y="104140"/>
                    <a:pt x="0" y="80772"/>
                    <a:pt x="0" y="52070"/>
                  </a:cubicBezTo>
                  <a:close/>
                </a:path>
              </a:pathLst>
            </a:custGeom>
            <a:solidFill>
              <a:srgbClr val="4B5563"/>
            </a:solidFill>
            <a:ln w="9525" cap="sq">
              <a:solidFill>
                <a:srgbClr val="4B5563"/>
              </a:solidFill>
              <a:prstDash val="solid"/>
              <a:miter/>
            </a:ln>
          </p:spPr>
          <p:txBody>
            <a:bodyPr/>
            <a:lstStyle/>
            <a:p>
              <a:endParaRPr lang="en-US"/>
            </a:p>
          </p:txBody>
        </p:sp>
      </p:grpSp>
      <p:grpSp>
        <p:nvGrpSpPr>
          <p:cNvPr id="92" name="Group 92"/>
          <p:cNvGrpSpPr/>
          <p:nvPr/>
        </p:nvGrpSpPr>
        <p:grpSpPr>
          <a:xfrm>
            <a:off x="15721965" y="6395847"/>
            <a:ext cx="301752" cy="164592"/>
            <a:chOff x="0" y="0"/>
            <a:chExt cx="402336" cy="219456"/>
          </a:xfrm>
        </p:grpSpPr>
        <p:sp>
          <p:nvSpPr>
            <p:cNvPr id="93" name="Freeform 93"/>
            <p:cNvSpPr/>
            <p:nvPr/>
          </p:nvSpPr>
          <p:spPr>
            <a:xfrm>
              <a:off x="0" y="0"/>
              <a:ext cx="402336" cy="219456"/>
            </a:xfrm>
            <a:custGeom>
              <a:avLst/>
              <a:gdLst/>
              <a:ahLst/>
              <a:cxnLst/>
              <a:rect l="l" t="t" r="r" b="b"/>
              <a:pathLst>
                <a:path w="402336" h="219456">
                  <a:moveTo>
                    <a:pt x="0" y="54864"/>
                  </a:moveTo>
                  <a:cubicBezTo>
                    <a:pt x="0" y="24511"/>
                    <a:pt x="24511" y="0"/>
                    <a:pt x="54864" y="0"/>
                  </a:cubicBezTo>
                  <a:lnTo>
                    <a:pt x="347472" y="0"/>
                  </a:lnTo>
                  <a:cubicBezTo>
                    <a:pt x="377825" y="0"/>
                    <a:pt x="402336" y="24511"/>
                    <a:pt x="402336" y="54864"/>
                  </a:cubicBezTo>
                  <a:lnTo>
                    <a:pt x="402336" y="164592"/>
                  </a:lnTo>
                  <a:cubicBezTo>
                    <a:pt x="402336" y="194945"/>
                    <a:pt x="377825" y="219456"/>
                    <a:pt x="347472" y="219456"/>
                  </a:cubicBezTo>
                  <a:lnTo>
                    <a:pt x="54864" y="219456"/>
                  </a:lnTo>
                  <a:cubicBezTo>
                    <a:pt x="24511" y="219456"/>
                    <a:pt x="0" y="194945"/>
                    <a:pt x="0" y="164592"/>
                  </a:cubicBezTo>
                  <a:close/>
                </a:path>
              </a:pathLst>
            </a:custGeom>
            <a:solidFill>
              <a:srgbClr val="1F2937"/>
            </a:solidFill>
          </p:spPr>
          <p:txBody>
            <a:bodyPr/>
            <a:lstStyle/>
            <a:p>
              <a:endParaRPr lang="en-US"/>
            </a:p>
          </p:txBody>
        </p:sp>
      </p:grpSp>
      <p:sp>
        <p:nvSpPr>
          <p:cNvPr id="94" name="AutoShape 94"/>
          <p:cNvSpPr/>
          <p:nvPr/>
        </p:nvSpPr>
        <p:spPr>
          <a:xfrm>
            <a:off x="15872841" y="6560439"/>
            <a:ext cx="0" cy="416835"/>
          </a:xfrm>
          <a:prstGeom prst="line">
            <a:avLst/>
          </a:prstGeom>
          <a:ln w="19050" cap="rnd">
            <a:solidFill>
              <a:srgbClr val="E0303A"/>
            </a:solidFill>
            <a:prstDash val="solid"/>
            <a:headEnd type="none" w="sm" len="sm"/>
            <a:tailEnd type="triangle" w="lg" len="med"/>
          </a:ln>
        </p:spPr>
        <p:txBody>
          <a:bodyPr/>
          <a:lstStyle/>
          <a:p>
            <a:endParaRPr lang="en-US"/>
          </a:p>
        </p:txBody>
      </p:sp>
      <p:grpSp>
        <p:nvGrpSpPr>
          <p:cNvPr id="95" name="Group 95"/>
          <p:cNvGrpSpPr/>
          <p:nvPr/>
        </p:nvGrpSpPr>
        <p:grpSpPr>
          <a:xfrm>
            <a:off x="15324201" y="7013067"/>
            <a:ext cx="1097280" cy="137160"/>
            <a:chOff x="0" y="0"/>
            <a:chExt cx="1463040" cy="182880"/>
          </a:xfrm>
        </p:grpSpPr>
        <p:sp>
          <p:nvSpPr>
            <p:cNvPr id="96" name="Freeform 96"/>
            <p:cNvSpPr/>
            <p:nvPr/>
          </p:nvSpPr>
          <p:spPr>
            <a:xfrm>
              <a:off x="0" y="0"/>
              <a:ext cx="1463040" cy="182880"/>
            </a:xfrm>
            <a:custGeom>
              <a:avLst/>
              <a:gdLst/>
              <a:ahLst/>
              <a:cxnLst/>
              <a:rect l="l" t="t" r="r" b="b"/>
              <a:pathLst>
                <a:path w="1463040" h="182880">
                  <a:moveTo>
                    <a:pt x="0" y="0"/>
                  </a:moveTo>
                  <a:lnTo>
                    <a:pt x="1463040" y="0"/>
                  </a:lnTo>
                  <a:lnTo>
                    <a:pt x="1463040" y="182880"/>
                  </a:lnTo>
                  <a:lnTo>
                    <a:pt x="0" y="182880"/>
                  </a:lnTo>
                  <a:close/>
                </a:path>
              </a:pathLst>
            </a:custGeom>
            <a:solidFill>
              <a:srgbClr val="1F2937"/>
            </a:solidFill>
          </p:spPr>
          <p:txBody>
            <a:bodyPr/>
            <a:lstStyle/>
            <a:p>
              <a:endParaRPr lang="en-US"/>
            </a:p>
          </p:txBody>
        </p:sp>
      </p:grpSp>
      <p:grpSp>
        <p:nvGrpSpPr>
          <p:cNvPr id="97" name="Group 97"/>
          <p:cNvGrpSpPr/>
          <p:nvPr/>
        </p:nvGrpSpPr>
        <p:grpSpPr>
          <a:xfrm>
            <a:off x="14480667" y="7259955"/>
            <a:ext cx="2784348" cy="446380"/>
            <a:chOff x="0" y="0"/>
            <a:chExt cx="3712464" cy="595173"/>
          </a:xfrm>
        </p:grpSpPr>
        <p:sp>
          <p:nvSpPr>
            <p:cNvPr id="98" name="Freeform 98"/>
            <p:cNvSpPr/>
            <p:nvPr/>
          </p:nvSpPr>
          <p:spPr>
            <a:xfrm>
              <a:off x="0" y="0"/>
              <a:ext cx="3712464" cy="595173"/>
            </a:xfrm>
            <a:custGeom>
              <a:avLst/>
              <a:gdLst/>
              <a:ahLst/>
              <a:cxnLst/>
              <a:rect l="l" t="t" r="r" b="b"/>
              <a:pathLst>
                <a:path w="3712464" h="595173">
                  <a:moveTo>
                    <a:pt x="0" y="0"/>
                  </a:moveTo>
                  <a:lnTo>
                    <a:pt x="3712464" y="0"/>
                  </a:lnTo>
                  <a:lnTo>
                    <a:pt x="3712464" y="595173"/>
                  </a:lnTo>
                  <a:lnTo>
                    <a:pt x="0" y="595173"/>
                  </a:lnTo>
                  <a:close/>
                </a:path>
              </a:pathLst>
            </a:custGeom>
            <a:blipFill>
              <a:blip r:embed="rId3">
                <a:alphaModFix amt="0"/>
              </a:blip>
              <a:stretch>
                <a:fillRect t="-75449" b="-67631"/>
              </a:stretch>
            </a:blipFill>
          </p:spPr>
          <p:txBody>
            <a:bodyPr/>
            <a:lstStyle/>
            <a:p>
              <a:endParaRPr lang="en-US"/>
            </a:p>
          </p:txBody>
        </p:sp>
        <p:sp>
          <p:nvSpPr>
            <p:cNvPr id="99" name="TextBox 99"/>
            <p:cNvSpPr txBox="1"/>
            <p:nvPr/>
          </p:nvSpPr>
          <p:spPr>
            <a:xfrm>
              <a:off x="0" y="0"/>
              <a:ext cx="3712464" cy="595173"/>
            </a:xfrm>
            <a:prstGeom prst="rect">
              <a:avLst/>
            </a:prstGeom>
          </p:spPr>
          <p:txBody>
            <a:bodyPr lIns="0" tIns="0" rIns="0" bIns="0" rtlCol="0" anchor="ctr"/>
            <a:lstStyle/>
            <a:p>
              <a:pPr algn="ctr">
                <a:lnSpc>
                  <a:spcPts val="2160"/>
                </a:lnSpc>
              </a:pPr>
              <a:r>
                <a:rPr lang="en-US" sz="1800" b="1">
                  <a:solidFill>
                    <a:srgbClr val="1F2937"/>
                  </a:solidFill>
                  <a:latin typeface="Bai Jamjuree Bold"/>
                  <a:ea typeface="Bai Jamjuree Bold"/>
                  <a:cs typeface="Bai Jamjuree Bold"/>
                  <a:sym typeface="Bai Jamjuree Bold"/>
                </a:rPr>
                <a:t>Chuyển động và hạ cánh</a:t>
              </a:r>
            </a:p>
          </p:txBody>
        </p:sp>
      </p:grpSp>
      <p:sp>
        <p:nvSpPr>
          <p:cNvPr id="100" name="AutoShape 100"/>
          <p:cNvSpPr/>
          <p:nvPr/>
        </p:nvSpPr>
        <p:spPr>
          <a:xfrm>
            <a:off x="3302127" y="4814889"/>
            <a:ext cx="353003" cy="0"/>
          </a:xfrm>
          <a:prstGeom prst="line">
            <a:avLst/>
          </a:prstGeom>
          <a:ln w="47625" cap="rnd">
            <a:solidFill>
              <a:srgbClr val="E0303A"/>
            </a:solidFill>
            <a:prstDash val="solid"/>
            <a:headEnd type="none" w="sm" len="sm"/>
            <a:tailEnd type="triangle" w="lg" len="med"/>
          </a:ln>
        </p:spPr>
        <p:txBody>
          <a:bodyPr/>
          <a:lstStyle/>
          <a:p>
            <a:endParaRPr lang="en-US"/>
          </a:p>
        </p:txBody>
      </p:sp>
      <p:sp>
        <p:nvSpPr>
          <p:cNvPr id="101" name="AutoShape 101"/>
          <p:cNvSpPr/>
          <p:nvPr/>
        </p:nvSpPr>
        <p:spPr>
          <a:xfrm>
            <a:off x="7115122" y="4814889"/>
            <a:ext cx="380489" cy="0"/>
          </a:xfrm>
          <a:prstGeom prst="line">
            <a:avLst/>
          </a:prstGeom>
          <a:ln w="47625" cap="rnd">
            <a:solidFill>
              <a:srgbClr val="E0303A"/>
            </a:solidFill>
            <a:prstDash val="solid"/>
            <a:headEnd type="none" w="sm" len="sm"/>
            <a:tailEnd type="triangle" w="lg" len="med"/>
          </a:ln>
        </p:spPr>
        <p:txBody>
          <a:bodyPr/>
          <a:lstStyle/>
          <a:p>
            <a:endParaRPr lang="en-US"/>
          </a:p>
        </p:txBody>
      </p:sp>
      <p:sp>
        <p:nvSpPr>
          <p:cNvPr id="102" name="AutoShape 102"/>
          <p:cNvSpPr/>
          <p:nvPr/>
        </p:nvSpPr>
        <p:spPr>
          <a:xfrm flipV="1">
            <a:off x="11254457" y="4814889"/>
            <a:ext cx="355953" cy="0"/>
          </a:xfrm>
          <a:prstGeom prst="line">
            <a:avLst/>
          </a:prstGeom>
          <a:ln w="47625" cap="rnd">
            <a:solidFill>
              <a:srgbClr val="E0303A"/>
            </a:solidFill>
            <a:prstDash val="solid"/>
            <a:headEnd type="none" w="sm" len="sm"/>
            <a:tailEnd type="triangle" w="lg" len="med"/>
          </a:ln>
        </p:spPr>
        <p:txBody>
          <a:bodyPr/>
          <a:lstStyle/>
          <a:p>
            <a:endParaRPr lang="en-US"/>
          </a:p>
        </p:txBody>
      </p:sp>
      <p:sp>
        <p:nvSpPr>
          <p:cNvPr id="103" name="AutoShape 103"/>
          <p:cNvSpPr/>
          <p:nvPr/>
        </p:nvSpPr>
        <p:spPr>
          <a:xfrm flipV="1">
            <a:off x="13932027" y="4814889"/>
            <a:ext cx="353003" cy="0"/>
          </a:xfrm>
          <a:prstGeom prst="line">
            <a:avLst/>
          </a:prstGeom>
          <a:ln w="47625" cap="rnd">
            <a:solidFill>
              <a:srgbClr val="E0303A"/>
            </a:solidFill>
            <a:prstDash val="solid"/>
            <a:headEnd type="none" w="sm" len="sm"/>
            <a:tailEnd type="triangle" w="lg" len="med"/>
          </a:ln>
        </p:spPr>
        <p:txBody>
          <a:bodyPr/>
          <a:lstStyle/>
          <a:p>
            <a:endParaRPr lang="en-US"/>
          </a:p>
        </p:txBody>
      </p:sp>
      <p:sp>
        <p:nvSpPr>
          <p:cNvPr id="104" name="AutoShape 104"/>
          <p:cNvSpPr/>
          <p:nvPr/>
        </p:nvSpPr>
        <p:spPr>
          <a:xfrm flipH="1">
            <a:off x="15872841" y="5689758"/>
            <a:ext cx="0" cy="368141"/>
          </a:xfrm>
          <a:prstGeom prst="line">
            <a:avLst/>
          </a:prstGeom>
          <a:ln w="47625" cap="rnd">
            <a:solidFill>
              <a:srgbClr val="E0303A"/>
            </a:solidFill>
            <a:prstDash val="solid"/>
            <a:headEnd type="none" w="sm" len="sm"/>
            <a:tailEnd type="triangle" w="lg" len="med"/>
          </a:ln>
        </p:spPr>
        <p:txBody>
          <a:bodyPr/>
          <a:lstStyle/>
          <a:p>
            <a:endParaRPr lang="en-US"/>
          </a:p>
        </p:txBody>
      </p:sp>
      <p:grpSp>
        <p:nvGrpSpPr>
          <p:cNvPr id="105" name="Group 105"/>
          <p:cNvGrpSpPr/>
          <p:nvPr/>
        </p:nvGrpSpPr>
        <p:grpSpPr>
          <a:xfrm>
            <a:off x="7478363" y="8144351"/>
            <a:ext cx="3786188" cy="590360"/>
            <a:chOff x="0" y="0"/>
            <a:chExt cx="5048250" cy="787146"/>
          </a:xfrm>
        </p:grpSpPr>
        <p:sp>
          <p:nvSpPr>
            <p:cNvPr id="106" name="Freeform 106"/>
            <p:cNvSpPr/>
            <p:nvPr/>
          </p:nvSpPr>
          <p:spPr>
            <a:xfrm>
              <a:off x="0" y="0"/>
              <a:ext cx="5048250" cy="787146"/>
            </a:xfrm>
            <a:custGeom>
              <a:avLst/>
              <a:gdLst/>
              <a:ahLst/>
              <a:cxnLst/>
              <a:rect l="l" t="t" r="r" b="b"/>
              <a:pathLst>
                <a:path w="5048250" h="787146">
                  <a:moveTo>
                    <a:pt x="0" y="112395"/>
                  </a:moveTo>
                  <a:cubicBezTo>
                    <a:pt x="0" y="50292"/>
                    <a:pt x="50292" y="0"/>
                    <a:pt x="112395" y="0"/>
                  </a:cubicBezTo>
                  <a:lnTo>
                    <a:pt x="4935855" y="0"/>
                  </a:lnTo>
                  <a:cubicBezTo>
                    <a:pt x="4997958" y="0"/>
                    <a:pt x="5048250" y="50292"/>
                    <a:pt x="5048250" y="112395"/>
                  </a:cubicBezTo>
                  <a:lnTo>
                    <a:pt x="5048250" y="674751"/>
                  </a:lnTo>
                  <a:cubicBezTo>
                    <a:pt x="5048250" y="736854"/>
                    <a:pt x="4997958" y="787146"/>
                    <a:pt x="4935855" y="787146"/>
                  </a:cubicBezTo>
                  <a:lnTo>
                    <a:pt x="112395" y="787146"/>
                  </a:lnTo>
                  <a:cubicBezTo>
                    <a:pt x="50292" y="787146"/>
                    <a:pt x="0" y="736854"/>
                    <a:pt x="0" y="674751"/>
                  </a:cubicBezTo>
                  <a:close/>
                </a:path>
              </a:pathLst>
            </a:custGeom>
            <a:solidFill>
              <a:srgbClr val="F3F4F6"/>
            </a:solidFill>
            <a:ln w="14288" cap="sq">
              <a:solidFill>
                <a:srgbClr val="9CA3AF"/>
              </a:solidFill>
              <a:prstDash val="dash"/>
              <a:miter/>
            </a:ln>
          </p:spPr>
          <p:txBody>
            <a:bodyPr/>
            <a:lstStyle/>
            <a:p>
              <a:endParaRPr lang="en-US"/>
            </a:p>
          </p:txBody>
        </p:sp>
      </p:grpSp>
      <p:grpSp>
        <p:nvGrpSpPr>
          <p:cNvPr id="107" name="Group 107"/>
          <p:cNvGrpSpPr/>
          <p:nvPr/>
        </p:nvGrpSpPr>
        <p:grpSpPr>
          <a:xfrm>
            <a:off x="7595235" y="8151495"/>
            <a:ext cx="3552444" cy="576072"/>
            <a:chOff x="0" y="0"/>
            <a:chExt cx="4736592" cy="768096"/>
          </a:xfrm>
        </p:grpSpPr>
        <p:sp>
          <p:nvSpPr>
            <p:cNvPr id="108" name="Freeform 108"/>
            <p:cNvSpPr/>
            <p:nvPr/>
          </p:nvSpPr>
          <p:spPr>
            <a:xfrm>
              <a:off x="0" y="0"/>
              <a:ext cx="4736592" cy="768096"/>
            </a:xfrm>
            <a:custGeom>
              <a:avLst/>
              <a:gdLst/>
              <a:ahLst/>
              <a:cxnLst/>
              <a:rect l="l" t="t" r="r" b="b"/>
              <a:pathLst>
                <a:path w="4736592" h="768096">
                  <a:moveTo>
                    <a:pt x="0" y="0"/>
                  </a:moveTo>
                  <a:lnTo>
                    <a:pt x="4736592" y="0"/>
                  </a:lnTo>
                  <a:lnTo>
                    <a:pt x="4736592" y="768096"/>
                  </a:lnTo>
                  <a:lnTo>
                    <a:pt x="0" y="768096"/>
                  </a:lnTo>
                  <a:close/>
                </a:path>
              </a:pathLst>
            </a:custGeom>
            <a:blipFill>
              <a:blip r:embed="rId3">
                <a:alphaModFix amt="0"/>
              </a:blip>
              <a:stretch>
                <a:fillRect t="-70157" b="-70157"/>
              </a:stretch>
            </a:blipFill>
          </p:spPr>
          <p:txBody>
            <a:bodyPr/>
            <a:lstStyle/>
            <a:p>
              <a:endParaRPr lang="en-US"/>
            </a:p>
          </p:txBody>
        </p:sp>
        <p:sp>
          <p:nvSpPr>
            <p:cNvPr id="109" name="TextBox 109"/>
            <p:cNvSpPr txBox="1"/>
            <p:nvPr/>
          </p:nvSpPr>
          <p:spPr>
            <a:xfrm>
              <a:off x="0" y="9525"/>
              <a:ext cx="4736592" cy="758571"/>
            </a:xfrm>
            <a:prstGeom prst="rect">
              <a:avLst/>
            </a:prstGeom>
          </p:spPr>
          <p:txBody>
            <a:bodyPr lIns="0" tIns="0" rIns="0" bIns="0" rtlCol="0" anchor="ctr"/>
            <a:lstStyle/>
            <a:p>
              <a:pPr algn="ctr">
                <a:lnSpc>
                  <a:spcPts val="1980"/>
                </a:lnSpc>
              </a:pPr>
              <a:r>
                <a:rPr lang="en-US" sz="1650">
                  <a:solidFill>
                    <a:srgbClr val="4B5563"/>
                  </a:solidFill>
                  <a:latin typeface="Bai Jamjuree"/>
                  <a:ea typeface="Bai Jamjuree"/>
                  <a:cs typeface="Bai Jamjuree"/>
                  <a:sym typeface="Bai Jamjuree"/>
                </a:rPr>
                <a:t>Trạng thái quadrotor (từ PX4)</a:t>
              </a:r>
            </a:p>
          </p:txBody>
        </p:sp>
      </p:grpSp>
      <p:sp>
        <p:nvSpPr>
          <p:cNvPr id="110" name="AutoShape 110"/>
          <p:cNvSpPr/>
          <p:nvPr/>
        </p:nvSpPr>
        <p:spPr>
          <a:xfrm>
            <a:off x="15872841" y="7815739"/>
            <a:ext cx="0" cy="607127"/>
          </a:xfrm>
          <a:prstGeom prst="line">
            <a:avLst/>
          </a:prstGeom>
          <a:ln w="19050" cap="rnd">
            <a:solidFill>
              <a:srgbClr val="6B7280"/>
            </a:solidFill>
            <a:prstDash val="solid"/>
            <a:headEnd type="none" w="sm" len="sm"/>
            <a:tailEnd type="none" w="sm" len="sm"/>
          </a:ln>
        </p:spPr>
        <p:txBody>
          <a:bodyPr/>
          <a:lstStyle/>
          <a:p>
            <a:endParaRPr lang="en-US"/>
          </a:p>
        </p:txBody>
      </p:sp>
      <p:sp>
        <p:nvSpPr>
          <p:cNvPr id="111" name="AutoShape 111"/>
          <p:cNvSpPr/>
          <p:nvPr/>
        </p:nvSpPr>
        <p:spPr>
          <a:xfrm flipH="1">
            <a:off x="11254457" y="8439531"/>
            <a:ext cx="4618384" cy="16665"/>
          </a:xfrm>
          <a:prstGeom prst="line">
            <a:avLst/>
          </a:prstGeom>
          <a:ln w="19050" cap="rnd">
            <a:solidFill>
              <a:srgbClr val="6B7280"/>
            </a:solidFill>
            <a:prstDash val="solid"/>
            <a:headEnd type="none" w="sm" len="sm"/>
            <a:tailEnd type="triangle" w="lg" len="med"/>
          </a:ln>
        </p:spPr>
        <p:txBody>
          <a:bodyPr/>
          <a:lstStyle/>
          <a:p>
            <a:endParaRPr lang="en-US"/>
          </a:p>
        </p:txBody>
      </p:sp>
      <p:sp>
        <p:nvSpPr>
          <p:cNvPr id="112" name="AutoShape 112"/>
          <p:cNvSpPr/>
          <p:nvPr/>
        </p:nvSpPr>
        <p:spPr>
          <a:xfrm flipV="1">
            <a:off x="9371457" y="7945755"/>
            <a:ext cx="0" cy="205740"/>
          </a:xfrm>
          <a:prstGeom prst="line">
            <a:avLst/>
          </a:prstGeom>
          <a:ln w="19050" cap="rnd">
            <a:solidFill>
              <a:srgbClr val="6B7280"/>
            </a:solidFill>
            <a:prstDash val="solid"/>
            <a:headEnd type="none" w="sm" len="sm"/>
            <a:tailEnd type="triangle" w="lg" len="med"/>
          </a:ln>
        </p:spPr>
        <p:txBody>
          <a:bodyPr/>
          <a:lstStyle/>
          <a:p>
            <a:endParaRPr lang="en-US"/>
          </a:p>
        </p:txBody>
      </p:sp>
      <p:grpSp>
        <p:nvGrpSpPr>
          <p:cNvPr id="113" name="Group 113"/>
          <p:cNvGrpSpPr/>
          <p:nvPr/>
        </p:nvGrpSpPr>
        <p:grpSpPr>
          <a:xfrm>
            <a:off x="11737467" y="8082915"/>
            <a:ext cx="3977640" cy="378333"/>
            <a:chOff x="0" y="0"/>
            <a:chExt cx="5303520" cy="504444"/>
          </a:xfrm>
        </p:grpSpPr>
        <p:sp>
          <p:nvSpPr>
            <p:cNvPr id="114" name="Freeform 114"/>
            <p:cNvSpPr/>
            <p:nvPr/>
          </p:nvSpPr>
          <p:spPr>
            <a:xfrm>
              <a:off x="0" y="0"/>
              <a:ext cx="5303520" cy="504444"/>
            </a:xfrm>
            <a:custGeom>
              <a:avLst/>
              <a:gdLst/>
              <a:ahLst/>
              <a:cxnLst/>
              <a:rect l="l" t="t" r="r" b="b"/>
              <a:pathLst>
                <a:path w="5303520" h="504444">
                  <a:moveTo>
                    <a:pt x="0" y="0"/>
                  </a:moveTo>
                  <a:lnTo>
                    <a:pt x="5303520" y="0"/>
                  </a:lnTo>
                  <a:lnTo>
                    <a:pt x="5303520" y="504444"/>
                  </a:lnTo>
                  <a:lnTo>
                    <a:pt x="0" y="504444"/>
                  </a:lnTo>
                  <a:close/>
                </a:path>
              </a:pathLst>
            </a:custGeom>
            <a:blipFill>
              <a:blip r:embed="rId3">
                <a:alphaModFix amt="0"/>
              </a:blip>
              <a:stretch>
                <a:fillRect t="-161353" b="-148362"/>
              </a:stretch>
            </a:blipFill>
          </p:spPr>
          <p:txBody>
            <a:bodyPr/>
            <a:lstStyle/>
            <a:p>
              <a:endParaRPr lang="en-US"/>
            </a:p>
          </p:txBody>
        </p:sp>
        <p:sp>
          <p:nvSpPr>
            <p:cNvPr id="115" name="TextBox 115"/>
            <p:cNvSpPr txBox="1"/>
            <p:nvPr/>
          </p:nvSpPr>
          <p:spPr>
            <a:xfrm>
              <a:off x="0" y="0"/>
              <a:ext cx="5303520" cy="504444"/>
            </a:xfrm>
            <a:prstGeom prst="rect">
              <a:avLst/>
            </a:prstGeom>
          </p:spPr>
          <p:txBody>
            <a:bodyPr lIns="0" tIns="0" rIns="0" bIns="0" rtlCol="0" anchor="ctr"/>
            <a:lstStyle/>
            <a:p>
              <a:pPr algn="r">
                <a:lnSpc>
                  <a:spcPts val="1800"/>
                </a:lnSpc>
              </a:pPr>
              <a:r>
                <a:rPr lang="en-US" sz="1500" i="1">
                  <a:solidFill>
                    <a:srgbClr val="6B7280"/>
                  </a:solidFill>
                  <a:latin typeface="Bai Jamjuree Italics"/>
                  <a:ea typeface="Bai Jamjuree Italics"/>
                  <a:cs typeface="Bai Jamjuree Italics"/>
                  <a:sym typeface="Bai Jamjuree Italics"/>
                </a:rPr>
                <a:t>Phản hồi liên tục</a:t>
              </a:r>
            </a:p>
          </p:txBody>
        </p:sp>
      </p:grpSp>
      <p:grpSp>
        <p:nvGrpSpPr>
          <p:cNvPr id="116" name="Group 116"/>
          <p:cNvGrpSpPr/>
          <p:nvPr/>
        </p:nvGrpSpPr>
        <p:grpSpPr>
          <a:xfrm>
            <a:off x="672275" y="3601403"/>
            <a:ext cx="2516505" cy="2105025"/>
            <a:chOff x="0" y="0"/>
            <a:chExt cx="3355340" cy="2806700"/>
          </a:xfrm>
        </p:grpSpPr>
        <p:sp>
          <p:nvSpPr>
            <p:cNvPr id="117" name="Freeform 117"/>
            <p:cNvSpPr/>
            <p:nvPr/>
          </p:nvSpPr>
          <p:spPr>
            <a:xfrm>
              <a:off x="0" y="0"/>
              <a:ext cx="3355340" cy="2806700"/>
            </a:xfrm>
            <a:custGeom>
              <a:avLst/>
              <a:gdLst/>
              <a:ahLst/>
              <a:cxnLst/>
              <a:rect l="l" t="t" r="r" b="b"/>
              <a:pathLst>
                <a:path w="3355340" h="2806700">
                  <a:moveTo>
                    <a:pt x="0" y="149733"/>
                  </a:moveTo>
                  <a:cubicBezTo>
                    <a:pt x="0" y="67056"/>
                    <a:pt x="67056" y="0"/>
                    <a:pt x="149733" y="0"/>
                  </a:cubicBezTo>
                  <a:lnTo>
                    <a:pt x="3205607" y="0"/>
                  </a:lnTo>
                  <a:cubicBezTo>
                    <a:pt x="3288284" y="0"/>
                    <a:pt x="3355340" y="67056"/>
                    <a:pt x="3355340" y="149733"/>
                  </a:cubicBezTo>
                  <a:lnTo>
                    <a:pt x="3355340" y="2656967"/>
                  </a:lnTo>
                  <a:cubicBezTo>
                    <a:pt x="3355340" y="2739644"/>
                    <a:pt x="3288284" y="2806700"/>
                    <a:pt x="3205607" y="2806700"/>
                  </a:cubicBezTo>
                  <a:lnTo>
                    <a:pt x="149733" y="2806700"/>
                  </a:lnTo>
                  <a:cubicBezTo>
                    <a:pt x="67056" y="2806700"/>
                    <a:pt x="0" y="2739644"/>
                    <a:pt x="0" y="2656967"/>
                  </a:cubicBezTo>
                  <a:close/>
                </a:path>
              </a:pathLst>
            </a:custGeom>
            <a:blipFill>
              <a:blip r:embed="rId3">
                <a:alphaModFix amt="0"/>
              </a:blip>
              <a:stretch>
                <a:fillRect l="-57324" r="-57324"/>
              </a:stretch>
            </a:blipFill>
            <a:ln w="47625" cap="sq">
              <a:solidFill>
                <a:srgbClr val="E0303A"/>
              </a:solidFill>
              <a:prstDash val="solid"/>
              <a:miter/>
            </a:ln>
          </p:spPr>
          <p:txBody>
            <a:bodyPr/>
            <a:lstStyle/>
            <a:p>
              <a:endParaRPr lang="en-US"/>
            </a:p>
          </p:txBody>
        </p:sp>
      </p:grpSp>
      <p:grpSp>
        <p:nvGrpSpPr>
          <p:cNvPr id="118" name="Group 118"/>
          <p:cNvGrpSpPr/>
          <p:nvPr/>
        </p:nvGrpSpPr>
        <p:grpSpPr>
          <a:xfrm>
            <a:off x="558927" y="8893312"/>
            <a:ext cx="10407015" cy="850392"/>
            <a:chOff x="0" y="0"/>
            <a:chExt cx="13876020" cy="1133856"/>
          </a:xfrm>
        </p:grpSpPr>
        <p:sp>
          <p:nvSpPr>
            <p:cNvPr id="119" name="Freeform 119"/>
            <p:cNvSpPr/>
            <p:nvPr/>
          </p:nvSpPr>
          <p:spPr>
            <a:xfrm>
              <a:off x="0" y="0"/>
              <a:ext cx="13876020" cy="1133856"/>
            </a:xfrm>
            <a:custGeom>
              <a:avLst/>
              <a:gdLst/>
              <a:ahLst/>
              <a:cxnLst/>
              <a:rect l="l" t="t" r="r" b="b"/>
              <a:pathLst>
                <a:path w="13876020" h="1133856">
                  <a:moveTo>
                    <a:pt x="0" y="182880"/>
                  </a:moveTo>
                  <a:cubicBezTo>
                    <a:pt x="0" y="81915"/>
                    <a:pt x="50408" y="0"/>
                    <a:pt x="112539" y="0"/>
                  </a:cubicBezTo>
                  <a:lnTo>
                    <a:pt x="13763481" y="0"/>
                  </a:lnTo>
                  <a:cubicBezTo>
                    <a:pt x="13825612" y="0"/>
                    <a:pt x="13876020" y="81915"/>
                    <a:pt x="13876020" y="182880"/>
                  </a:cubicBezTo>
                  <a:lnTo>
                    <a:pt x="13876020" y="950976"/>
                  </a:lnTo>
                  <a:cubicBezTo>
                    <a:pt x="13876020" y="1051941"/>
                    <a:pt x="13825612" y="1133856"/>
                    <a:pt x="13763481" y="1133856"/>
                  </a:cubicBezTo>
                  <a:lnTo>
                    <a:pt x="112539" y="1133856"/>
                  </a:lnTo>
                  <a:cubicBezTo>
                    <a:pt x="50408" y="1133856"/>
                    <a:pt x="0" y="1051941"/>
                    <a:pt x="0" y="950976"/>
                  </a:cubicBezTo>
                  <a:close/>
                </a:path>
              </a:pathLst>
            </a:custGeom>
            <a:solidFill>
              <a:srgbClr val="E0303A"/>
            </a:solidFill>
          </p:spPr>
          <p:txBody>
            <a:bodyPr/>
            <a:lstStyle/>
            <a:p>
              <a:endParaRPr lang="en-US"/>
            </a:p>
          </p:txBody>
        </p:sp>
      </p:grpSp>
      <p:grpSp>
        <p:nvGrpSpPr>
          <p:cNvPr id="120" name="Group 120"/>
          <p:cNvGrpSpPr/>
          <p:nvPr/>
        </p:nvGrpSpPr>
        <p:grpSpPr>
          <a:xfrm>
            <a:off x="901827" y="8893312"/>
            <a:ext cx="10571607" cy="850392"/>
            <a:chOff x="0" y="0"/>
            <a:chExt cx="14095476" cy="1133856"/>
          </a:xfrm>
        </p:grpSpPr>
        <p:sp>
          <p:nvSpPr>
            <p:cNvPr id="121" name="Freeform 121"/>
            <p:cNvSpPr/>
            <p:nvPr/>
          </p:nvSpPr>
          <p:spPr>
            <a:xfrm>
              <a:off x="0" y="0"/>
              <a:ext cx="14095476" cy="1133856"/>
            </a:xfrm>
            <a:custGeom>
              <a:avLst/>
              <a:gdLst/>
              <a:ahLst/>
              <a:cxnLst/>
              <a:rect l="l" t="t" r="r" b="b"/>
              <a:pathLst>
                <a:path w="14095476" h="1133856">
                  <a:moveTo>
                    <a:pt x="0" y="0"/>
                  </a:moveTo>
                  <a:lnTo>
                    <a:pt x="14095476" y="0"/>
                  </a:lnTo>
                  <a:lnTo>
                    <a:pt x="14095476" y="1133856"/>
                  </a:lnTo>
                  <a:lnTo>
                    <a:pt x="0" y="1133856"/>
                  </a:lnTo>
                  <a:close/>
                </a:path>
              </a:pathLst>
            </a:custGeom>
            <a:blipFill>
              <a:blip r:embed="rId3">
                <a:alphaModFix amt="0"/>
              </a:blip>
              <a:stretch>
                <a:fillRect t="-323987" r="-54395" b="-323987"/>
              </a:stretch>
            </a:blipFill>
          </p:spPr>
          <p:txBody>
            <a:bodyPr/>
            <a:lstStyle/>
            <a:p>
              <a:endParaRPr lang="en-US"/>
            </a:p>
          </p:txBody>
        </p:sp>
        <p:sp>
          <p:nvSpPr>
            <p:cNvPr id="122" name="TextBox 122"/>
            <p:cNvSpPr txBox="1"/>
            <p:nvPr/>
          </p:nvSpPr>
          <p:spPr>
            <a:xfrm>
              <a:off x="0" y="-9525"/>
              <a:ext cx="14095476" cy="1143381"/>
            </a:xfrm>
            <a:prstGeom prst="rect">
              <a:avLst/>
            </a:prstGeom>
          </p:spPr>
          <p:txBody>
            <a:bodyPr lIns="0" tIns="0" rIns="0" bIns="0" rtlCol="0" anchor="ctr"/>
            <a:lstStyle/>
            <a:p>
              <a:pPr algn="l">
                <a:lnSpc>
                  <a:spcPts val="2700"/>
                </a:lnSpc>
              </a:pPr>
              <a:r>
                <a:rPr lang="en-US" sz="2250" b="1">
                  <a:solidFill>
                    <a:srgbClr val="FFFFFF"/>
                  </a:solidFill>
                  <a:latin typeface="Bai Jamjuree Bold"/>
                  <a:ea typeface="Bai Jamjuree Bold"/>
                  <a:cs typeface="Bai Jamjuree Bold"/>
                  <a:sym typeface="Bai Jamjuree Bold"/>
                </a:rPr>
                <a:t>ĐIỂM NHẤN: chỉ 1 camera chiều sâu + 1 servo</a:t>
              </a:r>
            </a:p>
            <a:p>
              <a:pPr algn="l">
                <a:lnSpc>
                  <a:spcPts val="2340"/>
                </a:lnSpc>
              </a:pPr>
              <a:r>
                <a:rPr lang="en-US" sz="1950">
                  <a:solidFill>
                    <a:srgbClr val="FFFFFF"/>
                  </a:solidFill>
                  <a:latin typeface="Bai Jamjuree"/>
                  <a:ea typeface="Bai Jamjuree"/>
                  <a:cs typeface="Bai Jamjuree"/>
                  <a:sym typeface="Bai Jamjuree"/>
                </a:rPr>
                <a:t>thay cho hệ nhiều camera hoặc cảm biến đắt tiền (LiDAR, siêu âm) → tối ưu chi phí</a:t>
              </a:r>
            </a:p>
          </p:txBody>
        </p:sp>
      </p:grpSp>
      <p:grpSp>
        <p:nvGrpSpPr>
          <p:cNvPr id="123" name="Group 123"/>
          <p:cNvGrpSpPr/>
          <p:nvPr/>
        </p:nvGrpSpPr>
        <p:grpSpPr>
          <a:xfrm>
            <a:off x="3780095" y="6697599"/>
            <a:ext cx="3237548" cy="1549908"/>
            <a:chOff x="0" y="0"/>
            <a:chExt cx="4316730" cy="2066544"/>
          </a:xfrm>
        </p:grpSpPr>
        <p:sp>
          <p:nvSpPr>
            <p:cNvPr id="124" name="Freeform 124"/>
            <p:cNvSpPr/>
            <p:nvPr/>
          </p:nvSpPr>
          <p:spPr>
            <a:xfrm>
              <a:off x="0" y="0"/>
              <a:ext cx="4316730" cy="2066544"/>
            </a:xfrm>
            <a:custGeom>
              <a:avLst/>
              <a:gdLst/>
              <a:ahLst/>
              <a:cxnLst/>
              <a:rect l="l" t="t" r="r" b="b"/>
              <a:pathLst>
                <a:path w="4316730" h="2066544">
                  <a:moveTo>
                    <a:pt x="0" y="110216"/>
                  </a:moveTo>
                  <a:cubicBezTo>
                    <a:pt x="0" y="49312"/>
                    <a:pt x="65913" y="0"/>
                    <a:pt x="147320" y="0"/>
                  </a:cubicBezTo>
                  <a:lnTo>
                    <a:pt x="4169410" y="0"/>
                  </a:lnTo>
                  <a:cubicBezTo>
                    <a:pt x="4250817" y="0"/>
                    <a:pt x="4316730" y="49312"/>
                    <a:pt x="4316730" y="110216"/>
                  </a:cubicBezTo>
                  <a:lnTo>
                    <a:pt x="4316730" y="1956328"/>
                  </a:lnTo>
                  <a:cubicBezTo>
                    <a:pt x="4316730" y="2017232"/>
                    <a:pt x="4250817" y="2066544"/>
                    <a:pt x="4169410" y="2066544"/>
                  </a:cubicBezTo>
                  <a:lnTo>
                    <a:pt x="147320" y="2066544"/>
                  </a:lnTo>
                  <a:cubicBezTo>
                    <a:pt x="65913" y="2066544"/>
                    <a:pt x="0" y="2017232"/>
                    <a:pt x="0" y="1956328"/>
                  </a:cubicBezTo>
                  <a:close/>
                </a:path>
              </a:pathLst>
            </a:custGeom>
            <a:solidFill>
              <a:srgbClr val="FFFFFF"/>
            </a:solidFill>
            <a:ln w="14288" cap="sq">
              <a:solidFill>
                <a:srgbClr val="9CA3AF"/>
              </a:solidFill>
              <a:prstDash val="solid"/>
              <a:miter/>
            </a:ln>
          </p:spPr>
          <p:txBody>
            <a:bodyPr/>
            <a:lstStyle/>
            <a:p>
              <a:endParaRPr lang="en-US"/>
            </a:p>
          </p:txBody>
        </p:sp>
      </p:grpSp>
      <p:sp>
        <p:nvSpPr>
          <p:cNvPr id="125" name="TextBox 125"/>
          <p:cNvSpPr txBox="1"/>
          <p:nvPr/>
        </p:nvSpPr>
        <p:spPr>
          <a:xfrm>
            <a:off x="3862867" y="6731699"/>
            <a:ext cx="3072003" cy="1733550"/>
          </a:xfrm>
          <a:prstGeom prst="rect">
            <a:avLst/>
          </a:prstGeom>
        </p:spPr>
        <p:txBody>
          <a:bodyPr lIns="0" tIns="0" rIns="0" bIns="0" rtlCol="0" anchor="t">
            <a:spAutoFit/>
          </a:bodyPr>
          <a:lstStyle/>
          <a:p>
            <a:pPr algn="l">
              <a:lnSpc>
                <a:spcPts val="2340"/>
              </a:lnSpc>
              <a:spcBef>
                <a:spcPct val="0"/>
              </a:spcBef>
            </a:pPr>
            <a:r>
              <a:rPr lang="en-US" sz="1950" b="1">
                <a:solidFill>
                  <a:srgbClr val="000000"/>
                </a:solidFill>
                <a:latin typeface="Bai Jamjuree Bold"/>
                <a:ea typeface="Bai Jamjuree Bold"/>
                <a:cs typeface="Bai Jamjuree Bold"/>
                <a:sym typeface="Bai Jamjuree Bold"/>
              </a:rPr>
              <a:t>Ước lượng khoảng cách tương đối</a:t>
            </a:r>
          </a:p>
          <a:p>
            <a:pPr algn="l">
              <a:lnSpc>
                <a:spcPts val="1800"/>
              </a:lnSpc>
              <a:spcBef>
                <a:spcPct val="0"/>
              </a:spcBef>
            </a:pPr>
            <a:r>
              <a:rPr lang="en-US" sz="1500" b="1">
                <a:solidFill>
                  <a:srgbClr val="0E7490"/>
                </a:solidFill>
                <a:latin typeface="Bai Jamjuree Bold"/>
                <a:ea typeface="Bai Jamjuree Bold"/>
                <a:cs typeface="Bai Jamjuree Bold"/>
                <a:sym typeface="Bai Jamjuree Bold"/>
              </a:rPr>
              <a:t>Marker-Relative</a:t>
            </a:r>
          </a:p>
          <a:p>
            <a:pPr algn="l">
              <a:lnSpc>
                <a:spcPts val="1800"/>
              </a:lnSpc>
              <a:spcBef>
                <a:spcPct val="0"/>
              </a:spcBef>
            </a:pPr>
            <a:r>
              <a:rPr lang="en-US" sz="1500">
                <a:solidFill>
                  <a:srgbClr val="000000"/>
                </a:solidFill>
                <a:latin typeface="Bai Jamjuree"/>
                <a:ea typeface="Bai Jamjuree"/>
                <a:cs typeface="Bai Jamjuree"/>
                <a:sym typeface="Bai Jamjuree"/>
              </a:rPr>
              <a:t>Cung cấp vị trí tương đối giữa UAV và target nhằm giảm thiểu sai số cảm biến GPS, Baro, ...</a:t>
            </a:r>
          </a:p>
          <a:p>
            <a:pPr algn="l">
              <a:lnSpc>
                <a:spcPts val="1800"/>
              </a:lnSpc>
              <a:spcBef>
                <a:spcPct val="0"/>
              </a:spcBef>
            </a:pPr>
            <a:endParaRPr lang="en-US" sz="1500">
              <a:solidFill>
                <a:srgbClr val="000000"/>
              </a:solidFill>
              <a:latin typeface="Bai Jamjuree"/>
              <a:ea typeface="Bai Jamjuree"/>
              <a:cs typeface="Bai Jamjuree"/>
              <a:sym typeface="Bai Jamjure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124712"/>
            <a:chOff x="0" y="0"/>
            <a:chExt cx="24383390" cy="1499616"/>
          </a:xfrm>
        </p:grpSpPr>
        <p:sp>
          <p:nvSpPr>
            <p:cNvPr id="3" name="Freeform 3"/>
            <p:cNvSpPr/>
            <p:nvPr/>
          </p:nvSpPr>
          <p:spPr>
            <a:xfrm>
              <a:off x="0" y="0"/>
              <a:ext cx="24383364" cy="1499616"/>
            </a:xfrm>
            <a:custGeom>
              <a:avLst/>
              <a:gdLst/>
              <a:ahLst/>
              <a:cxnLst/>
              <a:rect l="l" t="t" r="r" b="b"/>
              <a:pathLst>
                <a:path w="24383364" h="1499616">
                  <a:moveTo>
                    <a:pt x="0" y="0"/>
                  </a:moveTo>
                  <a:lnTo>
                    <a:pt x="24383364" y="0"/>
                  </a:lnTo>
                  <a:lnTo>
                    <a:pt x="24383364" y="1499616"/>
                  </a:lnTo>
                  <a:lnTo>
                    <a:pt x="0" y="1499616"/>
                  </a:lnTo>
                  <a:close/>
                </a:path>
              </a:pathLst>
            </a:custGeom>
            <a:solidFill>
              <a:srgbClr val="F0F0F0"/>
            </a:solidFill>
          </p:spPr>
          <p:txBody>
            <a:bodyPr/>
            <a:lstStyle/>
            <a:p>
              <a:endParaRPr lang="en-US"/>
            </a:p>
          </p:txBody>
        </p:sp>
      </p:grpSp>
      <p:grpSp>
        <p:nvGrpSpPr>
          <p:cNvPr id="4" name="Group 4"/>
          <p:cNvGrpSpPr/>
          <p:nvPr/>
        </p:nvGrpSpPr>
        <p:grpSpPr>
          <a:xfrm>
            <a:off x="0" y="0"/>
            <a:ext cx="1645920" cy="1124712"/>
            <a:chOff x="0" y="0"/>
            <a:chExt cx="2194560" cy="1499616"/>
          </a:xfrm>
        </p:grpSpPr>
        <p:sp>
          <p:nvSpPr>
            <p:cNvPr id="5" name="Freeform 5"/>
            <p:cNvSpPr/>
            <p:nvPr/>
          </p:nvSpPr>
          <p:spPr>
            <a:xfrm>
              <a:off x="0" y="0"/>
              <a:ext cx="2194560" cy="1499616"/>
            </a:xfrm>
            <a:custGeom>
              <a:avLst/>
              <a:gdLst/>
              <a:ahLst/>
              <a:cxnLst/>
              <a:rect l="l" t="t" r="r" b="b"/>
              <a:pathLst>
                <a:path w="2194560" h="1499616">
                  <a:moveTo>
                    <a:pt x="0" y="0"/>
                  </a:moveTo>
                  <a:lnTo>
                    <a:pt x="2194560" y="0"/>
                  </a:lnTo>
                  <a:lnTo>
                    <a:pt x="2194560" y="1499616"/>
                  </a:lnTo>
                  <a:lnTo>
                    <a:pt x="0" y="1499616"/>
                  </a:lnTo>
                  <a:close/>
                </a:path>
              </a:pathLst>
            </a:custGeom>
            <a:solidFill>
              <a:srgbClr val="DC2D3A"/>
            </a:solidFill>
          </p:spPr>
          <p:txBody>
            <a:bodyPr/>
            <a:lstStyle/>
            <a:p>
              <a:endParaRPr lang="en-US"/>
            </a:p>
          </p:txBody>
        </p:sp>
      </p:grpSp>
      <p:grpSp>
        <p:nvGrpSpPr>
          <p:cNvPr id="6" name="Group 6"/>
          <p:cNvGrpSpPr/>
          <p:nvPr/>
        </p:nvGrpSpPr>
        <p:grpSpPr>
          <a:xfrm>
            <a:off x="1645920" y="0"/>
            <a:ext cx="7886700" cy="1124712"/>
            <a:chOff x="0" y="0"/>
            <a:chExt cx="10515600" cy="1499616"/>
          </a:xfrm>
        </p:grpSpPr>
        <p:sp>
          <p:nvSpPr>
            <p:cNvPr id="7" name="Freeform 7"/>
            <p:cNvSpPr/>
            <p:nvPr/>
          </p:nvSpPr>
          <p:spPr>
            <a:xfrm>
              <a:off x="0" y="0"/>
              <a:ext cx="10515600" cy="1499616"/>
            </a:xfrm>
            <a:custGeom>
              <a:avLst/>
              <a:gdLst/>
              <a:ahLst/>
              <a:cxnLst/>
              <a:rect l="l" t="t" r="r" b="b"/>
              <a:pathLst>
                <a:path w="10515600" h="1499616">
                  <a:moveTo>
                    <a:pt x="0" y="0"/>
                  </a:moveTo>
                  <a:lnTo>
                    <a:pt x="10515600" y="0"/>
                  </a:lnTo>
                  <a:lnTo>
                    <a:pt x="9509760" y="1499616"/>
                  </a:lnTo>
                  <a:lnTo>
                    <a:pt x="0" y="1499616"/>
                  </a:lnTo>
                  <a:close/>
                </a:path>
              </a:pathLst>
            </a:custGeom>
            <a:solidFill>
              <a:srgbClr val="595959"/>
            </a:solidFill>
          </p:spPr>
          <p:txBody>
            <a:bodyPr/>
            <a:lstStyle/>
            <a:p>
              <a:endParaRPr lang="en-US"/>
            </a:p>
          </p:txBody>
        </p:sp>
      </p:grpSp>
      <p:grpSp>
        <p:nvGrpSpPr>
          <p:cNvPr id="8" name="Group 8"/>
          <p:cNvGrpSpPr/>
          <p:nvPr/>
        </p:nvGrpSpPr>
        <p:grpSpPr>
          <a:xfrm>
            <a:off x="1988820" y="0"/>
            <a:ext cx="6858000" cy="1124712"/>
            <a:chOff x="0" y="0"/>
            <a:chExt cx="9144000" cy="1499616"/>
          </a:xfrm>
        </p:grpSpPr>
        <p:sp>
          <p:nvSpPr>
            <p:cNvPr id="9" name="Freeform 9"/>
            <p:cNvSpPr/>
            <p:nvPr/>
          </p:nvSpPr>
          <p:spPr>
            <a:xfrm>
              <a:off x="0" y="0"/>
              <a:ext cx="9144000" cy="1499616"/>
            </a:xfrm>
            <a:custGeom>
              <a:avLst/>
              <a:gdLst/>
              <a:ahLst/>
              <a:cxnLst/>
              <a:rect l="l" t="t" r="r" b="b"/>
              <a:pathLst>
                <a:path w="9144000" h="1499616">
                  <a:moveTo>
                    <a:pt x="0" y="0"/>
                  </a:moveTo>
                  <a:lnTo>
                    <a:pt x="9144000" y="0"/>
                  </a:lnTo>
                  <a:lnTo>
                    <a:pt x="9144000" y="1499616"/>
                  </a:lnTo>
                  <a:lnTo>
                    <a:pt x="0" y="1499616"/>
                  </a:lnTo>
                  <a:close/>
                </a:path>
              </a:pathLst>
            </a:custGeom>
            <a:blipFill>
              <a:blip r:embed="rId3">
                <a:alphaModFix amt="0"/>
              </a:blip>
              <a:stretch>
                <a:fillRect t="-68811" b="-68811"/>
              </a:stretch>
            </a:blipFill>
          </p:spPr>
          <p:txBody>
            <a:bodyPr/>
            <a:lstStyle/>
            <a:p>
              <a:endParaRPr lang="en-US"/>
            </a:p>
          </p:txBody>
        </p:sp>
        <p:sp>
          <p:nvSpPr>
            <p:cNvPr id="10" name="TextBox 10"/>
            <p:cNvSpPr txBox="1"/>
            <p:nvPr/>
          </p:nvSpPr>
          <p:spPr>
            <a:xfrm>
              <a:off x="0" y="-28575"/>
              <a:ext cx="9144000" cy="1528191"/>
            </a:xfrm>
            <a:prstGeom prst="rect">
              <a:avLst/>
            </a:prstGeom>
          </p:spPr>
          <p:txBody>
            <a:bodyPr lIns="0" tIns="0" rIns="0" bIns="0" rtlCol="0" anchor="ctr"/>
            <a:lstStyle/>
            <a:p>
              <a:pPr algn="l">
                <a:lnSpc>
                  <a:spcPts val="4319"/>
                </a:lnSpc>
              </a:pPr>
              <a:r>
                <a:rPr lang="en-US" sz="3599" b="1">
                  <a:solidFill>
                    <a:srgbClr val="FFFFFF"/>
                  </a:solidFill>
                  <a:latin typeface="Arial Bold"/>
                  <a:ea typeface="Arial Bold"/>
                  <a:cs typeface="Arial Bold"/>
                  <a:sym typeface="Arial Bold"/>
                </a:rPr>
                <a:t>THIẾT KẾ THUẬT TOÁN</a:t>
              </a:r>
            </a:p>
          </p:txBody>
        </p:sp>
      </p:grpSp>
      <p:grpSp>
        <p:nvGrpSpPr>
          <p:cNvPr id="11" name="Group 11"/>
          <p:cNvGrpSpPr/>
          <p:nvPr/>
        </p:nvGrpSpPr>
        <p:grpSpPr>
          <a:xfrm>
            <a:off x="548640" y="1303020"/>
            <a:ext cx="17186148" cy="617220"/>
            <a:chOff x="0" y="0"/>
            <a:chExt cx="22914864" cy="822960"/>
          </a:xfrm>
        </p:grpSpPr>
        <p:sp>
          <p:nvSpPr>
            <p:cNvPr id="12" name="Freeform 12"/>
            <p:cNvSpPr/>
            <p:nvPr/>
          </p:nvSpPr>
          <p:spPr>
            <a:xfrm>
              <a:off x="0" y="0"/>
              <a:ext cx="22914863" cy="822960"/>
            </a:xfrm>
            <a:custGeom>
              <a:avLst/>
              <a:gdLst/>
              <a:ahLst/>
              <a:cxnLst/>
              <a:rect l="l" t="t" r="r" b="b"/>
              <a:pathLst>
                <a:path w="22914863" h="822960">
                  <a:moveTo>
                    <a:pt x="0" y="0"/>
                  </a:moveTo>
                  <a:lnTo>
                    <a:pt x="22914863" y="0"/>
                  </a:lnTo>
                  <a:lnTo>
                    <a:pt x="22914863" y="822960"/>
                  </a:lnTo>
                  <a:lnTo>
                    <a:pt x="0" y="822960"/>
                  </a:lnTo>
                  <a:close/>
                </a:path>
              </a:pathLst>
            </a:custGeom>
            <a:solidFill>
              <a:srgbClr val="F0F0F0"/>
            </a:solidFill>
          </p:spPr>
          <p:txBody>
            <a:bodyPr/>
            <a:lstStyle/>
            <a:p>
              <a:endParaRPr lang="en-US"/>
            </a:p>
          </p:txBody>
        </p:sp>
      </p:grpSp>
      <p:grpSp>
        <p:nvGrpSpPr>
          <p:cNvPr id="13" name="Group 13"/>
          <p:cNvGrpSpPr/>
          <p:nvPr/>
        </p:nvGrpSpPr>
        <p:grpSpPr>
          <a:xfrm>
            <a:off x="754380" y="1303020"/>
            <a:ext cx="9601200" cy="756666"/>
            <a:chOff x="0" y="0"/>
            <a:chExt cx="12801600" cy="1008888"/>
          </a:xfrm>
        </p:grpSpPr>
        <p:sp>
          <p:nvSpPr>
            <p:cNvPr id="14" name="Freeform 14"/>
            <p:cNvSpPr/>
            <p:nvPr/>
          </p:nvSpPr>
          <p:spPr>
            <a:xfrm>
              <a:off x="0" y="0"/>
              <a:ext cx="12801600" cy="1008888"/>
            </a:xfrm>
            <a:custGeom>
              <a:avLst/>
              <a:gdLst/>
              <a:ahLst/>
              <a:cxnLst/>
              <a:rect l="l" t="t" r="r" b="b"/>
              <a:pathLst>
                <a:path w="12801600" h="1008888">
                  <a:moveTo>
                    <a:pt x="0" y="0"/>
                  </a:moveTo>
                  <a:lnTo>
                    <a:pt x="12801600" y="0"/>
                  </a:lnTo>
                  <a:lnTo>
                    <a:pt x="12801600" y="1008888"/>
                  </a:lnTo>
                  <a:lnTo>
                    <a:pt x="0" y="1008888"/>
                  </a:lnTo>
                  <a:close/>
                </a:path>
              </a:pathLst>
            </a:custGeom>
            <a:blipFill>
              <a:blip r:embed="rId3">
                <a:alphaModFix amt="0"/>
              </a:blip>
              <a:stretch>
                <a:fillRect t="-206456" b="-188027"/>
              </a:stretch>
            </a:blipFill>
          </p:spPr>
          <p:txBody>
            <a:bodyPr/>
            <a:lstStyle/>
            <a:p>
              <a:endParaRPr lang="en-US"/>
            </a:p>
          </p:txBody>
        </p:sp>
        <p:sp>
          <p:nvSpPr>
            <p:cNvPr id="15" name="TextBox 15"/>
            <p:cNvSpPr txBox="1"/>
            <p:nvPr/>
          </p:nvSpPr>
          <p:spPr>
            <a:xfrm>
              <a:off x="0" y="-9525"/>
              <a:ext cx="12801600" cy="1018413"/>
            </a:xfrm>
            <a:prstGeom prst="rect">
              <a:avLst/>
            </a:prstGeom>
          </p:spPr>
          <p:txBody>
            <a:bodyPr lIns="0" tIns="0" rIns="0" bIns="0" rtlCol="0" anchor="ctr"/>
            <a:lstStyle/>
            <a:p>
              <a:pPr algn="l">
                <a:lnSpc>
                  <a:spcPts val="3600"/>
                </a:lnSpc>
              </a:pPr>
              <a:r>
                <a:rPr lang="en-US" sz="3000" b="1">
                  <a:solidFill>
                    <a:srgbClr val="1F2937"/>
                  </a:solidFill>
                  <a:latin typeface="Bai Jamjuree Bold"/>
                  <a:ea typeface="Bai Jamjuree Bold"/>
                  <a:cs typeface="Bai Jamjuree Bold"/>
                  <a:sym typeface="Bai Jamjuree Bold"/>
                </a:rPr>
                <a:t>TẦNG NHẬN DIỆN VÀ ƯỚC LƯỢNG MỤC TIÊU</a:t>
              </a:r>
            </a:p>
          </p:txBody>
        </p:sp>
      </p:grpSp>
      <p:grpSp>
        <p:nvGrpSpPr>
          <p:cNvPr id="16" name="Group 16"/>
          <p:cNvGrpSpPr/>
          <p:nvPr/>
        </p:nvGrpSpPr>
        <p:grpSpPr>
          <a:xfrm>
            <a:off x="10149840" y="1303020"/>
            <a:ext cx="7406640" cy="617220"/>
            <a:chOff x="0" y="0"/>
            <a:chExt cx="9875520" cy="822960"/>
          </a:xfrm>
        </p:grpSpPr>
        <p:sp>
          <p:nvSpPr>
            <p:cNvPr id="17" name="Freeform 17"/>
            <p:cNvSpPr/>
            <p:nvPr/>
          </p:nvSpPr>
          <p:spPr>
            <a:xfrm>
              <a:off x="0" y="0"/>
              <a:ext cx="9875520" cy="822960"/>
            </a:xfrm>
            <a:custGeom>
              <a:avLst/>
              <a:gdLst/>
              <a:ahLst/>
              <a:cxnLst/>
              <a:rect l="l" t="t" r="r" b="b"/>
              <a:pathLst>
                <a:path w="9875520" h="822960">
                  <a:moveTo>
                    <a:pt x="0" y="0"/>
                  </a:moveTo>
                  <a:lnTo>
                    <a:pt x="9875520" y="0"/>
                  </a:lnTo>
                  <a:lnTo>
                    <a:pt x="9875520" y="822960"/>
                  </a:lnTo>
                  <a:lnTo>
                    <a:pt x="0" y="822960"/>
                  </a:lnTo>
                  <a:close/>
                </a:path>
              </a:pathLst>
            </a:custGeom>
            <a:blipFill>
              <a:blip r:embed="rId3">
                <a:alphaModFix amt="0"/>
              </a:blip>
              <a:stretch>
                <a:fillRect t="-183820" b="-183820"/>
              </a:stretch>
            </a:blipFill>
          </p:spPr>
          <p:txBody>
            <a:bodyPr/>
            <a:lstStyle/>
            <a:p>
              <a:endParaRPr lang="en-US"/>
            </a:p>
          </p:txBody>
        </p:sp>
        <p:sp>
          <p:nvSpPr>
            <p:cNvPr id="18" name="TextBox 18"/>
            <p:cNvSpPr txBox="1"/>
            <p:nvPr/>
          </p:nvSpPr>
          <p:spPr>
            <a:xfrm>
              <a:off x="0" y="0"/>
              <a:ext cx="9875520" cy="822960"/>
            </a:xfrm>
            <a:prstGeom prst="rect">
              <a:avLst/>
            </a:prstGeom>
          </p:spPr>
          <p:txBody>
            <a:bodyPr lIns="0" tIns="0" rIns="0" bIns="0" rtlCol="0" anchor="ctr"/>
            <a:lstStyle/>
            <a:p>
              <a:pPr algn="r">
                <a:lnSpc>
                  <a:spcPts val="2160"/>
                </a:lnSpc>
              </a:pPr>
              <a:r>
                <a:rPr lang="en-US" sz="1800">
                  <a:solidFill>
                    <a:srgbClr val="6B7280"/>
                  </a:solidFill>
                  <a:latin typeface="Bai Jamjuree"/>
                  <a:ea typeface="Bai Jamjuree"/>
                  <a:cs typeface="Bai Jamjuree"/>
                  <a:sym typeface="Bai Jamjuree"/>
                </a:rPr>
                <a:t>Camera → thông tin mục tiêu → tầng tính toán lệnh bay</a:t>
              </a:r>
            </a:p>
          </p:txBody>
        </p:sp>
      </p:grpSp>
      <p:grpSp>
        <p:nvGrpSpPr>
          <p:cNvPr id="19" name="Group 19"/>
          <p:cNvGrpSpPr/>
          <p:nvPr/>
        </p:nvGrpSpPr>
        <p:grpSpPr>
          <a:xfrm>
            <a:off x="531971" y="2040731"/>
            <a:ext cx="10663238" cy="6617018"/>
            <a:chOff x="0" y="0"/>
            <a:chExt cx="14217650" cy="8822690"/>
          </a:xfrm>
        </p:grpSpPr>
        <p:sp>
          <p:nvSpPr>
            <p:cNvPr id="20" name="Freeform 20"/>
            <p:cNvSpPr/>
            <p:nvPr/>
          </p:nvSpPr>
          <p:spPr>
            <a:xfrm>
              <a:off x="0" y="0"/>
              <a:ext cx="14217650" cy="8822690"/>
            </a:xfrm>
            <a:custGeom>
              <a:avLst/>
              <a:gdLst/>
              <a:ahLst/>
              <a:cxnLst/>
              <a:rect l="l" t="t" r="r" b="b"/>
              <a:pathLst>
                <a:path w="14217650" h="8822690">
                  <a:moveTo>
                    <a:pt x="0" y="147066"/>
                  </a:moveTo>
                  <a:cubicBezTo>
                    <a:pt x="0" y="65786"/>
                    <a:pt x="65786" y="0"/>
                    <a:pt x="147066" y="0"/>
                  </a:cubicBezTo>
                  <a:lnTo>
                    <a:pt x="14070585" y="0"/>
                  </a:lnTo>
                  <a:cubicBezTo>
                    <a:pt x="14151865" y="0"/>
                    <a:pt x="14217650" y="65786"/>
                    <a:pt x="14217650" y="147066"/>
                  </a:cubicBezTo>
                  <a:lnTo>
                    <a:pt x="14217650" y="8675624"/>
                  </a:lnTo>
                  <a:cubicBezTo>
                    <a:pt x="14217650" y="8756904"/>
                    <a:pt x="14151865" y="8822690"/>
                    <a:pt x="14070585" y="8822690"/>
                  </a:cubicBezTo>
                  <a:lnTo>
                    <a:pt x="147066" y="8822690"/>
                  </a:lnTo>
                  <a:cubicBezTo>
                    <a:pt x="65786" y="8822690"/>
                    <a:pt x="0" y="8756904"/>
                    <a:pt x="0" y="8675624"/>
                  </a:cubicBezTo>
                  <a:close/>
                </a:path>
              </a:pathLst>
            </a:custGeom>
            <a:solidFill>
              <a:srgbClr val="F2F3F5"/>
            </a:solidFill>
            <a:ln w="33338" cap="sq">
              <a:solidFill>
                <a:srgbClr val="DC2D3A"/>
              </a:solidFill>
              <a:prstDash val="solid"/>
              <a:miter/>
            </a:ln>
          </p:spPr>
          <p:txBody>
            <a:bodyPr/>
            <a:lstStyle/>
            <a:p>
              <a:endParaRPr lang="en-US"/>
            </a:p>
          </p:txBody>
        </p:sp>
      </p:grpSp>
      <p:grpSp>
        <p:nvGrpSpPr>
          <p:cNvPr id="21" name="Group 21"/>
          <p:cNvGrpSpPr/>
          <p:nvPr/>
        </p:nvGrpSpPr>
        <p:grpSpPr>
          <a:xfrm>
            <a:off x="754380" y="2194560"/>
            <a:ext cx="411480" cy="522580"/>
            <a:chOff x="0" y="0"/>
            <a:chExt cx="548640" cy="696773"/>
          </a:xfrm>
        </p:grpSpPr>
        <p:sp>
          <p:nvSpPr>
            <p:cNvPr id="22" name="Freeform 22"/>
            <p:cNvSpPr/>
            <p:nvPr/>
          </p:nvSpPr>
          <p:spPr>
            <a:xfrm>
              <a:off x="0" y="0"/>
              <a:ext cx="548640" cy="696773"/>
            </a:xfrm>
            <a:custGeom>
              <a:avLst/>
              <a:gdLst/>
              <a:ahLst/>
              <a:cxnLst/>
              <a:rect l="l" t="t" r="r" b="b"/>
              <a:pathLst>
                <a:path w="548640" h="696773">
                  <a:moveTo>
                    <a:pt x="0" y="348386"/>
                  </a:moveTo>
                  <a:cubicBezTo>
                    <a:pt x="0" y="155967"/>
                    <a:pt x="122809" y="0"/>
                    <a:pt x="274320" y="0"/>
                  </a:cubicBezTo>
                  <a:cubicBezTo>
                    <a:pt x="425831" y="0"/>
                    <a:pt x="548640" y="155967"/>
                    <a:pt x="548640" y="348386"/>
                  </a:cubicBezTo>
                  <a:cubicBezTo>
                    <a:pt x="548640" y="540805"/>
                    <a:pt x="425831" y="696773"/>
                    <a:pt x="274320" y="696773"/>
                  </a:cubicBezTo>
                  <a:cubicBezTo>
                    <a:pt x="122809" y="696773"/>
                    <a:pt x="0" y="540805"/>
                    <a:pt x="0" y="348386"/>
                  </a:cubicBezTo>
                  <a:close/>
                </a:path>
              </a:pathLst>
            </a:custGeom>
            <a:solidFill>
              <a:srgbClr val="DC2D3A"/>
            </a:solidFill>
          </p:spPr>
          <p:txBody>
            <a:bodyPr/>
            <a:lstStyle/>
            <a:p>
              <a:endParaRPr lang="en-US"/>
            </a:p>
          </p:txBody>
        </p:sp>
        <p:sp>
          <p:nvSpPr>
            <p:cNvPr id="23" name="TextBox 23"/>
            <p:cNvSpPr txBox="1"/>
            <p:nvPr/>
          </p:nvSpPr>
          <p:spPr>
            <a:xfrm>
              <a:off x="0" y="0"/>
              <a:ext cx="548640" cy="696773"/>
            </a:xfrm>
            <a:prstGeom prst="rect">
              <a:avLst/>
            </a:prstGeom>
          </p:spPr>
          <p:txBody>
            <a:bodyPr lIns="50800" tIns="50800" rIns="50800" bIns="50800" rtlCol="0" anchor="ctr"/>
            <a:lstStyle/>
            <a:p>
              <a:pPr algn="ctr">
                <a:lnSpc>
                  <a:spcPts val="2160"/>
                </a:lnSpc>
              </a:pPr>
              <a:r>
                <a:rPr lang="en-US" sz="1800" b="1">
                  <a:solidFill>
                    <a:srgbClr val="FFFFFF"/>
                  </a:solidFill>
                  <a:latin typeface="Bai Jamjuree Bold"/>
                  <a:ea typeface="Bai Jamjuree Bold"/>
                  <a:cs typeface="Bai Jamjuree Bold"/>
                  <a:sym typeface="Bai Jamjuree Bold"/>
                </a:rPr>
                <a:t>1</a:t>
              </a:r>
            </a:p>
          </p:txBody>
        </p:sp>
      </p:grpSp>
      <p:grpSp>
        <p:nvGrpSpPr>
          <p:cNvPr id="24" name="Group 24"/>
          <p:cNvGrpSpPr/>
          <p:nvPr/>
        </p:nvGrpSpPr>
        <p:grpSpPr>
          <a:xfrm>
            <a:off x="1371600" y="2167128"/>
            <a:ext cx="6858000" cy="635546"/>
            <a:chOff x="0" y="0"/>
            <a:chExt cx="9144000" cy="847395"/>
          </a:xfrm>
        </p:grpSpPr>
        <p:sp>
          <p:nvSpPr>
            <p:cNvPr id="25" name="Freeform 25"/>
            <p:cNvSpPr/>
            <p:nvPr/>
          </p:nvSpPr>
          <p:spPr>
            <a:xfrm>
              <a:off x="0" y="0"/>
              <a:ext cx="9144000" cy="847395"/>
            </a:xfrm>
            <a:custGeom>
              <a:avLst/>
              <a:gdLst/>
              <a:ahLst/>
              <a:cxnLst/>
              <a:rect l="l" t="t" r="r" b="b"/>
              <a:pathLst>
                <a:path w="9144000" h="847395">
                  <a:moveTo>
                    <a:pt x="0" y="0"/>
                  </a:moveTo>
                  <a:lnTo>
                    <a:pt x="9144000" y="0"/>
                  </a:lnTo>
                  <a:lnTo>
                    <a:pt x="9144000" y="847395"/>
                  </a:lnTo>
                  <a:lnTo>
                    <a:pt x="0" y="847395"/>
                  </a:lnTo>
                  <a:close/>
                </a:path>
              </a:pathLst>
            </a:custGeom>
            <a:blipFill>
              <a:blip r:embed="rId3">
                <a:alphaModFix amt="0"/>
              </a:blip>
              <a:stretch>
                <a:fillRect t="-173569" b="-146946"/>
              </a:stretch>
            </a:blipFill>
          </p:spPr>
          <p:txBody>
            <a:bodyPr/>
            <a:lstStyle/>
            <a:p>
              <a:endParaRPr lang="en-US"/>
            </a:p>
          </p:txBody>
        </p:sp>
        <p:sp>
          <p:nvSpPr>
            <p:cNvPr id="26" name="TextBox 26"/>
            <p:cNvSpPr txBox="1"/>
            <p:nvPr/>
          </p:nvSpPr>
          <p:spPr>
            <a:xfrm>
              <a:off x="0" y="0"/>
              <a:ext cx="9144000" cy="847395"/>
            </a:xfrm>
            <a:prstGeom prst="rect">
              <a:avLst/>
            </a:prstGeom>
          </p:spPr>
          <p:txBody>
            <a:bodyPr lIns="0" tIns="0" rIns="0" bIns="0" rtlCol="0" anchor="ctr"/>
            <a:lstStyle/>
            <a:p>
              <a:pPr algn="l">
                <a:lnSpc>
                  <a:spcPts val="3060"/>
                </a:lnSpc>
              </a:pPr>
              <a:r>
                <a:rPr lang="en-US" sz="2550" b="1">
                  <a:solidFill>
                    <a:srgbClr val="1F2937"/>
                  </a:solidFill>
                  <a:latin typeface="Bai Jamjuree Bold"/>
                  <a:ea typeface="Bai Jamjuree Bold"/>
                  <a:cs typeface="Bai Jamjuree Bold"/>
                  <a:sym typeface="Bai Jamjuree Bold"/>
                </a:rPr>
                <a:t>IBVS – Bám mục tiêu dựa trên hình ảnh</a:t>
              </a:r>
            </a:p>
          </p:txBody>
        </p:sp>
      </p:grpSp>
      <p:sp>
        <p:nvSpPr>
          <p:cNvPr id="27" name="TextBox 27"/>
          <p:cNvSpPr txBox="1"/>
          <p:nvPr/>
        </p:nvSpPr>
        <p:spPr>
          <a:xfrm>
            <a:off x="1371600" y="2656713"/>
            <a:ext cx="4389120" cy="238125"/>
          </a:xfrm>
          <a:prstGeom prst="rect">
            <a:avLst/>
          </a:prstGeom>
        </p:spPr>
        <p:txBody>
          <a:bodyPr lIns="0" tIns="0" rIns="0" bIns="0" rtlCol="0" anchor="t">
            <a:spAutoFit/>
          </a:bodyPr>
          <a:lstStyle/>
          <a:p>
            <a:pPr algn="l">
              <a:lnSpc>
                <a:spcPts val="1980"/>
              </a:lnSpc>
            </a:pPr>
            <a:r>
              <a:rPr lang="en-US" sz="1650" i="1">
                <a:solidFill>
                  <a:srgbClr val="1F7A8C"/>
                </a:solidFill>
                <a:latin typeface="Bai Jamjuree Italics"/>
                <a:ea typeface="Bai Jamjuree Italics"/>
                <a:cs typeface="Bai Jamjuree Italics"/>
                <a:sym typeface="Bai Jamjuree Italics"/>
              </a:rPr>
              <a:t>Image-Based Visual Servoing</a:t>
            </a:r>
          </a:p>
        </p:txBody>
      </p:sp>
      <p:grpSp>
        <p:nvGrpSpPr>
          <p:cNvPr id="28" name="Group 28"/>
          <p:cNvGrpSpPr/>
          <p:nvPr/>
        </p:nvGrpSpPr>
        <p:grpSpPr>
          <a:xfrm>
            <a:off x="7605236" y="2242280"/>
            <a:ext cx="3306128" cy="316040"/>
            <a:chOff x="0" y="0"/>
            <a:chExt cx="4408170" cy="421386"/>
          </a:xfrm>
        </p:grpSpPr>
        <p:sp>
          <p:nvSpPr>
            <p:cNvPr id="29" name="Freeform 29"/>
            <p:cNvSpPr/>
            <p:nvPr/>
          </p:nvSpPr>
          <p:spPr>
            <a:xfrm>
              <a:off x="0" y="0"/>
              <a:ext cx="4408170" cy="421386"/>
            </a:xfrm>
            <a:custGeom>
              <a:avLst/>
              <a:gdLst/>
              <a:ahLst/>
              <a:cxnLst/>
              <a:rect l="l" t="t" r="r" b="b"/>
              <a:pathLst>
                <a:path w="4408170" h="421386">
                  <a:moveTo>
                    <a:pt x="0" y="191516"/>
                  </a:moveTo>
                  <a:cubicBezTo>
                    <a:pt x="0" y="85725"/>
                    <a:pt x="85725" y="0"/>
                    <a:pt x="191516" y="0"/>
                  </a:cubicBezTo>
                  <a:lnTo>
                    <a:pt x="4216654" y="0"/>
                  </a:lnTo>
                  <a:cubicBezTo>
                    <a:pt x="4322445" y="0"/>
                    <a:pt x="4408170" y="85725"/>
                    <a:pt x="4408170" y="191516"/>
                  </a:cubicBezTo>
                  <a:lnTo>
                    <a:pt x="4408170" y="229870"/>
                  </a:lnTo>
                  <a:cubicBezTo>
                    <a:pt x="4408170" y="335661"/>
                    <a:pt x="4322445" y="421386"/>
                    <a:pt x="4216654" y="421386"/>
                  </a:cubicBezTo>
                  <a:lnTo>
                    <a:pt x="191516" y="421386"/>
                  </a:lnTo>
                  <a:cubicBezTo>
                    <a:pt x="85725" y="421386"/>
                    <a:pt x="0" y="335661"/>
                    <a:pt x="0" y="229870"/>
                  </a:cubicBezTo>
                  <a:close/>
                </a:path>
              </a:pathLst>
            </a:custGeom>
            <a:solidFill>
              <a:srgbClr val="FDECEE"/>
            </a:solidFill>
            <a:ln w="14288" cap="sq">
              <a:solidFill>
                <a:srgbClr val="DC2D3A"/>
              </a:solidFill>
              <a:prstDash val="solid"/>
              <a:miter/>
            </a:ln>
          </p:spPr>
          <p:txBody>
            <a:bodyPr/>
            <a:lstStyle/>
            <a:p>
              <a:endParaRPr lang="en-US"/>
            </a:p>
          </p:txBody>
        </p:sp>
      </p:grpSp>
      <p:grpSp>
        <p:nvGrpSpPr>
          <p:cNvPr id="30" name="Group 30"/>
          <p:cNvGrpSpPr/>
          <p:nvPr/>
        </p:nvGrpSpPr>
        <p:grpSpPr>
          <a:xfrm>
            <a:off x="7619524" y="2249424"/>
            <a:ext cx="3291840" cy="379476"/>
            <a:chOff x="0" y="0"/>
            <a:chExt cx="4389120" cy="505968"/>
          </a:xfrm>
        </p:grpSpPr>
        <p:sp>
          <p:nvSpPr>
            <p:cNvPr id="31" name="Freeform 31"/>
            <p:cNvSpPr/>
            <p:nvPr/>
          </p:nvSpPr>
          <p:spPr>
            <a:xfrm>
              <a:off x="0" y="0"/>
              <a:ext cx="4389120" cy="504444"/>
            </a:xfrm>
            <a:custGeom>
              <a:avLst/>
              <a:gdLst/>
              <a:ahLst/>
              <a:cxnLst/>
              <a:rect l="l" t="t" r="r" b="b"/>
              <a:pathLst>
                <a:path w="4389120" h="504444">
                  <a:moveTo>
                    <a:pt x="0" y="0"/>
                  </a:moveTo>
                  <a:lnTo>
                    <a:pt x="4389120" y="0"/>
                  </a:lnTo>
                  <a:lnTo>
                    <a:pt x="4389120" y="504444"/>
                  </a:lnTo>
                  <a:lnTo>
                    <a:pt x="0" y="504444"/>
                  </a:lnTo>
                  <a:close/>
                </a:path>
              </a:pathLst>
            </a:custGeom>
            <a:blipFill>
              <a:blip r:embed="rId3">
                <a:alphaModFix amt="0"/>
              </a:blip>
              <a:stretch>
                <a:fillRect t="-129658" b="-109416"/>
              </a:stretch>
            </a:blipFill>
          </p:spPr>
          <p:txBody>
            <a:bodyPr/>
            <a:lstStyle/>
            <a:p>
              <a:endParaRPr lang="en-US"/>
            </a:p>
          </p:txBody>
        </p:sp>
        <p:sp>
          <p:nvSpPr>
            <p:cNvPr id="32" name="TextBox 32"/>
            <p:cNvSpPr txBox="1"/>
            <p:nvPr/>
          </p:nvSpPr>
          <p:spPr>
            <a:xfrm>
              <a:off x="0" y="1524"/>
              <a:ext cx="4389120" cy="504444"/>
            </a:xfrm>
            <a:prstGeom prst="rect">
              <a:avLst/>
            </a:prstGeom>
          </p:spPr>
          <p:txBody>
            <a:bodyPr lIns="0" tIns="0" rIns="0" bIns="0" rtlCol="0" anchor="ctr"/>
            <a:lstStyle/>
            <a:p>
              <a:pPr algn="ctr">
                <a:lnSpc>
                  <a:spcPts val="1800"/>
                </a:lnSpc>
              </a:pPr>
              <a:r>
                <a:rPr lang="en-US" sz="1500" b="1">
                  <a:solidFill>
                    <a:srgbClr val="DC2D3A"/>
                  </a:solidFill>
                  <a:latin typeface="Bai Jamjuree Bold"/>
                  <a:ea typeface="Bai Jamjuree Bold"/>
                  <a:cs typeface="Bai Jamjuree Bold"/>
                  <a:sym typeface="Bai Jamjuree Bold"/>
                </a:rPr>
                <a:t>Đầu ra: servo pitch + yaw thân</a:t>
              </a:r>
            </a:p>
          </p:txBody>
        </p:sp>
      </p:grpSp>
      <p:sp>
        <p:nvSpPr>
          <p:cNvPr id="33" name="TextBox 33"/>
          <p:cNvSpPr txBox="1"/>
          <p:nvPr/>
        </p:nvSpPr>
        <p:spPr>
          <a:xfrm>
            <a:off x="754380" y="3007995"/>
            <a:ext cx="10218420" cy="638175"/>
          </a:xfrm>
          <a:prstGeom prst="rect">
            <a:avLst/>
          </a:prstGeom>
        </p:spPr>
        <p:txBody>
          <a:bodyPr lIns="0" tIns="0" rIns="0" bIns="0" rtlCol="0" anchor="t">
            <a:spAutoFit/>
          </a:bodyPr>
          <a:lstStyle/>
          <a:p>
            <a:pPr algn="l">
              <a:lnSpc>
                <a:spcPts val="2520"/>
              </a:lnSpc>
            </a:pPr>
            <a:r>
              <a:rPr lang="en-US" sz="2100">
                <a:solidFill>
                  <a:srgbClr val="374151"/>
                </a:solidFill>
                <a:latin typeface="Bai Jamjuree"/>
                <a:ea typeface="Bai Jamjuree"/>
                <a:cs typeface="Bai Jamjuree"/>
                <a:sym typeface="Bai Jamjuree"/>
              </a:rPr>
              <a:t>Xác định vị trí marker trên ảnh, dùng sai lệch so với vị trí mong muốn làm phản hồi để chỉnh góc gập servo và yaw, giữ bãi đáp trong vùng quan sát.</a:t>
            </a:r>
          </a:p>
        </p:txBody>
      </p:sp>
      <p:grpSp>
        <p:nvGrpSpPr>
          <p:cNvPr id="34" name="Group 34"/>
          <p:cNvGrpSpPr/>
          <p:nvPr/>
        </p:nvGrpSpPr>
        <p:grpSpPr>
          <a:xfrm>
            <a:off x="747236" y="3833336"/>
            <a:ext cx="2688908" cy="2688908"/>
            <a:chOff x="0" y="0"/>
            <a:chExt cx="3585210" cy="3585210"/>
          </a:xfrm>
        </p:grpSpPr>
        <p:sp>
          <p:nvSpPr>
            <p:cNvPr id="35" name="Freeform 35"/>
            <p:cNvSpPr/>
            <p:nvPr/>
          </p:nvSpPr>
          <p:spPr>
            <a:xfrm>
              <a:off x="0" y="0"/>
              <a:ext cx="3585210" cy="3585210"/>
            </a:xfrm>
            <a:custGeom>
              <a:avLst/>
              <a:gdLst/>
              <a:ahLst/>
              <a:cxnLst/>
              <a:rect l="l" t="t" r="r" b="b"/>
              <a:pathLst>
                <a:path w="3585210" h="3585210">
                  <a:moveTo>
                    <a:pt x="0" y="0"/>
                  </a:moveTo>
                  <a:lnTo>
                    <a:pt x="3585210" y="0"/>
                  </a:lnTo>
                  <a:lnTo>
                    <a:pt x="3585210" y="3585210"/>
                  </a:lnTo>
                  <a:lnTo>
                    <a:pt x="0" y="3585210"/>
                  </a:lnTo>
                  <a:close/>
                </a:path>
              </a:pathLst>
            </a:custGeom>
            <a:solidFill>
              <a:srgbClr val="FFFFFF"/>
            </a:solidFill>
            <a:ln w="14288" cap="sq">
              <a:solidFill>
                <a:srgbClr val="D1D5DB"/>
              </a:solidFill>
              <a:prstDash val="solid"/>
              <a:miter/>
            </a:ln>
          </p:spPr>
          <p:txBody>
            <a:bodyPr/>
            <a:lstStyle/>
            <a:p>
              <a:endParaRPr lang="en-US"/>
            </a:p>
          </p:txBody>
        </p:sp>
      </p:grpSp>
      <p:sp>
        <p:nvSpPr>
          <p:cNvPr id="36" name="AutoShape 36"/>
          <p:cNvSpPr/>
          <p:nvPr/>
        </p:nvSpPr>
        <p:spPr>
          <a:xfrm rot="138780">
            <a:off x="1201293" y="4201287"/>
            <a:ext cx="944128" cy="0"/>
          </a:xfrm>
          <a:prstGeom prst="line">
            <a:avLst/>
          </a:prstGeom>
          <a:ln w="19050" cap="rnd">
            <a:solidFill>
              <a:srgbClr val="1F2937"/>
            </a:solidFill>
            <a:prstDash val="solid"/>
            <a:headEnd type="none" w="sm" len="sm"/>
            <a:tailEnd type="none" w="sm" len="sm"/>
          </a:ln>
        </p:spPr>
        <p:txBody>
          <a:bodyPr/>
          <a:lstStyle/>
          <a:p>
            <a:endParaRPr lang="en-US"/>
          </a:p>
        </p:txBody>
      </p:sp>
      <p:grpSp>
        <p:nvGrpSpPr>
          <p:cNvPr id="37" name="Group 37"/>
          <p:cNvGrpSpPr/>
          <p:nvPr/>
        </p:nvGrpSpPr>
        <p:grpSpPr>
          <a:xfrm>
            <a:off x="1399032" y="4128516"/>
            <a:ext cx="548640" cy="178308"/>
            <a:chOff x="0" y="0"/>
            <a:chExt cx="731520" cy="237744"/>
          </a:xfrm>
        </p:grpSpPr>
        <p:sp>
          <p:nvSpPr>
            <p:cNvPr id="38" name="Freeform 38"/>
            <p:cNvSpPr/>
            <p:nvPr/>
          </p:nvSpPr>
          <p:spPr>
            <a:xfrm>
              <a:off x="0" y="0"/>
              <a:ext cx="731520" cy="237744"/>
            </a:xfrm>
            <a:custGeom>
              <a:avLst/>
              <a:gdLst/>
              <a:ahLst/>
              <a:cxnLst/>
              <a:rect l="l" t="t" r="r" b="b"/>
              <a:pathLst>
                <a:path w="731520" h="237744">
                  <a:moveTo>
                    <a:pt x="0" y="73152"/>
                  </a:moveTo>
                  <a:cubicBezTo>
                    <a:pt x="0" y="32766"/>
                    <a:pt x="32766" y="0"/>
                    <a:pt x="73152" y="0"/>
                  </a:cubicBezTo>
                  <a:lnTo>
                    <a:pt x="658368" y="0"/>
                  </a:lnTo>
                  <a:cubicBezTo>
                    <a:pt x="698754" y="0"/>
                    <a:pt x="731520" y="32766"/>
                    <a:pt x="731520" y="73152"/>
                  </a:cubicBezTo>
                  <a:lnTo>
                    <a:pt x="731520" y="164592"/>
                  </a:lnTo>
                  <a:cubicBezTo>
                    <a:pt x="731520" y="204978"/>
                    <a:pt x="698754" y="237744"/>
                    <a:pt x="658368" y="237744"/>
                  </a:cubicBezTo>
                  <a:lnTo>
                    <a:pt x="73152" y="237744"/>
                  </a:lnTo>
                  <a:cubicBezTo>
                    <a:pt x="32766" y="237744"/>
                    <a:pt x="0" y="204978"/>
                    <a:pt x="0" y="164592"/>
                  </a:cubicBezTo>
                  <a:close/>
                </a:path>
              </a:pathLst>
            </a:custGeom>
            <a:solidFill>
              <a:srgbClr val="1F2937"/>
            </a:solidFill>
          </p:spPr>
          <p:txBody>
            <a:bodyPr/>
            <a:lstStyle/>
            <a:p>
              <a:endParaRPr lang="en-US"/>
            </a:p>
          </p:txBody>
        </p:sp>
      </p:grpSp>
      <p:grpSp>
        <p:nvGrpSpPr>
          <p:cNvPr id="39" name="Group 39"/>
          <p:cNvGrpSpPr/>
          <p:nvPr/>
        </p:nvGrpSpPr>
        <p:grpSpPr>
          <a:xfrm>
            <a:off x="1220724" y="4059936"/>
            <a:ext cx="342900" cy="48006"/>
            <a:chOff x="0" y="0"/>
            <a:chExt cx="457200" cy="64008"/>
          </a:xfrm>
        </p:grpSpPr>
        <p:sp>
          <p:nvSpPr>
            <p:cNvPr id="40" name="Freeform 40"/>
            <p:cNvSpPr/>
            <p:nvPr/>
          </p:nvSpPr>
          <p:spPr>
            <a:xfrm>
              <a:off x="0" y="0"/>
              <a:ext cx="457200" cy="64008"/>
            </a:xfrm>
            <a:custGeom>
              <a:avLst/>
              <a:gdLst/>
              <a:ahLst/>
              <a:cxnLst/>
              <a:rect l="l" t="t" r="r" b="b"/>
              <a:pathLst>
                <a:path w="457200" h="64008">
                  <a:moveTo>
                    <a:pt x="0" y="0"/>
                  </a:moveTo>
                  <a:lnTo>
                    <a:pt x="457200" y="0"/>
                  </a:lnTo>
                  <a:lnTo>
                    <a:pt x="457200" y="64008"/>
                  </a:lnTo>
                  <a:lnTo>
                    <a:pt x="0" y="64008"/>
                  </a:lnTo>
                  <a:close/>
                </a:path>
              </a:pathLst>
            </a:custGeom>
            <a:solidFill>
              <a:srgbClr val="6B7280"/>
            </a:solidFill>
          </p:spPr>
          <p:txBody>
            <a:bodyPr/>
            <a:lstStyle/>
            <a:p>
              <a:endParaRPr lang="en-US"/>
            </a:p>
          </p:txBody>
        </p:sp>
      </p:grpSp>
      <p:grpSp>
        <p:nvGrpSpPr>
          <p:cNvPr id="41" name="Group 41"/>
          <p:cNvGrpSpPr/>
          <p:nvPr/>
        </p:nvGrpSpPr>
        <p:grpSpPr>
          <a:xfrm>
            <a:off x="1783080" y="4059936"/>
            <a:ext cx="342900" cy="48006"/>
            <a:chOff x="0" y="0"/>
            <a:chExt cx="457200" cy="64008"/>
          </a:xfrm>
        </p:grpSpPr>
        <p:sp>
          <p:nvSpPr>
            <p:cNvPr id="42" name="Freeform 42"/>
            <p:cNvSpPr/>
            <p:nvPr/>
          </p:nvSpPr>
          <p:spPr>
            <a:xfrm>
              <a:off x="0" y="0"/>
              <a:ext cx="457200" cy="64008"/>
            </a:xfrm>
            <a:custGeom>
              <a:avLst/>
              <a:gdLst/>
              <a:ahLst/>
              <a:cxnLst/>
              <a:rect l="l" t="t" r="r" b="b"/>
              <a:pathLst>
                <a:path w="457200" h="64008">
                  <a:moveTo>
                    <a:pt x="0" y="0"/>
                  </a:moveTo>
                  <a:lnTo>
                    <a:pt x="457200" y="0"/>
                  </a:lnTo>
                  <a:lnTo>
                    <a:pt x="457200" y="64008"/>
                  </a:lnTo>
                  <a:lnTo>
                    <a:pt x="0" y="64008"/>
                  </a:lnTo>
                  <a:close/>
                </a:path>
              </a:pathLst>
            </a:custGeom>
            <a:solidFill>
              <a:srgbClr val="6B7280"/>
            </a:solidFill>
          </p:spPr>
          <p:txBody>
            <a:bodyPr/>
            <a:lstStyle/>
            <a:p>
              <a:endParaRPr lang="en-US"/>
            </a:p>
          </p:txBody>
        </p:sp>
      </p:grpSp>
      <p:grpSp>
        <p:nvGrpSpPr>
          <p:cNvPr id="43" name="Group 43"/>
          <p:cNvGrpSpPr/>
          <p:nvPr/>
        </p:nvGrpSpPr>
        <p:grpSpPr>
          <a:xfrm>
            <a:off x="1508760" y="4347972"/>
            <a:ext cx="329184" cy="205740"/>
            <a:chOff x="0" y="0"/>
            <a:chExt cx="438912" cy="274320"/>
          </a:xfrm>
        </p:grpSpPr>
        <p:sp>
          <p:nvSpPr>
            <p:cNvPr id="44" name="Freeform 44"/>
            <p:cNvSpPr/>
            <p:nvPr/>
          </p:nvSpPr>
          <p:spPr>
            <a:xfrm>
              <a:off x="0" y="0"/>
              <a:ext cx="438912" cy="274320"/>
            </a:xfrm>
            <a:custGeom>
              <a:avLst/>
              <a:gdLst/>
              <a:ahLst/>
              <a:cxnLst/>
              <a:rect l="l" t="t" r="r" b="b"/>
              <a:pathLst>
                <a:path w="438912" h="274320">
                  <a:moveTo>
                    <a:pt x="0" y="54864"/>
                  </a:moveTo>
                  <a:cubicBezTo>
                    <a:pt x="0" y="24511"/>
                    <a:pt x="24511" y="0"/>
                    <a:pt x="54864" y="0"/>
                  </a:cubicBezTo>
                  <a:lnTo>
                    <a:pt x="384048" y="0"/>
                  </a:lnTo>
                  <a:cubicBezTo>
                    <a:pt x="414401" y="0"/>
                    <a:pt x="438912" y="24511"/>
                    <a:pt x="438912" y="54864"/>
                  </a:cubicBezTo>
                  <a:lnTo>
                    <a:pt x="438912" y="219456"/>
                  </a:lnTo>
                  <a:cubicBezTo>
                    <a:pt x="438912" y="249809"/>
                    <a:pt x="414401" y="274320"/>
                    <a:pt x="384048" y="274320"/>
                  </a:cubicBezTo>
                  <a:lnTo>
                    <a:pt x="54864" y="274320"/>
                  </a:lnTo>
                  <a:cubicBezTo>
                    <a:pt x="24511" y="274320"/>
                    <a:pt x="0" y="249809"/>
                    <a:pt x="0" y="219456"/>
                  </a:cubicBezTo>
                  <a:close/>
                </a:path>
              </a:pathLst>
            </a:custGeom>
            <a:solidFill>
              <a:srgbClr val="DC2D3A"/>
            </a:solidFill>
          </p:spPr>
          <p:txBody>
            <a:bodyPr/>
            <a:lstStyle/>
            <a:p>
              <a:endParaRPr lang="en-US"/>
            </a:p>
          </p:txBody>
        </p:sp>
      </p:grpSp>
      <p:grpSp>
        <p:nvGrpSpPr>
          <p:cNvPr id="45" name="Group 45"/>
          <p:cNvGrpSpPr/>
          <p:nvPr/>
        </p:nvGrpSpPr>
        <p:grpSpPr>
          <a:xfrm>
            <a:off x="1673352" y="4553712"/>
            <a:ext cx="1481328" cy="1385316"/>
            <a:chOff x="0" y="0"/>
            <a:chExt cx="1975104" cy="1847088"/>
          </a:xfrm>
        </p:grpSpPr>
        <p:sp>
          <p:nvSpPr>
            <p:cNvPr id="46" name="Freeform 46"/>
            <p:cNvSpPr/>
            <p:nvPr/>
          </p:nvSpPr>
          <p:spPr>
            <a:xfrm>
              <a:off x="0" y="0"/>
              <a:ext cx="1975104" cy="1847088"/>
            </a:xfrm>
            <a:custGeom>
              <a:avLst/>
              <a:gdLst/>
              <a:ahLst/>
              <a:cxnLst/>
              <a:rect l="l" t="t" r="r" b="b"/>
              <a:pathLst>
                <a:path w="1975104" h="1847088">
                  <a:moveTo>
                    <a:pt x="0" y="0"/>
                  </a:moveTo>
                  <a:lnTo>
                    <a:pt x="365760" y="1847088"/>
                  </a:lnTo>
                  <a:lnTo>
                    <a:pt x="1975104" y="1847088"/>
                  </a:lnTo>
                  <a:close/>
                </a:path>
              </a:pathLst>
            </a:custGeom>
            <a:solidFill>
              <a:srgbClr val="DC2D3A">
                <a:alpha val="1961"/>
              </a:srgbClr>
            </a:solidFill>
          </p:spPr>
          <p:txBody>
            <a:bodyPr/>
            <a:lstStyle/>
            <a:p>
              <a:endParaRPr lang="en-US"/>
            </a:p>
          </p:txBody>
        </p:sp>
      </p:grpSp>
      <p:sp>
        <p:nvSpPr>
          <p:cNvPr id="47" name="AutoShape 47"/>
          <p:cNvSpPr/>
          <p:nvPr/>
        </p:nvSpPr>
        <p:spPr>
          <a:xfrm rot="3423780">
            <a:off x="1293257" y="5221034"/>
            <a:ext cx="1624298" cy="0"/>
          </a:xfrm>
          <a:prstGeom prst="line">
            <a:avLst/>
          </a:prstGeom>
          <a:ln w="9525" cap="rnd">
            <a:solidFill>
              <a:srgbClr val="DC2D3A"/>
            </a:solidFill>
            <a:prstDash val="solid"/>
            <a:headEnd type="none" w="sm" len="sm"/>
            <a:tailEnd type="none" w="sm" len="sm"/>
          </a:ln>
        </p:spPr>
        <p:txBody>
          <a:bodyPr/>
          <a:lstStyle/>
          <a:p>
            <a:endParaRPr lang="en-US"/>
          </a:p>
        </p:txBody>
      </p:sp>
      <p:grpSp>
        <p:nvGrpSpPr>
          <p:cNvPr id="48" name="Group 48"/>
          <p:cNvGrpSpPr/>
          <p:nvPr/>
        </p:nvGrpSpPr>
        <p:grpSpPr>
          <a:xfrm>
            <a:off x="1920240" y="5966460"/>
            <a:ext cx="1371600" cy="137160"/>
            <a:chOff x="0" y="0"/>
            <a:chExt cx="1828800" cy="182880"/>
          </a:xfrm>
        </p:grpSpPr>
        <p:sp>
          <p:nvSpPr>
            <p:cNvPr id="49" name="Freeform 49"/>
            <p:cNvSpPr/>
            <p:nvPr/>
          </p:nvSpPr>
          <p:spPr>
            <a:xfrm>
              <a:off x="0" y="0"/>
              <a:ext cx="1828800" cy="182880"/>
            </a:xfrm>
            <a:custGeom>
              <a:avLst/>
              <a:gdLst/>
              <a:ahLst/>
              <a:cxnLst/>
              <a:rect l="l" t="t" r="r" b="b"/>
              <a:pathLst>
                <a:path w="1828800" h="182880">
                  <a:moveTo>
                    <a:pt x="0" y="0"/>
                  </a:moveTo>
                  <a:lnTo>
                    <a:pt x="1828800" y="0"/>
                  </a:lnTo>
                  <a:lnTo>
                    <a:pt x="1828800" y="182880"/>
                  </a:lnTo>
                  <a:lnTo>
                    <a:pt x="0" y="182880"/>
                  </a:lnTo>
                  <a:close/>
                </a:path>
              </a:pathLst>
            </a:custGeom>
            <a:solidFill>
              <a:srgbClr val="1F2937"/>
            </a:solidFill>
          </p:spPr>
          <p:txBody>
            <a:bodyPr/>
            <a:lstStyle/>
            <a:p>
              <a:endParaRPr lang="en-US"/>
            </a:p>
          </p:txBody>
        </p:sp>
      </p:grpSp>
      <p:grpSp>
        <p:nvGrpSpPr>
          <p:cNvPr id="50" name="Group 50"/>
          <p:cNvGrpSpPr/>
          <p:nvPr/>
        </p:nvGrpSpPr>
        <p:grpSpPr>
          <a:xfrm>
            <a:off x="2359152" y="5966460"/>
            <a:ext cx="384048" cy="137160"/>
            <a:chOff x="0" y="0"/>
            <a:chExt cx="512064" cy="182880"/>
          </a:xfrm>
        </p:grpSpPr>
        <p:sp>
          <p:nvSpPr>
            <p:cNvPr id="51" name="Freeform 51"/>
            <p:cNvSpPr/>
            <p:nvPr/>
          </p:nvSpPr>
          <p:spPr>
            <a:xfrm>
              <a:off x="0" y="0"/>
              <a:ext cx="512064" cy="182880"/>
            </a:xfrm>
            <a:custGeom>
              <a:avLst/>
              <a:gdLst/>
              <a:ahLst/>
              <a:cxnLst/>
              <a:rect l="l" t="t" r="r" b="b"/>
              <a:pathLst>
                <a:path w="512064" h="182880">
                  <a:moveTo>
                    <a:pt x="0" y="0"/>
                  </a:moveTo>
                  <a:lnTo>
                    <a:pt x="512064" y="0"/>
                  </a:lnTo>
                  <a:lnTo>
                    <a:pt x="512064" y="182880"/>
                  </a:lnTo>
                  <a:lnTo>
                    <a:pt x="0" y="182880"/>
                  </a:lnTo>
                  <a:close/>
                </a:path>
              </a:pathLst>
            </a:custGeom>
            <a:solidFill>
              <a:srgbClr val="E5E7EB"/>
            </a:solidFill>
          </p:spPr>
          <p:txBody>
            <a:bodyPr/>
            <a:lstStyle/>
            <a:p>
              <a:endParaRPr lang="en-US"/>
            </a:p>
          </p:txBody>
        </p:sp>
      </p:grpSp>
      <p:grpSp>
        <p:nvGrpSpPr>
          <p:cNvPr id="52" name="Group 52"/>
          <p:cNvGrpSpPr/>
          <p:nvPr/>
        </p:nvGrpSpPr>
        <p:grpSpPr>
          <a:xfrm>
            <a:off x="2496312" y="5856732"/>
            <a:ext cx="109728" cy="109728"/>
            <a:chOff x="0" y="0"/>
            <a:chExt cx="146304" cy="146304"/>
          </a:xfrm>
        </p:grpSpPr>
        <p:sp>
          <p:nvSpPr>
            <p:cNvPr id="53" name="Freeform 53"/>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DC2D3A"/>
            </a:solidFill>
          </p:spPr>
          <p:txBody>
            <a:bodyPr/>
            <a:lstStyle/>
            <a:p>
              <a:endParaRPr lang="en-US"/>
            </a:p>
          </p:txBody>
        </p:sp>
      </p:grpSp>
      <p:sp>
        <p:nvSpPr>
          <p:cNvPr id="54" name="TextBox 54"/>
          <p:cNvSpPr txBox="1"/>
          <p:nvPr/>
        </p:nvSpPr>
        <p:spPr>
          <a:xfrm>
            <a:off x="822960" y="4663440"/>
            <a:ext cx="850392" cy="457200"/>
          </a:xfrm>
          <a:prstGeom prst="rect">
            <a:avLst/>
          </a:prstGeom>
        </p:spPr>
        <p:txBody>
          <a:bodyPr lIns="0" tIns="0" rIns="0" bIns="0" rtlCol="0" anchor="t">
            <a:spAutoFit/>
          </a:bodyPr>
          <a:lstStyle/>
          <a:p>
            <a:pPr algn="l">
              <a:lnSpc>
                <a:spcPts val="1800"/>
              </a:lnSpc>
            </a:pPr>
            <a:r>
              <a:rPr lang="en-US" sz="1500">
                <a:solidFill>
                  <a:srgbClr val="374151"/>
                </a:solidFill>
                <a:latin typeface="Bai Jamjuree"/>
                <a:ea typeface="Bai Jamjuree"/>
                <a:cs typeface="Bai Jamjuree"/>
                <a:sym typeface="Bai Jamjuree"/>
              </a:rPr>
              <a:t>Camera</a:t>
            </a:r>
          </a:p>
          <a:p>
            <a:pPr algn="l">
              <a:lnSpc>
                <a:spcPts val="1800"/>
              </a:lnSpc>
            </a:pPr>
            <a:r>
              <a:rPr lang="en-US" sz="1500">
                <a:solidFill>
                  <a:srgbClr val="374151"/>
                </a:solidFill>
                <a:latin typeface="Bai Jamjuree"/>
                <a:ea typeface="Bai Jamjuree"/>
                <a:cs typeface="Bai Jamjuree"/>
                <a:sym typeface="Bai Jamjuree"/>
              </a:rPr>
              <a:t>+ Servo</a:t>
            </a:r>
          </a:p>
        </p:txBody>
      </p:sp>
      <p:sp>
        <p:nvSpPr>
          <p:cNvPr id="55" name="TextBox 55"/>
          <p:cNvSpPr txBox="1"/>
          <p:nvPr/>
        </p:nvSpPr>
        <p:spPr>
          <a:xfrm>
            <a:off x="2537460" y="4965192"/>
            <a:ext cx="379928" cy="228600"/>
          </a:xfrm>
          <a:prstGeom prst="rect">
            <a:avLst/>
          </a:prstGeom>
        </p:spPr>
        <p:txBody>
          <a:bodyPr lIns="0" tIns="0" rIns="0" bIns="0" rtlCol="0" anchor="t">
            <a:spAutoFit/>
          </a:bodyPr>
          <a:lstStyle/>
          <a:p>
            <a:pPr algn="l">
              <a:lnSpc>
                <a:spcPts val="1800"/>
              </a:lnSpc>
            </a:pPr>
            <a:r>
              <a:rPr lang="en-US" sz="1500" b="1">
                <a:solidFill>
                  <a:srgbClr val="DC2D3A"/>
                </a:solidFill>
                <a:latin typeface="Bai Jamjuree Bold"/>
                <a:ea typeface="Bai Jamjuree Bold"/>
                <a:cs typeface="Bai Jamjuree Bold"/>
                <a:sym typeface="Bai Jamjuree Bold"/>
              </a:rPr>
              <a:t>FOV</a:t>
            </a:r>
          </a:p>
        </p:txBody>
      </p:sp>
      <p:sp>
        <p:nvSpPr>
          <p:cNvPr id="56" name="TextBox 56"/>
          <p:cNvSpPr txBox="1"/>
          <p:nvPr/>
        </p:nvSpPr>
        <p:spPr>
          <a:xfrm>
            <a:off x="1699200" y="6172200"/>
            <a:ext cx="1470779" cy="2286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Bãi đáp + marker</a:t>
            </a:r>
          </a:p>
        </p:txBody>
      </p:sp>
      <p:grpSp>
        <p:nvGrpSpPr>
          <p:cNvPr id="57" name="Group 57"/>
          <p:cNvGrpSpPr/>
          <p:nvPr/>
        </p:nvGrpSpPr>
        <p:grpSpPr>
          <a:xfrm>
            <a:off x="3660729" y="3871818"/>
            <a:ext cx="2899410" cy="2145030"/>
            <a:chOff x="0" y="0"/>
            <a:chExt cx="3865880" cy="2860040"/>
          </a:xfrm>
        </p:grpSpPr>
        <p:sp>
          <p:nvSpPr>
            <p:cNvPr id="58" name="Freeform 58"/>
            <p:cNvSpPr/>
            <p:nvPr/>
          </p:nvSpPr>
          <p:spPr>
            <a:xfrm>
              <a:off x="0" y="0"/>
              <a:ext cx="3865880" cy="2860040"/>
            </a:xfrm>
            <a:custGeom>
              <a:avLst/>
              <a:gdLst/>
              <a:ahLst/>
              <a:cxnLst/>
              <a:rect l="l" t="t" r="r" b="b"/>
              <a:pathLst>
                <a:path w="3865880" h="2860040">
                  <a:moveTo>
                    <a:pt x="0" y="0"/>
                  </a:moveTo>
                  <a:lnTo>
                    <a:pt x="3865880" y="0"/>
                  </a:lnTo>
                  <a:lnTo>
                    <a:pt x="3865880" y="2860040"/>
                  </a:lnTo>
                  <a:lnTo>
                    <a:pt x="0" y="2860040"/>
                  </a:lnTo>
                  <a:close/>
                </a:path>
              </a:pathLst>
            </a:custGeom>
            <a:solidFill>
              <a:srgbClr val="FFFFFF"/>
            </a:solidFill>
            <a:ln w="19050" cap="sq">
              <a:solidFill>
                <a:srgbClr val="6B7280"/>
              </a:solidFill>
              <a:prstDash val="solid"/>
              <a:miter/>
            </a:ln>
          </p:spPr>
          <p:txBody>
            <a:bodyPr/>
            <a:lstStyle/>
            <a:p>
              <a:endParaRPr lang="en-US"/>
            </a:p>
          </p:txBody>
        </p:sp>
      </p:grpSp>
      <p:sp>
        <p:nvSpPr>
          <p:cNvPr id="59" name="AutoShape 59"/>
          <p:cNvSpPr/>
          <p:nvPr/>
        </p:nvSpPr>
        <p:spPr>
          <a:xfrm rot="16980">
            <a:off x="3627577" y="4898708"/>
            <a:ext cx="2894686" cy="0"/>
          </a:xfrm>
          <a:prstGeom prst="line">
            <a:avLst/>
          </a:prstGeom>
          <a:ln w="9525" cap="rnd">
            <a:solidFill>
              <a:srgbClr val="D1D5DB"/>
            </a:solidFill>
            <a:prstDash val="solid"/>
            <a:headEnd type="none" w="sm" len="sm"/>
            <a:tailEnd type="none" w="sm" len="sm"/>
          </a:ln>
        </p:spPr>
        <p:txBody>
          <a:bodyPr/>
          <a:lstStyle/>
          <a:p>
            <a:endParaRPr lang="en-US"/>
          </a:p>
        </p:txBody>
      </p:sp>
      <p:sp>
        <p:nvSpPr>
          <p:cNvPr id="60" name="AutoShape 60"/>
          <p:cNvSpPr/>
          <p:nvPr/>
        </p:nvSpPr>
        <p:spPr>
          <a:xfrm rot="5377080">
            <a:off x="4004758" y="4898708"/>
            <a:ext cx="2140315" cy="0"/>
          </a:xfrm>
          <a:prstGeom prst="line">
            <a:avLst/>
          </a:prstGeom>
          <a:ln w="9525" cap="rnd">
            <a:solidFill>
              <a:srgbClr val="D1D5DB"/>
            </a:solidFill>
            <a:prstDash val="solid"/>
            <a:headEnd type="none" w="sm" len="sm"/>
            <a:tailEnd type="none" w="sm" len="sm"/>
          </a:ln>
        </p:spPr>
        <p:txBody>
          <a:bodyPr/>
          <a:lstStyle/>
          <a:p>
            <a:endParaRPr lang="en-US"/>
          </a:p>
        </p:txBody>
      </p:sp>
      <p:sp>
        <p:nvSpPr>
          <p:cNvPr id="61" name="AutoShape 61"/>
          <p:cNvSpPr/>
          <p:nvPr/>
        </p:nvSpPr>
        <p:spPr>
          <a:xfrm rot="152040" flipV="1">
            <a:off x="5068065" y="4227633"/>
            <a:ext cx="453465" cy="22932"/>
          </a:xfrm>
          <a:prstGeom prst="line">
            <a:avLst/>
          </a:prstGeom>
          <a:ln w="9525" cap="rnd">
            <a:solidFill>
              <a:srgbClr val="6B7280"/>
            </a:solidFill>
            <a:prstDash val="solid"/>
            <a:headEnd type="none" w="sm" len="sm"/>
            <a:tailEnd type="none" w="sm" len="sm"/>
          </a:ln>
        </p:spPr>
        <p:txBody>
          <a:bodyPr/>
          <a:lstStyle/>
          <a:p>
            <a:endParaRPr lang="en-US"/>
          </a:p>
        </p:txBody>
      </p:sp>
      <p:sp>
        <p:nvSpPr>
          <p:cNvPr id="62" name="AutoShape 62"/>
          <p:cNvSpPr/>
          <p:nvPr/>
        </p:nvSpPr>
        <p:spPr>
          <a:xfrm rot="5250360">
            <a:off x="4868591" y="4432530"/>
            <a:ext cx="405500" cy="10530"/>
          </a:xfrm>
          <a:prstGeom prst="line">
            <a:avLst/>
          </a:prstGeom>
          <a:ln w="9525" cap="rnd">
            <a:solidFill>
              <a:srgbClr val="6B7280"/>
            </a:solidFill>
            <a:prstDash val="solid"/>
            <a:headEnd type="none" w="sm" len="sm"/>
            <a:tailEnd type="none" w="sm" len="sm"/>
          </a:ln>
        </p:spPr>
        <p:txBody>
          <a:bodyPr/>
          <a:lstStyle/>
          <a:p>
            <a:endParaRPr lang="en-US"/>
          </a:p>
        </p:txBody>
      </p:sp>
      <p:grpSp>
        <p:nvGrpSpPr>
          <p:cNvPr id="63" name="Group 63"/>
          <p:cNvGrpSpPr/>
          <p:nvPr/>
        </p:nvGrpSpPr>
        <p:grpSpPr>
          <a:xfrm>
            <a:off x="5486400" y="3977640"/>
            <a:ext cx="548640" cy="548640"/>
            <a:chOff x="0" y="0"/>
            <a:chExt cx="731520" cy="731520"/>
          </a:xfrm>
        </p:grpSpPr>
        <p:sp>
          <p:nvSpPr>
            <p:cNvPr id="64" name="Freeform 64"/>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solidFill>
              <a:srgbClr val="1F2937"/>
            </a:solidFill>
          </p:spPr>
          <p:txBody>
            <a:bodyPr/>
            <a:lstStyle/>
            <a:p>
              <a:endParaRPr lang="en-US"/>
            </a:p>
          </p:txBody>
        </p:sp>
      </p:grpSp>
      <p:grpSp>
        <p:nvGrpSpPr>
          <p:cNvPr id="65" name="Group 65"/>
          <p:cNvGrpSpPr/>
          <p:nvPr/>
        </p:nvGrpSpPr>
        <p:grpSpPr>
          <a:xfrm>
            <a:off x="5596128" y="4087368"/>
            <a:ext cx="329184" cy="329184"/>
            <a:chOff x="0" y="0"/>
            <a:chExt cx="438912" cy="438912"/>
          </a:xfrm>
        </p:grpSpPr>
        <p:sp>
          <p:nvSpPr>
            <p:cNvPr id="66" name="Freeform 66"/>
            <p:cNvSpPr/>
            <p:nvPr/>
          </p:nvSpPr>
          <p:spPr>
            <a:xfrm>
              <a:off x="0" y="0"/>
              <a:ext cx="438912" cy="438912"/>
            </a:xfrm>
            <a:custGeom>
              <a:avLst/>
              <a:gdLst/>
              <a:ahLst/>
              <a:cxnLst/>
              <a:rect l="l" t="t" r="r" b="b"/>
              <a:pathLst>
                <a:path w="438912" h="438912">
                  <a:moveTo>
                    <a:pt x="0" y="0"/>
                  </a:moveTo>
                  <a:lnTo>
                    <a:pt x="438912" y="0"/>
                  </a:lnTo>
                  <a:lnTo>
                    <a:pt x="438912" y="438912"/>
                  </a:lnTo>
                  <a:lnTo>
                    <a:pt x="0" y="438912"/>
                  </a:lnTo>
                  <a:close/>
                </a:path>
              </a:pathLst>
            </a:custGeom>
            <a:solidFill>
              <a:srgbClr val="FFFFFF"/>
            </a:solidFill>
          </p:spPr>
          <p:txBody>
            <a:bodyPr/>
            <a:lstStyle/>
            <a:p>
              <a:endParaRPr lang="en-US"/>
            </a:p>
          </p:txBody>
        </p:sp>
      </p:grpSp>
      <p:grpSp>
        <p:nvGrpSpPr>
          <p:cNvPr id="67" name="Group 67"/>
          <p:cNvGrpSpPr/>
          <p:nvPr/>
        </p:nvGrpSpPr>
        <p:grpSpPr>
          <a:xfrm>
            <a:off x="5683910" y="4175150"/>
            <a:ext cx="153619" cy="153619"/>
            <a:chOff x="0" y="0"/>
            <a:chExt cx="204826" cy="204826"/>
          </a:xfrm>
        </p:grpSpPr>
        <p:sp>
          <p:nvSpPr>
            <p:cNvPr id="68" name="Freeform 68"/>
            <p:cNvSpPr/>
            <p:nvPr/>
          </p:nvSpPr>
          <p:spPr>
            <a:xfrm>
              <a:off x="0" y="0"/>
              <a:ext cx="204851" cy="204851"/>
            </a:xfrm>
            <a:custGeom>
              <a:avLst/>
              <a:gdLst/>
              <a:ahLst/>
              <a:cxnLst/>
              <a:rect l="l" t="t" r="r" b="b"/>
              <a:pathLst>
                <a:path w="204851" h="204851">
                  <a:moveTo>
                    <a:pt x="0" y="0"/>
                  </a:moveTo>
                  <a:lnTo>
                    <a:pt x="204851" y="0"/>
                  </a:lnTo>
                  <a:lnTo>
                    <a:pt x="204851" y="204851"/>
                  </a:lnTo>
                  <a:lnTo>
                    <a:pt x="0" y="204851"/>
                  </a:lnTo>
                  <a:close/>
                </a:path>
              </a:pathLst>
            </a:custGeom>
            <a:solidFill>
              <a:srgbClr val="1F2937"/>
            </a:solidFill>
          </p:spPr>
          <p:txBody>
            <a:bodyPr/>
            <a:lstStyle/>
            <a:p>
              <a:endParaRPr lang="en-US"/>
            </a:p>
          </p:txBody>
        </p:sp>
      </p:grpSp>
      <p:sp>
        <p:nvSpPr>
          <p:cNvPr id="69" name="AutoShape 69"/>
          <p:cNvSpPr/>
          <p:nvPr/>
        </p:nvSpPr>
        <p:spPr>
          <a:xfrm rot="-2891880">
            <a:off x="5200469" y="4581906"/>
            <a:ext cx="434692" cy="0"/>
          </a:xfrm>
          <a:prstGeom prst="line">
            <a:avLst/>
          </a:prstGeom>
          <a:ln w="19050" cap="rnd">
            <a:solidFill>
              <a:srgbClr val="DC2D3A"/>
            </a:solidFill>
            <a:prstDash val="solid"/>
            <a:headEnd type="triangle" w="lg" len="med"/>
            <a:tailEnd type="none" w="sm" len="sm"/>
          </a:ln>
        </p:spPr>
        <p:txBody>
          <a:bodyPr/>
          <a:lstStyle/>
          <a:p>
            <a:endParaRPr lang="en-US"/>
          </a:p>
        </p:txBody>
      </p:sp>
      <p:grpSp>
        <p:nvGrpSpPr>
          <p:cNvPr id="70" name="Group 70"/>
          <p:cNvGrpSpPr/>
          <p:nvPr/>
        </p:nvGrpSpPr>
        <p:grpSpPr>
          <a:xfrm>
            <a:off x="4825079" y="4653629"/>
            <a:ext cx="499682" cy="499682"/>
            <a:chOff x="0" y="0"/>
            <a:chExt cx="666242" cy="666242"/>
          </a:xfrm>
        </p:grpSpPr>
        <p:sp>
          <p:nvSpPr>
            <p:cNvPr id="71" name="Freeform 71"/>
            <p:cNvSpPr/>
            <p:nvPr/>
          </p:nvSpPr>
          <p:spPr>
            <a:xfrm>
              <a:off x="0" y="0"/>
              <a:ext cx="666242" cy="666242"/>
            </a:xfrm>
            <a:custGeom>
              <a:avLst/>
              <a:gdLst/>
              <a:ahLst/>
              <a:cxnLst/>
              <a:rect l="l" t="t" r="r" b="b"/>
              <a:pathLst>
                <a:path w="666242" h="666242">
                  <a:moveTo>
                    <a:pt x="0" y="333121"/>
                  </a:moveTo>
                  <a:cubicBezTo>
                    <a:pt x="0" y="149098"/>
                    <a:pt x="149098" y="0"/>
                    <a:pt x="333121" y="0"/>
                  </a:cubicBezTo>
                  <a:cubicBezTo>
                    <a:pt x="517144" y="0"/>
                    <a:pt x="666242" y="149098"/>
                    <a:pt x="666242" y="333121"/>
                  </a:cubicBezTo>
                  <a:cubicBezTo>
                    <a:pt x="666242" y="517144"/>
                    <a:pt x="517144" y="666242"/>
                    <a:pt x="333121" y="666242"/>
                  </a:cubicBezTo>
                  <a:cubicBezTo>
                    <a:pt x="149098" y="666242"/>
                    <a:pt x="0" y="517144"/>
                    <a:pt x="0" y="333121"/>
                  </a:cubicBezTo>
                  <a:close/>
                </a:path>
              </a:pathLst>
            </a:custGeom>
            <a:blipFill>
              <a:blip r:embed="rId3">
                <a:alphaModFix amt="0"/>
              </a:blip>
              <a:stretch>
                <a:fillRect l="-78303" r="-78303"/>
              </a:stretch>
            </a:blipFill>
            <a:ln w="33338" cap="sq">
              <a:solidFill>
                <a:srgbClr val="DC2D3A"/>
              </a:solidFill>
              <a:prstDash val="solid"/>
              <a:miter/>
            </a:ln>
          </p:spPr>
          <p:txBody>
            <a:bodyPr/>
            <a:lstStyle/>
            <a:p>
              <a:endParaRPr lang="en-US"/>
            </a:p>
          </p:txBody>
        </p:sp>
      </p:grpSp>
      <p:sp>
        <p:nvSpPr>
          <p:cNvPr id="72" name="TextBox 72"/>
          <p:cNvSpPr txBox="1"/>
          <p:nvPr/>
        </p:nvSpPr>
        <p:spPr>
          <a:xfrm>
            <a:off x="5005399" y="5187315"/>
            <a:ext cx="221337" cy="238125"/>
          </a:xfrm>
          <a:prstGeom prst="rect">
            <a:avLst/>
          </a:prstGeom>
        </p:spPr>
        <p:txBody>
          <a:bodyPr lIns="0" tIns="0" rIns="0" bIns="0" rtlCol="0" anchor="t">
            <a:spAutoFit/>
          </a:bodyPr>
          <a:lstStyle/>
          <a:p>
            <a:pPr algn="ctr">
              <a:lnSpc>
                <a:spcPts val="1980"/>
              </a:lnSpc>
            </a:pPr>
            <a:r>
              <a:rPr lang="en-US" sz="1650" b="1">
                <a:solidFill>
                  <a:srgbClr val="DC2D3A"/>
                </a:solidFill>
                <a:latin typeface="Bai Jamjuree Bold"/>
                <a:ea typeface="Bai Jamjuree Bold"/>
                <a:cs typeface="Bai Jamjuree Bold"/>
                <a:sym typeface="Bai Jamjuree Bold"/>
              </a:rPr>
              <a:t>p*</a:t>
            </a:r>
          </a:p>
        </p:txBody>
      </p:sp>
      <p:sp>
        <p:nvSpPr>
          <p:cNvPr id="73" name="TextBox 73"/>
          <p:cNvSpPr txBox="1"/>
          <p:nvPr/>
        </p:nvSpPr>
        <p:spPr>
          <a:xfrm>
            <a:off x="6089904" y="3925443"/>
            <a:ext cx="126683" cy="238125"/>
          </a:xfrm>
          <a:prstGeom prst="rect">
            <a:avLst/>
          </a:prstGeom>
        </p:spPr>
        <p:txBody>
          <a:bodyPr lIns="0" tIns="0" rIns="0" bIns="0" rtlCol="0" anchor="t">
            <a:spAutoFit/>
          </a:bodyPr>
          <a:lstStyle/>
          <a:p>
            <a:pPr algn="l">
              <a:lnSpc>
                <a:spcPts val="1980"/>
              </a:lnSpc>
            </a:pPr>
            <a:r>
              <a:rPr lang="en-US" sz="1650" b="1">
                <a:solidFill>
                  <a:srgbClr val="1F2937"/>
                </a:solidFill>
                <a:latin typeface="Bai Jamjuree Bold"/>
                <a:ea typeface="Bai Jamjuree Bold"/>
                <a:cs typeface="Bai Jamjuree Bold"/>
                <a:sym typeface="Bai Jamjuree Bold"/>
              </a:rPr>
              <a:t>p</a:t>
            </a:r>
          </a:p>
        </p:txBody>
      </p:sp>
      <p:sp>
        <p:nvSpPr>
          <p:cNvPr id="74" name="TextBox 74"/>
          <p:cNvSpPr txBox="1"/>
          <p:nvPr/>
        </p:nvSpPr>
        <p:spPr>
          <a:xfrm>
            <a:off x="5568696" y="4738878"/>
            <a:ext cx="132159" cy="266700"/>
          </a:xfrm>
          <a:prstGeom prst="rect">
            <a:avLst/>
          </a:prstGeom>
        </p:spPr>
        <p:txBody>
          <a:bodyPr lIns="0" tIns="0" rIns="0" bIns="0" rtlCol="0" anchor="t">
            <a:spAutoFit/>
          </a:bodyPr>
          <a:lstStyle/>
          <a:p>
            <a:pPr algn="l">
              <a:lnSpc>
                <a:spcPts val="2160"/>
              </a:lnSpc>
            </a:pPr>
            <a:r>
              <a:rPr lang="en-US" sz="1800" b="1" i="1">
                <a:solidFill>
                  <a:srgbClr val="DC2D3A"/>
                </a:solidFill>
                <a:latin typeface="Bai Jamjuree Bold Italics"/>
                <a:ea typeface="Bai Jamjuree Bold Italics"/>
                <a:cs typeface="Bai Jamjuree Bold Italics"/>
                <a:sym typeface="Bai Jamjuree Bold Italics"/>
              </a:rPr>
              <a:t>e</a:t>
            </a:r>
          </a:p>
        </p:txBody>
      </p:sp>
      <p:sp>
        <p:nvSpPr>
          <p:cNvPr id="75" name="TextBox 75"/>
          <p:cNvSpPr txBox="1"/>
          <p:nvPr/>
        </p:nvSpPr>
        <p:spPr>
          <a:xfrm>
            <a:off x="4041339" y="4251960"/>
            <a:ext cx="896422" cy="228600"/>
          </a:xfrm>
          <a:prstGeom prst="rect">
            <a:avLst/>
          </a:prstGeom>
        </p:spPr>
        <p:txBody>
          <a:bodyPr wrap="square" lIns="0" tIns="0" rIns="0" bIns="0" rtlCol="0" anchor="t">
            <a:spAutoFit/>
          </a:bodyPr>
          <a:lstStyle/>
          <a:p>
            <a:pPr algn="r">
              <a:lnSpc>
                <a:spcPts val="1800"/>
              </a:lnSpc>
            </a:pPr>
            <a:r>
              <a:rPr lang="en-US" sz="1500">
                <a:solidFill>
                  <a:srgbClr val="6B7280"/>
                </a:solidFill>
                <a:latin typeface="Bai Jamjuree"/>
                <a:ea typeface="Bai Jamjuree"/>
                <a:cs typeface="Bai Jamjuree"/>
                <a:sym typeface="Bai Jamjuree"/>
              </a:rPr>
              <a:t>ex → yaw</a:t>
            </a:r>
          </a:p>
        </p:txBody>
      </p:sp>
      <p:sp>
        <p:nvSpPr>
          <p:cNvPr id="76" name="TextBox 76"/>
          <p:cNvSpPr txBox="1"/>
          <p:nvPr/>
        </p:nvSpPr>
        <p:spPr>
          <a:xfrm>
            <a:off x="3904178" y="4629150"/>
            <a:ext cx="896422" cy="228600"/>
          </a:xfrm>
          <a:prstGeom prst="rect">
            <a:avLst/>
          </a:prstGeom>
        </p:spPr>
        <p:txBody>
          <a:bodyPr lIns="0" tIns="0" rIns="0" bIns="0" rtlCol="0" anchor="t">
            <a:spAutoFit/>
          </a:bodyPr>
          <a:lstStyle/>
          <a:p>
            <a:pPr algn="r">
              <a:lnSpc>
                <a:spcPts val="1800"/>
              </a:lnSpc>
            </a:pPr>
            <a:r>
              <a:rPr lang="en-US" sz="1500">
                <a:solidFill>
                  <a:srgbClr val="6B7280"/>
                </a:solidFill>
                <a:latin typeface="Bai Jamjuree"/>
                <a:ea typeface="Bai Jamjuree"/>
                <a:cs typeface="Bai Jamjuree"/>
                <a:sym typeface="Bai Jamjuree"/>
              </a:rPr>
              <a:t>ey → pitch</a:t>
            </a:r>
          </a:p>
        </p:txBody>
      </p:sp>
      <p:sp>
        <p:nvSpPr>
          <p:cNvPr id="77" name="TextBox 77"/>
          <p:cNvSpPr txBox="1"/>
          <p:nvPr/>
        </p:nvSpPr>
        <p:spPr>
          <a:xfrm>
            <a:off x="3744468" y="3950208"/>
            <a:ext cx="680198" cy="230832"/>
          </a:xfrm>
          <a:prstGeom prst="rect">
            <a:avLst/>
          </a:prstGeom>
        </p:spPr>
        <p:txBody>
          <a:bodyPr wrap="square" lIns="0" tIns="0" rIns="0" bIns="0" rtlCol="0" anchor="t">
            <a:spAutoFit/>
          </a:bodyPr>
          <a:lstStyle/>
          <a:p>
            <a:pPr algn="l">
              <a:lnSpc>
                <a:spcPts val="1800"/>
              </a:lnSpc>
            </a:pPr>
            <a:r>
              <a:rPr lang="en-US" sz="1500" b="1">
                <a:solidFill>
                  <a:srgbClr val="DC2D3A"/>
                </a:solidFill>
                <a:latin typeface="Bai Jamjuree Bold"/>
                <a:ea typeface="Bai Jamjuree Bold"/>
                <a:cs typeface="Bai Jamjuree Bold"/>
                <a:sym typeface="Bai Jamjuree Bold"/>
              </a:rPr>
              <a:t>e lớn</a:t>
            </a:r>
          </a:p>
        </p:txBody>
      </p:sp>
      <p:sp>
        <p:nvSpPr>
          <p:cNvPr id="78" name="TextBox 78"/>
          <p:cNvSpPr txBox="1"/>
          <p:nvPr/>
        </p:nvSpPr>
        <p:spPr>
          <a:xfrm>
            <a:off x="3634740" y="6035040"/>
            <a:ext cx="2880360" cy="4572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① Ảnh hiện tại: marker lệch khỏi vị trí mong muốn</a:t>
            </a:r>
          </a:p>
        </p:txBody>
      </p:sp>
      <p:sp>
        <p:nvSpPr>
          <p:cNvPr id="79" name="TextBox 79"/>
          <p:cNvSpPr txBox="1"/>
          <p:nvPr/>
        </p:nvSpPr>
        <p:spPr>
          <a:xfrm>
            <a:off x="6515100" y="4320540"/>
            <a:ext cx="1234440" cy="228600"/>
          </a:xfrm>
          <a:prstGeom prst="rect">
            <a:avLst/>
          </a:prstGeom>
        </p:spPr>
        <p:txBody>
          <a:bodyPr lIns="0" tIns="0" rIns="0" bIns="0" rtlCol="0" anchor="t">
            <a:spAutoFit/>
          </a:bodyPr>
          <a:lstStyle/>
          <a:p>
            <a:pPr algn="ctr">
              <a:lnSpc>
                <a:spcPts val="1800"/>
              </a:lnSpc>
            </a:pPr>
            <a:r>
              <a:rPr lang="en-US" sz="1500" b="1">
                <a:solidFill>
                  <a:srgbClr val="DC2D3A"/>
                </a:solidFill>
                <a:latin typeface="Bai Jamjuree Bold"/>
                <a:ea typeface="Bai Jamjuree Bold"/>
                <a:cs typeface="Bai Jamjuree Bold"/>
                <a:sym typeface="Bai Jamjuree Bold"/>
              </a:rPr>
              <a:t>Điều chỉnh</a:t>
            </a:r>
          </a:p>
        </p:txBody>
      </p:sp>
      <p:grpSp>
        <p:nvGrpSpPr>
          <p:cNvPr id="80" name="Group 80"/>
          <p:cNvGrpSpPr/>
          <p:nvPr/>
        </p:nvGrpSpPr>
        <p:grpSpPr>
          <a:xfrm>
            <a:off x="6720840" y="4732020"/>
            <a:ext cx="822960" cy="411480"/>
            <a:chOff x="0" y="0"/>
            <a:chExt cx="1097280" cy="548640"/>
          </a:xfrm>
        </p:grpSpPr>
        <p:sp>
          <p:nvSpPr>
            <p:cNvPr id="81" name="Freeform 81"/>
            <p:cNvSpPr/>
            <p:nvPr/>
          </p:nvSpPr>
          <p:spPr>
            <a:xfrm>
              <a:off x="0" y="0"/>
              <a:ext cx="1097280" cy="548640"/>
            </a:xfrm>
            <a:custGeom>
              <a:avLst/>
              <a:gdLst/>
              <a:ahLst/>
              <a:cxnLst/>
              <a:rect l="l" t="t" r="r" b="b"/>
              <a:pathLst>
                <a:path w="1097280" h="548640">
                  <a:moveTo>
                    <a:pt x="0" y="137160"/>
                  </a:moveTo>
                  <a:lnTo>
                    <a:pt x="822960" y="137160"/>
                  </a:lnTo>
                  <a:lnTo>
                    <a:pt x="822960" y="0"/>
                  </a:lnTo>
                  <a:lnTo>
                    <a:pt x="1097280" y="274320"/>
                  </a:lnTo>
                  <a:lnTo>
                    <a:pt x="822960" y="548640"/>
                  </a:lnTo>
                  <a:lnTo>
                    <a:pt x="822960" y="411480"/>
                  </a:lnTo>
                  <a:lnTo>
                    <a:pt x="0" y="411480"/>
                  </a:lnTo>
                  <a:close/>
                </a:path>
              </a:pathLst>
            </a:custGeom>
            <a:solidFill>
              <a:srgbClr val="DC2D3A"/>
            </a:solidFill>
          </p:spPr>
          <p:txBody>
            <a:bodyPr/>
            <a:lstStyle/>
            <a:p>
              <a:endParaRPr lang="en-US"/>
            </a:p>
          </p:txBody>
        </p:sp>
      </p:grpSp>
      <p:sp>
        <p:nvSpPr>
          <p:cNvPr id="82" name="TextBox 82"/>
          <p:cNvSpPr txBox="1"/>
          <p:nvPr/>
        </p:nvSpPr>
        <p:spPr>
          <a:xfrm>
            <a:off x="6515100" y="5212080"/>
            <a:ext cx="1234440" cy="2286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yaw · pitch</a:t>
            </a:r>
          </a:p>
        </p:txBody>
      </p:sp>
      <p:grpSp>
        <p:nvGrpSpPr>
          <p:cNvPr id="83" name="Group 83"/>
          <p:cNvGrpSpPr/>
          <p:nvPr/>
        </p:nvGrpSpPr>
        <p:grpSpPr>
          <a:xfrm>
            <a:off x="7740015" y="3830955"/>
            <a:ext cx="2899410" cy="2145030"/>
            <a:chOff x="0" y="0"/>
            <a:chExt cx="3865880" cy="2860040"/>
          </a:xfrm>
        </p:grpSpPr>
        <p:sp>
          <p:nvSpPr>
            <p:cNvPr id="84" name="Freeform 84"/>
            <p:cNvSpPr/>
            <p:nvPr/>
          </p:nvSpPr>
          <p:spPr>
            <a:xfrm>
              <a:off x="0" y="0"/>
              <a:ext cx="3865880" cy="2860040"/>
            </a:xfrm>
            <a:custGeom>
              <a:avLst/>
              <a:gdLst/>
              <a:ahLst/>
              <a:cxnLst/>
              <a:rect l="l" t="t" r="r" b="b"/>
              <a:pathLst>
                <a:path w="3865880" h="2860040">
                  <a:moveTo>
                    <a:pt x="0" y="0"/>
                  </a:moveTo>
                  <a:lnTo>
                    <a:pt x="3865880" y="0"/>
                  </a:lnTo>
                  <a:lnTo>
                    <a:pt x="3865880" y="2860040"/>
                  </a:lnTo>
                  <a:lnTo>
                    <a:pt x="0" y="2860040"/>
                  </a:lnTo>
                  <a:close/>
                </a:path>
              </a:pathLst>
            </a:custGeom>
            <a:solidFill>
              <a:srgbClr val="FFFFFF"/>
            </a:solidFill>
            <a:ln w="19050" cap="sq">
              <a:solidFill>
                <a:srgbClr val="6B7280"/>
              </a:solidFill>
              <a:prstDash val="solid"/>
              <a:miter/>
            </a:ln>
          </p:spPr>
          <p:txBody>
            <a:bodyPr/>
            <a:lstStyle/>
            <a:p>
              <a:endParaRPr lang="en-US"/>
            </a:p>
          </p:txBody>
        </p:sp>
      </p:grpSp>
      <p:sp>
        <p:nvSpPr>
          <p:cNvPr id="85" name="AutoShape 85"/>
          <p:cNvSpPr/>
          <p:nvPr/>
        </p:nvSpPr>
        <p:spPr>
          <a:xfrm rot="16980">
            <a:off x="7742377" y="4898708"/>
            <a:ext cx="2894686" cy="0"/>
          </a:xfrm>
          <a:prstGeom prst="line">
            <a:avLst/>
          </a:prstGeom>
          <a:ln w="9525" cap="rnd">
            <a:solidFill>
              <a:srgbClr val="D1D5DB"/>
            </a:solidFill>
            <a:prstDash val="solid"/>
            <a:headEnd type="none" w="sm" len="sm"/>
            <a:tailEnd type="none" w="sm" len="sm"/>
          </a:ln>
        </p:spPr>
        <p:txBody>
          <a:bodyPr/>
          <a:lstStyle/>
          <a:p>
            <a:endParaRPr lang="en-US"/>
          </a:p>
        </p:txBody>
      </p:sp>
      <p:sp>
        <p:nvSpPr>
          <p:cNvPr id="86" name="AutoShape 86"/>
          <p:cNvSpPr/>
          <p:nvPr/>
        </p:nvSpPr>
        <p:spPr>
          <a:xfrm rot="5377080">
            <a:off x="8119558" y="4898708"/>
            <a:ext cx="2140315" cy="0"/>
          </a:xfrm>
          <a:prstGeom prst="line">
            <a:avLst/>
          </a:prstGeom>
          <a:ln w="9525" cap="rnd">
            <a:solidFill>
              <a:srgbClr val="D1D5DB"/>
            </a:solidFill>
            <a:prstDash val="solid"/>
            <a:headEnd type="none" w="sm" len="sm"/>
            <a:tailEnd type="none" w="sm" len="sm"/>
          </a:ln>
        </p:spPr>
        <p:txBody>
          <a:bodyPr/>
          <a:lstStyle/>
          <a:p>
            <a:endParaRPr lang="en-US"/>
          </a:p>
        </p:txBody>
      </p:sp>
      <p:grpSp>
        <p:nvGrpSpPr>
          <p:cNvPr id="87" name="Group 87"/>
          <p:cNvGrpSpPr/>
          <p:nvPr/>
        </p:nvGrpSpPr>
        <p:grpSpPr>
          <a:xfrm>
            <a:off x="9038844" y="4546854"/>
            <a:ext cx="548640" cy="548640"/>
            <a:chOff x="0" y="0"/>
            <a:chExt cx="731520" cy="731520"/>
          </a:xfrm>
        </p:grpSpPr>
        <p:sp>
          <p:nvSpPr>
            <p:cNvPr id="88" name="Freeform 88"/>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solidFill>
              <a:srgbClr val="1F2937"/>
            </a:solidFill>
          </p:spPr>
          <p:txBody>
            <a:bodyPr/>
            <a:lstStyle/>
            <a:p>
              <a:endParaRPr lang="en-US"/>
            </a:p>
          </p:txBody>
        </p:sp>
      </p:grpSp>
      <p:grpSp>
        <p:nvGrpSpPr>
          <p:cNvPr id="89" name="Group 89"/>
          <p:cNvGrpSpPr/>
          <p:nvPr/>
        </p:nvGrpSpPr>
        <p:grpSpPr>
          <a:xfrm>
            <a:off x="9148572" y="4656582"/>
            <a:ext cx="329184" cy="329184"/>
            <a:chOff x="0" y="0"/>
            <a:chExt cx="438912" cy="438912"/>
          </a:xfrm>
        </p:grpSpPr>
        <p:sp>
          <p:nvSpPr>
            <p:cNvPr id="90" name="Freeform 90"/>
            <p:cNvSpPr/>
            <p:nvPr/>
          </p:nvSpPr>
          <p:spPr>
            <a:xfrm>
              <a:off x="0" y="0"/>
              <a:ext cx="438912" cy="438912"/>
            </a:xfrm>
            <a:custGeom>
              <a:avLst/>
              <a:gdLst/>
              <a:ahLst/>
              <a:cxnLst/>
              <a:rect l="l" t="t" r="r" b="b"/>
              <a:pathLst>
                <a:path w="438912" h="438912">
                  <a:moveTo>
                    <a:pt x="0" y="0"/>
                  </a:moveTo>
                  <a:lnTo>
                    <a:pt x="438912" y="0"/>
                  </a:lnTo>
                  <a:lnTo>
                    <a:pt x="438912" y="438912"/>
                  </a:lnTo>
                  <a:lnTo>
                    <a:pt x="0" y="438912"/>
                  </a:lnTo>
                  <a:close/>
                </a:path>
              </a:pathLst>
            </a:custGeom>
            <a:solidFill>
              <a:srgbClr val="FFFFFF"/>
            </a:solidFill>
          </p:spPr>
          <p:txBody>
            <a:bodyPr/>
            <a:lstStyle/>
            <a:p>
              <a:endParaRPr lang="en-US"/>
            </a:p>
          </p:txBody>
        </p:sp>
      </p:grpSp>
      <p:grpSp>
        <p:nvGrpSpPr>
          <p:cNvPr id="91" name="Group 91"/>
          <p:cNvGrpSpPr/>
          <p:nvPr/>
        </p:nvGrpSpPr>
        <p:grpSpPr>
          <a:xfrm>
            <a:off x="9236354" y="4744364"/>
            <a:ext cx="153619" cy="153619"/>
            <a:chOff x="0" y="0"/>
            <a:chExt cx="204826" cy="204826"/>
          </a:xfrm>
        </p:grpSpPr>
        <p:sp>
          <p:nvSpPr>
            <p:cNvPr id="92" name="Freeform 92"/>
            <p:cNvSpPr/>
            <p:nvPr/>
          </p:nvSpPr>
          <p:spPr>
            <a:xfrm>
              <a:off x="0" y="0"/>
              <a:ext cx="204851" cy="204851"/>
            </a:xfrm>
            <a:custGeom>
              <a:avLst/>
              <a:gdLst/>
              <a:ahLst/>
              <a:cxnLst/>
              <a:rect l="l" t="t" r="r" b="b"/>
              <a:pathLst>
                <a:path w="204851" h="204851">
                  <a:moveTo>
                    <a:pt x="0" y="0"/>
                  </a:moveTo>
                  <a:lnTo>
                    <a:pt x="204851" y="0"/>
                  </a:lnTo>
                  <a:lnTo>
                    <a:pt x="204851" y="204851"/>
                  </a:lnTo>
                  <a:lnTo>
                    <a:pt x="0" y="204851"/>
                  </a:lnTo>
                  <a:close/>
                </a:path>
              </a:pathLst>
            </a:custGeom>
            <a:solidFill>
              <a:srgbClr val="1F2937"/>
            </a:solidFill>
          </p:spPr>
          <p:txBody>
            <a:bodyPr/>
            <a:lstStyle/>
            <a:p>
              <a:endParaRPr lang="en-US"/>
            </a:p>
          </p:txBody>
        </p:sp>
      </p:grpSp>
      <p:grpSp>
        <p:nvGrpSpPr>
          <p:cNvPr id="93" name="Group 93"/>
          <p:cNvGrpSpPr/>
          <p:nvPr/>
        </p:nvGrpSpPr>
        <p:grpSpPr>
          <a:xfrm>
            <a:off x="8939879" y="4653629"/>
            <a:ext cx="499682" cy="499682"/>
            <a:chOff x="0" y="0"/>
            <a:chExt cx="666242" cy="666242"/>
          </a:xfrm>
        </p:grpSpPr>
        <p:sp>
          <p:nvSpPr>
            <p:cNvPr id="94" name="Freeform 94"/>
            <p:cNvSpPr/>
            <p:nvPr/>
          </p:nvSpPr>
          <p:spPr>
            <a:xfrm>
              <a:off x="0" y="0"/>
              <a:ext cx="666242" cy="666242"/>
            </a:xfrm>
            <a:custGeom>
              <a:avLst/>
              <a:gdLst/>
              <a:ahLst/>
              <a:cxnLst/>
              <a:rect l="l" t="t" r="r" b="b"/>
              <a:pathLst>
                <a:path w="666242" h="666242">
                  <a:moveTo>
                    <a:pt x="0" y="333121"/>
                  </a:moveTo>
                  <a:cubicBezTo>
                    <a:pt x="0" y="149098"/>
                    <a:pt x="149098" y="0"/>
                    <a:pt x="333121" y="0"/>
                  </a:cubicBezTo>
                  <a:cubicBezTo>
                    <a:pt x="517144" y="0"/>
                    <a:pt x="666242" y="149098"/>
                    <a:pt x="666242" y="333121"/>
                  </a:cubicBezTo>
                  <a:cubicBezTo>
                    <a:pt x="666242" y="517144"/>
                    <a:pt x="517144" y="666242"/>
                    <a:pt x="333121" y="666242"/>
                  </a:cubicBezTo>
                  <a:cubicBezTo>
                    <a:pt x="149098" y="666242"/>
                    <a:pt x="0" y="517144"/>
                    <a:pt x="0" y="333121"/>
                  </a:cubicBezTo>
                  <a:close/>
                </a:path>
              </a:pathLst>
            </a:custGeom>
            <a:blipFill>
              <a:blip r:embed="rId3">
                <a:alphaModFix amt="0"/>
              </a:blip>
              <a:stretch>
                <a:fillRect l="-78303" r="-78303"/>
              </a:stretch>
            </a:blipFill>
            <a:ln w="33338" cap="sq">
              <a:solidFill>
                <a:srgbClr val="DC2D3A"/>
              </a:solidFill>
              <a:prstDash val="solid"/>
              <a:miter/>
            </a:ln>
          </p:spPr>
          <p:txBody>
            <a:bodyPr/>
            <a:lstStyle/>
            <a:p>
              <a:endParaRPr lang="en-US"/>
            </a:p>
          </p:txBody>
        </p:sp>
      </p:grpSp>
      <p:sp>
        <p:nvSpPr>
          <p:cNvPr id="95" name="TextBox 95"/>
          <p:cNvSpPr txBox="1"/>
          <p:nvPr/>
        </p:nvSpPr>
        <p:spPr>
          <a:xfrm>
            <a:off x="7859268" y="3950208"/>
            <a:ext cx="507206" cy="228600"/>
          </a:xfrm>
          <a:prstGeom prst="rect">
            <a:avLst/>
          </a:prstGeom>
        </p:spPr>
        <p:txBody>
          <a:bodyPr lIns="0" tIns="0" rIns="0" bIns="0" rtlCol="0" anchor="t">
            <a:spAutoFit/>
          </a:bodyPr>
          <a:lstStyle/>
          <a:p>
            <a:pPr algn="l">
              <a:lnSpc>
                <a:spcPts val="1800"/>
              </a:lnSpc>
            </a:pPr>
            <a:r>
              <a:rPr lang="en-US" sz="1500" b="1">
                <a:solidFill>
                  <a:srgbClr val="DC2D3A"/>
                </a:solidFill>
                <a:latin typeface="Bai Jamjuree Bold"/>
                <a:ea typeface="Bai Jamjuree Bold"/>
                <a:cs typeface="Bai Jamjuree Bold"/>
                <a:sym typeface="Bai Jamjuree Bold"/>
              </a:rPr>
              <a:t>e nhỏ</a:t>
            </a:r>
          </a:p>
        </p:txBody>
      </p:sp>
      <p:sp>
        <p:nvSpPr>
          <p:cNvPr id="96" name="TextBox 96"/>
          <p:cNvSpPr txBox="1"/>
          <p:nvPr/>
        </p:nvSpPr>
        <p:spPr>
          <a:xfrm>
            <a:off x="7749540" y="6035040"/>
            <a:ext cx="2880360" cy="4572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② Sau điều chỉnh: marker về gần vị trí mong muốn</a:t>
            </a:r>
          </a:p>
        </p:txBody>
      </p:sp>
      <p:grpSp>
        <p:nvGrpSpPr>
          <p:cNvPr id="97" name="Group 97"/>
          <p:cNvGrpSpPr/>
          <p:nvPr/>
        </p:nvGrpSpPr>
        <p:grpSpPr>
          <a:xfrm>
            <a:off x="744855" y="6821043"/>
            <a:ext cx="2213610" cy="704850"/>
            <a:chOff x="0" y="0"/>
            <a:chExt cx="2951480" cy="939800"/>
          </a:xfrm>
        </p:grpSpPr>
        <p:sp>
          <p:nvSpPr>
            <p:cNvPr id="98" name="Freeform 98"/>
            <p:cNvSpPr/>
            <p:nvPr/>
          </p:nvSpPr>
          <p:spPr>
            <a:xfrm>
              <a:off x="0" y="0"/>
              <a:ext cx="2951480" cy="939800"/>
            </a:xfrm>
            <a:custGeom>
              <a:avLst/>
              <a:gdLst/>
              <a:ahLst/>
              <a:cxnLst/>
              <a:rect l="l" t="t" r="r" b="b"/>
              <a:pathLst>
                <a:path w="2951480" h="939800">
                  <a:moveTo>
                    <a:pt x="0" y="93980"/>
                  </a:moveTo>
                  <a:cubicBezTo>
                    <a:pt x="0" y="42037"/>
                    <a:pt x="42037" y="0"/>
                    <a:pt x="93980" y="0"/>
                  </a:cubicBezTo>
                  <a:lnTo>
                    <a:pt x="2857500" y="0"/>
                  </a:lnTo>
                  <a:cubicBezTo>
                    <a:pt x="2909443" y="0"/>
                    <a:pt x="2951480" y="42037"/>
                    <a:pt x="2951480" y="93980"/>
                  </a:cubicBezTo>
                  <a:lnTo>
                    <a:pt x="2951480" y="845820"/>
                  </a:lnTo>
                  <a:cubicBezTo>
                    <a:pt x="2951480" y="897763"/>
                    <a:pt x="2909443" y="939800"/>
                    <a:pt x="2857500" y="939800"/>
                  </a:cubicBezTo>
                  <a:lnTo>
                    <a:pt x="93980" y="939800"/>
                  </a:lnTo>
                  <a:cubicBezTo>
                    <a:pt x="42037" y="939800"/>
                    <a:pt x="0" y="897763"/>
                    <a:pt x="0" y="845820"/>
                  </a:cubicBezTo>
                  <a:close/>
                </a:path>
              </a:pathLst>
            </a:custGeom>
            <a:solidFill>
              <a:srgbClr val="FFFFFF"/>
            </a:solidFill>
            <a:ln w="19050" cap="sq">
              <a:solidFill>
                <a:srgbClr val="6B7280"/>
              </a:solidFill>
              <a:prstDash val="solid"/>
              <a:miter/>
            </a:ln>
          </p:spPr>
          <p:txBody>
            <a:bodyPr/>
            <a:lstStyle/>
            <a:p>
              <a:endParaRPr lang="en-US"/>
            </a:p>
          </p:txBody>
        </p:sp>
      </p:grpSp>
      <p:grpSp>
        <p:nvGrpSpPr>
          <p:cNvPr id="99" name="Group 99"/>
          <p:cNvGrpSpPr/>
          <p:nvPr/>
        </p:nvGrpSpPr>
        <p:grpSpPr>
          <a:xfrm>
            <a:off x="754380" y="6830568"/>
            <a:ext cx="2194560" cy="685800"/>
            <a:chOff x="0" y="0"/>
            <a:chExt cx="2926080" cy="914400"/>
          </a:xfrm>
        </p:grpSpPr>
        <p:sp>
          <p:nvSpPr>
            <p:cNvPr id="100" name="Freeform 100"/>
            <p:cNvSpPr/>
            <p:nvPr/>
          </p:nvSpPr>
          <p:spPr>
            <a:xfrm>
              <a:off x="0" y="0"/>
              <a:ext cx="2926080" cy="914400"/>
            </a:xfrm>
            <a:custGeom>
              <a:avLst/>
              <a:gdLst/>
              <a:ahLst/>
              <a:cxnLst/>
              <a:rect l="l" t="t" r="r" b="b"/>
              <a:pathLst>
                <a:path w="2926080" h="914400">
                  <a:moveTo>
                    <a:pt x="0" y="0"/>
                  </a:moveTo>
                  <a:lnTo>
                    <a:pt x="2926080" y="0"/>
                  </a:lnTo>
                  <a:lnTo>
                    <a:pt x="2926080" y="914400"/>
                  </a:lnTo>
                  <a:lnTo>
                    <a:pt x="0" y="914400"/>
                  </a:lnTo>
                  <a:close/>
                </a:path>
              </a:pathLst>
            </a:custGeom>
            <a:blipFill>
              <a:blip r:embed="rId3">
                <a:alphaModFix amt="0"/>
              </a:blip>
              <a:stretch>
                <a:fillRect t="-12352" b="-12352"/>
              </a:stretch>
            </a:blipFill>
          </p:spPr>
          <p:txBody>
            <a:bodyPr/>
            <a:lstStyle/>
            <a:p>
              <a:endParaRPr lang="en-US"/>
            </a:p>
          </p:txBody>
        </p:sp>
        <p:sp>
          <p:nvSpPr>
            <p:cNvPr id="101" name="TextBox 101"/>
            <p:cNvSpPr txBox="1"/>
            <p:nvPr/>
          </p:nvSpPr>
          <p:spPr>
            <a:xfrm>
              <a:off x="0" y="9525"/>
              <a:ext cx="2926080" cy="904875"/>
            </a:xfrm>
            <a:prstGeom prst="rect">
              <a:avLst/>
            </a:prstGeom>
          </p:spPr>
          <p:txBody>
            <a:bodyPr lIns="0" tIns="0" rIns="0" bIns="0" rtlCol="0" anchor="ctr"/>
            <a:lstStyle/>
            <a:p>
              <a:pPr algn="ctr">
                <a:lnSpc>
                  <a:spcPts val="1980"/>
                </a:lnSpc>
              </a:pPr>
              <a:r>
                <a:rPr lang="en-US" sz="1650">
                  <a:solidFill>
                    <a:srgbClr val="1F2937"/>
                  </a:solidFill>
                  <a:latin typeface="Bai Jamjuree"/>
                  <a:ea typeface="Bai Jamjuree"/>
                  <a:cs typeface="Bai Jamjuree"/>
                  <a:sym typeface="Bai Jamjuree"/>
                </a:rPr>
                <a:t>Ảnh camera</a:t>
              </a:r>
            </a:p>
          </p:txBody>
        </p:sp>
      </p:grpSp>
      <p:sp>
        <p:nvSpPr>
          <p:cNvPr id="102" name="AutoShape 102"/>
          <p:cNvSpPr/>
          <p:nvPr/>
        </p:nvSpPr>
        <p:spPr>
          <a:xfrm>
            <a:off x="2948940" y="7173468"/>
            <a:ext cx="401955" cy="0"/>
          </a:xfrm>
          <a:prstGeom prst="line">
            <a:avLst/>
          </a:prstGeom>
          <a:ln w="19050" cap="rnd">
            <a:solidFill>
              <a:srgbClr val="1F2937"/>
            </a:solidFill>
            <a:prstDash val="solid"/>
            <a:headEnd type="none" w="sm" len="sm"/>
            <a:tailEnd type="triangle" w="lg" len="med"/>
          </a:ln>
        </p:spPr>
        <p:txBody>
          <a:bodyPr/>
          <a:lstStyle/>
          <a:p>
            <a:endParaRPr lang="en-US"/>
          </a:p>
        </p:txBody>
      </p:sp>
      <p:grpSp>
        <p:nvGrpSpPr>
          <p:cNvPr id="103" name="Group 103"/>
          <p:cNvGrpSpPr/>
          <p:nvPr/>
        </p:nvGrpSpPr>
        <p:grpSpPr>
          <a:xfrm>
            <a:off x="3350895" y="6821043"/>
            <a:ext cx="2213610" cy="704850"/>
            <a:chOff x="0" y="0"/>
            <a:chExt cx="2951480" cy="939800"/>
          </a:xfrm>
        </p:grpSpPr>
        <p:sp>
          <p:nvSpPr>
            <p:cNvPr id="104" name="Freeform 104"/>
            <p:cNvSpPr/>
            <p:nvPr/>
          </p:nvSpPr>
          <p:spPr>
            <a:xfrm>
              <a:off x="0" y="0"/>
              <a:ext cx="2951480" cy="939800"/>
            </a:xfrm>
            <a:custGeom>
              <a:avLst/>
              <a:gdLst/>
              <a:ahLst/>
              <a:cxnLst/>
              <a:rect l="l" t="t" r="r" b="b"/>
              <a:pathLst>
                <a:path w="2951480" h="939800">
                  <a:moveTo>
                    <a:pt x="0" y="93980"/>
                  </a:moveTo>
                  <a:cubicBezTo>
                    <a:pt x="0" y="42037"/>
                    <a:pt x="42037" y="0"/>
                    <a:pt x="93980" y="0"/>
                  </a:cubicBezTo>
                  <a:lnTo>
                    <a:pt x="2857500" y="0"/>
                  </a:lnTo>
                  <a:cubicBezTo>
                    <a:pt x="2909443" y="0"/>
                    <a:pt x="2951480" y="42037"/>
                    <a:pt x="2951480" y="93980"/>
                  </a:cubicBezTo>
                  <a:lnTo>
                    <a:pt x="2951480" y="845820"/>
                  </a:lnTo>
                  <a:cubicBezTo>
                    <a:pt x="2951480" y="897763"/>
                    <a:pt x="2909443" y="939800"/>
                    <a:pt x="2857500" y="939800"/>
                  </a:cubicBezTo>
                  <a:lnTo>
                    <a:pt x="93980" y="939800"/>
                  </a:lnTo>
                  <a:cubicBezTo>
                    <a:pt x="42037" y="939800"/>
                    <a:pt x="0" y="897763"/>
                    <a:pt x="0" y="845820"/>
                  </a:cubicBezTo>
                  <a:close/>
                </a:path>
              </a:pathLst>
            </a:custGeom>
            <a:solidFill>
              <a:srgbClr val="FFFFFF"/>
            </a:solidFill>
            <a:ln w="19050" cap="sq">
              <a:solidFill>
                <a:srgbClr val="6B7280"/>
              </a:solidFill>
              <a:prstDash val="solid"/>
              <a:miter/>
            </a:ln>
          </p:spPr>
          <p:txBody>
            <a:bodyPr/>
            <a:lstStyle/>
            <a:p>
              <a:endParaRPr lang="en-US"/>
            </a:p>
          </p:txBody>
        </p:sp>
      </p:grpSp>
      <p:grpSp>
        <p:nvGrpSpPr>
          <p:cNvPr id="105" name="Group 105"/>
          <p:cNvGrpSpPr/>
          <p:nvPr/>
        </p:nvGrpSpPr>
        <p:grpSpPr>
          <a:xfrm>
            <a:off x="3360420" y="6830568"/>
            <a:ext cx="2194560" cy="685800"/>
            <a:chOff x="0" y="0"/>
            <a:chExt cx="2926080" cy="914400"/>
          </a:xfrm>
        </p:grpSpPr>
        <p:sp>
          <p:nvSpPr>
            <p:cNvPr id="106" name="Freeform 106"/>
            <p:cNvSpPr/>
            <p:nvPr/>
          </p:nvSpPr>
          <p:spPr>
            <a:xfrm>
              <a:off x="0" y="0"/>
              <a:ext cx="2926080" cy="914400"/>
            </a:xfrm>
            <a:custGeom>
              <a:avLst/>
              <a:gdLst/>
              <a:ahLst/>
              <a:cxnLst/>
              <a:rect l="l" t="t" r="r" b="b"/>
              <a:pathLst>
                <a:path w="2926080" h="914400">
                  <a:moveTo>
                    <a:pt x="0" y="0"/>
                  </a:moveTo>
                  <a:lnTo>
                    <a:pt x="2926080" y="0"/>
                  </a:lnTo>
                  <a:lnTo>
                    <a:pt x="2926080" y="914400"/>
                  </a:lnTo>
                  <a:lnTo>
                    <a:pt x="0" y="914400"/>
                  </a:lnTo>
                  <a:close/>
                </a:path>
              </a:pathLst>
            </a:custGeom>
            <a:blipFill>
              <a:blip r:embed="rId3">
                <a:alphaModFix amt="0"/>
              </a:blip>
              <a:stretch>
                <a:fillRect t="-12352" b="-12352"/>
              </a:stretch>
            </a:blipFill>
          </p:spPr>
          <p:txBody>
            <a:bodyPr/>
            <a:lstStyle/>
            <a:p>
              <a:endParaRPr lang="en-US"/>
            </a:p>
          </p:txBody>
        </p:sp>
        <p:sp>
          <p:nvSpPr>
            <p:cNvPr id="107" name="TextBox 107"/>
            <p:cNvSpPr txBox="1"/>
            <p:nvPr/>
          </p:nvSpPr>
          <p:spPr>
            <a:xfrm>
              <a:off x="0" y="9525"/>
              <a:ext cx="2926080" cy="904875"/>
            </a:xfrm>
            <a:prstGeom prst="rect">
              <a:avLst/>
            </a:prstGeom>
          </p:spPr>
          <p:txBody>
            <a:bodyPr lIns="0" tIns="0" rIns="0" bIns="0" rtlCol="0" anchor="ctr"/>
            <a:lstStyle/>
            <a:p>
              <a:pPr algn="ctr">
                <a:lnSpc>
                  <a:spcPts val="1980"/>
                </a:lnSpc>
              </a:pPr>
              <a:r>
                <a:rPr lang="en-US" sz="1650">
                  <a:solidFill>
                    <a:srgbClr val="1F2937"/>
                  </a:solidFill>
                  <a:latin typeface="Bai Jamjuree"/>
                  <a:ea typeface="Bai Jamjuree"/>
                  <a:cs typeface="Bai Jamjuree"/>
                  <a:sym typeface="Bai Jamjuree"/>
                </a:rPr>
                <a:t>Xác định vị trí marker</a:t>
              </a:r>
            </a:p>
          </p:txBody>
        </p:sp>
      </p:grpSp>
      <p:sp>
        <p:nvSpPr>
          <p:cNvPr id="108" name="AutoShape 108"/>
          <p:cNvSpPr/>
          <p:nvPr/>
        </p:nvSpPr>
        <p:spPr>
          <a:xfrm>
            <a:off x="5564505" y="7173468"/>
            <a:ext cx="401955" cy="0"/>
          </a:xfrm>
          <a:prstGeom prst="line">
            <a:avLst/>
          </a:prstGeom>
          <a:ln w="19050" cap="rnd">
            <a:solidFill>
              <a:srgbClr val="1F2937"/>
            </a:solidFill>
            <a:prstDash val="solid"/>
            <a:headEnd type="none" w="sm" len="sm"/>
            <a:tailEnd type="triangle" w="lg" len="med"/>
          </a:ln>
        </p:spPr>
        <p:txBody>
          <a:bodyPr/>
          <a:lstStyle/>
          <a:p>
            <a:endParaRPr lang="en-US"/>
          </a:p>
        </p:txBody>
      </p:sp>
      <p:grpSp>
        <p:nvGrpSpPr>
          <p:cNvPr id="109" name="Group 109"/>
          <p:cNvGrpSpPr/>
          <p:nvPr/>
        </p:nvGrpSpPr>
        <p:grpSpPr>
          <a:xfrm>
            <a:off x="5956935" y="6821043"/>
            <a:ext cx="2213610" cy="704850"/>
            <a:chOff x="0" y="0"/>
            <a:chExt cx="2951480" cy="939800"/>
          </a:xfrm>
        </p:grpSpPr>
        <p:sp>
          <p:nvSpPr>
            <p:cNvPr id="110" name="Freeform 110"/>
            <p:cNvSpPr/>
            <p:nvPr/>
          </p:nvSpPr>
          <p:spPr>
            <a:xfrm>
              <a:off x="0" y="0"/>
              <a:ext cx="2951480" cy="939800"/>
            </a:xfrm>
            <a:custGeom>
              <a:avLst/>
              <a:gdLst/>
              <a:ahLst/>
              <a:cxnLst/>
              <a:rect l="l" t="t" r="r" b="b"/>
              <a:pathLst>
                <a:path w="2951480" h="939800">
                  <a:moveTo>
                    <a:pt x="0" y="93980"/>
                  </a:moveTo>
                  <a:cubicBezTo>
                    <a:pt x="0" y="42037"/>
                    <a:pt x="42037" y="0"/>
                    <a:pt x="93980" y="0"/>
                  </a:cubicBezTo>
                  <a:lnTo>
                    <a:pt x="2857500" y="0"/>
                  </a:lnTo>
                  <a:cubicBezTo>
                    <a:pt x="2909443" y="0"/>
                    <a:pt x="2951480" y="42037"/>
                    <a:pt x="2951480" y="93980"/>
                  </a:cubicBezTo>
                  <a:lnTo>
                    <a:pt x="2951480" y="845820"/>
                  </a:lnTo>
                  <a:cubicBezTo>
                    <a:pt x="2951480" y="897763"/>
                    <a:pt x="2909443" y="939800"/>
                    <a:pt x="2857500" y="939800"/>
                  </a:cubicBezTo>
                  <a:lnTo>
                    <a:pt x="93980" y="939800"/>
                  </a:lnTo>
                  <a:cubicBezTo>
                    <a:pt x="42037" y="939800"/>
                    <a:pt x="0" y="897763"/>
                    <a:pt x="0" y="845820"/>
                  </a:cubicBezTo>
                  <a:close/>
                </a:path>
              </a:pathLst>
            </a:custGeom>
            <a:solidFill>
              <a:srgbClr val="FFFFFF"/>
            </a:solidFill>
            <a:ln w="19050" cap="sq">
              <a:solidFill>
                <a:srgbClr val="6B7280"/>
              </a:solidFill>
              <a:prstDash val="solid"/>
              <a:miter/>
            </a:ln>
          </p:spPr>
          <p:txBody>
            <a:bodyPr/>
            <a:lstStyle/>
            <a:p>
              <a:endParaRPr lang="en-US"/>
            </a:p>
          </p:txBody>
        </p:sp>
      </p:grpSp>
      <p:grpSp>
        <p:nvGrpSpPr>
          <p:cNvPr id="111" name="Group 111"/>
          <p:cNvGrpSpPr/>
          <p:nvPr/>
        </p:nvGrpSpPr>
        <p:grpSpPr>
          <a:xfrm>
            <a:off x="5966460" y="6830568"/>
            <a:ext cx="2194560" cy="685800"/>
            <a:chOff x="0" y="0"/>
            <a:chExt cx="2926080" cy="914400"/>
          </a:xfrm>
        </p:grpSpPr>
        <p:sp>
          <p:nvSpPr>
            <p:cNvPr id="112" name="Freeform 112"/>
            <p:cNvSpPr/>
            <p:nvPr/>
          </p:nvSpPr>
          <p:spPr>
            <a:xfrm>
              <a:off x="0" y="0"/>
              <a:ext cx="2926080" cy="914400"/>
            </a:xfrm>
            <a:custGeom>
              <a:avLst/>
              <a:gdLst/>
              <a:ahLst/>
              <a:cxnLst/>
              <a:rect l="l" t="t" r="r" b="b"/>
              <a:pathLst>
                <a:path w="2926080" h="914400">
                  <a:moveTo>
                    <a:pt x="0" y="0"/>
                  </a:moveTo>
                  <a:lnTo>
                    <a:pt x="2926080" y="0"/>
                  </a:lnTo>
                  <a:lnTo>
                    <a:pt x="2926080" y="914400"/>
                  </a:lnTo>
                  <a:lnTo>
                    <a:pt x="0" y="914400"/>
                  </a:lnTo>
                  <a:close/>
                </a:path>
              </a:pathLst>
            </a:custGeom>
            <a:blipFill>
              <a:blip r:embed="rId3">
                <a:alphaModFix amt="0"/>
              </a:blip>
              <a:stretch>
                <a:fillRect t="-12352" b="-12352"/>
              </a:stretch>
            </a:blipFill>
          </p:spPr>
          <p:txBody>
            <a:bodyPr/>
            <a:lstStyle/>
            <a:p>
              <a:endParaRPr lang="en-US"/>
            </a:p>
          </p:txBody>
        </p:sp>
        <p:sp>
          <p:nvSpPr>
            <p:cNvPr id="113" name="TextBox 113"/>
            <p:cNvSpPr txBox="1"/>
            <p:nvPr/>
          </p:nvSpPr>
          <p:spPr>
            <a:xfrm>
              <a:off x="0" y="9525"/>
              <a:ext cx="2926080" cy="904875"/>
            </a:xfrm>
            <a:prstGeom prst="rect">
              <a:avLst/>
            </a:prstGeom>
          </p:spPr>
          <p:txBody>
            <a:bodyPr lIns="0" tIns="0" rIns="0" bIns="0" rtlCol="0" anchor="ctr"/>
            <a:lstStyle/>
            <a:p>
              <a:pPr algn="ctr">
                <a:lnSpc>
                  <a:spcPts val="1980"/>
                </a:lnSpc>
              </a:pPr>
              <a:r>
                <a:rPr lang="en-US" sz="1650">
                  <a:solidFill>
                    <a:srgbClr val="1F2937"/>
                  </a:solidFill>
                  <a:latin typeface="Bai Jamjuree"/>
                  <a:ea typeface="Bai Jamjuree"/>
                  <a:cs typeface="Bai Jamjuree"/>
                  <a:sym typeface="Bai Jamjuree"/>
                </a:rPr>
                <a:t>Tính sai lệch ảnh</a:t>
              </a:r>
            </a:p>
            <a:p>
              <a:pPr algn="ctr">
                <a:lnSpc>
                  <a:spcPts val="1980"/>
                </a:lnSpc>
              </a:pPr>
              <a:r>
                <a:rPr lang="en-US" sz="1650">
                  <a:solidFill>
                    <a:srgbClr val="1F2937"/>
                  </a:solidFill>
                  <a:latin typeface="Bai Jamjuree"/>
                  <a:ea typeface="Bai Jamjuree"/>
                  <a:cs typeface="Bai Jamjuree"/>
                  <a:sym typeface="Bai Jamjuree"/>
                </a:rPr>
                <a:t>e = p − p*</a:t>
              </a:r>
            </a:p>
          </p:txBody>
        </p:sp>
      </p:grpSp>
      <p:sp>
        <p:nvSpPr>
          <p:cNvPr id="114" name="AutoShape 114"/>
          <p:cNvSpPr/>
          <p:nvPr/>
        </p:nvSpPr>
        <p:spPr>
          <a:xfrm>
            <a:off x="8170545" y="7173468"/>
            <a:ext cx="401955" cy="0"/>
          </a:xfrm>
          <a:prstGeom prst="line">
            <a:avLst/>
          </a:prstGeom>
          <a:ln w="19050" cap="rnd">
            <a:solidFill>
              <a:srgbClr val="1F2937"/>
            </a:solidFill>
            <a:prstDash val="solid"/>
            <a:headEnd type="none" w="sm" len="sm"/>
            <a:tailEnd type="triangle" w="lg" len="med"/>
          </a:ln>
        </p:spPr>
        <p:txBody>
          <a:bodyPr/>
          <a:lstStyle/>
          <a:p>
            <a:endParaRPr lang="en-US"/>
          </a:p>
        </p:txBody>
      </p:sp>
      <p:grpSp>
        <p:nvGrpSpPr>
          <p:cNvPr id="115" name="Group 115"/>
          <p:cNvGrpSpPr/>
          <p:nvPr/>
        </p:nvGrpSpPr>
        <p:grpSpPr>
          <a:xfrm>
            <a:off x="8562975" y="6821043"/>
            <a:ext cx="2213610" cy="704850"/>
            <a:chOff x="0" y="0"/>
            <a:chExt cx="2951480" cy="939800"/>
          </a:xfrm>
        </p:grpSpPr>
        <p:sp>
          <p:nvSpPr>
            <p:cNvPr id="116" name="Freeform 116"/>
            <p:cNvSpPr/>
            <p:nvPr/>
          </p:nvSpPr>
          <p:spPr>
            <a:xfrm>
              <a:off x="0" y="0"/>
              <a:ext cx="2951480" cy="939800"/>
            </a:xfrm>
            <a:custGeom>
              <a:avLst/>
              <a:gdLst/>
              <a:ahLst/>
              <a:cxnLst/>
              <a:rect l="l" t="t" r="r" b="b"/>
              <a:pathLst>
                <a:path w="2951480" h="939800">
                  <a:moveTo>
                    <a:pt x="0" y="93980"/>
                  </a:moveTo>
                  <a:cubicBezTo>
                    <a:pt x="0" y="42037"/>
                    <a:pt x="42037" y="0"/>
                    <a:pt x="93980" y="0"/>
                  </a:cubicBezTo>
                  <a:lnTo>
                    <a:pt x="2857500" y="0"/>
                  </a:lnTo>
                  <a:cubicBezTo>
                    <a:pt x="2909443" y="0"/>
                    <a:pt x="2951480" y="42037"/>
                    <a:pt x="2951480" y="93980"/>
                  </a:cubicBezTo>
                  <a:lnTo>
                    <a:pt x="2951480" y="845820"/>
                  </a:lnTo>
                  <a:cubicBezTo>
                    <a:pt x="2951480" y="897763"/>
                    <a:pt x="2909443" y="939800"/>
                    <a:pt x="2857500" y="939800"/>
                  </a:cubicBezTo>
                  <a:lnTo>
                    <a:pt x="93980" y="939800"/>
                  </a:lnTo>
                  <a:cubicBezTo>
                    <a:pt x="42037" y="939800"/>
                    <a:pt x="0" y="897763"/>
                    <a:pt x="0" y="845820"/>
                  </a:cubicBezTo>
                  <a:close/>
                </a:path>
              </a:pathLst>
            </a:custGeom>
            <a:solidFill>
              <a:srgbClr val="DC2D3A"/>
            </a:solidFill>
            <a:ln w="19050" cap="sq">
              <a:solidFill>
                <a:srgbClr val="DC2D3A"/>
              </a:solidFill>
              <a:prstDash val="solid"/>
              <a:miter/>
            </a:ln>
          </p:spPr>
          <p:txBody>
            <a:bodyPr/>
            <a:lstStyle/>
            <a:p>
              <a:endParaRPr lang="en-US"/>
            </a:p>
          </p:txBody>
        </p:sp>
      </p:grpSp>
      <p:grpSp>
        <p:nvGrpSpPr>
          <p:cNvPr id="117" name="Group 117"/>
          <p:cNvGrpSpPr/>
          <p:nvPr/>
        </p:nvGrpSpPr>
        <p:grpSpPr>
          <a:xfrm>
            <a:off x="8572500" y="6830568"/>
            <a:ext cx="2194560" cy="685800"/>
            <a:chOff x="0" y="0"/>
            <a:chExt cx="2926080" cy="914400"/>
          </a:xfrm>
        </p:grpSpPr>
        <p:sp>
          <p:nvSpPr>
            <p:cNvPr id="118" name="Freeform 118"/>
            <p:cNvSpPr/>
            <p:nvPr/>
          </p:nvSpPr>
          <p:spPr>
            <a:xfrm>
              <a:off x="0" y="0"/>
              <a:ext cx="2926080" cy="914400"/>
            </a:xfrm>
            <a:custGeom>
              <a:avLst/>
              <a:gdLst/>
              <a:ahLst/>
              <a:cxnLst/>
              <a:rect l="l" t="t" r="r" b="b"/>
              <a:pathLst>
                <a:path w="2926080" h="914400">
                  <a:moveTo>
                    <a:pt x="0" y="0"/>
                  </a:moveTo>
                  <a:lnTo>
                    <a:pt x="2926080" y="0"/>
                  </a:lnTo>
                  <a:lnTo>
                    <a:pt x="2926080" y="914400"/>
                  </a:lnTo>
                  <a:lnTo>
                    <a:pt x="0" y="914400"/>
                  </a:lnTo>
                  <a:close/>
                </a:path>
              </a:pathLst>
            </a:custGeom>
            <a:blipFill>
              <a:blip r:embed="rId3">
                <a:alphaModFix amt="0"/>
              </a:blip>
              <a:stretch>
                <a:fillRect t="-12352" b="-12352"/>
              </a:stretch>
            </a:blipFill>
          </p:spPr>
          <p:txBody>
            <a:bodyPr/>
            <a:lstStyle/>
            <a:p>
              <a:endParaRPr lang="en-US"/>
            </a:p>
          </p:txBody>
        </p:sp>
        <p:sp>
          <p:nvSpPr>
            <p:cNvPr id="119" name="TextBox 119"/>
            <p:cNvSpPr txBox="1"/>
            <p:nvPr/>
          </p:nvSpPr>
          <p:spPr>
            <a:xfrm>
              <a:off x="0" y="9525"/>
              <a:ext cx="2926080" cy="904875"/>
            </a:xfrm>
            <a:prstGeom prst="rect">
              <a:avLst/>
            </a:prstGeom>
          </p:spPr>
          <p:txBody>
            <a:bodyPr lIns="0" tIns="0" rIns="0" bIns="0" rtlCol="0" anchor="ctr"/>
            <a:lstStyle/>
            <a:p>
              <a:pPr algn="ctr">
                <a:lnSpc>
                  <a:spcPts val="1980"/>
                </a:lnSpc>
              </a:pPr>
              <a:r>
                <a:rPr lang="en-US" sz="1650" b="1">
                  <a:solidFill>
                    <a:srgbClr val="FFFFFF"/>
                  </a:solidFill>
                  <a:latin typeface="Bai Jamjuree Bold"/>
                  <a:ea typeface="Bai Jamjuree Bold"/>
                  <a:cs typeface="Bai Jamjuree Bold"/>
                  <a:sym typeface="Bai Jamjuree Bold"/>
                </a:rPr>
                <a:t>Chỉnh servo pitch</a:t>
              </a:r>
            </a:p>
            <a:p>
              <a:pPr algn="ctr">
                <a:lnSpc>
                  <a:spcPts val="1980"/>
                </a:lnSpc>
              </a:pPr>
              <a:r>
                <a:rPr lang="en-US" sz="1650" b="1">
                  <a:solidFill>
                    <a:srgbClr val="FFFFFF"/>
                  </a:solidFill>
                  <a:latin typeface="Bai Jamjuree Bold"/>
                  <a:ea typeface="Bai Jamjuree Bold"/>
                  <a:cs typeface="Bai Jamjuree Bold"/>
                  <a:sym typeface="Bai Jamjuree Bold"/>
                </a:rPr>
                <a:t>+ yaw thân</a:t>
              </a:r>
            </a:p>
          </p:txBody>
        </p:sp>
      </p:grpSp>
      <p:sp>
        <p:nvSpPr>
          <p:cNvPr id="120" name="AutoShape 120"/>
          <p:cNvSpPr/>
          <p:nvPr/>
        </p:nvSpPr>
        <p:spPr>
          <a:xfrm>
            <a:off x="9669780" y="7525893"/>
            <a:ext cx="0" cy="306538"/>
          </a:xfrm>
          <a:prstGeom prst="line">
            <a:avLst/>
          </a:prstGeom>
          <a:ln w="19050" cap="rnd">
            <a:solidFill>
              <a:srgbClr val="DC2D3A"/>
            </a:solidFill>
            <a:prstDash val="solid"/>
            <a:headEnd type="none" w="sm" len="sm"/>
            <a:tailEnd type="none" w="sm" len="sm"/>
          </a:ln>
        </p:spPr>
        <p:txBody>
          <a:bodyPr/>
          <a:lstStyle/>
          <a:p>
            <a:endParaRPr lang="en-US"/>
          </a:p>
        </p:txBody>
      </p:sp>
      <p:sp>
        <p:nvSpPr>
          <p:cNvPr id="121" name="AutoShape 121"/>
          <p:cNvSpPr/>
          <p:nvPr/>
        </p:nvSpPr>
        <p:spPr>
          <a:xfrm>
            <a:off x="1865947" y="7832410"/>
            <a:ext cx="7818113" cy="22"/>
          </a:xfrm>
          <a:prstGeom prst="line">
            <a:avLst/>
          </a:prstGeom>
          <a:ln w="19050" cap="rnd">
            <a:solidFill>
              <a:srgbClr val="DC2D3A"/>
            </a:solidFill>
            <a:prstDash val="solid"/>
            <a:headEnd type="none" w="sm" len="sm"/>
            <a:tailEnd type="none" w="sm" len="sm"/>
          </a:ln>
        </p:spPr>
        <p:txBody>
          <a:bodyPr/>
          <a:lstStyle/>
          <a:p>
            <a:endParaRPr lang="en-US"/>
          </a:p>
        </p:txBody>
      </p:sp>
      <p:sp>
        <p:nvSpPr>
          <p:cNvPr id="122" name="AutoShape 122"/>
          <p:cNvSpPr/>
          <p:nvPr/>
        </p:nvSpPr>
        <p:spPr>
          <a:xfrm flipV="1">
            <a:off x="1865947" y="7502078"/>
            <a:ext cx="0" cy="330353"/>
          </a:xfrm>
          <a:prstGeom prst="line">
            <a:avLst/>
          </a:prstGeom>
          <a:ln w="19050" cap="rnd">
            <a:solidFill>
              <a:srgbClr val="DC2D3A"/>
            </a:solidFill>
            <a:prstDash val="solid"/>
            <a:headEnd type="none" w="sm" len="sm"/>
            <a:tailEnd type="triangle" w="lg" len="med"/>
          </a:ln>
        </p:spPr>
        <p:txBody>
          <a:bodyPr/>
          <a:lstStyle/>
          <a:p>
            <a:endParaRPr lang="en-US"/>
          </a:p>
        </p:txBody>
      </p:sp>
      <p:grpSp>
        <p:nvGrpSpPr>
          <p:cNvPr id="123" name="Group 123"/>
          <p:cNvGrpSpPr/>
          <p:nvPr/>
        </p:nvGrpSpPr>
        <p:grpSpPr>
          <a:xfrm>
            <a:off x="3497580" y="7667244"/>
            <a:ext cx="4526280" cy="454533"/>
            <a:chOff x="0" y="0"/>
            <a:chExt cx="6035040" cy="606044"/>
          </a:xfrm>
        </p:grpSpPr>
        <p:sp>
          <p:nvSpPr>
            <p:cNvPr id="124" name="Freeform 124"/>
            <p:cNvSpPr/>
            <p:nvPr/>
          </p:nvSpPr>
          <p:spPr>
            <a:xfrm>
              <a:off x="0" y="0"/>
              <a:ext cx="6035040" cy="606044"/>
            </a:xfrm>
            <a:custGeom>
              <a:avLst/>
              <a:gdLst/>
              <a:ahLst/>
              <a:cxnLst/>
              <a:rect l="l" t="t" r="r" b="b"/>
              <a:pathLst>
                <a:path w="6035040" h="606044">
                  <a:moveTo>
                    <a:pt x="0" y="0"/>
                  </a:moveTo>
                  <a:lnTo>
                    <a:pt x="6035040" y="0"/>
                  </a:lnTo>
                  <a:lnTo>
                    <a:pt x="6035040" y="606044"/>
                  </a:lnTo>
                  <a:lnTo>
                    <a:pt x="0" y="606044"/>
                  </a:lnTo>
                  <a:close/>
                </a:path>
              </a:pathLst>
            </a:custGeom>
            <a:solidFill>
              <a:srgbClr val="F2F3F5"/>
            </a:solidFill>
          </p:spPr>
          <p:txBody>
            <a:bodyPr/>
            <a:lstStyle/>
            <a:p>
              <a:endParaRPr lang="en-US"/>
            </a:p>
          </p:txBody>
        </p:sp>
        <p:sp>
          <p:nvSpPr>
            <p:cNvPr id="125" name="TextBox 125"/>
            <p:cNvSpPr txBox="1"/>
            <p:nvPr/>
          </p:nvSpPr>
          <p:spPr>
            <a:xfrm>
              <a:off x="0" y="0"/>
              <a:ext cx="6035040" cy="606044"/>
            </a:xfrm>
            <a:prstGeom prst="rect">
              <a:avLst/>
            </a:prstGeom>
          </p:spPr>
          <p:txBody>
            <a:bodyPr lIns="50800" tIns="50800" rIns="50800" bIns="50800" rtlCol="0" anchor="ctr"/>
            <a:lstStyle/>
            <a:p>
              <a:pPr algn="ctr">
                <a:lnSpc>
                  <a:spcPts val="1800"/>
                </a:lnSpc>
              </a:pPr>
              <a:r>
                <a:rPr lang="en-US" sz="1500" b="1">
                  <a:solidFill>
                    <a:srgbClr val="DC2D3A"/>
                  </a:solidFill>
                  <a:latin typeface="Bai Jamjuree Bold"/>
                  <a:ea typeface="Bai Jamjuree Bold"/>
                  <a:cs typeface="Bai Jamjuree Bold"/>
                  <a:sym typeface="Bai Jamjuree Bold"/>
                </a:rPr>
                <a:t>Ảnh camera cập nhật · vòng phản hồi liên tục</a:t>
              </a:r>
            </a:p>
          </p:txBody>
        </p:sp>
      </p:grpSp>
      <p:sp>
        <p:nvSpPr>
          <p:cNvPr id="126" name="TextBox 126"/>
          <p:cNvSpPr txBox="1"/>
          <p:nvPr/>
        </p:nvSpPr>
        <p:spPr>
          <a:xfrm>
            <a:off x="754380" y="8092440"/>
            <a:ext cx="10218420" cy="238125"/>
          </a:xfrm>
          <a:prstGeom prst="rect">
            <a:avLst/>
          </a:prstGeom>
        </p:spPr>
        <p:txBody>
          <a:bodyPr lIns="0" tIns="0" rIns="0" bIns="0" rtlCol="0" anchor="t">
            <a:spAutoFit/>
          </a:bodyPr>
          <a:lstStyle/>
          <a:p>
            <a:pPr algn="l">
              <a:lnSpc>
                <a:spcPts val="1889"/>
              </a:lnSpc>
            </a:pPr>
            <a:r>
              <a:rPr lang="en-US" sz="1575" i="1">
                <a:solidFill>
                  <a:srgbClr val="4B5563"/>
                </a:solidFill>
                <a:latin typeface="Bai Jamjuree Italics"/>
                <a:ea typeface="Bai Jamjuree Italics"/>
                <a:cs typeface="Bai Jamjuree Italics"/>
                <a:sym typeface="Bai Jamjuree Italics"/>
              </a:rPr>
              <a:t>Lưu ý: IBVS chỉ điều khiển servo pitch và yaw thân; vận tốc tịnh tiến do I-APF/FSM tính.</a:t>
            </a:r>
          </a:p>
        </p:txBody>
      </p:sp>
      <p:grpSp>
        <p:nvGrpSpPr>
          <p:cNvPr id="127" name="Group 127"/>
          <p:cNvGrpSpPr/>
          <p:nvPr/>
        </p:nvGrpSpPr>
        <p:grpSpPr>
          <a:xfrm>
            <a:off x="11452860" y="2057400"/>
            <a:ext cx="6281928" cy="3154680"/>
            <a:chOff x="0" y="0"/>
            <a:chExt cx="8375904" cy="4206240"/>
          </a:xfrm>
        </p:grpSpPr>
        <p:sp>
          <p:nvSpPr>
            <p:cNvPr id="128" name="Freeform 128"/>
            <p:cNvSpPr/>
            <p:nvPr/>
          </p:nvSpPr>
          <p:spPr>
            <a:xfrm>
              <a:off x="0" y="0"/>
              <a:ext cx="8375904" cy="4206240"/>
            </a:xfrm>
            <a:custGeom>
              <a:avLst/>
              <a:gdLst/>
              <a:ahLst/>
              <a:cxnLst/>
              <a:rect l="l" t="t" r="r" b="b"/>
              <a:pathLst>
                <a:path w="8375904" h="4206240">
                  <a:moveTo>
                    <a:pt x="0" y="146304"/>
                  </a:moveTo>
                  <a:cubicBezTo>
                    <a:pt x="0" y="65532"/>
                    <a:pt x="65532" y="0"/>
                    <a:pt x="146304" y="0"/>
                  </a:cubicBezTo>
                  <a:lnTo>
                    <a:pt x="8229600" y="0"/>
                  </a:lnTo>
                  <a:cubicBezTo>
                    <a:pt x="8310372" y="0"/>
                    <a:pt x="8375904" y="65532"/>
                    <a:pt x="8375904" y="146304"/>
                  </a:cubicBezTo>
                  <a:lnTo>
                    <a:pt x="8375904" y="4059936"/>
                  </a:lnTo>
                  <a:cubicBezTo>
                    <a:pt x="8375904" y="4140708"/>
                    <a:pt x="8310372" y="4206240"/>
                    <a:pt x="8229600" y="4206240"/>
                  </a:cubicBezTo>
                  <a:lnTo>
                    <a:pt x="146304" y="4206240"/>
                  </a:lnTo>
                  <a:cubicBezTo>
                    <a:pt x="65532" y="4206240"/>
                    <a:pt x="0" y="4140708"/>
                    <a:pt x="0" y="4059936"/>
                  </a:cubicBezTo>
                  <a:close/>
                </a:path>
              </a:pathLst>
            </a:custGeom>
            <a:solidFill>
              <a:srgbClr val="F2F3F5"/>
            </a:solidFill>
          </p:spPr>
          <p:txBody>
            <a:bodyPr/>
            <a:lstStyle/>
            <a:p>
              <a:endParaRPr lang="en-US"/>
            </a:p>
          </p:txBody>
        </p:sp>
      </p:grpSp>
      <p:grpSp>
        <p:nvGrpSpPr>
          <p:cNvPr id="129" name="Group 129"/>
          <p:cNvGrpSpPr/>
          <p:nvPr/>
        </p:nvGrpSpPr>
        <p:grpSpPr>
          <a:xfrm>
            <a:off x="11631168" y="2167128"/>
            <a:ext cx="411480" cy="522580"/>
            <a:chOff x="0" y="0"/>
            <a:chExt cx="548640" cy="696773"/>
          </a:xfrm>
        </p:grpSpPr>
        <p:sp>
          <p:nvSpPr>
            <p:cNvPr id="130" name="Freeform 130"/>
            <p:cNvSpPr/>
            <p:nvPr/>
          </p:nvSpPr>
          <p:spPr>
            <a:xfrm>
              <a:off x="0" y="0"/>
              <a:ext cx="548640" cy="696773"/>
            </a:xfrm>
            <a:custGeom>
              <a:avLst/>
              <a:gdLst/>
              <a:ahLst/>
              <a:cxnLst/>
              <a:rect l="l" t="t" r="r" b="b"/>
              <a:pathLst>
                <a:path w="548640" h="696773">
                  <a:moveTo>
                    <a:pt x="0" y="348386"/>
                  </a:moveTo>
                  <a:cubicBezTo>
                    <a:pt x="0" y="155967"/>
                    <a:pt x="122809" y="0"/>
                    <a:pt x="274320" y="0"/>
                  </a:cubicBezTo>
                  <a:cubicBezTo>
                    <a:pt x="425831" y="0"/>
                    <a:pt x="548640" y="155967"/>
                    <a:pt x="548640" y="348386"/>
                  </a:cubicBezTo>
                  <a:cubicBezTo>
                    <a:pt x="548640" y="540805"/>
                    <a:pt x="425831" y="696773"/>
                    <a:pt x="274320" y="696773"/>
                  </a:cubicBezTo>
                  <a:cubicBezTo>
                    <a:pt x="122809" y="696773"/>
                    <a:pt x="0" y="540805"/>
                    <a:pt x="0" y="348386"/>
                  </a:cubicBezTo>
                  <a:close/>
                </a:path>
              </a:pathLst>
            </a:custGeom>
            <a:solidFill>
              <a:srgbClr val="1F7A8C"/>
            </a:solidFill>
          </p:spPr>
          <p:txBody>
            <a:bodyPr/>
            <a:lstStyle/>
            <a:p>
              <a:endParaRPr lang="en-US"/>
            </a:p>
          </p:txBody>
        </p:sp>
        <p:sp>
          <p:nvSpPr>
            <p:cNvPr id="131" name="TextBox 131"/>
            <p:cNvSpPr txBox="1"/>
            <p:nvPr/>
          </p:nvSpPr>
          <p:spPr>
            <a:xfrm>
              <a:off x="0" y="0"/>
              <a:ext cx="548640" cy="696773"/>
            </a:xfrm>
            <a:prstGeom prst="rect">
              <a:avLst/>
            </a:prstGeom>
          </p:spPr>
          <p:txBody>
            <a:bodyPr lIns="50800" tIns="50800" rIns="50800" bIns="50800" rtlCol="0" anchor="ctr"/>
            <a:lstStyle/>
            <a:p>
              <a:pPr algn="ctr">
                <a:lnSpc>
                  <a:spcPts val="2160"/>
                </a:lnSpc>
              </a:pPr>
              <a:r>
                <a:rPr lang="en-US" sz="1800" b="1">
                  <a:solidFill>
                    <a:srgbClr val="FFFFFF"/>
                  </a:solidFill>
                  <a:latin typeface="Bai Jamjuree Bold"/>
                  <a:ea typeface="Bai Jamjuree Bold"/>
                  <a:cs typeface="Bai Jamjuree Bold"/>
                  <a:sym typeface="Bai Jamjuree Bold"/>
                </a:rPr>
                <a:t>2</a:t>
              </a:r>
            </a:p>
          </p:txBody>
        </p:sp>
      </p:grpSp>
      <p:grpSp>
        <p:nvGrpSpPr>
          <p:cNvPr id="132" name="Group 132"/>
          <p:cNvGrpSpPr/>
          <p:nvPr/>
        </p:nvGrpSpPr>
        <p:grpSpPr>
          <a:xfrm>
            <a:off x="12207240" y="2167128"/>
            <a:ext cx="5417820" cy="489928"/>
            <a:chOff x="0" y="0"/>
            <a:chExt cx="7223760" cy="653237"/>
          </a:xfrm>
        </p:grpSpPr>
        <p:sp>
          <p:nvSpPr>
            <p:cNvPr id="133" name="Freeform 133"/>
            <p:cNvSpPr/>
            <p:nvPr/>
          </p:nvSpPr>
          <p:spPr>
            <a:xfrm>
              <a:off x="0" y="0"/>
              <a:ext cx="7223760" cy="653237"/>
            </a:xfrm>
            <a:custGeom>
              <a:avLst/>
              <a:gdLst/>
              <a:ahLst/>
              <a:cxnLst/>
              <a:rect l="l" t="t" r="r" b="b"/>
              <a:pathLst>
                <a:path w="7223760" h="653237">
                  <a:moveTo>
                    <a:pt x="0" y="0"/>
                  </a:moveTo>
                  <a:lnTo>
                    <a:pt x="7223760" y="0"/>
                  </a:lnTo>
                  <a:lnTo>
                    <a:pt x="7223760" y="653237"/>
                  </a:lnTo>
                  <a:lnTo>
                    <a:pt x="0" y="653237"/>
                  </a:lnTo>
                  <a:close/>
                </a:path>
              </a:pathLst>
            </a:custGeom>
            <a:blipFill>
              <a:blip r:embed="rId3">
                <a:alphaModFix amt="0"/>
              </a:blip>
              <a:stretch>
                <a:fillRect t="-173479" b="-157467"/>
              </a:stretch>
            </a:blipFill>
          </p:spPr>
          <p:txBody>
            <a:bodyPr/>
            <a:lstStyle/>
            <a:p>
              <a:endParaRPr lang="en-US"/>
            </a:p>
          </p:txBody>
        </p:sp>
        <p:sp>
          <p:nvSpPr>
            <p:cNvPr id="134" name="TextBox 134"/>
            <p:cNvSpPr txBox="1"/>
            <p:nvPr/>
          </p:nvSpPr>
          <p:spPr>
            <a:xfrm>
              <a:off x="0" y="0"/>
              <a:ext cx="7223760" cy="653237"/>
            </a:xfrm>
            <a:prstGeom prst="rect">
              <a:avLst/>
            </a:prstGeom>
          </p:spPr>
          <p:txBody>
            <a:bodyPr lIns="0" tIns="0" rIns="0" bIns="0" rtlCol="0" anchor="ctr"/>
            <a:lstStyle/>
            <a:p>
              <a:pPr algn="l">
                <a:lnSpc>
                  <a:spcPts val="2340"/>
                </a:lnSpc>
              </a:pPr>
              <a:r>
                <a:rPr lang="en-US" sz="1950" b="1">
                  <a:solidFill>
                    <a:srgbClr val="1F2937"/>
                  </a:solidFill>
                  <a:latin typeface="Bai Jamjuree Bold"/>
                  <a:ea typeface="Bai Jamjuree Bold"/>
                  <a:cs typeface="Bai Jamjuree Bold"/>
                  <a:sym typeface="Bai Jamjuree Bold"/>
                </a:rPr>
                <a:t>EKF – Ước lượng khi bị che khuất</a:t>
              </a:r>
            </a:p>
          </p:txBody>
        </p:sp>
      </p:grpSp>
      <p:sp>
        <p:nvSpPr>
          <p:cNvPr id="135" name="TextBox 135"/>
          <p:cNvSpPr txBox="1"/>
          <p:nvPr/>
        </p:nvSpPr>
        <p:spPr>
          <a:xfrm>
            <a:off x="11658600" y="2670429"/>
            <a:ext cx="5897880" cy="485775"/>
          </a:xfrm>
          <a:prstGeom prst="rect">
            <a:avLst/>
          </a:prstGeom>
        </p:spPr>
        <p:txBody>
          <a:bodyPr lIns="0" tIns="0" rIns="0" bIns="0" rtlCol="0" anchor="t">
            <a:spAutoFit/>
          </a:bodyPr>
          <a:lstStyle/>
          <a:p>
            <a:pPr algn="l">
              <a:lnSpc>
                <a:spcPts val="1980"/>
              </a:lnSpc>
            </a:pPr>
            <a:r>
              <a:rPr lang="en-US" sz="1650">
                <a:solidFill>
                  <a:srgbClr val="374151"/>
                </a:solidFill>
                <a:latin typeface="Bai Jamjuree"/>
                <a:ea typeface="Bai Jamjuree"/>
                <a:cs typeface="Bai Jamjuree"/>
                <a:sym typeface="Bai Jamjuree"/>
              </a:rPr>
              <a:t>Dự đoán vị trí mục tiêu từ trạng thái trước đó khi mất quan sát ngắn; cập nhật lại khi marker xuất hiện.</a:t>
            </a:r>
          </a:p>
        </p:txBody>
      </p:sp>
      <p:grpSp>
        <p:nvGrpSpPr>
          <p:cNvPr id="136" name="Group 136"/>
          <p:cNvGrpSpPr/>
          <p:nvPr/>
        </p:nvGrpSpPr>
        <p:grpSpPr>
          <a:xfrm>
            <a:off x="11651456" y="3353276"/>
            <a:ext cx="5884736" cy="1728788"/>
            <a:chOff x="0" y="0"/>
            <a:chExt cx="7846314" cy="2305050"/>
          </a:xfrm>
        </p:grpSpPr>
        <p:sp>
          <p:nvSpPr>
            <p:cNvPr id="137" name="Freeform 137"/>
            <p:cNvSpPr/>
            <p:nvPr/>
          </p:nvSpPr>
          <p:spPr>
            <a:xfrm>
              <a:off x="0" y="0"/>
              <a:ext cx="7846314" cy="2305050"/>
            </a:xfrm>
            <a:custGeom>
              <a:avLst/>
              <a:gdLst/>
              <a:ahLst/>
              <a:cxnLst/>
              <a:rect l="l" t="t" r="r" b="b"/>
              <a:pathLst>
                <a:path w="7846314" h="2305050">
                  <a:moveTo>
                    <a:pt x="0" y="0"/>
                  </a:moveTo>
                  <a:lnTo>
                    <a:pt x="7846314" y="0"/>
                  </a:lnTo>
                  <a:lnTo>
                    <a:pt x="7846314" y="2305050"/>
                  </a:lnTo>
                  <a:lnTo>
                    <a:pt x="0" y="2305050"/>
                  </a:lnTo>
                  <a:close/>
                </a:path>
              </a:pathLst>
            </a:custGeom>
            <a:solidFill>
              <a:srgbClr val="FFFFFF"/>
            </a:solidFill>
            <a:ln w="14288" cap="sq">
              <a:solidFill>
                <a:srgbClr val="D1D5DB"/>
              </a:solidFill>
              <a:prstDash val="solid"/>
              <a:miter/>
            </a:ln>
          </p:spPr>
          <p:txBody>
            <a:bodyPr/>
            <a:lstStyle/>
            <a:p>
              <a:endParaRPr lang="en-US"/>
            </a:p>
          </p:txBody>
        </p:sp>
      </p:grpSp>
      <p:grpSp>
        <p:nvGrpSpPr>
          <p:cNvPr id="138" name="Group 138"/>
          <p:cNvGrpSpPr/>
          <p:nvPr/>
        </p:nvGrpSpPr>
        <p:grpSpPr>
          <a:xfrm>
            <a:off x="13510260" y="3374136"/>
            <a:ext cx="2057400" cy="1687068"/>
            <a:chOff x="0" y="0"/>
            <a:chExt cx="2743200" cy="2249424"/>
          </a:xfrm>
        </p:grpSpPr>
        <p:sp>
          <p:nvSpPr>
            <p:cNvPr id="139" name="Freeform 139"/>
            <p:cNvSpPr/>
            <p:nvPr/>
          </p:nvSpPr>
          <p:spPr>
            <a:xfrm>
              <a:off x="0" y="0"/>
              <a:ext cx="2743200" cy="2249424"/>
            </a:xfrm>
            <a:custGeom>
              <a:avLst/>
              <a:gdLst/>
              <a:ahLst/>
              <a:cxnLst/>
              <a:rect l="l" t="t" r="r" b="b"/>
              <a:pathLst>
                <a:path w="2743200" h="2249424">
                  <a:moveTo>
                    <a:pt x="0" y="0"/>
                  </a:moveTo>
                  <a:lnTo>
                    <a:pt x="2743200" y="0"/>
                  </a:lnTo>
                  <a:lnTo>
                    <a:pt x="2743200" y="2249424"/>
                  </a:lnTo>
                  <a:lnTo>
                    <a:pt x="0" y="2249424"/>
                  </a:lnTo>
                  <a:close/>
                </a:path>
              </a:pathLst>
            </a:custGeom>
            <a:solidFill>
              <a:srgbClr val="FDECEE"/>
            </a:solidFill>
          </p:spPr>
          <p:txBody>
            <a:bodyPr/>
            <a:lstStyle/>
            <a:p>
              <a:endParaRPr lang="en-US"/>
            </a:p>
          </p:txBody>
        </p:sp>
      </p:grpSp>
      <p:sp>
        <p:nvSpPr>
          <p:cNvPr id="140" name="TextBox 140"/>
          <p:cNvSpPr txBox="1"/>
          <p:nvPr/>
        </p:nvSpPr>
        <p:spPr>
          <a:xfrm>
            <a:off x="13946773" y="3499927"/>
            <a:ext cx="1321534" cy="230832"/>
          </a:xfrm>
          <a:prstGeom prst="rect">
            <a:avLst/>
          </a:prstGeom>
        </p:spPr>
        <p:txBody>
          <a:bodyPr wrap="square" lIns="0" tIns="0" rIns="0" bIns="0" rtlCol="0" anchor="t">
            <a:spAutoFit/>
          </a:bodyPr>
          <a:lstStyle/>
          <a:p>
            <a:pPr algn="ctr">
              <a:lnSpc>
                <a:spcPts val="1800"/>
              </a:lnSpc>
            </a:pPr>
            <a:r>
              <a:rPr lang="en-US" sz="1500" b="1">
                <a:solidFill>
                  <a:srgbClr val="DC2D3A"/>
                </a:solidFill>
                <a:latin typeface="Bai Jamjuree Bold"/>
                <a:ea typeface="Bai Jamjuree Bold"/>
                <a:cs typeface="Bai Jamjuree Bold"/>
                <a:sym typeface="Bai Jamjuree Bold"/>
              </a:rPr>
              <a:t>Marker bị che</a:t>
            </a:r>
          </a:p>
        </p:txBody>
      </p:sp>
      <p:grpSp>
        <p:nvGrpSpPr>
          <p:cNvPr id="141" name="Group 141"/>
          <p:cNvGrpSpPr/>
          <p:nvPr/>
        </p:nvGrpSpPr>
        <p:grpSpPr>
          <a:xfrm>
            <a:off x="13510260" y="3675888"/>
            <a:ext cx="2057400" cy="384048"/>
            <a:chOff x="0" y="0"/>
            <a:chExt cx="2743200" cy="512064"/>
          </a:xfrm>
        </p:grpSpPr>
        <p:sp>
          <p:nvSpPr>
            <p:cNvPr id="142" name="Freeform 142"/>
            <p:cNvSpPr/>
            <p:nvPr/>
          </p:nvSpPr>
          <p:spPr>
            <a:xfrm>
              <a:off x="0" y="0"/>
              <a:ext cx="2743200" cy="512064"/>
            </a:xfrm>
            <a:custGeom>
              <a:avLst/>
              <a:gdLst/>
              <a:ahLst/>
              <a:cxnLst/>
              <a:rect l="l" t="t" r="r" b="b"/>
              <a:pathLst>
                <a:path w="2743200" h="512064">
                  <a:moveTo>
                    <a:pt x="0" y="512064"/>
                  </a:moveTo>
                  <a:lnTo>
                    <a:pt x="2743200" y="0"/>
                  </a:lnTo>
                  <a:lnTo>
                    <a:pt x="2743200" y="365760"/>
                  </a:lnTo>
                  <a:close/>
                </a:path>
              </a:pathLst>
            </a:custGeom>
            <a:solidFill>
              <a:srgbClr val="1F7A8C">
                <a:alpha val="3922"/>
              </a:srgbClr>
            </a:solidFill>
          </p:spPr>
          <p:txBody>
            <a:bodyPr/>
            <a:lstStyle/>
            <a:p>
              <a:endParaRPr lang="en-US"/>
            </a:p>
          </p:txBody>
        </p:sp>
      </p:grpSp>
      <p:sp>
        <p:nvSpPr>
          <p:cNvPr id="143" name="AutoShape 143"/>
          <p:cNvSpPr/>
          <p:nvPr/>
        </p:nvSpPr>
        <p:spPr>
          <a:xfrm rot="-554160">
            <a:off x="11765204" y="4187571"/>
            <a:ext cx="1775622" cy="0"/>
          </a:xfrm>
          <a:prstGeom prst="line">
            <a:avLst/>
          </a:prstGeom>
          <a:ln w="19050" cap="rnd">
            <a:solidFill>
              <a:srgbClr val="1F7A8C"/>
            </a:solidFill>
            <a:prstDash val="solid"/>
            <a:headEnd type="none" w="sm" len="sm"/>
            <a:tailEnd type="none" w="sm" len="sm"/>
          </a:ln>
        </p:spPr>
        <p:txBody>
          <a:bodyPr/>
          <a:lstStyle/>
          <a:p>
            <a:endParaRPr lang="en-US"/>
          </a:p>
        </p:txBody>
      </p:sp>
      <p:sp>
        <p:nvSpPr>
          <p:cNvPr id="144" name="AutoShape 144"/>
          <p:cNvSpPr/>
          <p:nvPr/>
        </p:nvSpPr>
        <p:spPr>
          <a:xfrm rot="-486780">
            <a:off x="13520582" y="3901364"/>
            <a:ext cx="2035208" cy="20542"/>
          </a:xfrm>
          <a:prstGeom prst="line">
            <a:avLst/>
          </a:prstGeom>
          <a:ln w="19050" cap="rnd">
            <a:solidFill>
              <a:srgbClr val="1F7A8C"/>
            </a:solidFill>
            <a:prstDash val="solid"/>
            <a:headEnd type="none" w="sm" len="sm"/>
            <a:tailEnd type="none" w="sm" len="sm"/>
          </a:ln>
        </p:spPr>
        <p:txBody>
          <a:bodyPr/>
          <a:lstStyle/>
          <a:p>
            <a:endParaRPr lang="en-US"/>
          </a:p>
        </p:txBody>
      </p:sp>
      <p:sp>
        <p:nvSpPr>
          <p:cNvPr id="145" name="AutoShape 145"/>
          <p:cNvSpPr/>
          <p:nvPr/>
        </p:nvSpPr>
        <p:spPr>
          <a:xfrm rot="2361120">
            <a:off x="15492755" y="3940683"/>
            <a:ext cx="492719" cy="0"/>
          </a:xfrm>
          <a:prstGeom prst="line">
            <a:avLst/>
          </a:prstGeom>
          <a:ln w="19050" cap="rnd">
            <a:solidFill>
              <a:srgbClr val="1F7A8C"/>
            </a:solidFill>
            <a:prstDash val="solid"/>
            <a:headEnd type="none" w="sm" len="sm"/>
            <a:tailEnd type="none" w="sm" len="sm"/>
          </a:ln>
        </p:spPr>
        <p:txBody>
          <a:bodyPr/>
          <a:lstStyle/>
          <a:p>
            <a:endParaRPr lang="en-US"/>
          </a:p>
        </p:txBody>
      </p:sp>
      <p:sp>
        <p:nvSpPr>
          <p:cNvPr id="146" name="AutoShape 146"/>
          <p:cNvSpPr/>
          <p:nvPr/>
        </p:nvSpPr>
        <p:spPr>
          <a:xfrm rot="-477840">
            <a:off x="15883976" y="3988689"/>
            <a:ext cx="1561929" cy="0"/>
          </a:xfrm>
          <a:prstGeom prst="line">
            <a:avLst/>
          </a:prstGeom>
          <a:ln w="19050" cap="rnd">
            <a:solidFill>
              <a:srgbClr val="1F7A8C"/>
            </a:solidFill>
            <a:prstDash val="solid"/>
            <a:headEnd type="none" w="sm" len="sm"/>
            <a:tailEnd type="none" w="sm" len="sm"/>
          </a:ln>
        </p:spPr>
        <p:txBody>
          <a:bodyPr/>
          <a:lstStyle/>
          <a:p>
            <a:endParaRPr lang="en-US"/>
          </a:p>
        </p:txBody>
      </p:sp>
      <p:grpSp>
        <p:nvGrpSpPr>
          <p:cNvPr id="147" name="Group 147"/>
          <p:cNvGrpSpPr/>
          <p:nvPr/>
        </p:nvGrpSpPr>
        <p:grpSpPr>
          <a:xfrm>
            <a:off x="11878056" y="4265676"/>
            <a:ext cx="109728" cy="109728"/>
            <a:chOff x="0" y="0"/>
            <a:chExt cx="146304" cy="146304"/>
          </a:xfrm>
        </p:grpSpPr>
        <p:sp>
          <p:nvSpPr>
            <p:cNvPr id="148" name="Freeform 148"/>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49" name="Group 149"/>
          <p:cNvGrpSpPr/>
          <p:nvPr/>
        </p:nvGrpSpPr>
        <p:grpSpPr>
          <a:xfrm>
            <a:off x="12358116" y="4155948"/>
            <a:ext cx="109728" cy="109728"/>
            <a:chOff x="0" y="0"/>
            <a:chExt cx="146304" cy="146304"/>
          </a:xfrm>
        </p:grpSpPr>
        <p:sp>
          <p:nvSpPr>
            <p:cNvPr id="150" name="Freeform 150"/>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51" name="Group 151"/>
          <p:cNvGrpSpPr/>
          <p:nvPr/>
        </p:nvGrpSpPr>
        <p:grpSpPr>
          <a:xfrm>
            <a:off x="12838176" y="4114800"/>
            <a:ext cx="109728" cy="109728"/>
            <a:chOff x="0" y="0"/>
            <a:chExt cx="146304" cy="146304"/>
          </a:xfrm>
        </p:grpSpPr>
        <p:sp>
          <p:nvSpPr>
            <p:cNvPr id="152" name="Freeform 152"/>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53" name="Group 153"/>
          <p:cNvGrpSpPr/>
          <p:nvPr/>
        </p:nvGrpSpPr>
        <p:grpSpPr>
          <a:xfrm>
            <a:off x="13386816" y="4005072"/>
            <a:ext cx="109728" cy="109728"/>
            <a:chOff x="0" y="0"/>
            <a:chExt cx="146304" cy="146304"/>
          </a:xfrm>
        </p:grpSpPr>
        <p:sp>
          <p:nvSpPr>
            <p:cNvPr id="154" name="Freeform 154"/>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55" name="Group 155"/>
          <p:cNvGrpSpPr/>
          <p:nvPr/>
        </p:nvGrpSpPr>
        <p:grpSpPr>
          <a:xfrm>
            <a:off x="15855696" y="4059936"/>
            <a:ext cx="109728" cy="109728"/>
            <a:chOff x="0" y="0"/>
            <a:chExt cx="146304" cy="146304"/>
          </a:xfrm>
        </p:grpSpPr>
        <p:sp>
          <p:nvSpPr>
            <p:cNvPr id="156" name="Freeform 156"/>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57" name="Group 157"/>
          <p:cNvGrpSpPr/>
          <p:nvPr/>
        </p:nvGrpSpPr>
        <p:grpSpPr>
          <a:xfrm>
            <a:off x="16335756" y="3963924"/>
            <a:ext cx="109728" cy="109728"/>
            <a:chOff x="0" y="0"/>
            <a:chExt cx="146304" cy="146304"/>
          </a:xfrm>
        </p:grpSpPr>
        <p:sp>
          <p:nvSpPr>
            <p:cNvPr id="158" name="Freeform 158"/>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59" name="Group 159"/>
          <p:cNvGrpSpPr/>
          <p:nvPr/>
        </p:nvGrpSpPr>
        <p:grpSpPr>
          <a:xfrm>
            <a:off x="16815816" y="3922776"/>
            <a:ext cx="109728" cy="109728"/>
            <a:chOff x="0" y="0"/>
            <a:chExt cx="146304" cy="146304"/>
          </a:xfrm>
        </p:grpSpPr>
        <p:sp>
          <p:nvSpPr>
            <p:cNvPr id="160" name="Freeform 160"/>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grpSp>
        <p:nvGrpSpPr>
          <p:cNvPr id="161" name="Group 161"/>
          <p:cNvGrpSpPr/>
          <p:nvPr/>
        </p:nvGrpSpPr>
        <p:grpSpPr>
          <a:xfrm>
            <a:off x="17295876" y="3826764"/>
            <a:ext cx="109728" cy="109728"/>
            <a:chOff x="0" y="0"/>
            <a:chExt cx="146304" cy="146304"/>
          </a:xfrm>
        </p:grpSpPr>
        <p:sp>
          <p:nvSpPr>
            <p:cNvPr id="162" name="Freeform 162"/>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1F2937"/>
            </a:solidFill>
          </p:spPr>
          <p:txBody>
            <a:bodyPr/>
            <a:lstStyle/>
            <a:p>
              <a:endParaRPr lang="en-US"/>
            </a:p>
          </p:txBody>
        </p:sp>
      </p:grpSp>
      <p:sp>
        <p:nvSpPr>
          <p:cNvPr id="163" name="TextBox 163"/>
          <p:cNvSpPr txBox="1"/>
          <p:nvPr/>
        </p:nvSpPr>
        <p:spPr>
          <a:xfrm>
            <a:off x="13966686" y="4064508"/>
            <a:ext cx="1281708" cy="230832"/>
          </a:xfrm>
          <a:prstGeom prst="rect">
            <a:avLst/>
          </a:prstGeom>
        </p:spPr>
        <p:txBody>
          <a:bodyPr wrap="square" lIns="0" tIns="0" rIns="0" bIns="0" rtlCol="0" anchor="t">
            <a:spAutoFit/>
          </a:bodyPr>
          <a:lstStyle/>
          <a:p>
            <a:pPr algn="ctr">
              <a:lnSpc>
                <a:spcPts val="1800"/>
              </a:lnSpc>
            </a:pPr>
            <a:r>
              <a:rPr lang="en-US" sz="1500" i="1">
                <a:solidFill>
                  <a:srgbClr val="6B7280"/>
                </a:solidFill>
                <a:latin typeface="Bai Jamjuree Italics"/>
                <a:ea typeface="Bai Jamjuree Italics"/>
                <a:cs typeface="Bai Jamjuree Italics"/>
                <a:sym typeface="Bai Jamjuree Italics"/>
              </a:rPr>
              <a:t>bất định tăng</a:t>
            </a:r>
          </a:p>
        </p:txBody>
      </p:sp>
      <p:sp>
        <p:nvSpPr>
          <p:cNvPr id="164" name="TextBox 164"/>
          <p:cNvSpPr txBox="1"/>
          <p:nvPr/>
        </p:nvSpPr>
        <p:spPr>
          <a:xfrm>
            <a:off x="11727180" y="4526280"/>
            <a:ext cx="1783080" cy="4572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① Có quan sát</a:t>
            </a:r>
          </a:p>
          <a:p>
            <a:pPr algn="ctr">
              <a:lnSpc>
                <a:spcPts val="1800"/>
              </a:lnSpc>
            </a:pPr>
            <a:r>
              <a:rPr lang="en-US" sz="1500">
                <a:solidFill>
                  <a:srgbClr val="374151"/>
                </a:solidFill>
                <a:latin typeface="Bai Jamjuree"/>
                <a:ea typeface="Bai Jamjuree"/>
                <a:cs typeface="Bai Jamjuree"/>
                <a:sym typeface="Bai Jamjuree"/>
              </a:rPr>
              <a:t>● cập nhật</a:t>
            </a:r>
          </a:p>
        </p:txBody>
      </p:sp>
      <p:sp>
        <p:nvSpPr>
          <p:cNvPr id="165" name="TextBox 165"/>
          <p:cNvSpPr txBox="1"/>
          <p:nvPr/>
        </p:nvSpPr>
        <p:spPr>
          <a:xfrm>
            <a:off x="13510260" y="4526280"/>
            <a:ext cx="2057400" cy="457200"/>
          </a:xfrm>
          <a:prstGeom prst="rect">
            <a:avLst/>
          </a:prstGeom>
        </p:spPr>
        <p:txBody>
          <a:bodyPr lIns="0" tIns="0" rIns="0" bIns="0" rtlCol="0" anchor="t">
            <a:spAutoFit/>
          </a:bodyPr>
          <a:lstStyle/>
          <a:p>
            <a:pPr algn="ctr">
              <a:lnSpc>
                <a:spcPts val="1800"/>
              </a:lnSpc>
            </a:pPr>
            <a:r>
              <a:rPr lang="en-US" sz="1500" b="1">
                <a:solidFill>
                  <a:srgbClr val="DC2D3A"/>
                </a:solidFill>
                <a:latin typeface="Bai Jamjuree Bold"/>
                <a:ea typeface="Bai Jamjuree Bold"/>
                <a:cs typeface="Bai Jamjuree Bold"/>
                <a:sym typeface="Bai Jamjuree Bold"/>
              </a:rPr>
              <a:t>② Mất quan sát</a:t>
            </a:r>
          </a:p>
          <a:p>
            <a:pPr algn="ctr">
              <a:lnSpc>
                <a:spcPts val="1800"/>
              </a:lnSpc>
            </a:pPr>
            <a:r>
              <a:rPr lang="en-US" sz="1500" b="1">
                <a:solidFill>
                  <a:srgbClr val="DC2D3A"/>
                </a:solidFill>
                <a:latin typeface="Bai Jamjuree Bold"/>
                <a:ea typeface="Bai Jamjuree Bold"/>
                <a:cs typeface="Bai Jamjuree Bold"/>
                <a:sym typeface="Bai Jamjuree Bold"/>
              </a:rPr>
              <a:t>- - chỉ dự đoán</a:t>
            </a:r>
          </a:p>
        </p:txBody>
      </p:sp>
      <p:sp>
        <p:nvSpPr>
          <p:cNvPr id="166" name="TextBox 166"/>
          <p:cNvSpPr txBox="1"/>
          <p:nvPr/>
        </p:nvSpPr>
        <p:spPr>
          <a:xfrm>
            <a:off x="15636240" y="4526280"/>
            <a:ext cx="1851660" cy="4572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③ Quan sát lại</a:t>
            </a:r>
          </a:p>
          <a:p>
            <a:pPr algn="ctr">
              <a:lnSpc>
                <a:spcPts val="1800"/>
              </a:lnSpc>
            </a:pPr>
            <a:r>
              <a:rPr lang="en-US" sz="1500">
                <a:solidFill>
                  <a:srgbClr val="374151"/>
                </a:solidFill>
                <a:latin typeface="Bai Jamjuree"/>
                <a:ea typeface="Bai Jamjuree"/>
                <a:cs typeface="Bai Jamjuree"/>
                <a:sym typeface="Bai Jamjuree"/>
              </a:rPr>
              <a:t>● hiệu chỉnh</a:t>
            </a:r>
          </a:p>
        </p:txBody>
      </p:sp>
      <p:grpSp>
        <p:nvGrpSpPr>
          <p:cNvPr id="167" name="Group 167"/>
          <p:cNvGrpSpPr/>
          <p:nvPr/>
        </p:nvGrpSpPr>
        <p:grpSpPr>
          <a:xfrm>
            <a:off x="11452860" y="5486400"/>
            <a:ext cx="6281928" cy="3154680"/>
            <a:chOff x="0" y="0"/>
            <a:chExt cx="8375904" cy="4206240"/>
          </a:xfrm>
        </p:grpSpPr>
        <p:sp>
          <p:nvSpPr>
            <p:cNvPr id="168" name="Freeform 168"/>
            <p:cNvSpPr/>
            <p:nvPr/>
          </p:nvSpPr>
          <p:spPr>
            <a:xfrm>
              <a:off x="0" y="0"/>
              <a:ext cx="8375904" cy="4206240"/>
            </a:xfrm>
            <a:custGeom>
              <a:avLst/>
              <a:gdLst/>
              <a:ahLst/>
              <a:cxnLst/>
              <a:rect l="l" t="t" r="r" b="b"/>
              <a:pathLst>
                <a:path w="8375904" h="4206240">
                  <a:moveTo>
                    <a:pt x="0" y="146304"/>
                  </a:moveTo>
                  <a:cubicBezTo>
                    <a:pt x="0" y="65532"/>
                    <a:pt x="65532" y="0"/>
                    <a:pt x="146304" y="0"/>
                  </a:cubicBezTo>
                  <a:lnTo>
                    <a:pt x="8229600" y="0"/>
                  </a:lnTo>
                  <a:cubicBezTo>
                    <a:pt x="8310372" y="0"/>
                    <a:pt x="8375904" y="65532"/>
                    <a:pt x="8375904" y="146304"/>
                  </a:cubicBezTo>
                  <a:lnTo>
                    <a:pt x="8375904" y="4059936"/>
                  </a:lnTo>
                  <a:cubicBezTo>
                    <a:pt x="8375904" y="4140708"/>
                    <a:pt x="8310372" y="4206240"/>
                    <a:pt x="8229600" y="4206240"/>
                  </a:cubicBezTo>
                  <a:lnTo>
                    <a:pt x="146304" y="4206240"/>
                  </a:lnTo>
                  <a:cubicBezTo>
                    <a:pt x="65532" y="4206240"/>
                    <a:pt x="0" y="4140708"/>
                    <a:pt x="0" y="4059936"/>
                  </a:cubicBezTo>
                  <a:close/>
                </a:path>
              </a:pathLst>
            </a:custGeom>
            <a:solidFill>
              <a:srgbClr val="F2F3F5"/>
            </a:solidFill>
          </p:spPr>
          <p:txBody>
            <a:bodyPr/>
            <a:lstStyle/>
            <a:p>
              <a:endParaRPr lang="en-US"/>
            </a:p>
          </p:txBody>
        </p:sp>
      </p:grpSp>
      <p:grpSp>
        <p:nvGrpSpPr>
          <p:cNvPr id="169" name="Group 169"/>
          <p:cNvGrpSpPr/>
          <p:nvPr/>
        </p:nvGrpSpPr>
        <p:grpSpPr>
          <a:xfrm>
            <a:off x="11631168" y="5596128"/>
            <a:ext cx="411480" cy="522580"/>
            <a:chOff x="0" y="0"/>
            <a:chExt cx="548640" cy="696773"/>
          </a:xfrm>
        </p:grpSpPr>
        <p:sp>
          <p:nvSpPr>
            <p:cNvPr id="170" name="Freeform 170"/>
            <p:cNvSpPr/>
            <p:nvPr/>
          </p:nvSpPr>
          <p:spPr>
            <a:xfrm>
              <a:off x="0" y="0"/>
              <a:ext cx="548640" cy="696773"/>
            </a:xfrm>
            <a:custGeom>
              <a:avLst/>
              <a:gdLst/>
              <a:ahLst/>
              <a:cxnLst/>
              <a:rect l="l" t="t" r="r" b="b"/>
              <a:pathLst>
                <a:path w="548640" h="696773">
                  <a:moveTo>
                    <a:pt x="0" y="348386"/>
                  </a:moveTo>
                  <a:cubicBezTo>
                    <a:pt x="0" y="155967"/>
                    <a:pt x="122809" y="0"/>
                    <a:pt x="274320" y="0"/>
                  </a:cubicBezTo>
                  <a:cubicBezTo>
                    <a:pt x="425831" y="0"/>
                    <a:pt x="548640" y="155967"/>
                    <a:pt x="548640" y="348386"/>
                  </a:cubicBezTo>
                  <a:cubicBezTo>
                    <a:pt x="548640" y="540805"/>
                    <a:pt x="425831" y="696773"/>
                    <a:pt x="274320" y="696773"/>
                  </a:cubicBezTo>
                  <a:cubicBezTo>
                    <a:pt x="122809" y="696773"/>
                    <a:pt x="0" y="540805"/>
                    <a:pt x="0" y="348386"/>
                  </a:cubicBezTo>
                  <a:close/>
                </a:path>
              </a:pathLst>
            </a:custGeom>
            <a:solidFill>
              <a:srgbClr val="4B5563"/>
            </a:solidFill>
          </p:spPr>
          <p:txBody>
            <a:bodyPr/>
            <a:lstStyle/>
            <a:p>
              <a:endParaRPr lang="en-US"/>
            </a:p>
          </p:txBody>
        </p:sp>
        <p:sp>
          <p:nvSpPr>
            <p:cNvPr id="171" name="TextBox 171"/>
            <p:cNvSpPr txBox="1"/>
            <p:nvPr/>
          </p:nvSpPr>
          <p:spPr>
            <a:xfrm>
              <a:off x="0" y="0"/>
              <a:ext cx="548640" cy="696773"/>
            </a:xfrm>
            <a:prstGeom prst="rect">
              <a:avLst/>
            </a:prstGeom>
          </p:spPr>
          <p:txBody>
            <a:bodyPr lIns="50800" tIns="50800" rIns="50800" bIns="50800" rtlCol="0" anchor="ctr"/>
            <a:lstStyle/>
            <a:p>
              <a:pPr algn="ctr">
                <a:lnSpc>
                  <a:spcPts val="2160"/>
                </a:lnSpc>
              </a:pPr>
              <a:r>
                <a:rPr lang="en-US" sz="1800" b="1">
                  <a:solidFill>
                    <a:srgbClr val="FFFFFF"/>
                  </a:solidFill>
                  <a:latin typeface="Bai Jamjuree Bold"/>
                  <a:ea typeface="Bai Jamjuree Bold"/>
                  <a:cs typeface="Bai Jamjuree Bold"/>
                  <a:sym typeface="Bai Jamjuree Bold"/>
                </a:rPr>
                <a:t>3</a:t>
              </a:r>
            </a:p>
          </p:txBody>
        </p:sp>
      </p:grpSp>
      <p:grpSp>
        <p:nvGrpSpPr>
          <p:cNvPr id="172" name="Group 172"/>
          <p:cNvGrpSpPr/>
          <p:nvPr/>
        </p:nvGrpSpPr>
        <p:grpSpPr>
          <a:xfrm>
            <a:off x="12207240" y="5596128"/>
            <a:ext cx="5486400" cy="472916"/>
            <a:chOff x="0" y="0"/>
            <a:chExt cx="7315200" cy="630555"/>
          </a:xfrm>
        </p:grpSpPr>
        <p:sp>
          <p:nvSpPr>
            <p:cNvPr id="173" name="Freeform 173"/>
            <p:cNvSpPr/>
            <p:nvPr/>
          </p:nvSpPr>
          <p:spPr>
            <a:xfrm>
              <a:off x="0" y="0"/>
              <a:ext cx="7315200" cy="630555"/>
            </a:xfrm>
            <a:custGeom>
              <a:avLst/>
              <a:gdLst/>
              <a:ahLst/>
              <a:cxnLst/>
              <a:rect l="l" t="t" r="r" b="b"/>
              <a:pathLst>
                <a:path w="7315200" h="630555">
                  <a:moveTo>
                    <a:pt x="0" y="0"/>
                  </a:moveTo>
                  <a:lnTo>
                    <a:pt x="7315200" y="0"/>
                  </a:lnTo>
                  <a:lnTo>
                    <a:pt x="7315200" y="630555"/>
                  </a:lnTo>
                  <a:lnTo>
                    <a:pt x="0" y="630555"/>
                  </a:lnTo>
                  <a:close/>
                </a:path>
              </a:pathLst>
            </a:custGeom>
            <a:blipFill>
              <a:blip r:embed="rId3">
                <a:alphaModFix amt="0"/>
              </a:blip>
              <a:stretch>
                <a:fillRect t="-182545" b="-169554"/>
              </a:stretch>
            </a:blipFill>
          </p:spPr>
          <p:txBody>
            <a:bodyPr/>
            <a:lstStyle/>
            <a:p>
              <a:endParaRPr lang="en-US"/>
            </a:p>
          </p:txBody>
        </p:sp>
        <p:sp>
          <p:nvSpPr>
            <p:cNvPr id="174" name="TextBox 174"/>
            <p:cNvSpPr txBox="1"/>
            <p:nvPr/>
          </p:nvSpPr>
          <p:spPr>
            <a:xfrm>
              <a:off x="0" y="0"/>
              <a:ext cx="7315200" cy="630555"/>
            </a:xfrm>
            <a:prstGeom prst="rect">
              <a:avLst/>
            </a:prstGeom>
          </p:spPr>
          <p:txBody>
            <a:bodyPr lIns="0" tIns="0" rIns="0" bIns="0" rtlCol="0" anchor="ctr"/>
            <a:lstStyle/>
            <a:p>
              <a:pPr algn="l">
                <a:lnSpc>
                  <a:spcPts val="2250"/>
                </a:lnSpc>
              </a:pPr>
              <a:r>
                <a:rPr lang="en-US" sz="1875" b="1">
                  <a:solidFill>
                    <a:srgbClr val="1F2937"/>
                  </a:solidFill>
                  <a:latin typeface="Bai Jamjuree Bold"/>
                  <a:ea typeface="Bai Jamjuree Bold"/>
                  <a:cs typeface="Bai Jamjuree Bold"/>
                  <a:sym typeface="Bai Jamjuree Bold"/>
                </a:rPr>
                <a:t>Marker-relative – Khoảng cách tương đối</a:t>
              </a:r>
            </a:p>
          </p:txBody>
        </p:sp>
      </p:grpSp>
      <p:sp>
        <p:nvSpPr>
          <p:cNvPr id="175" name="TextBox 175"/>
          <p:cNvSpPr txBox="1"/>
          <p:nvPr/>
        </p:nvSpPr>
        <p:spPr>
          <a:xfrm>
            <a:off x="11658600" y="6099429"/>
            <a:ext cx="5897880" cy="485775"/>
          </a:xfrm>
          <a:prstGeom prst="rect">
            <a:avLst/>
          </a:prstGeom>
        </p:spPr>
        <p:txBody>
          <a:bodyPr lIns="0" tIns="0" rIns="0" bIns="0" rtlCol="0" anchor="t">
            <a:spAutoFit/>
          </a:bodyPr>
          <a:lstStyle/>
          <a:p>
            <a:pPr algn="l">
              <a:lnSpc>
                <a:spcPts val="1980"/>
              </a:lnSpc>
            </a:pPr>
            <a:r>
              <a:rPr lang="en-US" sz="1650">
                <a:solidFill>
                  <a:srgbClr val="374151"/>
                </a:solidFill>
                <a:latin typeface="Bai Jamjuree"/>
                <a:ea typeface="Bai Jamjuree"/>
                <a:cs typeface="Bai Jamjuree"/>
                <a:sym typeface="Bai Jamjuree"/>
              </a:rPr>
              <a:t>Dùng hình học marker và cảm biến để xác định vị trí tương đối UAV–bãi đáp, giảm sai số định vị tuyệt đối.</a:t>
            </a:r>
          </a:p>
        </p:txBody>
      </p:sp>
      <p:grpSp>
        <p:nvGrpSpPr>
          <p:cNvPr id="176" name="Group 176"/>
          <p:cNvGrpSpPr/>
          <p:nvPr/>
        </p:nvGrpSpPr>
        <p:grpSpPr>
          <a:xfrm>
            <a:off x="11651456" y="6823424"/>
            <a:ext cx="5884736" cy="1660208"/>
            <a:chOff x="0" y="0"/>
            <a:chExt cx="7846314" cy="2213610"/>
          </a:xfrm>
        </p:grpSpPr>
        <p:sp>
          <p:nvSpPr>
            <p:cNvPr id="177" name="Freeform 177"/>
            <p:cNvSpPr/>
            <p:nvPr/>
          </p:nvSpPr>
          <p:spPr>
            <a:xfrm>
              <a:off x="0" y="0"/>
              <a:ext cx="7846314" cy="2213610"/>
            </a:xfrm>
            <a:custGeom>
              <a:avLst/>
              <a:gdLst/>
              <a:ahLst/>
              <a:cxnLst/>
              <a:rect l="l" t="t" r="r" b="b"/>
              <a:pathLst>
                <a:path w="7846314" h="2213610">
                  <a:moveTo>
                    <a:pt x="0" y="0"/>
                  </a:moveTo>
                  <a:lnTo>
                    <a:pt x="7846314" y="0"/>
                  </a:lnTo>
                  <a:lnTo>
                    <a:pt x="7846314" y="2213610"/>
                  </a:lnTo>
                  <a:lnTo>
                    <a:pt x="0" y="2213610"/>
                  </a:lnTo>
                  <a:close/>
                </a:path>
              </a:pathLst>
            </a:custGeom>
            <a:solidFill>
              <a:srgbClr val="FFFFFF"/>
            </a:solidFill>
            <a:ln w="14288" cap="sq">
              <a:solidFill>
                <a:srgbClr val="D1D5DB"/>
              </a:solidFill>
              <a:prstDash val="solid"/>
              <a:miter/>
            </a:ln>
          </p:spPr>
          <p:txBody>
            <a:bodyPr/>
            <a:lstStyle/>
            <a:p>
              <a:endParaRPr lang="en-US"/>
            </a:p>
          </p:txBody>
        </p:sp>
      </p:grpSp>
      <p:sp>
        <p:nvSpPr>
          <p:cNvPr id="178" name="AutoShape 178"/>
          <p:cNvSpPr/>
          <p:nvPr/>
        </p:nvSpPr>
        <p:spPr>
          <a:xfrm rot="138780">
            <a:off x="11940921" y="7109079"/>
            <a:ext cx="944128" cy="0"/>
          </a:xfrm>
          <a:prstGeom prst="line">
            <a:avLst/>
          </a:prstGeom>
          <a:ln w="19050" cap="rnd">
            <a:solidFill>
              <a:srgbClr val="1F2937"/>
            </a:solidFill>
            <a:prstDash val="solid"/>
            <a:headEnd type="none" w="sm" len="sm"/>
            <a:tailEnd type="none" w="sm" len="sm"/>
          </a:ln>
        </p:spPr>
        <p:txBody>
          <a:bodyPr/>
          <a:lstStyle/>
          <a:p>
            <a:endParaRPr lang="en-US"/>
          </a:p>
        </p:txBody>
      </p:sp>
      <p:grpSp>
        <p:nvGrpSpPr>
          <p:cNvPr id="179" name="Group 179"/>
          <p:cNvGrpSpPr/>
          <p:nvPr/>
        </p:nvGrpSpPr>
        <p:grpSpPr>
          <a:xfrm>
            <a:off x="12138660" y="7036308"/>
            <a:ext cx="548640" cy="178308"/>
            <a:chOff x="0" y="0"/>
            <a:chExt cx="731520" cy="237744"/>
          </a:xfrm>
        </p:grpSpPr>
        <p:sp>
          <p:nvSpPr>
            <p:cNvPr id="180" name="Freeform 180"/>
            <p:cNvSpPr/>
            <p:nvPr/>
          </p:nvSpPr>
          <p:spPr>
            <a:xfrm>
              <a:off x="0" y="0"/>
              <a:ext cx="731520" cy="237744"/>
            </a:xfrm>
            <a:custGeom>
              <a:avLst/>
              <a:gdLst/>
              <a:ahLst/>
              <a:cxnLst/>
              <a:rect l="l" t="t" r="r" b="b"/>
              <a:pathLst>
                <a:path w="731520" h="237744">
                  <a:moveTo>
                    <a:pt x="0" y="73152"/>
                  </a:moveTo>
                  <a:cubicBezTo>
                    <a:pt x="0" y="32766"/>
                    <a:pt x="32766" y="0"/>
                    <a:pt x="73152" y="0"/>
                  </a:cubicBezTo>
                  <a:lnTo>
                    <a:pt x="658368" y="0"/>
                  </a:lnTo>
                  <a:cubicBezTo>
                    <a:pt x="698754" y="0"/>
                    <a:pt x="731520" y="32766"/>
                    <a:pt x="731520" y="73152"/>
                  </a:cubicBezTo>
                  <a:lnTo>
                    <a:pt x="731520" y="164592"/>
                  </a:lnTo>
                  <a:cubicBezTo>
                    <a:pt x="731520" y="204978"/>
                    <a:pt x="698754" y="237744"/>
                    <a:pt x="658368" y="237744"/>
                  </a:cubicBezTo>
                  <a:lnTo>
                    <a:pt x="73152" y="237744"/>
                  </a:lnTo>
                  <a:cubicBezTo>
                    <a:pt x="32766" y="237744"/>
                    <a:pt x="0" y="204978"/>
                    <a:pt x="0" y="164592"/>
                  </a:cubicBezTo>
                  <a:close/>
                </a:path>
              </a:pathLst>
            </a:custGeom>
            <a:solidFill>
              <a:srgbClr val="1F2937"/>
            </a:solidFill>
          </p:spPr>
          <p:txBody>
            <a:bodyPr/>
            <a:lstStyle/>
            <a:p>
              <a:endParaRPr lang="en-US"/>
            </a:p>
          </p:txBody>
        </p:sp>
      </p:grpSp>
      <p:grpSp>
        <p:nvGrpSpPr>
          <p:cNvPr id="181" name="Group 181"/>
          <p:cNvGrpSpPr/>
          <p:nvPr/>
        </p:nvGrpSpPr>
        <p:grpSpPr>
          <a:xfrm>
            <a:off x="11960352" y="6967728"/>
            <a:ext cx="342900" cy="48006"/>
            <a:chOff x="0" y="0"/>
            <a:chExt cx="457200" cy="64008"/>
          </a:xfrm>
        </p:grpSpPr>
        <p:sp>
          <p:nvSpPr>
            <p:cNvPr id="182" name="Freeform 182"/>
            <p:cNvSpPr/>
            <p:nvPr/>
          </p:nvSpPr>
          <p:spPr>
            <a:xfrm>
              <a:off x="0" y="0"/>
              <a:ext cx="457200" cy="64008"/>
            </a:xfrm>
            <a:custGeom>
              <a:avLst/>
              <a:gdLst/>
              <a:ahLst/>
              <a:cxnLst/>
              <a:rect l="l" t="t" r="r" b="b"/>
              <a:pathLst>
                <a:path w="457200" h="64008">
                  <a:moveTo>
                    <a:pt x="0" y="0"/>
                  </a:moveTo>
                  <a:lnTo>
                    <a:pt x="457200" y="0"/>
                  </a:lnTo>
                  <a:lnTo>
                    <a:pt x="457200" y="64008"/>
                  </a:lnTo>
                  <a:lnTo>
                    <a:pt x="0" y="64008"/>
                  </a:lnTo>
                  <a:close/>
                </a:path>
              </a:pathLst>
            </a:custGeom>
            <a:solidFill>
              <a:srgbClr val="6B7280"/>
            </a:solidFill>
          </p:spPr>
          <p:txBody>
            <a:bodyPr/>
            <a:lstStyle/>
            <a:p>
              <a:endParaRPr lang="en-US"/>
            </a:p>
          </p:txBody>
        </p:sp>
      </p:grpSp>
      <p:grpSp>
        <p:nvGrpSpPr>
          <p:cNvPr id="183" name="Group 183"/>
          <p:cNvGrpSpPr/>
          <p:nvPr/>
        </p:nvGrpSpPr>
        <p:grpSpPr>
          <a:xfrm>
            <a:off x="12522708" y="6967728"/>
            <a:ext cx="342900" cy="48006"/>
            <a:chOff x="0" y="0"/>
            <a:chExt cx="457200" cy="64008"/>
          </a:xfrm>
        </p:grpSpPr>
        <p:sp>
          <p:nvSpPr>
            <p:cNvPr id="184" name="Freeform 184"/>
            <p:cNvSpPr/>
            <p:nvPr/>
          </p:nvSpPr>
          <p:spPr>
            <a:xfrm>
              <a:off x="0" y="0"/>
              <a:ext cx="457200" cy="64008"/>
            </a:xfrm>
            <a:custGeom>
              <a:avLst/>
              <a:gdLst/>
              <a:ahLst/>
              <a:cxnLst/>
              <a:rect l="l" t="t" r="r" b="b"/>
              <a:pathLst>
                <a:path w="457200" h="64008">
                  <a:moveTo>
                    <a:pt x="0" y="0"/>
                  </a:moveTo>
                  <a:lnTo>
                    <a:pt x="457200" y="0"/>
                  </a:lnTo>
                  <a:lnTo>
                    <a:pt x="457200" y="64008"/>
                  </a:lnTo>
                  <a:lnTo>
                    <a:pt x="0" y="64008"/>
                  </a:lnTo>
                  <a:close/>
                </a:path>
              </a:pathLst>
            </a:custGeom>
            <a:solidFill>
              <a:srgbClr val="6B7280"/>
            </a:solidFill>
          </p:spPr>
          <p:txBody>
            <a:bodyPr/>
            <a:lstStyle/>
            <a:p>
              <a:endParaRPr lang="en-US"/>
            </a:p>
          </p:txBody>
        </p:sp>
      </p:grpSp>
      <p:grpSp>
        <p:nvGrpSpPr>
          <p:cNvPr id="185" name="Group 185"/>
          <p:cNvGrpSpPr/>
          <p:nvPr/>
        </p:nvGrpSpPr>
        <p:grpSpPr>
          <a:xfrm>
            <a:off x="12303252" y="7200900"/>
            <a:ext cx="219456" cy="150876"/>
            <a:chOff x="0" y="0"/>
            <a:chExt cx="292608" cy="201168"/>
          </a:xfrm>
        </p:grpSpPr>
        <p:sp>
          <p:nvSpPr>
            <p:cNvPr id="186" name="Freeform 186"/>
            <p:cNvSpPr/>
            <p:nvPr/>
          </p:nvSpPr>
          <p:spPr>
            <a:xfrm>
              <a:off x="0" y="0"/>
              <a:ext cx="292608" cy="201168"/>
            </a:xfrm>
            <a:custGeom>
              <a:avLst/>
              <a:gdLst/>
              <a:ahLst/>
              <a:cxnLst/>
              <a:rect l="l" t="t" r="r" b="b"/>
              <a:pathLst>
                <a:path w="292608" h="201168">
                  <a:moveTo>
                    <a:pt x="0" y="54864"/>
                  </a:moveTo>
                  <a:cubicBezTo>
                    <a:pt x="0" y="24511"/>
                    <a:pt x="24511" y="0"/>
                    <a:pt x="54864" y="0"/>
                  </a:cubicBezTo>
                  <a:lnTo>
                    <a:pt x="237744" y="0"/>
                  </a:lnTo>
                  <a:cubicBezTo>
                    <a:pt x="268097" y="0"/>
                    <a:pt x="292608" y="24511"/>
                    <a:pt x="292608" y="54864"/>
                  </a:cubicBezTo>
                  <a:lnTo>
                    <a:pt x="292608" y="146304"/>
                  </a:lnTo>
                  <a:cubicBezTo>
                    <a:pt x="292608" y="176657"/>
                    <a:pt x="268097" y="201168"/>
                    <a:pt x="237744" y="201168"/>
                  </a:cubicBezTo>
                  <a:lnTo>
                    <a:pt x="54864" y="201168"/>
                  </a:lnTo>
                  <a:cubicBezTo>
                    <a:pt x="24511" y="201168"/>
                    <a:pt x="0" y="176657"/>
                    <a:pt x="0" y="146304"/>
                  </a:cubicBezTo>
                  <a:close/>
                </a:path>
              </a:pathLst>
            </a:custGeom>
            <a:solidFill>
              <a:srgbClr val="4B5563"/>
            </a:solidFill>
          </p:spPr>
          <p:txBody>
            <a:bodyPr/>
            <a:lstStyle/>
            <a:p>
              <a:endParaRPr lang="en-US"/>
            </a:p>
          </p:txBody>
        </p:sp>
      </p:grpSp>
      <p:sp>
        <p:nvSpPr>
          <p:cNvPr id="187" name="TextBox 187"/>
          <p:cNvSpPr txBox="1"/>
          <p:nvPr/>
        </p:nvSpPr>
        <p:spPr>
          <a:xfrm>
            <a:off x="11768328" y="7708392"/>
            <a:ext cx="1229201" cy="228600"/>
          </a:xfrm>
          <a:prstGeom prst="rect">
            <a:avLst/>
          </a:prstGeom>
        </p:spPr>
        <p:txBody>
          <a:bodyPr lIns="0" tIns="0" rIns="0" bIns="0" rtlCol="0" anchor="t">
            <a:spAutoFit/>
          </a:bodyPr>
          <a:lstStyle/>
          <a:p>
            <a:pPr algn="l">
              <a:lnSpc>
                <a:spcPts val="1800"/>
              </a:lnSpc>
            </a:pPr>
            <a:r>
              <a:rPr lang="en-US" sz="1500">
                <a:solidFill>
                  <a:srgbClr val="374151"/>
                </a:solidFill>
                <a:latin typeface="Bai Jamjuree"/>
                <a:ea typeface="Bai Jamjuree"/>
                <a:cs typeface="Bai Jamjuree"/>
                <a:sym typeface="Bai Jamjuree"/>
              </a:rPr>
              <a:t>UAV + camera</a:t>
            </a:r>
          </a:p>
        </p:txBody>
      </p:sp>
      <p:sp>
        <p:nvSpPr>
          <p:cNvPr id="188" name="AutoShape 188"/>
          <p:cNvSpPr/>
          <p:nvPr/>
        </p:nvSpPr>
        <p:spPr>
          <a:xfrm rot="27840">
            <a:off x="12403417" y="7278434"/>
            <a:ext cx="2350846" cy="0"/>
          </a:xfrm>
          <a:prstGeom prst="line">
            <a:avLst/>
          </a:prstGeom>
          <a:ln w="9525" cap="rnd">
            <a:solidFill>
              <a:srgbClr val="6B7280"/>
            </a:solidFill>
            <a:prstDash val="solid"/>
            <a:headEnd type="none" w="sm" len="sm"/>
            <a:tailEnd type="none" w="sm" len="sm"/>
          </a:ln>
        </p:spPr>
        <p:txBody>
          <a:bodyPr/>
          <a:lstStyle/>
          <a:p>
            <a:endParaRPr lang="en-US"/>
          </a:p>
        </p:txBody>
      </p:sp>
      <p:sp>
        <p:nvSpPr>
          <p:cNvPr id="189" name="AutoShape 189"/>
          <p:cNvSpPr/>
          <p:nvPr/>
        </p:nvSpPr>
        <p:spPr>
          <a:xfrm rot="5326980">
            <a:off x="14296158" y="7717346"/>
            <a:ext cx="897074" cy="0"/>
          </a:xfrm>
          <a:prstGeom prst="line">
            <a:avLst/>
          </a:prstGeom>
          <a:ln w="9525" cap="rnd">
            <a:solidFill>
              <a:srgbClr val="6B7280"/>
            </a:solidFill>
            <a:prstDash val="solid"/>
            <a:headEnd type="none" w="sm" len="sm"/>
            <a:tailEnd type="none" w="sm" len="sm"/>
          </a:ln>
        </p:spPr>
        <p:txBody>
          <a:bodyPr/>
          <a:lstStyle/>
          <a:p>
            <a:endParaRPr lang="en-US"/>
          </a:p>
        </p:txBody>
      </p:sp>
      <p:sp>
        <p:nvSpPr>
          <p:cNvPr id="190" name="AutoShape 190"/>
          <p:cNvSpPr/>
          <p:nvPr/>
        </p:nvSpPr>
        <p:spPr>
          <a:xfrm rot="1274400">
            <a:off x="12306519" y="7705725"/>
            <a:ext cx="2503503" cy="0"/>
          </a:xfrm>
          <a:prstGeom prst="line">
            <a:avLst/>
          </a:prstGeom>
          <a:ln w="19050" cap="rnd">
            <a:solidFill>
              <a:srgbClr val="DC2D3A"/>
            </a:solidFill>
            <a:prstDash val="solid"/>
            <a:headEnd type="none" w="sm" len="sm"/>
            <a:tailEnd type="triangle" w="lg" len="med"/>
          </a:ln>
        </p:spPr>
        <p:txBody>
          <a:bodyPr/>
          <a:lstStyle/>
          <a:p>
            <a:endParaRPr lang="en-US"/>
          </a:p>
        </p:txBody>
      </p:sp>
      <p:grpSp>
        <p:nvGrpSpPr>
          <p:cNvPr id="191" name="Group 191"/>
          <p:cNvGrpSpPr/>
          <p:nvPr/>
        </p:nvGrpSpPr>
        <p:grpSpPr>
          <a:xfrm>
            <a:off x="13716000" y="8229600"/>
            <a:ext cx="2057400" cy="137160"/>
            <a:chOff x="0" y="0"/>
            <a:chExt cx="2743200" cy="182880"/>
          </a:xfrm>
        </p:grpSpPr>
        <p:sp>
          <p:nvSpPr>
            <p:cNvPr id="192" name="Freeform 192"/>
            <p:cNvSpPr/>
            <p:nvPr/>
          </p:nvSpPr>
          <p:spPr>
            <a:xfrm>
              <a:off x="0" y="0"/>
              <a:ext cx="2743200" cy="182880"/>
            </a:xfrm>
            <a:custGeom>
              <a:avLst/>
              <a:gdLst/>
              <a:ahLst/>
              <a:cxnLst/>
              <a:rect l="l" t="t" r="r" b="b"/>
              <a:pathLst>
                <a:path w="2743200" h="182880">
                  <a:moveTo>
                    <a:pt x="0" y="0"/>
                  </a:moveTo>
                  <a:lnTo>
                    <a:pt x="2743200" y="0"/>
                  </a:lnTo>
                  <a:lnTo>
                    <a:pt x="2743200" y="182880"/>
                  </a:lnTo>
                  <a:lnTo>
                    <a:pt x="0" y="182880"/>
                  </a:lnTo>
                  <a:close/>
                </a:path>
              </a:pathLst>
            </a:custGeom>
            <a:solidFill>
              <a:srgbClr val="1F2937"/>
            </a:solidFill>
          </p:spPr>
          <p:txBody>
            <a:bodyPr/>
            <a:lstStyle/>
            <a:p>
              <a:endParaRPr lang="en-US"/>
            </a:p>
          </p:txBody>
        </p:sp>
      </p:grpSp>
      <p:grpSp>
        <p:nvGrpSpPr>
          <p:cNvPr id="193" name="Group 193"/>
          <p:cNvGrpSpPr/>
          <p:nvPr/>
        </p:nvGrpSpPr>
        <p:grpSpPr>
          <a:xfrm>
            <a:off x="14689836" y="8161020"/>
            <a:ext cx="109728" cy="109728"/>
            <a:chOff x="0" y="0"/>
            <a:chExt cx="146304" cy="146304"/>
          </a:xfrm>
        </p:grpSpPr>
        <p:sp>
          <p:nvSpPr>
            <p:cNvPr id="194" name="Freeform 194"/>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DC2D3A"/>
            </a:solidFill>
          </p:spPr>
          <p:txBody>
            <a:bodyPr/>
            <a:lstStyle/>
            <a:p>
              <a:endParaRPr lang="en-US"/>
            </a:p>
          </p:txBody>
        </p:sp>
      </p:grpSp>
      <p:sp>
        <p:nvSpPr>
          <p:cNvPr id="195" name="TextBox 195"/>
          <p:cNvSpPr txBox="1"/>
          <p:nvPr/>
        </p:nvSpPr>
        <p:spPr>
          <a:xfrm>
            <a:off x="13583424" y="7004685"/>
            <a:ext cx="265152" cy="238125"/>
          </a:xfrm>
          <a:prstGeom prst="rect">
            <a:avLst/>
          </a:prstGeom>
        </p:spPr>
        <p:txBody>
          <a:bodyPr lIns="0" tIns="0" rIns="0" bIns="0" rtlCol="0" anchor="t">
            <a:spAutoFit/>
          </a:bodyPr>
          <a:lstStyle/>
          <a:p>
            <a:pPr algn="ctr">
              <a:lnSpc>
                <a:spcPts val="1980"/>
              </a:lnSpc>
            </a:pPr>
            <a:r>
              <a:rPr lang="en-US" sz="1650" b="1">
                <a:solidFill>
                  <a:srgbClr val="4B5563"/>
                </a:solidFill>
                <a:latin typeface="Bai Jamjuree Bold"/>
                <a:ea typeface="Bai Jamjuree Bold"/>
                <a:cs typeface="Bai Jamjuree Bold"/>
                <a:sym typeface="Bai Jamjuree Bold"/>
              </a:rPr>
              <a:t>Δx</a:t>
            </a:r>
          </a:p>
        </p:txBody>
      </p:sp>
      <p:sp>
        <p:nvSpPr>
          <p:cNvPr id="196" name="TextBox 196"/>
          <p:cNvSpPr txBox="1"/>
          <p:nvPr/>
        </p:nvSpPr>
        <p:spPr>
          <a:xfrm>
            <a:off x="14881860" y="7621905"/>
            <a:ext cx="258485" cy="238125"/>
          </a:xfrm>
          <a:prstGeom prst="rect">
            <a:avLst/>
          </a:prstGeom>
        </p:spPr>
        <p:txBody>
          <a:bodyPr lIns="0" tIns="0" rIns="0" bIns="0" rtlCol="0" anchor="t">
            <a:spAutoFit/>
          </a:bodyPr>
          <a:lstStyle/>
          <a:p>
            <a:pPr algn="l">
              <a:lnSpc>
                <a:spcPts val="1980"/>
              </a:lnSpc>
            </a:pPr>
            <a:r>
              <a:rPr lang="en-US" sz="1650" b="1">
                <a:solidFill>
                  <a:srgbClr val="4B5563"/>
                </a:solidFill>
                <a:latin typeface="Bai Jamjuree Bold"/>
                <a:ea typeface="Bai Jamjuree Bold"/>
                <a:cs typeface="Bai Jamjuree Bold"/>
                <a:sym typeface="Bai Jamjuree Bold"/>
              </a:rPr>
              <a:t>Δz</a:t>
            </a:r>
          </a:p>
        </p:txBody>
      </p:sp>
      <p:sp>
        <p:nvSpPr>
          <p:cNvPr id="197" name="TextBox 197"/>
          <p:cNvSpPr txBox="1"/>
          <p:nvPr/>
        </p:nvSpPr>
        <p:spPr>
          <a:xfrm>
            <a:off x="13194792" y="7909941"/>
            <a:ext cx="685800" cy="238125"/>
          </a:xfrm>
          <a:prstGeom prst="rect">
            <a:avLst/>
          </a:prstGeom>
        </p:spPr>
        <p:txBody>
          <a:bodyPr lIns="0" tIns="0" rIns="0" bIns="0" rtlCol="0" anchor="t">
            <a:spAutoFit/>
          </a:bodyPr>
          <a:lstStyle/>
          <a:p>
            <a:pPr algn="l">
              <a:lnSpc>
                <a:spcPts val="1980"/>
              </a:lnSpc>
            </a:pPr>
            <a:r>
              <a:rPr lang="en-US" sz="1650" b="1">
                <a:solidFill>
                  <a:srgbClr val="DC2D3A"/>
                </a:solidFill>
                <a:latin typeface="Bai Jamjuree Bold"/>
                <a:ea typeface="Bai Jamjuree Bold"/>
                <a:cs typeface="Bai Jamjuree Bold"/>
                <a:sym typeface="Bai Jamjuree Bold"/>
              </a:rPr>
              <a:t>p_rel</a:t>
            </a:r>
          </a:p>
        </p:txBody>
      </p:sp>
      <p:sp>
        <p:nvSpPr>
          <p:cNvPr id="198" name="TextBox 198"/>
          <p:cNvSpPr txBox="1"/>
          <p:nvPr/>
        </p:nvSpPr>
        <p:spPr>
          <a:xfrm>
            <a:off x="11768328" y="8037576"/>
            <a:ext cx="1026676" cy="228600"/>
          </a:xfrm>
          <a:prstGeom prst="rect">
            <a:avLst/>
          </a:prstGeom>
        </p:spPr>
        <p:txBody>
          <a:bodyPr lIns="0" tIns="0" rIns="0" bIns="0" rtlCol="0" anchor="t">
            <a:spAutoFit/>
          </a:bodyPr>
          <a:lstStyle/>
          <a:p>
            <a:pPr algn="l">
              <a:lnSpc>
                <a:spcPts val="1800"/>
              </a:lnSpc>
            </a:pPr>
            <a:r>
              <a:rPr lang="en-US" sz="1500">
                <a:solidFill>
                  <a:srgbClr val="6B7280"/>
                </a:solidFill>
                <a:latin typeface="Bai Jamjuree"/>
                <a:ea typeface="Bai Jamjuree"/>
                <a:cs typeface="Bai Jamjuree"/>
                <a:sym typeface="Bai Jamjuree"/>
              </a:rPr>
              <a:t>(hệ camera)</a:t>
            </a:r>
          </a:p>
        </p:txBody>
      </p:sp>
      <p:grpSp>
        <p:nvGrpSpPr>
          <p:cNvPr id="199" name="Group 199"/>
          <p:cNvGrpSpPr/>
          <p:nvPr/>
        </p:nvGrpSpPr>
        <p:grpSpPr>
          <a:xfrm>
            <a:off x="16253460" y="6899148"/>
            <a:ext cx="1069848" cy="1069848"/>
            <a:chOff x="0" y="0"/>
            <a:chExt cx="1426464" cy="1426464"/>
          </a:xfrm>
        </p:grpSpPr>
        <p:sp>
          <p:nvSpPr>
            <p:cNvPr id="200" name="Freeform 200"/>
            <p:cNvSpPr/>
            <p:nvPr/>
          </p:nvSpPr>
          <p:spPr>
            <a:xfrm>
              <a:off x="0" y="0"/>
              <a:ext cx="1426464" cy="1426464"/>
            </a:xfrm>
            <a:custGeom>
              <a:avLst/>
              <a:gdLst/>
              <a:ahLst/>
              <a:cxnLst/>
              <a:rect l="l" t="t" r="r" b="b"/>
              <a:pathLst>
                <a:path w="1426464" h="1426464">
                  <a:moveTo>
                    <a:pt x="0" y="0"/>
                  </a:moveTo>
                  <a:lnTo>
                    <a:pt x="1426464" y="0"/>
                  </a:lnTo>
                  <a:lnTo>
                    <a:pt x="1426464" y="1426464"/>
                  </a:lnTo>
                  <a:lnTo>
                    <a:pt x="0" y="1426464"/>
                  </a:lnTo>
                  <a:close/>
                </a:path>
              </a:pathLst>
            </a:custGeom>
            <a:solidFill>
              <a:srgbClr val="1F2937"/>
            </a:solidFill>
          </p:spPr>
          <p:txBody>
            <a:bodyPr/>
            <a:lstStyle/>
            <a:p>
              <a:endParaRPr lang="en-US"/>
            </a:p>
          </p:txBody>
        </p:sp>
      </p:grpSp>
      <p:grpSp>
        <p:nvGrpSpPr>
          <p:cNvPr id="201" name="Group 201"/>
          <p:cNvGrpSpPr/>
          <p:nvPr/>
        </p:nvGrpSpPr>
        <p:grpSpPr>
          <a:xfrm>
            <a:off x="16363188" y="7008876"/>
            <a:ext cx="850392" cy="850392"/>
            <a:chOff x="0" y="0"/>
            <a:chExt cx="1133856" cy="1133856"/>
          </a:xfrm>
        </p:grpSpPr>
        <p:sp>
          <p:nvSpPr>
            <p:cNvPr id="202" name="Freeform 202"/>
            <p:cNvSpPr/>
            <p:nvPr/>
          </p:nvSpPr>
          <p:spPr>
            <a:xfrm>
              <a:off x="0" y="0"/>
              <a:ext cx="1133856" cy="1133856"/>
            </a:xfrm>
            <a:custGeom>
              <a:avLst/>
              <a:gdLst/>
              <a:ahLst/>
              <a:cxnLst/>
              <a:rect l="l" t="t" r="r" b="b"/>
              <a:pathLst>
                <a:path w="1133856" h="1133856">
                  <a:moveTo>
                    <a:pt x="0" y="0"/>
                  </a:moveTo>
                  <a:lnTo>
                    <a:pt x="1133856" y="0"/>
                  </a:lnTo>
                  <a:lnTo>
                    <a:pt x="1133856" y="1133856"/>
                  </a:lnTo>
                  <a:lnTo>
                    <a:pt x="0" y="1133856"/>
                  </a:lnTo>
                  <a:close/>
                </a:path>
              </a:pathLst>
            </a:custGeom>
            <a:solidFill>
              <a:srgbClr val="FFFFFF"/>
            </a:solidFill>
          </p:spPr>
          <p:txBody>
            <a:bodyPr/>
            <a:lstStyle/>
            <a:p>
              <a:endParaRPr lang="en-US"/>
            </a:p>
          </p:txBody>
        </p:sp>
      </p:grpSp>
      <p:grpSp>
        <p:nvGrpSpPr>
          <p:cNvPr id="203" name="Group 203"/>
          <p:cNvGrpSpPr/>
          <p:nvPr/>
        </p:nvGrpSpPr>
        <p:grpSpPr>
          <a:xfrm>
            <a:off x="16445484" y="7091172"/>
            <a:ext cx="137160" cy="137160"/>
            <a:chOff x="0" y="0"/>
            <a:chExt cx="182880" cy="182880"/>
          </a:xfrm>
        </p:grpSpPr>
        <p:sp>
          <p:nvSpPr>
            <p:cNvPr id="204" name="Freeform 204"/>
            <p:cNvSpPr/>
            <p:nvPr/>
          </p:nvSpPr>
          <p:spPr>
            <a:xfrm>
              <a:off x="0" y="0"/>
              <a:ext cx="182880" cy="182880"/>
            </a:xfrm>
            <a:custGeom>
              <a:avLst/>
              <a:gdLst/>
              <a:ahLst/>
              <a:cxnLst/>
              <a:rect l="l" t="t" r="r" b="b"/>
              <a:pathLst>
                <a:path w="182880" h="182880">
                  <a:moveTo>
                    <a:pt x="0" y="0"/>
                  </a:moveTo>
                  <a:lnTo>
                    <a:pt x="182880" y="0"/>
                  </a:lnTo>
                  <a:lnTo>
                    <a:pt x="182880" y="182880"/>
                  </a:lnTo>
                  <a:lnTo>
                    <a:pt x="0" y="182880"/>
                  </a:lnTo>
                  <a:close/>
                </a:path>
              </a:pathLst>
            </a:custGeom>
            <a:solidFill>
              <a:srgbClr val="1F2937"/>
            </a:solidFill>
          </p:spPr>
          <p:txBody>
            <a:bodyPr/>
            <a:lstStyle/>
            <a:p>
              <a:endParaRPr lang="en-US"/>
            </a:p>
          </p:txBody>
        </p:sp>
      </p:grpSp>
      <p:grpSp>
        <p:nvGrpSpPr>
          <p:cNvPr id="205" name="Group 205"/>
          <p:cNvGrpSpPr/>
          <p:nvPr/>
        </p:nvGrpSpPr>
        <p:grpSpPr>
          <a:xfrm>
            <a:off x="17007840" y="7091172"/>
            <a:ext cx="137160" cy="137160"/>
            <a:chOff x="0" y="0"/>
            <a:chExt cx="182880" cy="182880"/>
          </a:xfrm>
        </p:grpSpPr>
        <p:sp>
          <p:nvSpPr>
            <p:cNvPr id="206" name="Freeform 206"/>
            <p:cNvSpPr/>
            <p:nvPr/>
          </p:nvSpPr>
          <p:spPr>
            <a:xfrm>
              <a:off x="0" y="0"/>
              <a:ext cx="182880" cy="182880"/>
            </a:xfrm>
            <a:custGeom>
              <a:avLst/>
              <a:gdLst/>
              <a:ahLst/>
              <a:cxnLst/>
              <a:rect l="l" t="t" r="r" b="b"/>
              <a:pathLst>
                <a:path w="182880" h="182880">
                  <a:moveTo>
                    <a:pt x="0" y="0"/>
                  </a:moveTo>
                  <a:lnTo>
                    <a:pt x="182880" y="0"/>
                  </a:lnTo>
                  <a:lnTo>
                    <a:pt x="182880" y="182880"/>
                  </a:lnTo>
                  <a:lnTo>
                    <a:pt x="0" y="182880"/>
                  </a:lnTo>
                  <a:close/>
                </a:path>
              </a:pathLst>
            </a:custGeom>
            <a:solidFill>
              <a:srgbClr val="1F2937"/>
            </a:solidFill>
          </p:spPr>
          <p:txBody>
            <a:bodyPr/>
            <a:lstStyle/>
            <a:p>
              <a:endParaRPr lang="en-US"/>
            </a:p>
          </p:txBody>
        </p:sp>
      </p:grpSp>
      <p:grpSp>
        <p:nvGrpSpPr>
          <p:cNvPr id="207" name="Group 207"/>
          <p:cNvGrpSpPr/>
          <p:nvPr/>
        </p:nvGrpSpPr>
        <p:grpSpPr>
          <a:xfrm>
            <a:off x="16445484" y="7680960"/>
            <a:ext cx="137160" cy="137160"/>
            <a:chOff x="0" y="0"/>
            <a:chExt cx="182880" cy="182880"/>
          </a:xfrm>
        </p:grpSpPr>
        <p:sp>
          <p:nvSpPr>
            <p:cNvPr id="208" name="Freeform 208"/>
            <p:cNvSpPr/>
            <p:nvPr/>
          </p:nvSpPr>
          <p:spPr>
            <a:xfrm>
              <a:off x="0" y="0"/>
              <a:ext cx="182880" cy="182880"/>
            </a:xfrm>
            <a:custGeom>
              <a:avLst/>
              <a:gdLst/>
              <a:ahLst/>
              <a:cxnLst/>
              <a:rect l="l" t="t" r="r" b="b"/>
              <a:pathLst>
                <a:path w="182880" h="182880">
                  <a:moveTo>
                    <a:pt x="0" y="0"/>
                  </a:moveTo>
                  <a:lnTo>
                    <a:pt x="182880" y="0"/>
                  </a:lnTo>
                  <a:lnTo>
                    <a:pt x="182880" y="182880"/>
                  </a:lnTo>
                  <a:lnTo>
                    <a:pt x="0" y="182880"/>
                  </a:lnTo>
                  <a:close/>
                </a:path>
              </a:pathLst>
            </a:custGeom>
            <a:solidFill>
              <a:srgbClr val="1F2937"/>
            </a:solidFill>
          </p:spPr>
          <p:txBody>
            <a:bodyPr/>
            <a:lstStyle/>
            <a:p>
              <a:endParaRPr lang="en-US"/>
            </a:p>
          </p:txBody>
        </p:sp>
      </p:grpSp>
      <p:grpSp>
        <p:nvGrpSpPr>
          <p:cNvPr id="209" name="Group 209"/>
          <p:cNvGrpSpPr/>
          <p:nvPr/>
        </p:nvGrpSpPr>
        <p:grpSpPr>
          <a:xfrm>
            <a:off x="17007840" y="7680960"/>
            <a:ext cx="137160" cy="137160"/>
            <a:chOff x="0" y="0"/>
            <a:chExt cx="182880" cy="182880"/>
          </a:xfrm>
        </p:grpSpPr>
        <p:sp>
          <p:nvSpPr>
            <p:cNvPr id="210" name="Freeform 210"/>
            <p:cNvSpPr/>
            <p:nvPr/>
          </p:nvSpPr>
          <p:spPr>
            <a:xfrm>
              <a:off x="0" y="0"/>
              <a:ext cx="182880" cy="182880"/>
            </a:xfrm>
            <a:custGeom>
              <a:avLst/>
              <a:gdLst/>
              <a:ahLst/>
              <a:cxnLst/>
              <a:rect l="l" t="t" r="r" b="b"/>
              <a:pathLst>
                <a:path w="182880" h="182880">
                  <a:moveTo>
                    <a:pt x="0" y="0"/>
                  </a:moveTo>
                  <a:lnTo>
                    <a:pt x="182880" y="0"/>
                  </a:lnTo>
                  <a:lnTo>
                    <a:pt x="182880" y="182880"/>
                  </a:lnTo>
                  <a:lnTo>
                    <a:pt x="0" y="182880"/>
                  </a:lnTo>
                  <a:close/>
                </a:path>
              </a:pathLst>
            </a:custGeom>
            <a:solidFill>
              <a:srgbClr val="1F2937"/>
            </a:solidFill>
          </p:spPr>
          <p:txBody>
            <a:bodyPr/>
            <a:lstStyle/>
            <a:p>
              <a:endParaRPr lang="en-US"/>
            </a:p>
          </p:txBody>
        </p:sp>
      </p:grpSp>
      <p:grpSp>
        <p:nvGrpSpPr>
          <p:cNvPr id="211" name="Group 211"/>
          <p:cNvGrpSpPr/>
          <p:nvPr/>
        </p:nvGrpSpPr>
        <p:grpSpPr>
          <a:xfrm>
            <a:off x="16651224" y="7296912"/>
            <a:ext cx="274320" cy="274320"/>
            <a:chOff x="0" y="0"/>
            <a:chExt cx="365760" cy="365760"/>
          </a:xfrm>
        </p:grpSpPr>
        <p:sp>
          <p:nvSpPr>
            <p:cNvPr id="212" name="Freeform 212"/>
            <p:cNvSpPr/>
            <p:nvPr/>
          </p:nvSpPr>
          <p:spPr>
            <a:xfrm>
              <a:off x="0" y="0"/>
              <a:ext cx="365760" cy="365760"/>
            </a:xfrm>
            <a:custGeom>
              <a:avLst/>
              <a:gdLst/>
              <a:ahLst/>
              <a:cxnLst/>
              <a:rect l="l" t="t" r="r" b="b"/>
              <a:pathLst>
                <a:path w="365760" h="365760">
                  <a:moveTo>
                    <a:pt x="0" y="0"/>
                  </a:moveTo>
                  <a:lnTo>
                    <a:pt x="365760" y="0"/>
                  </a:lnTo>
                  <a:lnTo>
                    <a:pt x="365760" y="365760"/>
                  </a:lnTo>
                  <a:lnTo>
                    <a:pt x="0" y="365760"/>
                  </a:lnTo>
                  <a:close/>
                </a:path>
              </a:pathLst>
            </a:custGeom>
            <a:solidFill>
              <a:srgbClr val="1F2937"/>
            </a:solidFill>
          </p:spPr>
          <p:txBody>
            <a:bodyPr/>
            <a:lstStyle/>
            <a:p>
              <a:endParaRPr lang="en-US"/>
            </a:p>
          </p:txBody>
        </p:sp>
      </p:grpSp>
      <p:grpSp>
        <p:nvGrpSpPr>
          <p:cNvPr id="213" name="Group 213"/>
          <p:cNvGrpSpPr/>
          <p:nvPr/>
        </p:nvGrpSpPr>
        <p:grpSpPr>
          <a:xfrm>
            <a:off x="16719804" y="7365492"/>
            <a:ext cx="137160" cy="137160"/>
            <a:chOff x="0" y="0"/>
            <a:chExt cx="182880" cy="182880"/>
          </a:xfrm>
        </p:grpSpPr>
        <p:sp>
          <p:nvSpPr>
            <p:cNvPr id="214" name="Freeform 214"/>
            <p:cNvSpPr/>
            <p:nvPr/>
          </p:nvSpPr>
          <p:spPr>
            <a:xfrm>
              <a:off x="0" y="0"/>
              <a:ext cx="182880" cy="182880"/>
            </a:xfrm>
            <a:custGeom>
              <a:avLst/>
              <a:gdLst/>
              <a:ahLst/>
              <a:cxnLst/>
              <a:rect l="l" t="t" r="r" b="b"/>
              <a:pathLst>
                <a:path w="182880" h="182880">
                  <a:moveTo>
                    <a:pt x="0" y="0"/>
                  </a:moveTo>
                  <a:lnTo>
                    <a:pt x="182880" y="0"/>
                  </a:lnTo>
                  <a:lnTo>
                    <a:pt x="182880" y="182880"/>
                  </a:lnTo>
                  <a:lnTo>
                    <a:pt x="0" y="182880"/>
                  </a:lnTo>
                  <a:close/>
                </a:path>
              </a:pathLst>
            </a:custGeom>
            <a:solidFill>
              <a:srgbClr val="FFFFFF"/>
            </a:solidFill>
          </p:spPr>
          <p:txBody>
            <a:bodyPr/>
            <a:lstStyle/>
            <a:p>
              <a:endParaRPr lang="en-US"/>
            </a:p>
          </p:txBody>
        </p:sp>
      </p:grpSp>
      <p:sp>
        <p:nvSpPr>
          <p:cNvPr id="215" name="TextBox 215"/>
          <p:cNvSpPr txBox="1"/>
          <p:nvPr/>
        </p:nvSpPr>
        <p:spPr>
          <a:xfrm>
            <a:off x="15992856" y="8069580"/>
            <a:ext cx="1645920" cy="228600"/>
          </a:xfrm>
          <a:prstGeom prst="rect">
            <a:avLst/>
          </a:prstGeom>
        </p:spPr>
        <p:txBody>
          <a:bodyPr lIns="0" tIns="0" rIns="0" bIns="0" rtlCol="0" anchor="t">
            <a:spAutoFit/>
          </a:bodyPr>
          <a:lstStyle/>
          <a:p>
            <a:pPr algn="ctr">
              <a:lnSpc>
                <a:spcPts val="1800"/>
              </a:lnSpc>
            </a:pPr>
            <a:r>
              <a:rPr lang="en-US" sz="1500">
                <a:solidFill>
                  <a:srgbClr val="374151"/>
                </a:solidFill>
                <a:latin typeface="Bai Jamjuree"/>
                <a:ea typeface="Bai Jamjuree"/>
                <a:cs typeface="Bai Jamjuree"/>
                <a:sym typeface="Bai Jamjuree"/>
              </a:rPr>
              <a:t>Marker 2 cỡ</a:t>
            </a:r>
          </a:p>
        </p:txBody>
      </p:sp>
      <p:grpSp>
        <p:nvGrpSpPr>
          <p:cNvPr id="216" name="Group 216"/>
          <p:cNvGrpSpPr/>
          <p:nvPr/>
        </p:nvGrpSpPr>
        <p:grpSpPr>
          <a:xfrm>
            <a:off x="531971" y="8981599"/>
            <a:ext cx="3242310" cy="704850"/>
            <a:chOff x="0" y="0"/>
            <a:chExt cx="4323080" cy="939800"/>
          </a:xfrm>
        </p:grpSpPr>
        <p:sp>
          <p:nvSpPr>
            <p:cNvPr id="217" name="Freeform 217"/>
            <p:cNvSpPr/>
            <p:nvPr/>
          </p:nvSpPr>
          <p:spPr>
            <a:xfrm>
              <a:off x="0" y="0"/>
              <a:ext cx="4323080" cy="939800"/>
            </a:xfrm>
            <a:custGeom>
              <a:avLst/>
              <a:gdLst/>
              <a:ahLst/>
              <a:cxnLst/>
              <a:rect l="l" t="t" r="r" b="b"/>
              <a:pathLst>
                <a:path w="4323080" h="939800">
                  <a:moveTo>
                    <a:pt x="0" y="93980"/>
                  </a:moveTo>
                  <a:cubicBezTo>
                    <a:pt x="0" y="42037"/>
                    <a:pt x="42037" y="0"/>
                    <a:pt x="93980" y="0"/>
                  </a:cubicBezTo>
                  <a:lnTo>
                    <a:pt x="4229100" y="0"/>
                  </a:lnTo>
                  <a:cubicBezTo>
                    <a:pt x="4281043" y="0"/>
                    <a:pt x="4323080" y="42037"/>
                    <a:pt x="4323080" y="93980"/>
                  </a:cubicBezTo>
                  <a:lnTo>
                    <a:pt x="4323080" y="845820"/>
                  </a:lnTo>
                  <a:cubicBezTo>
                    <a:pt x="4323080" y="897763"/>
                    <a:pt x="4281043" y="939800"/>
                    <a:pt x="4229100" y="939800"/>
                  </a:cubicBezTo>
                  <a:lnTo>
                    <a:pt x="93980" y="939800"/>
                  </a:lnTo>
                  <a:cubicBezTo>
                    <a:pt x="42037" y="939800"/>
                    <a:pt x="0" y="897763"/>
                    <a:pt x="0" y="845820"/>
                  </a:cubicBezTo>
                  <a:close/>
                </a:path>
              </a:pathLst>
            </a:custGeom>
            <a:solidFill>
              <a:srgbClr val="FFFFFF"/>
            </a:solidFill>
            <a:ln w="19050" cap="sq">
              <a:solidFill>
                <a:srgbClr val="6B7280"/>
              </a:solidFill>
              <a:prstDash val="solid"/>
              <a:miter/>
            </a:ln>
          </p:spPr>
          <p:txBody>
            <a:bodyPr/>
            <a:lstStyle/>
            <a:p>
              <a:endParaRPr lang="en-US"/>
            </a:p>
          </p:txBody>
        </p:sp>
      </p:grpSp>
      <p:grpSp>
        <p:nvGrpSpPr>
          <p:cNvPr id="218" name="Group 218"/>
          <p:cNvGrpSpPr/>
          <p:nvPr/>
        </p:nvGrpSpPr>
        <p:grpSpPr>
          <a:xfrm>
            <a:off x="541496" y="8991124"/>
            <a:ext cx="3223260" cy="685800"/>
            <a:chOff x="0" y="0"/>
            <a:chExt cx="4297680" cy="914400"/>
          </a:xfrm>
        </p:grpSpPr>
        <p:sp>
          <p:nvSpPr>
            <p:cNvPr id="219" name="Freeform 219"/>
            <p:cNvSpPr/>
            <p:nvPr/>
          </p:nvSpPr>
          <p:spPr>
            <a:xfrm>
              <a:off x="0" y="0"/>
              <a:ext cx="4297680" cy="914400"/>
            </a:xfrm>
            <a:custGeom>
              <a:avLst/>
              <a:gdLst/>
              <a:ahLst/>
              <a:cxnLst/>
              <a:rect l="l" t="t" r="r" b="b"/>
              <a:pathLst>
                <a:path w="4297680" h="914400">
                  <a:moveTo>
                    <a:pt x="0" y="0"/>
                  </a:moveTo>
                  <a:lnTo>
                    <a:pt x="4297680" y="0"/>
                  </a:lnTo>
                  <a:lnTo>
                    <a:pt x="4297680" y="914400"/>
                  </a:lnTo>
                  <a:lnTo>
                    <a:pt x="0" y="914400"/>
                  </a:lnTo>
                  <a:close/>
                </a:path>
              </a:pathLst>
            </a:custGeom>
            <a:blipFill>
              <a:blip r:embed="rId3">
                <a:alphaModFix amt="0"/>
              </a:blip>
              <a:stretch>
                <a:fillRect t="-41579" b="-41579"/>
              </a:stretch>
            </a:blipFill>
          </p:spPr>
          <p:txBody>
            <a:bodyPr/>
            <a:lstStyle/>
            <a:p>
              <a:endParaRPr lang="en-US"/>
            </a:p>
          </p:txBody>
        </p:sp>
        <p:sp>
          <p:nvSpPr>
            <p:cNvPr id="220" name="TextBox 220"/>
            <p:cNvSpPr txBox="1"/>
            <p:nvPr/>
          </p:nvSpPr>
          <p:spPr>
            <a:xfrm>
              <a:off x="0" y="0"/>
              <a:ext cx="4297680" cy="914400"/>
            </a:xfrm>
            <a:prstGeom prst="rect">
              <a:avLst/>
            </a:prstGeom>
          </p:spPr>
          <p:txBody>
            <a:bodyPr lIns="0" tIns="0" rIns="0" bIns="0" rtlCol="0" anchor="ctr"/>
            <a:lstStyle/>
            <a:p>
              <a:pPr algn="ctr">
                <a:lnSpc>
                  <a:spcPts val="1889"/>
                </a:lnSpc>
              </a:pPr>
              <a:r>
                <a:rPr lang="en-US" sz="1575" b="1">
                  <a:solidFill>
                    <a:srgbClr val="1F2937"/>
                  </a:solidFill>
                  <a:latin typeface="Bai Jamjuree Bold"/>
                  <a:ea typeface="Bai Jamjuree Bold"/>
                  <a:cs typeface="Bai Jamjuree Bold"/>
                  <a:sym typeface="Bai Jamjuree Bold"/>
                </a:rPr>
                <a:t>Camera + bãi đáp 2 marker</a:t>
              </a:r>
            </a:p>
          </p:txBody>
        </p:sp>
      </p:grpSp>
      <p:sp>
        <p:nvSpPr>
          <p:cNvPr id="221" name="AutoShape 221"/>
          <p:cNvSpPr/>
          <p:nvPr/>
        </p:nvSpPr>
        <p:spPr>
          <a:xfrm>
            <a:off x="3764756" y="9334024"/>
            <a:ext cx="401955" cy="0"/>
          </a:xfrm>
          <a:prstGeom prst="line">
            <a:avLst/>
          </a:prstGeom>
          <a:ln w="19050" cap="rnd">
            <a:solidFill>
              <a:srgbClr val="1F2937"/>
            </a:solidFill>
            <a:prstDash val="solid"/>
            <a:headEnd type="none" w="sm" len="sm"/>
            <a:tailEnd type="triangle" w="lg" len="med"/>
          </a:ln>
        </p:spPr>
        <p:txBody>
          <a:bodyPr/>
          <a:lstStyle/>
          <a:p>
            <a:endParaRPr lang="en-US"/>
          </a:p>
        </p:txBody>
      </p:sp>
      <p:grpSp>
        <p:nvGrpSpPr>
          <p:cNvPr id="222" name="Group 222"/>
          <p:cNvGrpSpPr/>
          <p:nvPr/>
        </p:nvGrpSpPr>
        <p:grpSpPr>
          <a:xfrm>
            <a:off x="4166711" y="8981599"/>
            <a:ext cx="2350770" cy="704850"/>
            <a:chOff x="0" y="0"/>
            <a:chExt cx="3134360" cy="939800"/>
          </a:xfrm>
        </p:grpSpPr>
        <p:sp>
          <p:nvSpPr>
            <p:cNvPr id="223" name="Freeform 223"/>
            <p:cNvSpPr/>
            <p:nvPr/>
          </p:nvSpPr>
          <p:spPr>
            <a:xfrm>
              <a:off x="0" y="0"/>
              <a:ext cx="3134360" cy="939800"/>
            </a:xfrm>
            <a:custGeom>
              <a:avLst/>
              <a:gdLst/>
              <a:ahLst/>
              <a:cxnLst/>
              <a:rect l="l" t="t" r="r" b="b"/>
              <a:pathLst>
                <a:path w="3134360" h="939800">
                  <a:moveTo>
                    <a:pt x="0" y="93980"/>
                  </a:moveTo>
                  <a:cubicBezTo>
                    <a:pt x="0" y="42037"/>
                    <a:pt x="42037" y="0"/>
                    <a:pt x="93980" y="0"/>
                  </a:cubicBezTo>
                  <a:lnTo>
                    <a:pt x="3040380" y="0"/>
                  </a:lnTo>
                  <a:cubicBezTo>
                    <a:pt x="3092323" y="0"/>
                    <a:pt x="3134360" y="42037"/>
                    <a:pt x="3134360" y="93980"/>
                  </a:cubicBezTo>
                  <a:lnTo>
                    <a:pt x="3134360" y="845820"/>
                  </a:lnTo>
                  <a:cubicBezTo>
                    <a:pt x="3134360" y="897763"/>
                    <a:pt x="3092323" y="939800"/>
                    <a:pt x="3040380" y="939800"/>
                  </a:cubicBezTo>
                  <a:lnTo>
                    <a:pt x="93980" y="939800"/>
                  </a:lnTo>
                  <a:cubicBezTo>
                    <a:pt x="42037" y="939800"/>
                    <a:pt x="0" y="897763"/>
                    <a:pt x="0" y="845820"/>
                  </a:cubicBezTo>
                  <a:close/>
                </a:path>
              </a:pathLst>
            </a:custGeom>
            <a:solidFill>
              <a:srgbClr val="FFFFFF"/>
            </a:solidFill>
            <a:ln w="19050" cap="sq">
              <a:solidFill>
                <a:srgbClr val="6B7280"/>
              </a:solidFill>
              <a:prstDash val="solid"/>
              <a:miter/>
            </a:ln>
          </p:spPr>
          <p:txBody>
            <a:bodyPr/>
            <a:lstStyle/>
            <a:p>
              <a:endParaRPr lang="en-US"/>
            </a:p>
          </p:txBody>
        </p:sp>
      </p:grpSp>
      <p:grpSp>
        <p:nvGrpSpPr>
          <p:cNvPr id="224" name="Group 224"/>
          <p:cNvGrpSpPr/>
          <p:nvPr/>
        </p:nvGrpSpPr>
        <p:grpSpPr>
          <a:xfrm>
            <a:off x="4176236" y="8991124"/>
            <a:ext cx="2331720" cy="685800"/>
            <a:chOff x="0" y="0"/>
            <a:chExt cx="3108960" cy="914400"/>
          </a:xfrm>
        </p:grpSpPr>
        <p:sp>
          <p:nvSpPr>
            <p:cNvPr id="225" name="Freeform 225"/>
            <p:cNvSpPr/>
            <p:nvPr/>
          </p:nvSpPr>
          <p:spPr>
            <a:xfrm>
              <a:off x="0" y="0"/>
              <a:ext cx="3108960" cy="914400"/>
            </a:xfrm>
            <a:custGeom>
              <a:avLst/>
              <a:gdLst/>
              <a:ahLst/>
              <a:cxnLst/>
              <a:rect l="l" t="t" r="r" b="b"/>
              <a:pathLst>
                <a:path w="3108960" h="914400">
                  <a:moveTo>
                    <a:pt x="0" y="0"/>
                  </a:moveTo>
                  <a:lnTo>
                    <a:pt x="3108960" y="0"/>
                  </a:lnTo>
                  <a:lnTo>
                    <a:pt x="3108960" y="914400"/>
                  </a:lnTo>
                  <a:lnTo>
                    <a:pt x="0" y="914400"/>
                  </a:lnTo>
                  <a:close/>
                </a:path>
              </a:pathLst>
            </a:custGeom>
            <a:blipFill>
              <a:blip r:embed="rId3">
                <a:alphaModFix amt="0"/>
              </a:blip>
              <a:stretch>
                <a:fillRect t="-16249" b="-16249"/>
              </a:stretch>
            </a:blipFill>
          </p:spPr>
          <p:txBody>
            <a:bodyPr/>
            <a:lstStyle/>
            <a:p>
              <a:endParaRPr lang="en-US"/>
            </a:p>
          </p:txBody>
        </p:sp>
        <p:sp>
          <p:nvSpPr>
            <p:cNvPr id="226" name="TextBox 226"/>
            <p:cNvSpPr txBox="1"/>
            <p:nvPr/>
          </p:nvSpPr>
          <p:spPr>
            <a:xfrm>
              <a:off x="0" y="0"/>
              <a:ext cx="3108960" cy="914400"/>
            </a:xfrm>
            <a:prstGeom prst="rect">
              <a:avLst/>
            </a:prstGeom>
          </p:spPr>
          <p:txBody>
            <a:bodyPr lIns="0" tIns="0" rIns="0" bIns="0" rtlCol="0" anchor="ctr"/>
            <a:lstStyle/>
            <a:p>
              <a:pPr algn="ctr">
                <a:lnSpc>
                  <a:spcPts val="1889"/>
                </a:lnSpc>
              </a:pPr>
              <a:r>
                <a:rPr lang="en-US" sz="1575" b="1">
                  <a:solidFill>
                    <a:srgbClr val="1F2937"/>
                  </a:solidFill>
                  <a:latin typeface="Bai Jamjuree Bold"/>
                  <a:ea typeface="Bai Jamjuree Bold"/>
                  <a:cs typeface="Bai Jamjuree Bold"/>
                  <a:sym typeface="Bai Jamjuree Bold"/>
                </a:rPr>
                <a:t>Phát hiện ArUco</a:t>
              </a:r>
            </a:p>
          </p:txBody>
        </p:sp>
      </p:grpSp>
      <p:sp>
        <p:nvSpPr>
          <p:cNvPr id="227" name="AutoShape 227"/>
          <p:cNvSpPr/>
          <p:nvPr/>
        </p:nvSpPr>
        <p:spPr>
          <a:xfrm flipV="1">
            <a:off x="6496051" y="9155716"/>
            <a:ext cx="484821" cy="94202"/>
          </a:xfrm>
          <a:prstGeom prst="line">
            <a:avLst/>
          </a:prstGeom>
          <a:ln w="9525" cap="rnd">
            <a:solidFill>
              <a:srgbClr val="DC2D3A"/>
            </a:solidFill>
            <a:prstDash val="solid"/>
            <a:headEnd type="none" w="sm" len="sm"/>
            <a:tailEnd type="triangle" w="lg" len="med"/>
          </a:ln>
        </p:spPr>
        <p:txBody>
          <a:bodyPr/>
          <a:lstStyle/>
          <a:p>
            <a:endParaRPr lang="en-US"/>
          </a:p>
        </p:txBody>
      </p:sp>
      <p:sp>
        <p:nvSpPr>
          <p:cNvPr id="228" name="AutoShape 228"/>
          <p:cNvSpPr/>
          <p:nvPr/>
        </p:nvSpPr>
        <p:spPr>
          <a:xfrm>
            <a:off x="6496051" y="9418129"/>
            <a:ext cx="484821" cy="94202"/>
          </a:xfrm>
          <a:prstGeom prst="line">
            <a:avLst/>
          </a:prstGeom>
          <a:ln w="9525" cap="rnd">
            <a:solidFill>
              <a:srgbClr val="1F7A8C"/>
            </a:solidFill>
            <a:prstDash val="solid"/>
            <a:headEnd type="none" w="sm" len="sm"/>
            <a:tailEnd type="triangle" w="lg" len="med"/>
          </a:ln>
        </p:spPr>
        <p:txBody>
          <a:bodyPr/>
          <a:lstStyle/>
          <a:p>
            <a:endParaRPr lang="en-US"/>
          </a:p>
        </p:txBody>
      </p:sp>
      <p:grpSp>
        <p:nvGrpSpPr>
          <p:cNvPr id="229" name="Group 229"/>
          <p:cNvGrpSpPr/>
          <p:nvPr/>
        </p:nvGrpSpPr>
        <p:grpSpPr>
          <a:xfrm>
            <a:off x="6980872" y="8983980"/>
            <a:ext cx="7491009" cy="343472"/>
            <a:chOff x="0" y="0"/>
            <a:chExt cx="9988011" cy="457962"/>
          </a:xfrm>
        </p:grpSpPr>
        <p:sp>
          <p:nvSpPr>
            <p:cNvPr id="230" name="Freeform 230"/>
            <p:cNvSpPr/>
            <p:nvPr/>
          </p:nvSpPr>
          <p:spPr>
            <a:xfrm>
              <a:off x="0" y="0"/>
              <a:ext cx="9988011" cy="457962"/>
            </a:xfrm>
            <a:custGeom>
              <a:avLst/>
              <a:gdLst/>
              <a:ahLst/>
              <a:cxnLst/>
              <a:rect l="l" t="t" r="r" b="b"/>
              <a:pathLst>
                <a:path w="9988011" h="457962">
                  <a:moveTo>
                    <a:pt x="0" y="76327"/>
                  </a:moveTo>
                  <a:cubicBezTo>
                    <a:pt x="0" y="34163"/>
                    <a:pt x="23797" y="0"/>
                    <a:pt x="53168" y="0"/>
                  </a:cubicBezTo>
                  <a:lnTo>
                    <a:pt x="9934843" y="0"/>
                  </a:lnTo>
                  <a:cubicBezTo>
                    <a:pt x="9964214" y="0"/>
                    <a:pt x="9988011" y="34163"/>
                    <a:pt x="9988011" y="76327"/>
                  </a:cubicBezTo>
                  <a:lnTo>
                    <a:pt x="9988011" y="381635"/>
                  </a:lnTo>
                  <a:cubicBezTo>
                    <a:pt x="9988011" y="423799"/>
                    <a:pt x="9964214" y="457962"/>
                    <a:pt x="9934843" y="457962"/>
                  </a:cubicBezTo>
                  <a:lnTo>
                    <a:pt x="53168" y="457962"/>
                  </a:lnTo>
                  <a:cubicBezTo>
                    <a:pt x="23797" y="457962"/>
                    <a:pt x="0" y="423799"/>
                    <a:pt x="0" y="381635"/>
                  </a:cubicBezTo>
                  <a:close/>
                </a:path>
              </a:pathLst>
            </a:custGeom>
            <a:solidFill>
              <a:srgbClr val="FDECEE"/>
            </a:solidFill>
            <a:ln w="14288" cap="sq">
              <a:solidFill>
                <a:srgbClr val="DC2D3A"/>
              </a:solidFill>
              <a:prstDash val="solid"/>
              <a:miter/>
            </a:ln>
          </p:spPr>
          <p:txBody>
            <a:bodyPr/>
            <a:lstStyle/>
            <a:p>
              <a:endParaRPr lang="en-US"/>
            </a:p>
          </p:txBody>
        </p:sp>
      </p:grpSp>
      <p:grpSp>
        <p:nvGrpSpPr>
          <p:cNvPr id="231" name="Group 231"/>
          <p:cNvGrpSpPr/>
          <p:nvPr/>
        </p:nvGrpSpPr>
        <p:grpSpPr>
          <a:xfrm>
            <a:off x="7125176" y="8991124"/>
            <a:ext cx="6307851" cy="378333"/>
            <a:chOff x="0" y="0"/>
            <a:chExt cx="8465609" cy="507751"/>
          </a:xfrm>
        </p:grpSpPr>
        <p:sp>
          <p:nvSpPr>
            <p:cNvPr id="232" name="Freeform 232"/>
            <p:cNvSpPr/>
            <p:nvPr/>
          </p:nvSpPr>
          <p:spPr>
            <a:xfrm>
              <a:off x="0" y="0"/>
              <a:ext cx="8465610" cy="507751"/>
            </a:xfrm>
            <a:custGeom>
              <a:avLst/>
              <a:gdLst/>
              <a:ahLst/>
              <a:cxnLst/>
              <a:rect l="l" t="t" r="r" b="b"/>
              <a:pathLst>
                <a:path w="8465610" h="507751">
                  <a:moveTo>
                    <a:pt x="0" y="0"/>
                  </a:moveTo>
                  <a:lnTo>
                    <a:pt x="8465610" y="0"/>
                  </a:lnTo>
                  <a:lnTo>
                    <a:pt x="8465610" y="507751"/>
                  </a:lnTo>
                  <a:lnTo>
                    <a:pt x="0" y="507751"/>
                  </a:lnTo>
                  <a:close/>
                </a:path>
              </a:pathLst>
            </a:custGeom>
            <a:blipFill>
              <a:blip r:embed="rId3">
                <a:alphaModFix amt="0"/>
              </a:blip>
              <a:stretch>
                <a:fillRect t="-497168" r="-66340" b="-483611"/>
              </a:stretch>
            </a:blipFill>
          </p:spPr>
          <p:txBody>
            <a:bodyPr/>
            <a:lstStyle/>
            <a:p>
              <a:endParaRPr lang="en-US"/>
            </a:p>
          </p:txBody>
        </p:sp>
        <p:sp>
          <p:nvSpPr>
            <p:cNvPr id="233" name="TextBox 233"/>
            <p:cNvSpPr txBox="1"/>
            <p:nvPr/>
          </p:nvSpPr>
          <p:spPr>
            <a:xfrm>
              <a:off x="0" y="0"/>
              <a:ext cx="8465609" cy="507751"/>
            </a:xfrm>
            <a:prstGeom prst="rect">
              <a:avLst/>
            </a:prstGeom>
          </p:spPr>
          <p:txBody>
            <a:bodyPr lIns="0" tIns="0" rIns="0" bIns="0" rtlCol="0" anchor="ctr"/>
            <a:lstStyle/>
            <a:p>
              <a:pPr algn="l">
                <a:lnSpc>
                  <a:spcPts val="1800"/>
                </a:lnSpc>
              </a:pPr>
              <a:r>
                <a:rPr lang="en-US" sz="1500">
                  <a:solidFill>
                    <a:srgbClr val="374151"/>
                  </a:solidFill>
                  <a:latin typeface="Bai Jamjuree"/>
                  <a:ea typeface="Bai Jamjuree"/>
                  <a:cs typeface="Bai Jamjuree"/>
                  <a:sym typeface="Bai Jamjuree"/>
                </a:rPr>
                <a:t>Vị trí marker trên ảnh (bbox) → </a:t>
              </a:r>
              <a:r>
                <a:rPr lang="en-US" sz="1500" b="1">
                  <a:solidFill>
                    <a:srgbClr val="DC2D3A"/>
                  </a:solidFill>
                  <a:latin typeface="Bai Jamjuree Bold"/>
                  <a:ea typeface="Bai Jamjuree Bold"/>
                  <a:cs typeface="Bai Jamjuree Bold"/>
                  <a:sym typeface="Bai Jamjuree Bold"/>
                </a:rPr>
                <a:t>IBVS</a:t>
              </a:r>
              <a:r>
                <a:rPr lang="en-US" sz="1500">
                  <a:solidFill>
                    <a:srgbClr val="374151"/>
                  </a:solidFill>
                  <a:latin typeface="Bai Jamjuree"/>
                  <a:ea typeface="Bai Jamjuree"/>
                  <a:cs typeface="Bai Jamjuree"/>
                  <a:sym typeface="Bai Jamjuree"/>
                </a:rPr>
                <a:t> → lệnh gimbal pitch + yaw thân</a:t>
              </a:r>
            </a:p>
          </p:txBody>
        </p:sp>
      </p:grpSp>
      <p:grpSp>
        <p:nvGrpSpPr>
          <p:cNvPr id="234" name="Group 234"/>
          <p:cNvGrpSpPr/>
          <p:nvPr/>
        </p:nvGrpSpPr>
        <p:grpSpPr>
          <a:xfrm>
            <a:off x="6980872" y="9340596"/>
            <a:ext cx="7491009" cy="343472"/>
            <a:chOff x="0" y="0"/>
            <a:chExt cx="9988011" cy="457962"/>
          </a:xfrm>
        </p:grpSpPr>
        <p:sp>
          <p:nvSpPr>
            <p:cNvPr id="235" name="Freeform 235"/>
            <p:cNvSpPr/>
            <p:nvPr/>
          </p:nvSpPr>
          <p:spPr>
            <a:xfrm>
              <a:off x="0" y="0"/>
              <a:ext cx="9988011" cy="457962"/>
            </a:xfrm>
            <a:custGeom>
              <a:avLst/>
              <a:gdLst/>
              <a:ahLst/>
              <a:cxnLst/>
              <a:rect l="l" t="t" r="r" b="b"/>
              <a:pathLst>
                <a:path w="9988011" h="457962">
                  <a:moveTo>
                    <a:pt x="0" y="76327"/>
                  </a:moveTo>
                  <a:cubicBezTo>
                    <a:pt x="0" y="34163"/>
                    <a:pt x="23797" y="0"/>
                    <a:pt x="53168" y="0"/>
                  </a:cubicBezTo>
                  <a:lnTo>
                    <a:pt x="9934843" y="0"/>
                  </a:lnTo>
                  <a:cubicBezTo>
                    <a:pt x="9964214" y="0"/>
                    <a:pt x="9988011" y="34163"/>
                    <a:pt x="9988011" y="76327"/>
                  </a:cubicBezTo>
                  <a:lnTo>
                    <a:pt x="9988011" y="381635"/>
                  </a:lnTo>
                  <a:cubicBezTo>
                    <a:pt x="9988011" y="423799"/>
                    <a:pt x="9964214" y="457962"/>
                    <a:pt x="9934843" y="457962"/>
                  </a:cubicBezTo>
                  <a:lnTo>
                    <a:pt x="53168" y="457962"/>
                  </a:lnTo>
                  <a:cubicBezTo>
                    <a:pt x="23797" y="457962"/>
                    <a:pt x="0" y="423799"/>
                    <a:pt x="0" y="381635"/>
                  </a:cubicBezTo>
                  <a:close/>
                </a:path>
              </a:pathLst>
            </a:custGeom>
            <a:solidFill>
              <a:srgbClr val="E3F1F4"/>
            </a:solidFill>
            <a:ln w="14288" cap="sq">
              <a:solidFill>
                <a:srgbClr val="1F7A8C"/>
              </a:solidFill>
              <a:prstDash val="solid"/>
              <a:miter/>
            </a:ln>
          </p:spPr>
          <p:txBody>
            <a:bodyPr/>
            <a:lstStyle/>
            <a:p>
              <a:endParaRPr lang="en-US"/>
            </a:p>
          </p:txBody>
        </p:sp>
      </p:grpSp>
      <p:grpSp>
        <p:nvGrpSpPr>
          <p:cNvPr id="236" name="Group 236"/>
          <p:cNvGrpSpPr/>
          <p:nvPr/>
        </p:nvGrpSpPr>
        <p:grpSpPr>
          <a:xfrm>
            <a:off x="7125176" y="9347740"/>
            <a:ext cx="7224998" cy="378333"/>
            <a:chOff x="0" y="0"/>
            <a:chExt cx="9633330" cy="504444"/>
          </a:xfrm>
        </p:grpSpPr>
        <p:sp>
          <p:nvSpPr>
            <p:cNvPr id="237" name="Freeform 237"/>
            <p:cNvSpPr/>
            <p:nvPr/>
          </p:nvSpPr>
          <p:spPr>
            <a:xfrm>
              <a:off x="0" y="0"/>
              <a:ext cx="9633331" cy="504444"/>
            </a:xfrm>
            <a:custGeom>
              <a:avLst/>
              <a:gdLst/>
              <a:ahLst/>
              <a:cxnLst/>
              <a:rect l="l" t="t" r="r" b="b"/>
              <a:pathLst>
                <a:path w="9633331" h="504444">
                  <a:moveTo>
                    <a:pt x="0" y="0"/>
                  </a:moveTo>
                  <a:lnTo>
                    <a:pt x="9633331" y="0"/>
                  </a:lnTo>
                  <a:lnTo>
                    <a:pt x="9633331" y="504444"/>
                  </a:lnTo>
                  <a:lnTo>
                    <a:pt x="0" y="504444"/>
                  </a:lnTo>
                  <a:close/>
                </a:path>
              </a:pathLst>
            </a:custGeom>
            <a:blipFill>
              <a:blip r:embed="rId3">
                <a:alphaModFix amt="0"/>
              </a:blip>
              <a:stretch>
                <a:fillRect t="-500428" r="-46177" b="-487437"/>
              </a:stretch>
            </a:blipFill>
          </p:spPr>
          <p:txBody>
            <a:bodyPr/>
            <a:lstStyle/>
            <a:p>
              <a:endParaRPr lang="en-US"/>
            </a:p>
          </p:txBody>
        </p:sp>
        <p:sp>
          <p:nvSpPr>
            <p:cNvPr id="238" name="TextBox 238"/>
            <p:cNvSpPr txBox="1"/>
            <p:nvPr/>
          </p:nvSpPr>
          <p:spPr>
            <a:xfrm>
              <a:off x="0" y="0"/>
              <a:ext cx="9633330" cy="504444"/>
            </a:xfrm>
            <a:prstGeom prst="rect">
              <a:avLst/>
            </a:prstGeom>
          </p:spPr>
          <p:txBody>
            <a:bodyPr lIns="0" tIns="0" rIns="0" bIns="0" rtlCol="0" anchor="ctr"/>
            <a:lstStyle/>
            <a:p>
              <a:pPr algn="l">
                <a:lnSpc>
                  <a:spcPts val="1800"/>
                </a:lnSpc>
              </a:pPr>
              <a:r>
                <a:rPr lang="en-US" sz="1500">
                  <a:solidFill>
                    <a:srgbClr val="374151"/>
                  </a:solidFill>
                  <a:latin typeface="Bai Jamjuree"/>
                  <a:ea typeface="Bai Jamjuree"/>
                  <a:cs typeface="Bai Jamjuree"/>
                  <a:sym typeface="Bai Jamjuree"/>
                </a:rPr>
                <a:t>Vị trí tương đối (</a:t>
              </a:r>
              <a:r>
                <a:rPr lang="en-US" sz="1500" b="1">
                  <a:solidFill>
                    <a:srgbClr val="4B5563"/>
                  </a:solidFill>
                  <a:latin typeface="Bai Jamjuree Bold"/>
                  <a:ea typeface="Bai Jamjuree Bold"/>
                  <a:cs typeface="Bai Jamjuree Bold"/>
                  <a:sym typeface="Bai Jamjuree Bold"/>
                </a:rPr>
                <a:t>Marker-relative</a:t>
              </a:r>
              <a:r>
                <a:rPr lang="en-US" sz="1500">
                  <a:solidFill>
                    <a:srgbClr val="374151"/>
                  </a:solidFill>
                  <a:latin typeface="Bai Jamjuree"/>
                  <a:ea typeface="Bai Jamjuree"/>
                  <a:cs typeface="Bai Jamjuree"/>
                  <a:sym typeface="Bai Jamjuree"/>
                </a:rPr>
                <a:t>) → </a:t>
              </a:r>
              <a:r>
                <a:rPr lang="en-US" sz="1500" b="1">
                  <a:solidFill>
                    <a:srgbClr val="1F7A8C"/>
                  </a:solidFill>
                  <a:latin typeface="Bai Jamjuree Bold"/>
                  <a:ea typeface="Bai Jamjuree Bold"/>
                  <a:cs typeface="Bai Jamjuree Bold"/>
                  <a:sym typeface="Bai Jamjuree Bold"/>
                </a:rPr>
                <a:t>EKF</a:t>
              </a:r>
              <a:r>
                <a:rPr lang="en-US" sz="1500">
                  <a:solidFill>
                    <a:srgbClr val="374151"/>
                  </a:solidFill>
                  <a:latin typeface="Bai Jamjuree"/>
                  <a:ea typeface="Bai Jamjuree"/>
                  <a:cs typeface="Bai Jamjuree"/>
                  <a:sym typeface="Bai Jamjuree"/>
                </a:rPr>
                <a:t> → trạng thái mục tiêu → tầng tính lệnh bay</a:t>
              </a:r>
            </a:p>
          </p:txBody>
        </p:sp>
      </p:grpSp>
      <p:grpSp>
        <p:nvGrpSpPr>
          <p:cNvPr id="239" name="Group 239"/>
          <p:cNvGrpSpPr/>
          <p:nvPr/>
        </p:nvGrpSpPr>
        <p:grpSpPr>
          <a:xfrm>
            <a:off x="0" y="0"/>
            <a:ext cx="1645920" cy="1110996"/>
            <a:chOff x="0" y="0"/>
            <a:chExt cx="2194560" cy="1481328"/>
          </a:xfrm>
        </p:grpSpPr>
        <p:sp>
          <p:nvSpPr>
            <p:cNvPr id="240" name="Freeform 240"/>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3">
                <a:alphaModFix amt="0"/>
              </a:blip>
              <a:stretch>
                <a:fillRect l="-36604" r="-36604"/>
              </a:stretch>
            </a:blipFill>
          </p:spPr>
          <p:txBody>
            <a:bodyPr/>
            <a:lstStyle/>
            <a:p>
              <a:endParaRPr lang="en-US"/>
            </a:p>
          </p:txBody>
        </p:sp>
        <p:sp>
          <p:nvSpPr>
            <p:cNvPr id="241" name="TextBox 241"/>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03</a:t>
              </a:r>
            </a:p>
          </p:txBody>
        </p:sp>
      </p:grpSp>
      <p:grpSp>
        <p:nvGrpSpPr>
          <p:cNvPr id="242" name="Group 242"/>
          <p:cNvGrpSpPr/>
          <p:nvPr/>
        </p:nvGrpSpPr>
        <p:grpSpPr>
          <a:xfrm>
            <a:off x="15715107" y="9456321"/>
            <a:ext cx="1988172" cy="688105"/>
            <a:chOff x="0" y="0"/>
            <a:chExt cx="2650896" cy="917473"/>
          </a:xfrm>
        </p:grpSpPr>
        <p:sp>
          <p:nvSpPr>
            <p:cNvPr id="243" name="Freeform 243"/>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grpSp>
        <p:nvGrpSpPr>
          <p:cNvPr id="244" name="Group 244"/>
          <p:cNvGrpSpPr/>
          <p:nvPr/>
        </p:nvGrpSpPr>
        <p:grpSpPr>
          <a:xfrm>
            <a:off x="17793" y="9899142"/>
            <a:ext cx="15704172" cy="67818"/>
            <a:chOff x="0" y="0"/>
            <a:chExt cx="20938896" cy="90424"/>
          </a:xfrm>
        </p:grpSpPr>
        <p:sp>
          <p:nvSpPr>
            <p:cNvPr id="245" name="Freeform 245"/>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9625" y="1400175"/>
            <a:ext cx="7620000" cy="695325"/>
            <a:chOff x="0" y="0"/>
            <a:chExt cx="10160000" cy="927100"/>
          </a:xfrm>
        </p:grpSpPr>
        <p:sp>
          <p:nvSpPr>
            <p:cNvPr id="3" name="Freeform 3"/>
            <p:cNvSpPr/>
            <p:nvPr/>
          </p:nvSpPr>
          <p:spPr>
            <a:xfrm>
              <a:off x="0" y="0"/>
              <a:ext cx="10160000" cy="927100"/>
            </a:xfrm>
            <a:custGeom>
              <a:avLst/>
              <a:gdLst/>
              <a:ahLst/>
              <a:cxnLst/>
              <a:rect l="l" t="t" r="r" b="b"/>
              <a:pathLst>
                <a:path w="10160000" h="927100">
                  <a:moveTo>
                    <a:pt x="0" y="0"/>
                  </a:moveTo>
                  <a:lnTo>
                    <a:pt x="10160000" y="0"/>
                  </a:lnTo>
                  <a:lnTo>
                    <a:pt x="10160000" y="927100"/>
                  </a:lnTo>
                  <a:lnTo>
                    <a:pt x="0" y="927100"/>
                  </a:lnTo>
                  <a:close/>
                </a:path>
              </a:pathLst>
            </a:custGeom>
            <a:solidFill>
              <a:srgbClr val="F2F2F2"/>
            </a:solidFill>
          </p:spPr>
          <p:txBody>
            <a:bodyPr/>
            <a:lstStyle/>
            <a:p>
              <a:endParaRPr lang="en-US"/>
            </a:p>
          </p:txBody>
        </p:sp>
        <p:sp>
          <p:nvSpPr>
            <p:cNvPr id="4" name="TextBox 4"/>
            <p:cNvSpPr txBox="1"/>
            <p:nvPr/>
          </p:nvSpPr>
          <p:spPr>
            <a:xfrm>
              <a:off x="0" y="-38100"/>
              <a:ext cx="10160000" cy="9652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809625" y="2371725"/>
            <a:ext cx="7620000" cy="6953250"/>
            <a:chOff x="0" y="0"/>
            <a:chExt cx="10160000" cy="9271000"/>
          </a:xfrm>
        </p:grpSpPr>
        <p:sp>
          <p:nvSpPr>
            <p:cNvPr id="6" name="Freeform 6"/>
            <p:cNvSpPr/>
            <p:nvPr/>
          </p:nvSpPr>
          <p:spPr>
            <a:xfrm>
              <a:off x="0" y="0"/>
              <a:ext cx="10160000" cy="9271000"/>
            </a:xfrm>
            <a:custGeom>
              <a:avLst/>
              <a:gdLst/>
              <a:ahLst/>
              <a:cxnLst/>
              <a:rect l="l" t="t" r="r" b="b"/>
              <a:pathLst>
                <a:path w="10160000" h="9271000">
                  <a:moveTo>
                    <a:pt x="203200" y="0"/>
                  </a:moveTo>
                  <a:lnTo>
                    <a:pt x="9956800" y="0"/>
                  </a:lnTo>
                  <a:cubicBezTo>
                    <a:pt x="10069024" y="0"/>
                    <a:pt x="10160000" y="90976"/>
                    <a:pt x="10160000" y="203200"/>
                  </a:cubicBezTo>
                  <a:lnTo>
                    <a:pt x="10160000" y="9067800"/>
                  </a:lnTo>
                  <a:cubicBezTo>
                    <a:pt x="10160000" y="9180024"/>
                    <a:pt x="10069024" y="9271000"/>
                    <a:pt x="9956800" y="9271000"/>
                  </a:cubicBezTo>
                  <a:lnTo>
                    <a:pt x="203200" y="9271000"/>
                  </a:lnTo>
                  <a:cubicBezTo>
                    <a:pt x="90976" y="9271000"/>
                    <a:pt x="0" y="9180024"/>
                    <a:pt x="0" y="9067800"/>
                  </a:cubicBezTo>
                  <a:lnTo>
                    <a:pt x="0" y="203200"/>
                  </a:lnTo>
                  <a:cubicBezTo>
                    <a:pt x="0" y="90976"/>
                    <a:pt x="90976" y="0"/>
                    <a:pt x="203200" y="0"/>
                  </a:cubicBezTo>
                  <a:close/>
                </a:path>
              </a:pathLst>
            </a:custGeom>
            <a:solidFill>
              <a:srgbClr val="F2F2F2"/>
            </a:solidFill>
          </p:spPr>
          <p:txBody>
            <a:bodyPr/>
            <a:lstStyle/>
            <a:p>
              <a:endParaRPr lang="en-US"/>
            </a:p>
          </p:txBody>
        </p:sp>
        <p:sp>
          <p:nvSpPr>
            <p:cNvPr id="7" name="TextBox 7"/>
            <p:cNvSpPr txBox="1"/>
            <p:nvPr/>
          </p:nvSpPr>
          <p:spPr>
            <a:xfrm>
              <a:off x="0" y="-38100"/>
              <a:ext cx="10160000" cy="9309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2957123" y="7556818"/>
            <a:ext cx="571500" cy="224155"/>
          </a:xfrm>
          <a:prstGeom prst="rect">
            <a:avLst/>
          </a:prstGeom>
        </p:spPr>
        <p:txBody>
          <a:bodyPr lIns="0" tIns="0" rIns="0" bIns="0" rtlCol="0" anchor="t">
            <a:spAutoFit/>
          </a:bodyPr>
          <a:lstStyle/>
          <a:p>
            <a:pPr algn="ctr">
              <a:lnSpc>
                <a:spcPts val="1819"/>
              </a:lnSpc>
            </a:pPr>
            <a:r>
              <a:rPr lang="en-US" sz="1299" b="1">
                <a:solidFill>
                  <a:srgbClr val="DB3038"/>
                </a:solidFill>
                <a:latin typeface="Bai Jamjuree Bold"/>
                <a:ea typeface="Bai Jamjuree Bold"/>
                <a:cs typeface="Bai Jamjuree Bold"/>
                <a:sym typeface="Bai Jamjuree Bold"/>
              </a:rPr>
              <a:t>DRONE</a:t>
            </a:r>
          </a:p>
        </p:txBody>
      </p:sp>
      <p:sp>
        <p:nvSpPr>
          <p:cNvPr id="9" name="TextBox 9"/>
          <p:cNvSpPr txBox="1"/>
          <p:nvPr/>
        </p:nvSpPr>
        <p:spPr>
          <a:xfrm>
            <a:off x="5743575" y="5545455"/>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hút → Target</a:t>
            </a:r>
          </a:p>
        </p:txBody>
      </p:sp>
      <p:sp>
        <p:nvSpPr>
          <p:cNvPr id="10" name="TextBox 10"/>
          <p:cNvSpPr txBox="1"/>
          <p:nvPr/>
        </p:nvSpPr>
        <p:spPr>
          <a:xfrm>
            <a:off x="1433123" y="7692708"/>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đẩy</a:t>
            </a:r>
          </a:p>
        </p:txBody>
      </p:sp>
      <p:sp>
        <p:nvSpPr>
          <p:cNvPr id="11" name="AutoShape 11"/>
          <p:cNvSpPr/>
          <p:nvPr/>
        </p:nvSpPr>
        <p:spPr>
          <a:xfrm flipH="1">
            <a:off x="2493531" y="7160214"/>
            <a:ext cx="693011" cy="1031286"/>
          </a:xfrm>
          <a:prstGeom prst="line">
            <a:avLst/>
          </a:prstGeom>
          <a:ln w="38100" cap="flat">
            <a:solidFill>
              <a:srgbClr val="FFBD59"/>
            </a:solidFill>
            <a:prstDash val="solid"/>
            <a:headEnd type="none" w="sm" len="sm"/>
            <a:tailEnd type="arrow" w="med" len="sm"/>
          </a:ln>
        </p:spPr>
        <p:txBody>
          <a:bodyPr/>
          <a:lstStyle/>
          <a:p>
            <a:endParaRPr lang="en-US"/>
          </a:p>
        </p:txBody>
      </p:sp>
      <p:sp>
        <p:nvSpPr>
          <p:cNvPr id="12" name="AutoShape 12"/>
          <p:cNvSpPr/>
          <p:nvPr/>
        </p:nvSpPr>
        <p:spPr>
          <a:xfrm flipV="1">
            <a:off x="3302595" y="4999344"/>
            <a:ext cx="3487010" cy="2107741"/>
          </a:xfrm>
          <a:prstGeom prst="line">
            <a:avLst/>
          </a:prstGeom>
          <a:ln w="28575" cap="flat">
            <a:solidFill>
              <a:srgbClr val="DB3038"/>
            </a:solidFill>
            <a:prstDash val="solid"/>
            <a:headEnd type="none" w="sm" len="sm"/>
            <a:tailEnd type="arrow" w="med" len="sm"/>
          </a:ln>
        </p:spPr>
        <p:txBody>
          <a:bodyPr/>
          <a:lstStyle/>
          <a:p>
            <a:endParaRPr lang="en-US"/>
          </a:p>
        </p:txBody>
      </p:sp>
      <p:sp>
        <p:nvSpPr>
          <p:cNvPr id="13" name="AutoShape 13"/>
          <p:cNvSpPr/>
          <p:nvPr/>
        </p:nvSpPr>
        <p:spPr>
          <a:xfrm>
            <a:off x="3395756" y="7063230"/>
            <a:ext cx="829651" cy="151881"/>
          </a:xfrm>
          <a:prstGeom prst="line">
            <a:avLst/>
          </a:prstGeom>
          <a:ln w="28575" cap="flat">
            <a:solidFill>
              <a:srgbClr val="FF914D"/>
            </a:solidFill>
            <a:prstDash val="solid"/>
            <a:headEnd type="none" w="sm" len="sm"/>
            <a:tailEnd type="arrow" w="med" len="sm"/>
          </a:ln>
        </p:spPr>
        <p:txBody>
          <a:bodyPr/>
          <a:lstStyle/>
          <a:p>
            <a:endParaRPr lang="en-US"/>
          </a:p>
        </p:txBody>
      </p:sp>
      <p:sp>
        <p:nvSpPr>
          <p:cNvPr id="14" name="AutoShape 14"/>
          <p:cNvSpPr/>
          <p:nvPr/>
        </p:nvSpPr>
        <p:spPr>
          <a:xfrm flipV="1">
            <a:off x="3395756" y="6846072"/>
            <a:ext cx="3319369" cy="186472"/>
          </a:xfrm>
          <a:prstGeom prst="line">
            <a:avLst/>
          </a:prstGeom>
          <a:ln w="19050" cap="flat">
            <a:solidFill>
              <a:srgbClr val="262626"/>
            </a:solidFill>
            <a:prstDash val="sysDash"/>
            <a:headEnd type="none" w="sm" len="sm"/>
            <a:tailEnd type="arrow" w="med" len="sm"/>
          </a:ln>
        </p:spPr>
        <p:txBody>
          <a:bodyPr/>
          <a:lstStyle/>
          <a:p>
            <a:endParaRPr lang="en-US"/>
          </a:p>
        </p:txBody>
      </p:sp>
      <p:grpSp>
        <p:nvGrpSpPr>
          <p:cNvPr id="15" name="Group 15"/>
          <p:cNvGrpSpPr/>
          <p:nvPr/>
        </p:nvGrpSpPr>
        <p:grpSpPr>
          <a:xfrm>
            <a:off x="6677025" y="4486275"/>
            <a:ext cx="571500" cy="571500"/>
            <a:chOff x="0" y="0"/>
            <a:chExt cx="762000" cy="762000"/>
          </a:xfrm>
        </p:grpSpPr>
        <p:sp>
          <p:nvSpPr>
            <p:cNvPr id="16" name="Freeform 16"/>
            <p:cNvSpPr/>
            <p:nvPr/>
          </p:nvSpPr>
          <p:spPr>
            <a:xfrm>
              <a:off x="0" y="0"/>
              <a:ext cx="762000" cy="762000"/>
            </a:xfrm>
            <a:custGeom>
              <a:avLst/>
              <a:gdLst/>
              <a:ahLst/>
              <a:cxnLst/>
              <a:rect l="l" t="t" r="r" b="b"/>
              <a:pathLst>
                <a:path w="762000" h="762000">
                  <a:moveTo>
                    <a:pt x="0" y="381000"/>
                  </a:moveTo>
                  <a:cubicBezTo>
                    <a:pt x="0" y="591420"/>
                    <a:pt x="170580" y="762000"/>
                    <a:pt x="381000" y="762000"/>
                  </a:cubicBezTo>
                  <a:cubicBezTo>
                    <a:pt x="591420" y="762000"/>
                    <a:pt x="762000" y="591420"/>
                    <a:pt x="762000" y="381000"/>
                  </a:cubicBezTo>
                  <a:cubicBezTo>
                    <a:pt x="762000" y="170580"/>
                    <a:pt x="591420" y="0"/>
                    <a:pt x="381000" y="0"/>
                  </a:cubicBezTo>
                  <a:cubicBezTo>
                    <a:pt x="170580" y="0"/>
                    <a:pt x="0" y="170580"/>
                    <a:pt x="0" y="381000"/>
                  </a:cubicBezTo>
                  <a:close/>
                </a:path>
              </a:pathLst>
            </a:custGeom>
            <a:solidFill>
              <a:srgbClr val="FFF1F2"/>
            </a:solidFill>
            <a:ln w="38100" cap="sq">
              <a:solidFill>
                <a:srgbClr val="DB3038"/>
              </a:solidFill>
              <a:prstDash val="solid"/>
              <a:miter/>
            </a:ln>
          </p:spPr>
          <p:txBody>
            <a:bodyPr/>
            <a:lstStyle/>
            <a:p>
              <a:endParaRPr lang="en-US"/>
            </a:p>
          </p:txBody>
        </p:sp>
        <p:sp>
          <p:nvSpPr>
            <p:cNvPr id="17" name="TextBox 17"/>
            <p:cNvSpPr txBox="1"/>
            <p:nvPr/>
          </p:nvSpPr>
          <p:spPr>
            <a:xfrm>
              <a:off x="0" y="-38100"/>
              <a:ext cx="762000" cy="800100"/>
            </a:xfrm>
            <a:prstGeom prst="rect">
              <a:avLst/>
            </a:prstGeom>
          </p:spPr>
          <p:txBody>
            <a:bodyPr lIns="50800" tIns="50800" rIns="50800" bIns="50800" rtlCol="0" anchor="ctr"/>
            <a:lstStyle/>
            <a:p>
              <a:pPr algn="l">
                <a:lnSpc>
                  <a:spcPts val="1679"/>
                </a:lnSpc>
              </a:pPr>
              <a:endParaRPr/>
            </a:p>
          </p:txBody>
        </p:sp>
      </p:grpSp>
      <p:sp>
        <p:nvSpPr>
          <p:cNvPr id="18" name="AutoShape 18"/>
          <p:cNvSpPr/>
          <p:nvPr/>
        </p:nvSpPr>
        <p:spPr>
          <a:xfrm>
            <a:off x="6715125" y="4772025"/>
            <a:ext cx="482007" cy="0"/>
          </a:xfrm>
          <a:prstGeom prst="line">
            <a:avLst/>
          </a:prstGeom>
          <a:ln w="19050" cap="flat">
            <a:solidFill>
              <a:srgbClr val="DB3038"/>
            </a:solidFill>
            <a:prstDash val="solid"/>
            <a:headEnd type="none" w="sm" len="sm"/>
            <a:tailEnd type="none" w="sm" len="sm"/>
          </a:ln>
        </p:spPr>
        <p:txBody>
          <a:bodyPr/>
          <a:lstStyle/>
          <a:p>
            <a:endParaRPr lang="en-US"/>
          </a:p>
        </p:txBody>
      </p:sp>
      <p:sp>
        <p:nvSpPr>
          <p:cNvPr id="19" name="AutoShape 19"/>
          <p:cNvSpPr/>
          <p:nvPr/>
        </p:nvSpPr>
        <p:spPr>
          <a:xfrm>
            <a:off x="6962775" y="4524375"/>
            <a:ext cx="0" cy="533400"/>
          </a:xfrm>
          <a:prstGeom prst="line">
            <a:avLst/>
          </a:prstGeom>
          <a:ln w="19050" cap="flat">
            <a:solidFill>
              <a:srgbClr val="DB3038"/>
            </a:solidFill>
            <a:prstDash val="solid"/>
            <a:headEnd type="none" w="sm" len="sm"/>
            <a:tailEnd type="none" w="sm" len="sm"/>
          </a:ln>
        </p:spPr>
        <p:txBody>
          <a:bodyPr/>
          <a:lstStyle/>
          <a:p>
            <a:endParaRPr lang="en-US"/>
          </a:p>
        </p:txBody>
      </p:sp>
      <p:sp>
        <p:nvSpPr>
          <p:cNvPr id="20" name="AutoShape 20"/>
          <p:cNvSpPr/>
          <p:nvPr/>
        </p:nvSpPr>
        <p:spPr>
          <a:xfrm>
            <a:off x="2801930" y="6582712"/>
            <a:ext cx="861249" cy="861249"/>
          </a:xfrm>
          <a:prstGeom prst="line">
            <a:avLst/>
          </a:prstGeom>
          <a:ln w="19050" cap="rnd">
            <a:solidFill>
              <a:srgbClr val="7F7F7F"/>
            </a:solidFill>
            <a:prstDash val="solid"/>
            <a:headEnd type="none" w="sm" len="sm"/>
            <a:tailEnd type="none" w="sm" len="sm"/>
          </a:ln>
        </p:spPr>
        <p:txBody>
          <a:bodyPr/>
          <a:lstStyle/>
          <a:p>
            <a:endParaRPr lang="en-US"/>
          </a:p>
        </p:txBody>
      </p:sp>
      <p:grpSp>
        <p:nvGrpSpPr>
          <p:cNvPr id="21" name="Group 21"/>
          <p:cNvGrpSpPr/>
          <p:nvPr/>
        </p:nvGrpSpPr>
        <p:grpSpPr>
          <a:xfrm>
            <a:off x="2658598" y="6470256"/>
            <a:ext cx="390677" cy="390677"/>
            <a:chOff x="0" y="0"/>
            <a:chExt cx="520903" cy="520903"/>
          </a:xfrm>
        </p:grpSpPr>
        <p:sp>
          <p:nvSpPr>
            <p:cNvPr id="22" name="Freeform 22"/>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23" name="Group 23"/>
          <p:cNvGrpSpPr/>
          <p:nvPr/>
        </p:nvGrpSpPr>
        <p:grpSpPr>
          <a:xfrm>
            <a:off x="3467841" y="7255358"/>
            <a:ext cx="390677" cy="390677"/>
            <a:chOff x="0" y="0"/>
            <a:chExt cx="520903" cy="520903"/>
          </a:xfrm>
        </p:grpSpPr>
        <p:sp>
          <p:nvSpPr>
            <p:cNvPr id="24" name="Freeform 24"/>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sp>
        <p:nvSpPr>
          <p:cNvPr id="25" name="AutoShape 25"/>
          <p:cNvSpPr/>
          <p:nvPr/>
        </p:nvSpPr>
        <p:spPr>
          <a:xfrm flipV="1">
            <a:off x="2808666" y="6650733"/>
            <a:ext cx="861249" cy="861249"/>
          </a:xfrm>
          <a:prstGeom prst="line">
            <a:avLst/>
          </a:prstGeom>
          <a:ln w="19050" cap="rnd">
            <a:solidFill>
              <a:srgbClr val="7F7F7F"/>
            </a:solidFill>
            <a:prstDash val="solid"/>
            <a:headEnd type="none" w="sm" len="sm"/>
            <a:tailEnd type="none" w="sm" len="sm"/>
          </a:ln>
        </p:spPr>
        <p:txBody>
          <a:bodyPr/>
          <a:lstStyle/>
          <a:p>
            <a:endParaRPr lang="en-US"/>
          </a:p>
        </p:txBody>
      </p:sp>
      <p:grpSp>
        <p:nvGrpSpPr>
          <p:cNvPr id="26" name="Group 26"/>
          <p:cNvGrpSpPr/>
          <p:nvPr/>
        </p:nvGrpSpPr>
        <p:grpSpPr>
          <a:xfrm>
            <a:off x="3139248" y="6911505"/>
            <a:ext cx="256489" cy="256489"/>
            <a:chOff x="0" y="0"/>
            <a:chExt cx="341986" cy="341986"/>
          </a:xfrm>
        </p:grpSpPr>
        <p:sp>
          <p:nvSpPr>
            <p:cNvPr id="27" name="Freeform 27"/>
            <p:cNvSpPr/>
            <p:nvPr/>
          </p:nvSpPr>
          <p:spPr>
            <a:xfrm>
              <a:off x="0" y="0"/>
              <a:ext cx="342011" cy="342011"/>
            </a:xfrm>
            <a:custGeom>
              <a:avLst/>
              <a:gdLst/>
              <a:ahLst/>
              <a:cxnLst/>
              <a:rect l="l" t="t" r="r" b="b"/>
              <a:pathLst>
                <a:path w="342011" h="342011">
                  <a:moveTo>
                    <a:pt x="0" y="109728"/>
                  </a:moveTo>
                  <a:cubicBezTo>
                    <a:pt x="0" y="49149"/>
                    <a:pt x="49149" y="0"/>
                    <a:pt x="109728" y="0"/>
                  </a:cubicBezTo>
                  <a:lnTo>
                    <a:pt x="232283" y="0"/>
                  </a:lnTo>
                  <a:cubicBezTo>
                    <a:pt x="292862" y="0"/>
                    <a:pt x="342011" y="49149"/>
                    <a:pt x="342011" y="109728"/>
                  </a:cubicBezTo>
                  <a:lnTo>
                    <a:pt x="342011" y="232283"/>
                  </a:lnTo>
                  <a:cubicBezTo>
                    <a:pt x="342011" y="292862"/>
                    <a:pt x="292862" y="342011"/>
                    <a:pt x="232283" y="342011"/>
                  </a:cubicBezTo>
                  <a:lnTo>
                    <a:pt x="109728" y="342011"/>
                  </a:lnTo>
                  <a:cubicBezTo>
                    <a:pt x="49149" y="342011"/>
                    <a:pt x="0" y="292862"/>
                    <a:pt x="0" y="232283"/>
                  </a:cubicBezTo>
                  <a:close/>
                </a:path>
              </a:pathLst>
            </a:custGeom>
            <a:solidFill>
              <a:srgbClr val="DB3038"/>
            </a:solidFill>
          </p:spPr>
          <p:txBody>
            <a:bodyPr/>
            <a:lstStyle/>
            <a:p>
              <a:endParaRPr lang="en-US"/>
            </a:p>
          </p:txBody>
        </p:sp>
      </p:grpSp>
      <p:sp>
        <p:nvSpPr>
          <p:cNvPr id="28" name="AutoShape 28"/>
          <p:cNvSpPr/>
          <p:nvPr/>
        </p:nvSpPr>
        <p:spPr>
          <a:xfrm flipV="1">
            <a:off x="3346019" y="5866771"/>
            <a:ext cx="679291" cy="1051431"/>
          </a:xfrm>
          <a:prstGeom prst="line">
            <a:avLst/>
          </a:prstGeom>
          <a:ln w="19050" cap="rnd">
            <a:solidFill>
              <a:srgbClr val="7F7F7F"/>
            </a:solidFill>
            <a:prstDash val="solid"/>
            <a:headEnd type="none" w="sm" len="sm"/>
            <a:tailEnd type="none" w="sm" len="sm"/>
          </a:ln>
        </p:spPr>
        <p:txBody>
          <a:bodyPr/>
          <a:lstStyle/>
          <a:p>
            <a:endParaRPr lang="en-US"/>
          </a:p>
        </p:txBody>
      </p:sp>
      <p:grpSp>
        <p:nvGrpSpPr>
          <p:cNvPr id="29" name="Group 29"/>
          <p:cNvGrpSpPr/>
          <p:nvPr/>
        </p:nvGrpSpPr>
        <p:grpSpPr>
          <a:xfrm>
            <a:off x="3467841" y="6455394"/>
            <a:ext cx="390677" cy="390677"/>
            <a:chOff x="0" y="0"/>
            <a:chExt cx="520903" cy="520903"/>
          </a:xfrm>
        </p:grpSpPr>
        <p:sp>
          <p:nvSpPr>
            <p:cNvPr id="30" name="Freeform 30"/>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31" name="Group 31"/>
          <p:cNvGrpSpPr/>
          <p:nvPr/>
        </p:nvGrpSpPr>
        <p:grpSpPr>
          <a:xfrm>
            <a:off x="2658598" y="7215111"/>
            <a:ext cx="390677" cy="390677"/>
            <a:chOff x="0" y="0"/>
            <a:chExt cx="520903" cy="520903"/>
          </a:xfrm>
        </p:grpSpPr>
        <p:sp>
          <p:nvSpPr>
            <p:cNvPr id="32" name="Freeform 32"/>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35" name="Group 35"/>
          <p:cNvGrpSpPr/>
          <p:nvPr/>
        </p:nvGrpSpPr>
        <p:grpSpPr>
          <a:xfrm>
            <a:off x="3669915" y="4436745"/>
            <a:ext cx="1554354" cy="1554354"/>
            <a:chOff x="0" y="0"/>
            <a:chExt cx="1690370" cy="1690370"/>
          </a:xfrm>
        </p:grpSpPr>
        <p:sp>
          <p:nvSpPr>
            <p:cNvPr id="36" name="Freeform 36"/>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2E7D32"/>
              </a:solidFill>
              <a:prstDash val="solid"/>
              <a:miter/>
            </a:ln>
          </p:spPr>
          <p:txBody>
            <a:bodyPr/>
            <a:lstStyle/>
            <a:p>
              <a:endParaRPr lang="en-US"/>
            </a:p>
          </p:txBody>
        </p:sp>
      </p:grpSp>
      <p:sp>
        <p:nvSpPr>
          <p:cNvPr id="37" name="AutoShape 37"/>
          <p:cNvSpPr/>
          <p:nvPr/>
        </p:nvSpPr>
        <p:spPr>
          <a:xfrm>
            <a:off x="1679196" y="6773005"/>
            <a:ext cx="1460052" cy="245207"/>
          </a:xfrm>
          <a:prstGeom prst="line">
            <a:avLst/>
          </a:prstGeom>
          <a:ln w="19050" cap="rnd">
            <a:solidFill>
              <a:srgbClr val="7F7F7F"/>
            </a:solidFill>
            <a:prstDash val="solid"/>
            <a:headEnd type="none" w="sm" len="sm"/>
            <a:tailEnd type="none" w="sm" len="sm"/>
          </a:ln>
        </p:spPr>
        <p:txBody>
          <a:bodyPr/>
          <a:lstStyle/>
          <a:p>
            <a:endParaRPr lang="en-US"/>
          </a:p>
        </p:txBody>
      </p:sp>
      <p:grpSp>
        <p:nvGrpSpPr>
          <p:cNvPr id="38" name="Group 38"/>
          <p:cNvGrpSpPr/>
          <p:nvPr/>
        </p:nvGrpSpPr>
        <p:grpSpPr>
          <a:xfrm>
            <a:off x="9639300" y="2390146"/>
            <a:ext cx="7620000" cy="6953250"/>
            <a:chOff x="0" y="0"/>
            <a:chExt cx="10160000" cy="9271000"/>
          </a:xfrm>
        </p:grpSpPr>
        <p:sp>
          <p:nvSpPr>
            <p:cNvPr id="39" name="Freeform 39"/>
            <p:cNvSpPr/>
            <p:nvPr/>
          </p:nvSpPr>
          <p:spPr>
            <a:xfrm>
              <a:off x="0" y="0"/>
              <a:ext cx="10160000" cy="9271000"/>
            </a:xfrm>
            <a:custGeom>
              <a:avLst/>
              <a:gdLst/>
              <a:ahLst/>
              <a:cxnLst/>
              <a:rect l="l" t="t" r="r" b="b"/>
              <a:pathLst>
                <a:path w="10160000" h="9271000">
                  <a:moveTo>
                    <a:pt x="203200" y="0"/>
                  </a:moveTo>
                  <a:lnTo>
                    <a:pt x="9956800" y="0"/>
                  </a:lnTo>
                  <a:cubicBezTo>
                    <a:pt x="10069024" y="0"/>
                    <a:pt x="10160000" y="90976"/>
                    <a:pt x="10160000" y="203200"/>
                  </a:cubicBezTo>
                  <a:lnTo>
                    <a:pt x="10160000" y="9067800"/>
                  </a:lnTo>
                  <a:cubicBezTo>
                    <a:pt x="10160000" y="9180024"/>
                    <a:pt x="10069024" y="9271000"/>
                    <a:pt x="9956800" y="9271000"/>
                  </a:cubicBezTo>
                  <a:lnTo>
                    <a:pt x="203200" y="9271000"/>
                  </a:lnTo>
                  <a:cubicBezTo>
                    <a:pt x="90976" y="9271000"/>
                    <a:pt x="0" y="9180024"/>
                    <a:pt x="0" y="9067800"/>
                  </a:cubicBezTo>
                  <a:lnTo>
                    <a:pt x="0" y="203200"/>
                  </a:lnTo>
                  <a:cubicBezTo>
                    <a:pt x="0" y="90976"/>
                    <a:pt x="90976" y="0"/>
                    <a:pt x="203200" y="0"/>
                  </a:cubicBezTo>
                  <a:close/>
                </a:path>
              </a:pathLst>
            </a:custGeom>
            <a:solidFill>
              <a:srgbClr val="F2F2F2"/>
            </a:solidFill>
          </p:spPr>
          <p:txBody>
            <a:bodyPr/>
            <a:lstStyle/>
            <a:p>
              <a:endParaRPr lang="en-US"/>
            </a:p>
          </p:txBody>
        </p:sp>
        <p:sp>
          <p:nvSpPr>
            <p:cNvPr id="40" name="TextBox 40"/>
            <p:cNvSpPr txBox="1"/>
            <p:nvPr/>
          </p:nvSpPr>
          <p:spPr>
            <a:xfrm>
              <a:off x="0" y="-38100"/>
              <a:ext cx="10160000" cy="9309100"/>
            </a:xfrm>
            <a:prstGeom prst="rect">
              <a:avLst/>
            </a:prstGeom>
          </p:spPr>
          <p:txBody>
            <a:bodyPr lIns="50800" tIns="50800" rIns="50800" bIns="50800" rtlCol="0" anchor="ctr"/>
            <a:lstStyle/>
            <a:p>
              <a:pPr algn="l">
                <a:lnSpc>
                  <a:spcPts val="1679"/>
                </a:lnSpc>
              </a:pPr>
              <a:endParaRPr/>
            </a:p>
          </p:txBody>
        </p:sp>
      </p:grpSp>
      <p:grpSp>
        <p:nvGrpSpPr>
          <p:cNvPr id="41" name="Group 41"/>
          <p:cNvGrpSpPr/>
          <p:nvPr/>
        </p:nvGrpSpPr>
        <p:grpSpPr>
          <a:xfrm>
            <a:off x="9639300" y="1409385"/>
            <a:ext cx="7620000" cy="695325"/>
            <a:chOff x="0" y="0"/>
            <a:chExt cx="10160000" cy="927100"/>
          </a:xfrm>
        </p:grpSpPr>
        <p:sp>
          <p:nvSpPr>
            <p:cNvPr id="42" name="Freeform 42"/>
            <p:cNvSpPr/>
            <p:nvPr/>
          </p:nvSpPr>
          <p:spPr>
            <a:xfrm>
              <a:off x="0" y="0"/>
              <a:ext cx="10160000" cy="927100"/>
            </a:xfrm>
            <a:custGeom>
              <a:avLst/>
              <a:gdLst/>
              <a:ahLst/>
              <a:cxnLst/>
              <a:rect l="l" t="t" r="r" b="b"/>
              <a:pathLst>
                <a:path w="10160000" h="927100">
                  <a:moveTo>
                    <a:pt x="0" y="0"/>
                  </a:moveTo>
                  <a:lnTo>
                    <a:pt x="10160000" y="0"/>
                  </a:lnTo>
                  <a:lnTo>
                    <a:pt x="10160000" y="927100"/>
                  </a:lnTo>
                  <a:lnTo>
                    <a:pt x="0" y="927100"/>
                  </a:lnTo>
                  <a:close/>
                </a:path>
              </a:pathLst>
            </a:custGeom>
            <a:solidFill>
              <a:srgbClr val="F2F2F2"/>
            </a:solidFill>
          </p:spPr>
          <p:txBody>
            <a:bodyPr/>
            <a:lstStyle/>
            <a:p>
              <a:endParaRPr lang="en-US"/>
            </a:p>
          </p:txBody>
        </p:sp>
        <p:sp>
          <p:nvSpPr>
            <p:cNvPr id="43" name="TextBox 43"/>
            <p:cNvSpPr txBox="1"/>
            <p:nvPr/>
          </p:nvSpPr>
          <p:spPr>
            <a:xfrm>
              <a:off x="0" y="-38100"/>
              <a:ext cx="10160000" cy="965200"/>
            </a:xfrm>
            <a:prstGeom prst="rect">
              <a:avLst/>
            </a:prstGeom>
          </p:spPr>
          <p:txBody>
            <a:bodyPr lIns="50800" tIns="50800" rIns="50800" bIns="50800" rtlCol="0" anchor="ctr"/>
            <a:lstStyle/>
            <a:p>
              <a:pPr algn="l">
                <a:lnSpc>
                  <a:spcPts val="1679"/>
                </a:lnSpc>
              </a:pPr>
              <a:endParaRPr/>
            </a:p>
          </p:txBody>
        </p:sp>
      </p:grpSp>
      <p:sp>
        <p:nvSpPr>
          <p:cNvPr id="44" name="Freeform 44"/>
          <p:cNvSpPr/>
          <p:nvPr/>
        </p:nvSpPr>
        <p:spPr>
          <a:xfrm>
            <a:off x="9849517" y="3605423"/>
            <a:ext cx="7691231" cy="5633827"/>
          </a:xfrm>
          <a:custGeom>
            <a:avLst/>
            <a:gdLst/>
            <a:ahLst/>
            <a:cxnLst/>
            <a:rect l="l" t="t" r="r" b="b"/>
            <a:pathLst>
              <a:path w="7691231" h="5633827">
                <a:moveTo>
                  <a:pt x="0" y="0"/>
                </a:moveTo>
                <a:lnTo>
                  <a:pt x="7691231" y="0"/>
                </a:lnTo>
                <a:lnTo>
                  <a:pt x="7691231" y="5633827"/>
                </a:lnTo>
                <a:lnTo>
                  <a:pt x="0" y="5633827"/>
                </a:lnTo>
                <a:lnTo>
                  <a:pt x="0" y="0"/>
                </a:lnTo>
                <a:close/>
              </a:path>
            </a:pathLst>
          </a:custGeom>
          <a:blipFill>
            <a:blip r:embed="rId3"/>
            <a:stretch>
              <a:fillRect/>
            </a:stretch>
          </a:blipFill>
        </p:spPr>
        <p:txBody>
          <a:bodyPr/>
          <a:lstStyle/>
          <a:p>
            <a:endParaRPr lang="en-US"/>
          </a:p>
        </p:txBody>
      </p:sp>
      <p:sp>
        <p:nvSpPr>
          <p:cNvPr id="45" name="TextBox 45"/>
          <p:cNvSpPr txBox="1"/>
          <p:nvPr/>
        </p:nvSpPr>
        <p:spPr>
          <a:xfrm>
            <a:off x="266700" y="0"/>
            <a:ext cx="721370" cy="764540"/>
          </a:xfrm>
          <a:prstGeom prst="rect">
            <a:avLst/>
          </a:prstGeom>
        </p:spPr>
        <p:txBody>
          <a:bodyPr lIns="0" tIns="0" rIns="0" bIns="0" rtlCol="0" anchor="t">
            <a:spAutoFit/>
          </a:bodyPr>
          <a:lstStyle/>
          <a:p>
            <a:pPr algn="l">
              <a:lnSpc>
                <a:spcPts val="6160"/>
              </a:lnSpc>
            </a:pPr>
            <a:r>
              <a:rPr lang="en-US" sz="4400" b="1">
                <a:solidFill>
                  <a:srgbClr val="FFFFFF"/>
                </a:solidFill>
                <a:latin typeface="Bai Jamjuree Bold"/>
                <a:ea typeface="Bai Jamjuree Bold"/>
                <a:cs typeface="Bai Jamjuree Bold"/>
                <a:sym typeface="Bai Jamjuree Bold"/>
              </a:rPr>
              <a:t>03</a:t>
            </a:r>
          </a:p>
        </p:txBody>
      </p:sp>
      <p:sp>
        <p:nvSpPr>
          <p:cNvPr id="46" name="TextBox 46"/>
          <p:cNvSpPr txBox="1"/>
          <p:nvPr/>
        </p:nvSpPr>
        <p:spPr>
          <a:xfrm>
            <a:off x="1809750" y="158114"/>
            <a:ext cx="5179933" cy="641986"/>
          </a:xfrm>
          <a:prstGeom prst="rect">
            <a:avLst/>
          </a:prstGeom>
        </p:spPr>
        <p:txBody>
          <a:bodyPr lIns="0" tIns="0" rIns="0" bIns="0" rtlCol="0" anchor="t">
            <a:spAutoFit/>
          </a:bodyPr>
          <a:lstStyle/>
          <a:p>
            <a:pPr algn="l">
              <a:lnSpc>
                <a:spcPts val="5039"/>
              </a:lnSpc>
            </a:pPr>
            <a:r>
              <a:rPr lang="en-US" sz="3599" b="1">
                <a:solidFill>
                  <a:srgbClr val="FFFFFF"/>
                </a:solidFill>
                <a:latin typeface="Arial Bold"/>
                <a:ea typeface="Arial Bold"/>
                <a:cs typeface="Arial Bold"/>
                <a:sym typeface="Arial Bold"/>
              </a:rPr>
              <a:t>THIẾT KẾ THUẬT TOÁN</a:t>
            </a:r>
          </a:p>
        </p:txBody>
      </p:sp>
      <p:sp>
        <p:nvSpPr>
          <p:cNvPr id="47" name="TextBox 47"/>
          <p:cNvSpPr txBox="1"/>
          <p:nvPr/>
        </p:nvSpPr>
        <p:spPr>
          <a:xfrm>
            <a:off x="988070" y="1532890"/>
            <a:ext cx="5838825" cy="382270"/>
          </a:xfrm>
          <a:prstGeom prst="rect">
            <a:avLst/>
          </a:prstGeom>
        </p:spPr>
        <p:txBody>
          <a:bodyPr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IMPROVED ARTIFICIAL POTENTIAL FIELD</a:t>
            </a:r>
          </a:p>
        </p:txBody>
      </p:sp>
      <p:sp>
        <p:nvSpPr>
          <p:cNvPr id="48" name="TextBox 48"/>
          <p:cNvSpPr txBox="1"/>
          <p:nvPr/>
        </p:nvSpPr>
        <p:spPr>
          <a:xfrm>
            <a:off x="1123949" y="2466975"/>
            <a:ext cx="3101457" cy="365869"/>
          </a:xfrm>
          <a:prstGeom prst="rect">
            <a:avLst/>
          </a:prstGeom>
        </p:spPr>
        <p:txBody>
          <a:bodyPr wrap="square"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Mục đích của I-APF</a:t>
            </a:r>
          </a:p>
        </p:txBody>
      </p:sp>
      <p:sp>
        <p:nvSpPr>
          <p:cNvPr id="49" name="TextBox 49"/>
          <p:cNvSpPr txBox="1"/>
          <p:nvPr/>
        </p:nvSpPr>
        <p:spPr>
          <a:xfrm>
            <a:off x="1123950" y="2886075"/>
            <a:ext cx="7010400" cy="531495"/>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Kết hợp lực hút đến target và lực đẩy khỏi vật cản</a:t>
            </a:r>
          </a:p>
          <a:p>
            <a:pPr algn="l">
              <a:lnSpc>
                <a:spcPts val="2159"/>
              </a:lnSpc>
            </a:pPr>
            <a:r>
              <a:rPr lang="en-US" sz="1599">
                <a:solidFill>
                  <a:srgbClr val="404040"/>
                </a:solidFill>
                <a:latin typeface="Bai Jamjuree"/>
                <a:ea typeface="Bai Jamjuree"/>
                <a:cs typeface="Bai Jamjuree"/>
                <a:sym typeface="Bai Jamjuree"/>
              </a:rPr>
              <a:t>để tạo một hướng bay an toàn, liên tục trong không gian 3D.</a:t>
            </a:r>
          </a:p>
        </p:txBody>
      </p:sp>
      <p:sp>
        <p:nvSpPr>
          <p:cNvPr id="50" name="TextBox 50"/>
          <p:cNvSpPr txBox="1"/>
          <p:nvPr/>
        </p:nvSpPr>
        <p:spPr>
          <a:xfrm>
            <a:off x="6505575" y="4177456"/>
            <a:ext cx="9144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TARGET</a:t>
            </a:r>
          </a:p>
        </p:txBody>
      </p:sp>
      <p:sp>
        <p:nvSpPr>
          <p:cNvPr id="51" name="TextBox 51"/>
          <p:cNvSpPr txBox="1"/>
          <p:nvPr/>
        </p:nvSpPr>
        <p:spPr>
          <a:xfrm>
            <a:off x="6229350" y="6928993"/>
            <a:ext cx="1905000" cy="239900"/>
          </a:xfrm>
          <a:prstGeom prst="rect">
            <a:avLst/>
          </a:prstGeom>
        </p:spPr>
        <p:txBody>
          <a:bodyPr lIns="0" tIns="0" rIns="0" bIns="0" rtlCol="0" anchor="t">
            <a:spAutoFit/>
          </a:bodyPr>
          <a:lstStyle/>
          <a:p>
            <a:pPr algn="ctr">
              <a:lnSpc>
                <a:spcPts val="2002"/>
              </a:lnSpc>
            </a:pPr>
            <a:r>
              <a:rPr lang="en-US" sz="1430" b="1">
                <a:solidFill>
                  <a:srgbClr val="262626"/>
                </a:solidFill>
                <a:latin typeface="Bai Jamjuree Bold"/>
                <a:ea typeface="Bai Jamjuree Bold"/>
                <a:cs typeface="Bai Jamjuree Bold"/>
                <a:sym typeface="Bai Jamjuree Bold"/>
              </a:rPr>
              <a:t>Hướng bay tổng hợp</a:t>
            </a:r>
          </a:p>
        </p:txBody>
      </p:sp>
      <p:sp>
        <p:nvSpPr>
          <p:cNvPr id="52" name="TextBox 52"/>
          <p:cNvSpPr txBox="1"/>
          <p:nvPr/>
        </p:nvSpPr>
        <p:spPr>
          <a:xfrm>
            <a:off x="3710880" y="4105275"/>
            <a:ext cx="1524000" cy="240665"/>
          </a:xfrm>
          <a:prstGeom prst="rect">
            <a:avLst/>
          </a:prstGeom>
        </p:spPr>
        <p:txBody>
          <a:bodyPr lIns="0" tIns="0" rIns="0" bIns="0" rtlCol="0" anchor="t">
            <a:spAutoFit/>
          </a:bodyPr>
          <a:lstStyle/>
          <a:p>
            <a:pPr algn="ctr">
              <a:lnSpc>
                <a:spcPts val="1960"/>
              </a:lnSpc>
            </a:pPr>
            <a:r>
              <a:rPr lang="en-US" sz="1400" b="1">
                <a:solidFill>
                  <a:srgbClr val="2E7D32"/>
                </a:solidFill>
                <a:latin typeface="Bai Jamjuree Bold"/>
                <a:ea typeface="Bai Jamjuree Bold"/>
                <a:cs typeface="Bai Jamjuree Bold"/>
                <a:sym typeface="Bai Jamjuree Bold"/>
              </a:rPr>
              <a:t>Vật cản</a:t>
            </a:r>
          </a:p>
        </p:txBody>
      </p:sp>
      <p:sp>
        <p:nvSpPr>
          <p:cNvPr id="53" name="TextBox 53"/>
          <p:cNvSpPr txBox="1"/>
          <p:nvPr/>
        </p:nvSpPr>
        <p:spPr>
          <a:xfrm>
            <a:off x="857250" y="5955030"/>
            <a:ext cx="1524000" cy="240665"/>
          </a:xfrm>
          <a:prstGeom prst="rect">
            <a:avLst/>
          </a:prstGeom>
        </p:spPr>
        <p:txBody>
          <a:bodyPr lIns="0" tIns="0" rIns="0" bIns="0" rtlCol="0" anchor="t">
            <a:spAutoFit/>
          </a:bodyPr>
          <a:lstStyle/>
          <a:p>
            <a:pPr algn="ctr">
              <a:lnSpc>
                <a:spcPts val="1960"/>
              </a:lnSpc>
            </a:pPr>
            <a:r>
              <a:rPr lang="en-US" sz="1400" b="1">
                <a:solidFill>
                  <a:srgbClr val="2E7D32"/>
                </a:solidFill>
                <a:latin typeface="Bai Jamjuree Bold"/>
                <a:ea typeface="Bai Jamjuree Bold"/>
                <a:cs typeface="Bai Jamjuree Bold"/>
                <a:sym typeface="Bai Jamjuree Bold"/>
              </a:rPr>
              <a:t>Vật cản</a:t>
            </a:r>
          </a:p>
        </p:txBody>
      </p:sp>
      <p:sp>
        <p:nvSpPr>
          <p:cNvPr id="54" name="TextBox 54"/>
          <p:cNvSpPr txBox="1"/>
          <p:nvPr/>
        </p:nvSpPr>
        <p:spPr>
          <a:xfrm>
            <a:off x="3700269" y="7309341"/>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đẩy</a:t>
            </a:r>
          </a:p>
        </p:txBody>
      </p:sp>
      <p:sp>
        <p:nvSpPr>
          <p:cNvPr id="55" name="TextBox 55"/>
          <p:cNvSpPr txBox="1"/>
          <p:nvPr/>
        </p:nvSpPr>
        <p:spPr>
          <a:xfrm>
            <a:off x="9849517" y="1542100"/>
            <a:ext cx="5838825" cy="382270"/>
          </a:xfrm>
          <a:prstGeom prst="rect">
            <a:avLst/>
          </a:prstGeom>
        </p:spPr>
        <p:txBody>
          <a:bodyPr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THUẬT TOÁN HẠ CÁNH</a:t>
            </a:r>
          </a:p>
        </p:txBody>
      </p:sp>
      <p:sp>
        <p:nvSpPr>
          <p:cNvPr id="56" name="TextBox 56"/>
          <p:cNvSpPr txBox="1"/>
          <p:nvPr/>
        </p:nvSpPr>
        <p:spPr>
          <a:xfrm>
            <a:off x="9878092" y="2466975"/>
            <a:ext cx="3609308" cy="365869"/>
          </a:xfrm>
          <a:prstGeom prst="rect">
            <a:avLst/>
          </a:prstGeom>
        </p:spPr>
        <p:txBody>
          <a:bodyPr wrap="square"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Ý tưởng của thuật toán</a:t>
            </a:r>
          </a:p>
        </p:txBody>
      </p:sp>
      <p:sp>
        <p:nvSpPr>
          <p:cNvPr id="57" name="TextBox 57"/>
          <p:cNvSpPr txBox="1"/>
          <p:nvPr/>
        </p:nvSpPr>
        <p:spPr>
          <a:xfrm>
            <a:off x="9878092" y="2886075"/>
            <a:ext cx="7010400" cy="542969"/>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Thuật toán dùng điều khiển trượt SMC để UAV hạ cánh mềm lên bãi đáp với góc tiếp cận định trước. </a:t>
            </a:r>
          </a:p>
        </p:txBody>
      </p:sp>
      <p:grpSp>
        <p:nvGrpSpPr>
          <p:cNvPr id="58" name="Group 58"/>
          <p:cNvGrpSpPr/>
          <p:nvPr/>
        </p:nvGrpSpPr>
        <p:grpSpPr>
          <a:xfrm>
            <a:off x="15367635" y="7668578"/>
            <a:ext cx="569595" cy="296228"/>
            <a:chOff x="0" y="0"/>
            <a:chExt cx="759460" cy="394970"/>
          </a:xfrm>
        </p:grpSpPr>
        <p:sp>
          <p:nvSpPr>
            <p:cNvPr id="59" name="Freeform 59"/>
            <p:cNvSpPr/>
            <p:nvPr/>
          </p:nvSpPr>
          <p:spPr>
            <a:xfrm>
              <a:off x="50800" y="44757"/>
              <a:ext cx="656678" cy="301671"/>
            </a:xfrm>
            <a:custGeom>
              <a:avLst/>
              <a:gdLst/>
              <a:ahLst/>
              <a:cxnLst/>
              <a:rect l="l" t="t" r="r" b="b"/>
              <a:pathLst>
                <a:path w="656678" h="301671">
                  <a:moveTo>
                    <a:pt x="0" y="177493"/>
                  </a:moveTo>
                  <a:cubicBezTo>
                    <a:pt x="15240" y="65733"/>
                    <a:pt x="45720" y="44143"/>
                    <a:pt x="72390" y="30173"/>
                  </a:cubicBezTo>
                  <a:cubicBezTo>
                    <a:pt x="99060" y="17473"/>
                    <a:pt x="134620" y="14933"/>
                    <a:pt x="165100" y="12393"/>
                  </a:cubicBezTo>
                  <a:cubicBezTo>
                    <a:pt x="191770" y="9853"/>
                    <a:pt x="218440" y="12393"/>
                    <a:pt x="243840" y="13663"/>
                  </a:cubicBezTo>
                  <a:cubicBezTo>
                    <a:pt x="270510" y="13663"/>
                    <a:pt x="295910" y="13663"/>
                    <a:pt x="321310" y="14933"/>
                  </a:cubicBezTo>
                  <a:cubicBezTo>
                    <a:pt x="346710" y="14933"/>
                    <a:pt x="374650" y="14933"/>
                    <a:pt x="397510" y="17473"/>
                  </a:cubicBezTo>
                  <a:cubicBezTo>
                    <a:pt x="415290" y="18743"/>
                    <a:pt x="429260" y="25093"/>
                    <a:pt x="444500" y="25093"/>
                  </a:cubicBezTo>
                  <a:cubicBezTo>
                    <a:pt x="461010" y="23823"/>
                    <a:pt x="472440" y="16203"/>
                    <a:pt x="491490" y="13663"/>
                  </a:cubicBezTo>
                  <a:cubicBezTo>
                    <a:pt x="520700" y="8583"/>
                    <a:pt x="581660" y="-9197"/>
                    <a:pt x="609600" y="6043"/>
                  </a:cubicBezTo>
                  <a:cubicBezTo>
                    <a:pt x="636270" y="22553"/>
                    <a:pt x="654050" y="74623"/>
                    <a:pt x="656590" y="105103"/>
                  </a:cubicBezTo>
                  <a:cubicBezTo>
                    <a:pt x="657860" y="130503"/>
                    <a:pt x="645160" y="157173"/>
                    <a:pt x="632460" y="178763"/>
                  </a:cubicBezTo>
                  <a:cubicBezTo>
                    <a:pt x="619760" y="200353"/>
                    <a:pt x="601980" y="220673"/>
                    <a:pt x="581660" y="237183"/>
                  </a:cubicBezTo>
                  <a:cubicBezTo>
                    <a:pt x="560070" y="254963"/>
                    <a:pt x="529590" y="272743"/>
                    <a:pt x="502920" y="282903"/>
                  </a:cubicBezTo>
                  <a:cubicBezTo>
                    <a:pt x="477520" y="291793"/>
                    <a:pt x="452120" y="295603"/>
                    <a:pt x="425450" y="298143"/>
                  </a:cubicBezTo>
                  <a:cubicBezTo>
                    <a:pt x="400050" y="300683"/>
                    <a:pt x="372110" y="298143"/>
                    <a:pt x="345440" y="299413"/>
                  </a:cubicBezTo>
                  <a:cubicBezTo>
                    <a:pt x="320040" y="299413"/>
                    <a:pt x="294640" y="304493"/>
                    <a:pt x="269240" y="299413"/>
                  </a:cubicBezTo>
                  <a:cubicBezTo>
                    <a:pt x="242570" y="294333"/>
                    <a:pt x="199390" y="277823"/>
                    <a:pt x="190500" y="266393"/>
                  </a:cubicBezTo>
                  <a:cubicBezTo>
                    <a:pt x="185420" y="261313"/>
                    <a:pt x="190500" y="253693"/>
                    <a:pt x="186690" y="251153"/>
                  </a:cubicBezTo>
                  <a:cubicBezTo>
                    <a:pt x="182880" y="247343"/>
                    <a:pt x="175260" y="252423"/>
                    <a:pt x="166370" y="252423"/>
                  </a:cubicBezTo>
                  <a:cubicBezTo>
                    <a:pt x="148590" y="252423"/>
                    <a:pt x="113030" y="257503"/>
                    <a:pt x="87630" y="247343"/>
                  </a:cubicBezTo>
                  <a:cubicBezTo>
                    <a:pt x="57150" y="235913"/>
                    <a:pt x="0" y="177493"/>
                    <a:pt x="0" y="177493"/>
                  </a:cubicBezTo>
                </a:path>
              </a:pathLst>
            </a:custGeom>
            <a:solidFill>
              <a:srgbClr val="F2F2F2"/>
            </a:solidFill>
            <a:ln cap="sq">
              <a:noFill/>
              <a:prstDash val="solid"/>
              <a:miter/>
            </a:ln>
          </p:spPr>
          <p:txBody>
            <a:bodyPr/>
            <a:lstStyle/>
            <a:p>
              <a:endParaRPr lang="en-US"/>
            </a:p>
          </p:txBody>
        </p:sp>
      </p:grpSp>
      <p:sp>
        <p:nvSpPr>
          <p:cNvPr id="60" name="TextBox 60"/>
          <p:cNvSpPr txBox="1"/>
          <p:nvPr/>
        </p:nvSpPr>
        <p:spPr>
          <a:xfrm>
            <a:off x="15367635" y="7567689"/>
            <a:ext cx="795697" cy="249555"/>
          </a:xfrm>
          <a:prstGeom prst="rect">
            <a:avLst/>
          </a:prstGeom>
        </p:spPr>
        <p:txBody>
          <a:bodyPr lIns="0" tIns="0" rIns="0" bIns="0" rtlCol="0" anchor="t">
            <a:spAutoFit/>
          </a:bodyPr>
          <a:lstStyle/>
          <a:p>
            <a:pPr algn="l">
              <a:lnSpc>
                <a:spcPts val="1890"/>
              </a:lnSpc>
            </a:pPr>
            <a:r>
              <a:rPr lang="en-US" sz="1400">
                <a:solidFill>
                  <a:srgbClr val="404040"/>
                </a:solidFill>
                <a:latin typeface="Arial"/>
                <a:ea typeface="Arial"/>
                <a:cs typeface="Arial"/>
                <a:sym typeface="Arial"/>
              </a:rPr>
              <a:t>Hpad</a:t>
            </a:r>
          </a:p>
        </p:txBody>
      </p:sp>
      <p:grpSp>
        <p:nvGrpSpPr>
          <p:cNvPr id="61" name="Group 61"/>
          <p:cNvGrpSpPr/>
          <p:nvPr/>
        </p:nvGrpSpPr>
        <p:grpSpPr>
          <a:xfrm>
            <a:off x="0" y="0"/>
            <a:ext cx="18287543" cy="1124712"/>
            <a:chOff x="0" y="0"/>
            <a:chExt cx="24383390" cy="1499616"/>
          </a:xfrm>
        </p:grpSpPr>
        <p:sp>
          <p:nvSpPr>
            <p:cNvPr id="62" name="Freeform 62"/>
            <p:cNvSpPr/>
            <p:nvPr/>
          </p:nvSpPr>
          <p:spPr>
            <a:xfrm>
              <a:off x="0" y="0"/>
              <a:ext cx="24383364" cy="1499616"/>
            </a:xfrm>
            <a:custGeom>
              <a:avLst/>
              <a:gdLst/>
              <a:ahLst/>
              <a:cxnLst/>
              <a:rect l="l" t="t" r="r" b="b"/>
              <a:pathLst>
                <a:path w="24383364" h="1499616">
                  <a:moveTo>
                    <a:pt x="0" y="0"/>
                  </a:moveTo>
                  <a:lnTo>
                    <a:pt x="24383364" y="0"/>
                  </a:lnTo>
                  <a:lnTo>
                    <a:pt x="24383364" y="1499616"/>
                  </a:lnTo>
                  <a:lnTo>
                    <a:pt x="0" y="1499616"/>
                  </a:lnTo>
                  <a:close/>
                </a:path>
              </a:pathLst>
            </a:custGeom>
            <a:solidFill>
              <a:srgbClr val="F0F0F0"/>
            </a:solidFill>
          </p:spPr>
          <p:txBody>
            <a:bodyPr/>
            <a:lstStyle/>
            <a:p>
              <a:endParaRPr lang="en-US"/>
            </a:p>
          </p:txBody>
        </p:sp>
      </p:grpSp>
      <p:grpSp>
        <p:nvGrpSpPr>
          <p:cNvPr id="63" name="Group 63"/>
          <p:cNvGrpSpPr/>
          <p:nvPr/>
        </p:nvGrpSpPr>
        <p:grpSpPr>
          <a:xfrm>
            <a:off x="0" y="0"/>
            <a:ext cx="1645920" cy="1124712"/>
            <a:chOff x="0" y="0"/>
            <a:chExt cx="2194560" cy="1499616"/>
          </a:xfrm>
        </p:grpSpPr>
        <p:sp>
          <p:nvSpPr>
            <p:cNvPr id="64" name="Freeform 64"/>
            <p:cNvSpPr/>
            <p:nvPr/>
          </p:nvSpPr>
          <p:spPr>
            <a:xfrm>
              <a:off x="0" y="0"/>
              <a:ext cx="2194560" cy="1499616"/>
            </a:xfrm>
            <a:custGeom>
              <a:avLst/>
              <a:gdLst/>
              <a:ahLst/>
              <a:cxnLst/>
              <a:rect l="l" t="t" r="r" b="b"/>
              <a:pathLst>
                <a:path w="2194560" h="1499616">
                  <a:moveTo>
                    <a:pt x="0" y="0"/>
                  </a:moveTo>
                  <a:lnTo>
                    <a:pt x="2194560" y="0"/>
                  </a:lnTo>
                  <a:lnTo>
                    <a:pt x="2194560" y="1499616"/>
                  </a:lnTo>
                  <a:lnTo>
                    <a:pt x="0" y="1499616"/>
                  </a:lnTo>
                  <a:close/>
                </a:path>
              </a:pathLst>
            </a:custGeom>
            <a:solidFill>
              <a:srgbClr val="DC2D3A"/>
            </a:solidFill>
          </p:spPr>
          <p:txBody>
            <a:bodyPr/>
            <a:lstStyle/>
            <a:p>
              <a:endParaRPr lang="en-US"/>
            </a:p>
          </p:txBody>
        </p:sp>
      </p:grpSp>
      <p:grpSp>
        <p:nvGrpSpPr>
          <p:cNvPr id="65" name="Group 65"/>
          <p:cNvGrpSpPr/>
          <p:nvPr/>
        </p:nvGrpSpPr>
        <p:grpSpPr>
          <a:xfrm>
            <a:off x="1645920" y="0"/>
            <a:ext cx="7886700" cy="1124712"/>
            <a:chOff x="0" y="0"/>
            <a:chExt cx="10515600" cy="1499616"/>
          </a:xfrm>
        </p:grpSpPr>
        <p:sp>
          <p:nvSpPr>
            <p:cNvPr id="66" name="Freeform 66"/>
            <p:cNvSpPr/>
            <p:nvPr/>
          </p:nvSpPr>
          <p:spPr>
            <a:xfrm>
              <a:off x="0" y="0"/>
              <a:ext cx="10515600" cy="1499616"/>
            </a:xfrm>
            <a:custGeom>
              <a:avLst/>
              <a:gdLst/>
              <a:ahLst/>
              <a:cxnLst/>
              <a:rect l="l" t="t" r="r" b="b"/>
              <a:pathLst>
                <a:path w="10515600" h="1499616">
                  <a:moveTo>
                    <a:pt x="0" y="0"/>
                  </a:moveTo>
                  <a:lnTo>
                    <a:pt x="10515600" y="0"/>
                  </a:lnTo>
                  <a:lnTo>
                    <a:pt x="9509760" y="1499616"/>
                  </a:lnTo>
                  <a:lnTo>
                    <a:pt x="0" y="1499616"/>
                  </a:lnTo>
                  <a:close/>
                </a:path>
              </a:pathLst>
            </a:custGeom>
            <a:solidFill>
              <a:srgbClr val="595959"/>
            </a:solidFill>
          </p:spPr>
          <p:txBody>
            <a:bodyPr/>
            <a:lstStyle/>
            <a:p>
              <a:endParaRPr lang="en-US"/>
            </a:p>
          </p:txBody>
        </p:sp>
      </p:grpSp>
      <p:grpSp>
        <p:nvGrpSpPr>
          <p:cNvPr id="67" name="Group 67"/>
          <p:cNvGrpSpPr/>
          <p:nvPr/>
        </p:nvGrpSpPr>
        <p:grpSpPr>
          <a:xfrm>
            <a:off x="1988820" y="0"/>
            <a:ext cx="6858000" cy="1124712"/>
            <a:chOff x="0" y="0"/>
            <a:chExt cx="9144000" cy="1499616"/>
          </a:xfrm>
        </p:grpSpPr>
        <p:sp>
          <p:nvSpPr>
            <p:cNvPr id="68" name="Freeform 68"/>
            <p:cNvSpPr/>
            <p:nvPr/>
          </p:nvSpPr>
          <p:spPr>
            <a:xfrm>
              <a:off x="0" y="0"/>
              <a:ext cx="9144000" cy="1499616"/>
            </a:xfrm>
            <a:custGeom>
              <a:avLst/>
              <a:gdLst/>
              <a:ahLst/>
              <a:cxnLst/>
              <a:rect l="l" t="t" r="r" b="b"/>
              <a:pathLst>
                <a:path w="9144000" h="1499616">
                  <a:moveTo>
                    <a:pt x="0" y="0"/>
                  </a:moveTo>
                  <a:lnTo>
                    <a:pt x="9144000" y="0"/>
                  </a:lnTo>
                  <a:lnTo>
                    <a:pt x="9144000" y="1499616"/>
                  </a:lnTo>
                  <a:lnTo>
                    <a:pt x="0" y="1499616"/>
                  </a:lnTo>
                  <a:close/>
                </a:path>
              </a:pathLst>
            </a:custGeom>
            <a:blipFill>
              <a:blip r:embed="rId4">
                <a:alphaModFix amt="0"/>
              </a:blip>
              <a:stretch>
                <a:fillRect t="-68811" b="-68811"/>
              </a:stretch>
            </a:blipFill>
          </p:spPr>
          <p:txBody>
            <a:bodyPr/>
            <a:lstStyle/>
            <a:p>
              <a:endParaRPr lang="en-US"/>
            </a:p>
          </p:txBody>
        </p:sp>
        <p:sp>
          <p:nvSpPr>
            <p:cNvPr id="69" name="TextBox 69"/>
            <p:cNvSpPr txBox="1"/>
            <p:nvPr/>
          </p:nvSpPr>
          <p:spPr>
            <a:xfrm>
              <a:off x="0" y="-28575"/>
              <a:ext cx="9144000" cy="1528191"/>
            </a:xfrm>
            <a:prstGeom prst="rect">
              <a:avLst/>
            </a:prstGeom>
          </p:spPr>
          <p:txBody>
            <a:bodyPr lIns="0" tIns="0" rIns="0" bIns="0" rtlCol="0" anchor="ctr"/>
            <a:lstStyle/>
            <a:p>
              <a:pPr algn="l">
                <a:lnSpc>
                  <a:spcPts val="4319"/>
                </a:lnSpc>
              </a:pPr>
              <a:r>
                <a:rPr lang="en-US" sz="3599" b="1">
                  <a:solidFill>
                    <a:srgbClr val="FFFFFF"/>
                  </a:solidFill>
                  <a:latin typeface="Arial Bold"/>
                  <a:ea typeface="Arial Bold"/>
                  <a:cs typeface="Arial Bold"/>
                  <a:sym typeface="Arial Bold"/>
                </a:rPr>
                <a:t>THIẾT KẾ THUẬT TOÁN</a:t>
              </a:r>
            </a:p>
          </p:txBody>
        </p:sp>
      </p:grpSp>
      <p:grpSp>
        <p:nvGrpSpPr>
          <p:cNvPr id="70" name="Group 70"/>
          <p:cNvGrpSpPr/>
          <p:nvPr/>
        </p:nvGrpSpPr>
        <p:grpSpPr>
          <a:xfrm>
            <a:off x="0" y="0"/>
            <a:ext cx="1645920" cy="1110996"/>
            <a:chOff x="0" y="0"/>
            <a:chExt cx="2194560" cy="1481328"/>
          </a:xfrm>
        </p:grpSpPr>
        <p:sp>
          <p:nvSpPr>
            <p:cNvPr id="71" name="Freeform 71"/>
            <p:cNvSpPr/>
            <p:nvPr/>
          </p:nvSpPr>
          <p:spPr>
            <a:xfrm>
              <a:off x="0" y="0"/>
              <a:ext cx="2194560" cy="1481328"/>
            </a:xfrm>
            <a:custGeom>
              <a:avLst/>
              <a:gdLst/>
              <a:ahLst/>
              <a:cxnLst/>
              <a:rect l="l" t="t" r="r" b="b"/>
              <a:pathLst>
                <a:path w="2194560" h="1481328">
                  <a:moveTo>
                    <a:pt x="0" y="0"/>
                  </a:moveTo>
                  <a:lnTo>
                    <a:pt x="2194560" y="0"/>
                  </a:lnTo>
                  <a:lnTo>
                    <a:pt x="2194560" y="1481328"/>
                  </a:lnTo>
                  <a:lnTo>
                    <a:pt x="0" y="1481328"/>
                  </a:lnTo>
                  <a:close/>
                </a:path>
              </a:pathLst>
            </a:custGeom>
            <a:blipFill>
              <a:blip r:embed="rId4">
                <a:alphaModFix amt="0"/>
              </a:blip>
              <a:stretch>
                <a:fillRect l="-36604" r="-36604"/>
              </a:stretch>
            </a:blipFill>
          </p:spPr>
          <p:txBody>
            <a:bodyPr/>
            <a:lstStyle/>
            <a:p>
              <a:endParaRPr lang="en-US"/>
            </a:p>
          </p:txBody>
        </p:sp>
        <p:sp>
          <p:nvSpPr>
            <p:cNvPr id="72" name="TextBox 72"/>
            <p:cNvSpPr txBox="1"/>
            <p:nvPr/>
          </p:nvSpPr>
          <p:spPr>
            <a:xfrm>
              <a:off x="0" y="-28575"/>
              <a:ext cx="2194560" cy="1509903"/>
            </a:xfrm>
            <a:prstGeom prst="rect">
              <a:avLst/>
            </a:prstGeom>
          </p:spPr>
          <p:txBody>
            <a:bodyPr lIns="0" tIns="0" rIns="0" bIns="0" rtlCol="0" anchor="ctr"/>
            <a:lstStyle/>
            <a:p>
              <a:pPr algn="ctr">
                <a:lnSpc>
                  <a:spcPts val="5400"/>
                </a:lnSpc>
              </a:pPr>
              <a:r>
                <a:rPr lang="en-US" sz="4500" b="1">
                  <a:solidFill>
                    <a:srgbClr val="FFFFFF"/>
                  </a:solidFill>
                  <a:latin typeface="Arial Bold"/>
                  <a:ea typeface="Arial Bold"/>
                  <a:cs typeface="Arial Bold"/>
                  <a:sym typeface="Arial Bold"/>
                </a:rPr>
                <a:t>03</a:t>
              </a:r>
            </a:p>
          </p:txBody>
        </p:sp>
      </p:grpSp>
      <p:grpSp>
        <p:nvGrpSpPr>
          <p:cNvPr id="73" name="Group 73"/>
          <p:cNvGrpSpPr/>
          <p:nvPr/>
        </p:nvGrpSpPr>
        <p:grpSpPr>
          <a:xfrm>
            <a:off x="15715107" y="9456321"/>
            <a:ext cx="1988172" cy="688105"/>
            <a:chOff x="0" y="0"/>
            <a:chExt cx="2650896" cy="917473"/>
          </a:xfrm>
        </p:grpSpPr>
        <p:sp>
          <p:nvSpPr>
            <p:cNvPr id="74" name="Freeform 74"/>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5"/>
              <a:stretch>
                <a:fillRect l="-183" r="-185" b="-2"/>
              </a:stretch>
            </a:blipFill>
          </p:spPr>
          <p:txBody>
            <a:bodyPr/>
            <a:lstStyle/>
            <a:p>
              <a:endParaRPr lang="en-US"/>
            </a:p>
          </p:txBody>
        </p:sp>
      </p:grpSp>
      <p:grpSp>
        <p:nvGrpSpPr>
          <p:cNvPr id="75" name="Group 75"/>
          <p:cNvGrpSpPr/>
          <p:nvPr/>
        </p:nvGrpSpPr>
        <p:grpSpPr>
          <a:xfrm>
            <a:off x="17793" y="9791700"/>
            <a:ext cx="15704172" cy="67818"/>
            <a:chOff x="0" y="0"/>
            <a:chExt cx="20938896" cy="90424"/>
          </a:xfrm>
        </p:grpSpPr>
        <p:sp>
          <p:nvSpPr>
            <p:cNvPr id="76" name="Freeform 76"/>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grpSp>
        <p:nvGrpSpPr>
          <p:cNvPr id="33" name="Group 33"/>
          <p:cNvGrpSpPr/>
          <p:nvPr/>
        </p:nvGrpSpPr>
        <p:grpSpPr>
          <a:xfrm>
            <a:off x="1263666" y="6278131"/>
            <a:ext cx="831059" cy="831059"/>
            <a:chOff x="0" y="0"/>
            <a:chExt cx="1690370" cy="1690370"/>
          </a:xfrm>
        </p:grpSpPr>
        <p:sp>
          <p:nvSpPr>
            <p:cNvPr id="34" name="Freeform 34"/>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2E7D32"/>
              </a:solidFill>
              <a:prstDash val="solid"/>
              <a:miter/>
            </a:ln>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6" name="Group 6"/>
          <p:cNvGrpSpPr/>
          <p:nvPr/>
        </p:nvGrpSpPr>
        <p:grpSpPr>
          <a:xfrm>
            <a:off x="1799377" y="285950"/>
            <a:ext cx="7109765" cy="566976"/>
            <a:chOff x="0" y="0"/>
            <a:chExt cx="9479686" cy="755968"/>
          </a:xfrm>
        </p:grpSpPr>
        <p:sp>
          <p:nvSpPr>
            <p:cNvPr id="7" name="Freeform 7"/>
            <p:cNvSpPr/>
            <p:nvPr/>
          </p:nvSpPr>
          <p:spPr>
            <a:xfrm>
              <a:off x="0" y="0"/>
              <a:ext cx="9479687" cy="755971"/>
            </a:xfrm>
            <a:custGeom>
              <a:avLst/>
              <a:gdLst/>
              <a:ahLst/>
              <a:cxnLst/>
              <a:rect l="l" t="t" r="r" b="b"/>
              <a:pathLst>
                <a:path w="9479687" h="755971">
                  <a:moveTo>
                    <a:pt x="0" y="0"/>
                  </a:moveTo>
                  <a:lnTo>
                    <a:pt x="9479687" y="0"/>
                  </a:lnTo>
                  <a:lnTo>
                    <a:pt x="9479687" y="755971"/>
                  </a:lnTo>
                  <a:lnTo>
                    <a:pt x="0" y="755971"/>
                  </a:lnTo>
                  <a:close/>
                </a:path>
              </a:pathLst>
            </a:custGeom>
            <a:blipFill>
              <a:blip r:embed="rId3">
                <a:alphaModFix amt="0"/>
              </a:blip>
              <a:stretch>
                <a:fillRect t="-194337" b="-194337"/>
              </a:stretch>
            </a:blipFill>
          </p:spPr>
          <p:txBody>
            <a:bodyPr/>
            <a:lstStyle/>
            <a:p>
              <a:endParaRPr lang="en-US"/>
            </a:p>
          </p:txBody>
        </p:sp>
        <p:sp>
          <p:nvSpPr>
            <p:cNvPr id="8" name="TextBox 8"/>
            <p:cNvSpPr txBox="1"/>
            <p:nvPr/>
          </p:nvSpPr>
          <p:spPr>
            <a:xfrm>
              <a:off x="0" y="76200"/>
              <a:ext cx="9479686" cy="679768"/>
            </a:xfrm>
            <a:prstGeom prst="rect">
              <a:avLst/>
            </a:prstGeom>
          </p:spPr>
          <p:txBody>
            <a:bodyPr lIns="0" tIns="0" rIns="0" bIns="0" rtlCol="0" anchor="ctr"/>
            <a:lstStyle/>
            <a:p>
              <a:pPr algn="l">
                <a:lnSpc>
                  <a:spcPts val="2812"/>
                </a:lnSpc>
              </a:pPr>
              <a:r>
                <a:rPr lang="en-US" sz="3600" b="1">
                  <a:solidFill>
                    <a:srgbClr val="FFFFFF"/>
                  </a:solidFill>
                  <a:latin typeface="Calibri (MS) Bold"/>
                  <a:ea typeface="Calibri (MS) Bold"/>
                  <a:cs typeface="Calibri (MS) Bold"/>
                  <a:sym typeface="Calibri (MS) Bold"/>
                </a:rPr>
                <a:t>KIỂM CHỨNG</a:t>
              </a:r>
            </a:p>
          </p:txBody>
        </p:sp>
      </p:gr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1" name="Group 11"/>
          <p:cNvGrpSpPr/>
          <p:nvPr/>
        </p:nvGrpSpPr>
        <p:grpSpPr>
          <a:xfrm>
            <a:off x="457200" y="1402690"/>
            <a:ext cx="17439932" cy="692496"/>
            <a:chOff x="0" y="0"/>
            <a:chExt cx="23253243" cy="923328"/>
          </a:xfrm>
        </p:grpSpPr>
        <p:sp>
          <p:nvSpPr>
            <p:cNvPr id="12" name="Freeform 1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3" name="TextBox 1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BƯỚC 1 — KIỂM CHỨNG THUẬT TOÁN TRÊN MATLAB/SIMULINK</a:t>
              </a:r>
            </a:p>
          </p:txBody>
        </p:sp>
      </p:grpSp>
      <p:graphicFrame>
        <p:nvGraphicFramePr>
          <p:cNvPr id="14" name="Table 14"/>
          <p:cNvGraphicFramePr>
            <a:graphicFrameLocks noGrp="1"/>
          </p:cNvGraphicFramePr>
          <p:nvPr>
            <p:extLst>
              <p:ext uri="{D42A27DB-BD31-4B8C-83A1-F6EECF244321}">
                <p14:modId xmlns:p14="http://schemas.microsoft.com/office/powerpoint/2010/main" val="1066617388"/>
              </p:ext>
            </p:extLst>
          </p:nvPr>
        </p:nvGraphicFramePr>
        <p:xfrm>
          <a:off x="10660454" y="3004819"/>
          <a:ext cx="6848094" cy="6086760"/>
        </p:xfrm>
        <a:graphic>
          <a:graphicData uri="http://schemas.openxmlformats.org/drawingml/2006/table">
            <a:tbl>
              <a:tblPr/>
              <a:tblGrid>
                <a:gridCol w="4331612">
                  <a:extLst>
                    <a:ext uri="{9D8B030D-6E8A-4147-A177-3AD203B41FA5}">
                      <a16:colId xmlns:a16="http://schemas.microsoft.com/office/drawing/2014/main" val="20000"/>
                    </a:ext>
                  </a:extLst>
                </a:gridCol>
                <a:gridCol w="2516482">
                  <a:extLst>
                    <a:ext uri="{9D8B030D-6E8A-4147-A177-3AD203B41FA5}">
                      <a16:colId xmlns:a16="http://schemas.microsoft.com/office/drawing/2014/main" val="20001"/>
                    </a:ext>
                  </a:extLst>
                </a:gridCol>
              </a:tblGrid>
              <a:tr h="1014460">
                <a:tc>
                  <a:txBody>
                    <a:bodyPr/>
                    <a:lstStyle/>
                    <a:p>
                      <a:pPr algn="l">
                        <a:lnSpc>
                          <a:spcPts val="2250"/>
                        </a:lnSpc>
                        <a:defRPr/>
                      </a:pPr>
                      <a:r>
                        <a:rPr lang="en-US" sz="2400">
                          <a:solidFill>
                            <a:srgbClr val="262626"/>
                          </a:solidFill>
                          <a:latin typeface="Arial"/>
                          <a:cs typeface="Arial"/>
                          <a:sym typeface="Arial"/>
                        </a:rPr>
                        <a:t>Vị trí xuất phát</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250"/>
                        </a:lnSpc>
                        <a:defRPr/>
                      </a:pPr>
                      <a:r>
                        <a:rPr lang="en-US" sz="2400">
                          <a:solidFill>
                            <a:srgbClr val="7F7F7F"/>
                          </a:solidFill>
                          <a:latin typeface="Arial"/>
                          <a:cs typeface="Arial"/>
                          <a:sym typeface="Arial"/>
                        </a:rPr>
                        <a:t>[-50 -50 5]</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1014460">
                <a:tc>
                  <a:txBody>
                    <a:bodyPr/>
                    <a:lstStyle/>
                    <a:p>
                      <a:pPr algn="l">
                        <a:lnSpc>
                          <a:spcPts val="2250"/>
                        </a:lnSpc>
                        <a:defRPr/>
                      </a:pPr>
                      <a:r>
                        <a:rPr lang="en-US" sz="2400">
                          <a:solidFill>
                            <a:srgbClr val="262626"/>
                          </a:solidFill>
                          <a:latin typeface="Arial"/>
                          <a:cs typeface="Arial"/>
                          <a:sym typeface="Arial"/>
                        </a:rPr>
                        <a:t>Tọa độ Target</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ts val="2250"/>
                        </a:lnSpc>
                        <a:defRPr/>
                      </a:pPr>
                      <a:r>
                        <a:rPr lang="en-US" sz="2400">
                          <a:solidFill>
                            <a:srgbClr val="7F7F7F"/>
                          </a:solidFill>
                          <a:latin typeface="Arial"/>
                          <a:cs typeface="Arial"/>
                          <a:sym typeface="Arial"/>
                        </a:rPr>
                        <a:t>[-10 -10 0]</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14460">
                <a:tc>
                  <a:txBody>
                    <a:bodyPr/>
                    <a:lstStyle/>
                    <a:p>
                      <a:pPr algn="l">
                        <a:lnSpc>
                          <a:spcPts val="2250"/>
                        </a:lnSpc>
                        <a:defRPr/>
                      </a:pPr>
                      <a:r>
                        <a:rPr lang="en-US" sz="2400">
                          <a:solidFill>
                            <a:srgbClr val="262626"/>
                          </a:solidFill>
                          <a:latin typeface="Arial"/>
                          <a:ea typeface="Arial"/>
                          <a:cs typeface="Arial"/>
                          <a:sym typeface="Arial"/>
                        </a:rPr>
                        <a:t>Khoảng cách an toàn né vật cản</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250"/>
                        </a:lnSpc>
                        <a:defRPr/>
                      </a:pPr>
                      <a:r>
                        <a:rPr lang="en-US" sz="2400">
                          <a:solidFill>
                            <a:srgbClr val="7F7F7F"/>
                          </a:solidFill>
                          <a:latin typeface="Arial"/>
                          <a:ea typeface="Arial"/>
                          <a:cs typeface="Arial"/>
                          <a:sym typeface="Arial"/>
                        </a:rPr>
                        <a:t>3.5 m</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1014460">
                <a:tc>
                  <a:txBody>
                    <a:bodyPr/>
                    <a:lstStyle/>
                    <a:p>
                      <a:pPr algn="l">
                        <a:lnSpc>
                          <a:spcPts val="2250"/>
                        </a:lnSpc>
                        <a:defRPr/>
                      </a:pPr>
                      <a:r>
                        <a:rPr lang="en-US" sz="2400">
                          <a:solidFill>
                            <a:srgbClr val="262626"/>
                          </a:solidFill>
                          <a:latin typeface="Arial"/>
                          <a:cs typeface="Arial"/>
                          <a:sym typeface="Arial"/>
                        </a:rPr>
                        <a:t>Bán kính vật cản</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250"/>
                        </a:lnSpc>
                        <a:defRPr/>
                      </a:pPr>
                      <a:r>
                        <a:rPr lang="en-US" sz="2400">
                          <a:solidFill>
                            <a:srgbClr val="7F7F7F"/>
                          </a:solidFill>
                          <a:latin typeface="Arial"/>
                          <a:ea typeface="Arial"/>
                          <a:cs typeface="Arial"/>
                          <a:sym typeface="Arial"/>
                        </a:rPr>
                        <a:t>1.5 m</a:t>
                      </a:r>
                      <a:endParaRPr lang="en-US" sz="2400"/>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1014460">
                <a:tc>
                  <a:txBody>
                    <a:bodyPr/>
                    <a:lstStyle/>
                    <a:p>
                      <a:pPr algn="l">
                        <a:lnSpc>
                          <a:spcPts val="2250"/>
                        </a:lnSpc>
                        <a:defRPr/>
                      </a:pPr>
                      <a:r>
                        <a:rPr lang="en-US" sz="2400">
                          <a:latin typeface="Arial" panose="020B0604020202020204" pitchFamily="34" charset="0"/>
                          <a:cs typeface="Arial" panose="020B0604020202020204" pitchFamily="34" charset="0"/>
                        </a:rPr>
                        <a:t>Threshold landing</a:t>
                      </a: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250"/>
                        </a:lnSpc>
                        <a:defRPr/>
                      </a:pPr>
                      <a:r>
                        <a:rPr lang="en-US" sz="2400">
                          <a:solidFill>
                            <a:schemeClr val="bg1">
                              <a:lumMod val="50000"/>
                            </a:schemeClr>
                          </a:solidFill>
                        </a:rPr>
                        <a:t>7.5 m</a:t>
                      </a: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472631359"/>
                  </a:ext>
                </a:extLst>
              </a:tr>
              <a:tr h="1014460">
                <a:tc>
                  <a:txBody>
                    <a:bodyPr/>
                    <a:lstStyle/>
                    <a:p>
                      <a:pPr algn="l">
                        <a:lnSpc>
                          <a:spcPts val="2250"/>
                        </a:lnSpc>
                        <a:defRPr/>
                      </a:pPr>
                      <a:r>
                        <a:rPr lang="en-US" sz="2400">
                          <a:latin typeface="Arial" panose="020B0604020202020204" pitchFamily="34" charset="0"/>
                          <a:cs typeface="Arial" panose="020B0604020202020204" pitchFamily="34" charset="0"/>
                        </a:rPr>
                        <a:t>Vận tốc tối đa</a:t>
                      </a: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a:lnSpc>
                          <a:spcPts val="2250"/>
                        </a:lnSpc>
                        <a:defRPr/>
                      </a:pPr>
                      <a:r>
                        <a:rPr lang="en-US" sz="2400">
                          <a:solidFill>
                            <a:schemeClr val="bg1">
                              <a:lumMod val="50000"/>
                            </a:schemeClr>
                          </a:solidFill>
                        </a:rPr>
                        <a:t>2 m/s</a:t>
                      </a: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16352608"/>
                  </a:ext>
                </a:extLst>
              </a:tr>
            </a:tbl>
          </a:graphicData>
        </a:graphic>
      </p:graphicFrame>
      <p:sp>
        <p:nvSpPr>
          <p:cNvPr id="16" name="TextBox 16"/>
          <p:cNvSpPr txBox="1"/>
          <p:nvPr/>
        </p:nvSpPr>
        <p:spPr>
          <a:xfrm>
            <a:off x="264233" y="86192"/>
            <a:ext cx="1286294" cy="739559"/>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04</a:t>
            </a:r>
          </a:p>
        </p:txBody>
      </p:sp>
      <p:grpSp>
        <p:nvGrpSpPr>
          <p:cNvPr id="15" name="Group 75">
            <a:extLst>
              <a:ext uri="{FF2B5EF4-FFF2-40B4-BE49-F238E27FC236}">
                <a16:creationId xmlns:a16="http://schemas.microsoft.com/office/drawing/2014/main" id="{25D01239-EAF1-398E-D596-71099D8B9D30}"/>
              </a:ext>
            </a:extLst>
          </p:cNvPr>
          <p:cNvGrpSpPr/>
          <p:nvPr/>
        </p:nvGrpSpPr>
        <p:grpSpPr>
          <a:xfrm>
            <a:off x="17793" y="9715500"/>
            <a:ext cx="15704172" cy="67818"/>
            <a:chOff x="0" y="0"/>
            <a:chExt cx="20938896" cy="90424"/>
          </a:xfrm>
        </p:grpSpPr>
        <p:sp>
          <p:nvSpPr>
            <p:cNvPr id="17" name="Freeform 76">
              <a:extLst>
                <a:ext uri="{FF2B5EF4-FFF2-40B4-BE49-F238E27FC236}">
                  <a16:creationId xmlns:a16="http://schemas.microsoft.com/office/drawing/2014/main" id="{004ADAE8-9B64-9A40-48D0-6225155EB381}"/>
                </a:ext>
              </a:extLst>
            </p:cNvPr>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grpSp>
        <p:nvGrpSpPr>
          <p:cNvPr id="18" name="Group 73">
            <a:extLst>
              <a:ext uri="{FF2B5EF4-FFF2-40B4-BE49-F238E27FC236}">
                <a16:creationId xmlns:a16="http://schemas.microsoft.com/office/drawing/2014/main" id="{1FC221CE-B77C-6112-1A20-AF9C9D84AEAA}"/>
              </a:ext>
            </a:extLst>
          </p:cNvPr>
          <p:cNvGrpSpPr/>
          <p:nvPr/>
        </p:nvGrpSpPr>
        <p:grpSpPr>
          <a:xfrm>
            <a:off x="15715107" y="9456321"/>
            <a:ext cx="1988172" cy="688105"/>
            <a:chOff x="0" y="0"/>
            <a:chExt cx="2650896" cy="917473"/>
          </a:xfrm>
        </p:grpSpPr>
        <p:sp>
          <p:nvSpPr>
            <p:cNvPr id="19" name="Freeform 74">
              <a:extLst>
                <a:ext uri="{FF2B5EF4-FFF2-40B4-BE49-F238E27FC236}">
                  <a16:creationId xmlns:a16="http://schemas.microsoft.com/office/drawing/2014/main" id="{52C128EF-8686-1E1D-EE2A-B3719592A17D}"/>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pic>
        <p:nvPicPr>
          <p:cNvPr id="22" name="Picture 21">
            <a:extLst>
              <a:ext uri="{FF2B5EF4-FFF2-40B4-BE49-F238E27FC236}">
                <a16:creationId xmlns:a16="http://schemas.microsoft.com/office/drawing/2014/main" id="{B38540DE-BB60-9A46-7660-AF25B8E3F1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452" y="2173385"/>
            <a:ext cx="8951213" cy="74553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6" name="Group 6"/>
          <p:cNvGrpSpPr/>
          <p:nvPr/>
        </p:nvGrpSpPr>
        <p:grpSpPr>
          <a:xfrm>
            <a:off x="1799377" y="285950"/>
            <a:ext cx="7109765" cy="566976"/>
            <a:chOff x="0" y="0"/>
            <a:chExt cx="9479686" cy="755968"/>
          </a:xfrm>
        </p:grpSpPr>
        <p:sp>
          <p:nvSpPr>
            <p:cNvPr id="7" name="Freeform 7"/>
            <p:cNvSpPr/>
            <p:nvPr/>
          </p:nvSpPr>
          <p:spPr>
            <a:xfrm>
              <a:off x="0" y="0"/>
              <a:ext cx="9479687" cy="755971"/>
            </a:xfrm>
            <a:custGeom>
              <a:avLst/>
              <a:gdLst/>
              <a:ahLst/>
              <a:cxnLst/>
              <a:rect l="l" t="t" r="r" b="b"/>
              <a:pathLst>
                <a:path w="9479687" h="755971">
                  <a:moveTo>
                    <a:pt x="0" y="0"/>
                  </a:moveTo>
                  <a:lnTo>
                    <a:pt x="9479687" y="0"/>
                  </a:lnTo>
                  <a:lnTo>
                    <a:pt x="9479687" y="755971"/>
                  </a:lnTo>
                  <a:lnTo>
                    <a:pt x="0" y="755971"/>
                  </a:lnTo>
                  <a:close/>
                </a:path>
              </a:pathLst>
            </a:custGeom>
            <a:blipFill>
              <a:blip r:embed="rId3">
                <a:alphaModFix amt="0"/>
              </a:blip>
              <a:stretch>
                <a:fillRect t="-194337" b="-194337"/>
              </a:stretch>
            </a:blipFill>
          </p:spPr>
          <p:txBody>
            <a:bodyPr/>
            <a:lstStyle/>
            <a:p>
              <a:endParaRPr lang="en-US"/>
            </a:p>
          </p:txBody>
        </p:sp>
        <p:sp>
          <p:nvSpPr>
            <p:cNvPr id="8" name="TextBox 8"/>
            <p:cNvSpPr txBox="1"/>
            <p:nvPr/>
          </p:nvSpPr>
          <p:spPr>
            <a:xfrm>
              <a:off x="0" y="76200"/>
              <a:ext cx="9479686" cy="679768"/>
            </a:xfrm>
            <a:prstGeom prst="rect">
              <a:avLst/>
            </a:prstGeom>
          </p:spPr>
          <p:txBody>
            <a:bodyPr lIns="0" tIns="0" rIns="0" bIns="0" rtlCol="0" anchor="ctr"/>
            <a:lstStyle/>
            <a:p>
              <a:pPr algn="l">
                <a:lnSpc>
                  <a:spcPts val="2812"/>
                </a:lnSpc>
              </a:pPr>
              <a:r>
                <a:rPr lang="en-US" sz="3600" b="1">
                  <a:solidFill>
                    <a:srgbClr val="FFFFFF"/>
                  </a:solidFill>
                  <a:latin typeface="Calibri (MS) Bold"/>
                  <a:ea typeface="Calibri (MS) Bold"/>
                  <a:cs typeface="Calibri (MS) Bold"/>
                  <a:sym typeface="Calibri (MS) Bold"/>
                </a:rPr>
                <a:t>KIỂM CHỨNG</a:t>
              </a:r>
            </a:p>
          </p:txBody>
        </p:sp>
      </p:gr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1" name="Group 11"/>
          <p:cNvGrpSpPr/>
          <p:nvPr/>
        </p:nvGrpSpPr>
        <p:grpSpPr>
          <a:xfrm>
            <a:off x="304800" y="1402690"/>
            <a:ext cx="17439932" cy="692496"/>
            <a:chOff x="0" y="0"/>
            <a:chExt cx="23253243" cy="923328"/>
          </a:xfrm>
        </p:grpSpPr>
        <p:sp>
          <p:nvSpPr>
            <p:cNvPr id="12" name="Freeform 1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3" name="TextBox 1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BƯỚC 2 — KIỂM CHỨNG TOÀN PHẦN TRÊN PX4 SITL &amp; GAZEBO</a:t>
              </a:r>
            </a:p>
          </p:txBody>
        </p:sp>
      </p:grpSp>
      <p:graphicFrame>
        <p:nvGraphicFramePr>
          <p:cNvPr id="14" name="Table 14"/>
          <p:cNvGraphicFramePr>
            <a:graphicFrameLocks noGrp="1"/>
          </p:cNvGraphicFramePr>
          <p:nvPr/>
        </p:nvGraphicFramePr>
        <p:xfrm>
          <a:off x="12915188" y="2343407"/>
          <a:ext cx="5201445" cy="7719565"/>
        </p:xfrm>
        <a:graphic>
          <a:graphicData uri="http://schemas.openxmlformats.org/drawingml/2006/table">
            <a:tbl>
              <a:tblPr/>
              <a:tblGrid>
                <a:gridCol w="1825185">
                  <a:extLst>
                    <a:ext uri="{9D8B030D-6E8A-4147-A177-3AD203B41FA5}">
                      <a16:colId xmlns:a16="http://schemas.microsoft.com/office/drawing/2014/main" val="20000"/>
                    </a:ext>
                  </a:extLst>
                </a:gridCol>
                <a:gridCol w="1060354">
                  <a:extLst>
                    <a:ext uri="{9D8B030D-6E8A-4147-A177-3AD203B41FA5}">
                      <a16:colId xmlns:a16="http://schemas.microsoft.com/office/drawing/2014/main" val="20001"/>
                    </a:ext>
                  </a:extLst>
                </a:gridCol>
                <a:gridCol w="1189335">
                  <a:extLst>
                    <a:ext uri="{9D8B030D-6E8A-4147-A177-3AD203B41FA5}">
                      <a16:colId xmlns:a16="http://schemas.microsoft.com/office/drawing/2014/main" val="20002"/>
                    </a:ext>
                  </a:extLst>
                </a:gridCol>
                <a:gridCol w="1126571">
                  <a:extLst>
                    <a:ext uri="{9D8B030D-6E8A-4147-A177-3AD203B41FA5}">
                      <a16:colId xmlns:a16="http://schemas.microsoft.com/office/drawing/2014/main" val="20003"/>
                    </a:ext>
                  </a:extLst>
                </a:gridCol>
              </a:tblGrid>
              <a:tr h="922781">
                <a:tc>
                  <a:txBody>
                    <a:bodyPr/>
                    <a:lstStyle/>
                    <a:p>
                      <a:pPr algn="l">
                        <a:lnSpc>
                          <a:spcPts val="1889"/>
                        </a:lnSpc>
                        <a:defRPr/>
                      </a:pPr>
                      <a:r>
                        <a:rPr lang="en-US" sz="1575" b="1">
                          <a:solidFill>
                            <a:srgbClr val="FFFFFF"/>
                          </a:solidFill>
                          <a:latin typeface="Arial Bold"/>
                          <a:ea typeface="Arial Bold"/>
                          <a:cs typeface="Arial Bold"/>
                          <a:sym typeface="Arial Bold"/>
                        </a:rPr>
                        <a:t>HẠNG MỤC KIỂM CHỨNG</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B3038"/>
                    </a:solidFill>
                  </a:tcPr>
                </a:tc>
                <a:tc>
                  <a:txBody>
                    <a:bodyPr/>
                    <a:lstStyle/>
                    <a:p>
                      <a:pPr algn="ctr">
                        <a:lnSpc>
                          <a:spcPts val="1889"/>
                        </a:lnSpc>
                        <a:defRPr/>
                      </a:pPr>
                      <a:r>
                        <a:rPr lang="en-US" sz="1575" b="1">
                          <a:solidFill>
                            <a:srgbClr val="FFFFFF"/>
                          </a:solidFill>
                          <a:latin typeface="Arial Bold"/>
                          <a:ea typeface="Arial Bold"/>
                          <a:cs typeface="Arial Bold"/>
                          <a:sym typeface="Arial Bold"/>
                        </a:rPr>
                        <a:t>TIÊU CHUẨN</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B3038"/>
                    </a:solidFill>
                  </a:tcPr>
                </a:tc>
                <a:tc>
                  <a:txBody>
                    <a:bodyPr/>
                    <a:lstStyle/>
                    <a:p>
                      <a:pPr algn="ctr">
                        <a:lnSpc>
                          <a:spcPts val="1889"/>
                        </a:lnSpc>
                        <a:defRPr/>
                      </a:pPr>
                      <a:r>
                        <a:rPr lang="en-US" sz="1575" b="1">
                          <a:solidFill>
                            <a:srgbClr val="FFFFFF"/>
                          </a:solidFill>
                          <a:latin typeface="Arial Bold"/>
                          <a:ea typeface="Arial Bold"/>
                          <a:cs typeface="Arial Bold"/>
                          <a:sym typeface="Arial Bold"/>
                        </a:rPr>
                        <a:t>THỰC ĐO</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B3038"/>
                    </a:solidFill>
                  </a:tcPr>
                </a:tc>
                <a:tc>
                  <a:txBody>
                    <a:bodyPr/>
                    <a:lstStyle/>
                    <a:p>
                      <a:pPr algn="ctr">
                        <a:lnSpc>
                          <a:spcPts val="1889"/>
                        </a:lnSpc>
                        <a:defRPr/>
                      </a:pPr>
                      <a:r>
                        <a:rPr lang="en-US" sz="1575" b="1">
                          <a:solidFill>
                            <a:srgbClr val="FFFFFF"/>
                          </a:solidFill>
                          <a:latin typeface="Arial Bold"/>
                          <a:ea typeface="Arial Bold"/>
                          <a:cs typeface="Arial Bold"/>
                          <a:sym typeface="Arial Bold"/>
                        </a:rPr>
                        <a:t>ĐÁNH GIÁ</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B3038"/>
                    </a:solidFill>
                  </a:tcPr>
                </a:tc>
                <a:extLst>
                  <a:ext uri="{0D108BD9-81ED-4DB2-BD59-A6C34878D82A}">
                    <a16:rowId xmlns:a16="http://schemas.microsoft.com/office/drawing/2014/main" val="10000"/>
                  </a:ext>
                </a:extLst>
              </a:tr>
              <a:tr h="1699196">
                <a:tc>
                  <a:txBody>
                    <a:bodyPr/>
                    <a:lstStyle/>
                    <a:p>
                      <a:pPr algn="l">
                        <a:lnSpc>
                          <a:spcPts val="2250"/>
                        </a:lnSpc>
                        <a:defRPr/>
                      </a:pPr>
                      <a:r>
                        <a:rPr lang="en-US" sz="1875">
                          <a:solidFill>
                            <a:srgbClr val="262626"/>
                          </a:solidFill>
                          <a:latin typeface="Arial"/>
                          <a:ea typeface="Arial"/>
                          <a:cs typeface="Arial"/>
                          <a:sym typeface="Arial"/>
                        </a:rPr>
                        <a:t>Thời gian khóa mục tiêu ban đầu</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250"/>
                        </a:lnSpc>
                        <a:defRPr/>
                      </a:pPr>
                      <a:r>
                        <a:rPr lang="en-US" sz="1875">
                          <a:solidFill>
                            <a:srgbClr val="7F7F7F"/>
                          </a:solidFill>
                          <a:latin typeface="Arial"/>
                          <a:ea typeface="Arial"/>
                          <a:cs typeface="Arial"/>
                          <a:sym typeface="Arial"/>
                        </a:rPr>
                        <a:t>&lt; 1.0 s</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520"/>
                        </a:lnSpc>
                        <a:defRPr/>
                      </a:pPr>
                      <a:r>
                        <a:rPr lang="en-US" sz="2100" b="1">
                          <a:solidFill>
                            <a:srgbClr val="DB3038"/>
                          </a:solidFill>
                          <a:latin typeface="Arial Bold"/>
                          <a:ea typeface="Arial Bold"/>
                          <a:cs typeface="Arial Bold"/>
                          <a:sym typeface="Arial Bold"/>
                        </a:rPr>
                        <a:t>0.77 s</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160"/>
                        </a:lnSpc>
                        <a:defRPr/>
                      </a:pPr>
                      <a:r>
                        <a:rPr lang="en-US" sz="1800" b="1">
                          <a:solidFill>
                            <a:srgbClr val="2E7D32"/>
                          </a:solidFill>
                          <a:latin typeface="Arimo Bold"/>
                          <a:ea typeface="Arimo Bold"/>
                          <a:cs typeface="Arimo Bold"/>
                          <a:sym typeface="Arimo Bold"/>
                        </a:rPr>
                        <a:t>●  Đạt</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1699196">
                <a:tc>
                  <a:txBody>
                    <a:bodyPr/>
                    <a:lstStyle/>
                    <a:p>
                      <a:pPr algn="l">
                        <a:lnSpc>
                          <a:spcPts val="2250"/>
                        </a:lnSpc>
                        <a:defRPr/>
                      </a:pPr>
                      <a:r>
                        <a:rPr lang="en-US" sz="1875">
                          <a:solidFill>
                            <a:srgbClr val="262626"/>
                          </a:solidFill>
                          <a:latin typeface="Arial"/>
                          <a:ea typeface="Arial"/>
                          <a:cs typeface="Arial"/>
                          <a:sym typeface="Arial"/>
                        </a:rPr>
                        <a:t>Tỉ lệ hoàn thành nhiệm vụ</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2250"/>
                        </a:lnSpc>
                        <a:defRPr/>
                      </a:pPr>
                      <a:r>
                        <a:rPr lang="en-US" sz="1875">
                          <a:solidFill>
                            <a:srgbClr val="7F7F7F"/>
                          </a:solidFill>
                          <a:latin typeface="Arial"/>
                          <a:ea typeface="Arial"/>
                          <a:cs typeface="Arial"/>
                          <a:sym typeface="Arial"/>
                        </a:rPr>
                        <a:t>≥ 90%</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2100" b="1">
                          <a:solidFill>
                            <a:srgbClr val="DB3038"/>
                          </a:solidFill>
                          <a:latin typeface="Arial Bold"/>
                          <a:ea typeface="Arial Bold"/>
                          <a:cs typeface="Arial Bold"/>
                          <a:sym typeface="Arial Bold"/>
                        </a:rPr>
                        <a:t>80%</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7F7F7F"/>
                          </a:solidFill>
                          <a:latin typeface="Arimo Bold"/>
                          <a:ea typeface="Arimo Bold"/>
                          <a:cs typeface="Arimo Bold"/>
                          <a:sym typeface="Arimo Bold"/>
                        </a:rPr>
                        <a:t>●  Chưa đạt</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99196">
                <a:tc>
                  <a:txBody>
                    <a:bodyPr/>
                    <a:lstStyle/>
                    <a:p>
                      <a:pPr algn="l">
                        <a:lnSpc>
                          <a:spcPts val="2250"/>
                        </a:lnSpc>
                        <a:defRPr/>
                      </a:pPr>
                      <a:r>
                        <a:rPr lang="en-US" sz="1875">
                          <a:solidFill>
                            <a:srgbClr val="262626"/>
                          </a:solidFill>
                          <a:latin typeface="Arial"/>
                          <a:ea typeface="Arial"/>
                          <a:cs typeface="Arial"/>
                          <a:sym typeface="Arial"/>
                        </a:rPr>
                        <a:t>Khoảng cách an toàn né vật cản</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250"/>
                        </a:lnSpc>
                        <a:defRPr/>
                      </a:pPr>
                      <a:r>
                        <a:rPr lang="en-US" sz="1875">
                          <a:solidFill>
                            <a:srgbClr val="7F7F7F"/>
                          </a:solidFill>
                          <a:latin typeface="Arial"/>
                          <a:ea typeface="Arial"/>
                          <a:cs typeface="Arial"/>
                          <a:sym typeface="Arial"/>
                        </a:rPr>
                        <a:t>≥ 0.8 m</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520"/>
                        </a:lnSpc>
                        <a:defRPr/>
                      </a:pPr>
                      <a:r>
                        <a:rPr lang="en-US" sz="2100" b="1">
                          <a:solidFill>
                            <a:srgbClr val="DB3038"/>
                          </a:solidFill>
                          <a:latin typeface="Arial Bold"/>
                          <a:ea typeface="Arial Bold"/>
                          <a:cs typeface="Arial Bold"/>
                          <a:sym typeface="Arial Bold"/>
                        </a:rPr>
                        <a:t>≈ 0.85 m</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160"/>
                        </a:lnSpc>
                        <a:defRPr/>
                      </a:pPr>
                      <a:r>
                        <a:rPr lang="en-US" sz="1800" b="1">
                          <a:solidFill>
                            <a:srgbClr val="2E7D32"/>
                          </a:solidFill>
                          <a:latin typeface="Arimo Bold"/>
                          <a:ea typeface="Arimo Bold"/>
                          <a:cs typeface="Arimo Bold"/>
                          <a:sym typeface="Arimo Bold"/>
                        </a:rPr>
                        <a:t>●  Đạt</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1699196">
                <a:tc>
                  <a:txBody>
                    <a:bodyPr/>
                    <a:lstStyle/>
                    <a:p>
                      <a:pPr algn="l">
                        <a:lnSpc>
                          <a:spcPts val="2250"/>
                        </a:lnSpc>
                        <a:defRPr/>
                      </a:pPr>
                      <a:r>
                        <a:rPr lang="en-US" sz="1875">
                          <a:solidFill>
                            <a:srgbClr val="262626"/>
                          </a:solidFill>
                          <a:latin typeface="Arial"/>
                          <a:ea typeface="Arial"/>
                          <a:cs typeface="Arial"/>
                          <a:sym typeface="Arial"/>
                        </a:rPr>
                        <a:t>Sai số tiếp đất lệch tâm ngang</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250"/>
                        </a:lnSpc>
                        <a:defRPr/>
                      </a:pPr>
                      <a:r>
                        <a:rPr lang="en-US" sz="1875">
                          <a:solidFill>
                            <a:srgbClr val="7F7F7F"/>
                          </a:solidFill>
                          <a:latin typeface="Arial"/>
                          <a:ea typeface="Arial"/>
                          <a:cs typeface="Arial"/>
                          <a:sym typeface="Arial"/>
                        </a:rPr>
                        <a:t>&lt; 30 cm</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520"/>
                        </a:lnSpc>
                        <a:defRPr/>
                      </a:pPr>
                      <a:r>
                        <a:rPr lang="en-US" sz="2100" b="1">
                          <a:solidFill>
                            <a:srgbClr val="DD2E3A"/>
                          </a:solidFill>
                          <a:latin typeface="Arial Bold"/>
                          <a:ea typeface="Arial Bold"/>
                          <a:cs typeface="Arial Bold"/>
                          <a:sym typeface="Arial Bold"/>
                        </a:rPr>
                        <a:t>≈ 20 cm</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tc>
                  <a:txBody>
                    <a:bodyPr/>
                    <a:lstStyle/>
                    <a:p>
                      <a:pPr algn="ctr">
                        <a:lnSpc>
                          <a:spcPts val="2160"/>
                        </a:lnSpc>
                        <a:defRPr/>
                      </a:pPr>
                      <a:r>
                        <a:rPr lang="en-US" sz="1800" b="1">
                          <a:solidFill>
                            <a:srgbClr val="2E7D32"/>
                          </a:solidFill>
                          <a:latin typeface="Arimo Bold"/>
                          <a:ea typeface="Arimo Bold"/>
                          <a:cs typeface="Arimo Bold"/>
                          <a:sym typeface="Arimo Bold"/>
                        </a:rPr>
                        <a:t>●  Đạt</a:t>
                      </a:r>
                      <a:endParaRPr lang="en-US" sz="1100"/>
                    </a:p>
                  </a:txBody>
                  <a:tcPr marL="137160" marR="137160" marT="137160" marB="13716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264233" y="86192"/>
            <a:ext cx="1286294" cy="739559"/>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04</a:t>
            </a:r>
          </a:p>
        </p:txBody>
      </p:sp>
      <p:pic>
        <p:nvPicPr>
          <p:cNvPr id="17" name="Picture 16">
            <a:extLst>
              <a:ext uri="{FF2B5EF4-FFF2-40B4-BE49-F238E27FC236}">
                <a16:creationId xmlns:a16="http://schemas.microsoft.com/office/drawing/2014/main" id="{DE9F067B-1055-80F6-90B4-36BC442A1F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2150376"/>
            <a:ext cx="10912715" cy="7143493"/>
          </a:xfrm>
          <a:prstGeom prst="rect">
            <a:avLst/>
          </a:prstGeom>
        </p:spPr>
      </p:pic>
      <p:sp>
        <p:nvSpPr>
          <p:cNvPr id="18" name="TextBox 17">
            <a:extLst>
              <a:ext uri="{FF2B5EF4-FFF2-40B4-BE49-F238E27FC236}">
                <a16:creationId xmlns:a16="http://schemas.microsoft.com/office/drawing/2014/main" id="{7720A73F-805B-D097-0ACE-5FD9F9353481}"/>
              </a:ext>
            </a:extLst>
          </p:cNvPr>
          <p:cNvSpPr txBox="1"/>
          <p:nvPr/>
        </p:nvSpPr>
        <p:spPr>
          <a:xfrm>
            <a:off x="609600" y="9574568"/>
            <a:ext cx="8579400" cy="369332"/>
          </a:xfrm>
          <a:prstGeom prst="rect">
            <a:avLst/>
          </a:prstGeom>
          <a:noFill/>
        </p:spPr>
        <p:txBody>
          <a:bodyPr wrap="none" rtlCol="0">
            <a:spAutoFit/>
          </a:bodyPr>
          <a:lstStyle/>
          <a:p>
            <a:r>
              <a:rPr lang="en-US">
                <a:hlinkClick r:id="rId5"/>
              </a:rPr>
              <a:t>https://drive.google.com/file/d/1-ZHhWaltxNlgP1ezshKnG-0mXzImPalj/view?usp=sharing</a:t>
            </a:r>
            <a:endParaRPr lang="en-US"/>
          </a:p>
        </p:txBody>
      </p:sp>
    </p:spTree>
    <p:extLst>
      <p:ext uri="{BB962C8B-B14F-4D97-AF65-F5344CB8AC3E}">
        <p14:creationId xmlns:p14="http://schemas.microsoft.com/office/powerpoint/2010/main" val="399594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124712"/>
            <a:chOff x="0" y="0"/>
            <a:chExt cx="24383390" cy="1499616"/>
          </a:xfrm>
        </p:grpSpPr>
        <p:sp>
          <p:nvSpPr>
            <p:cNvPr id="3" name="Freeform 3"/>
            <p:cNvSpPr/>
            <p:nvPr/>
          </p:nvSpPr>
          <p:spPr>
            <a:xfrm>
              <a:off x="0" y="0"/>
              <a:ext cx="24383364" cy="1499616"/>
            </a:xfrm>
            <a:custGeom>
              <a:avLst/>
              <a:gdLst/>
              <a:ahLst/>
              <a:cxnLst/>
              <a:rect l="l" t="t" r="r" b="b"/>
              <a:pathLst>
                <a:path w="24383364" h="1499616">
                  <a:moveTo>
                    <a:pt x="0" y="0"/>
                  </a:moveTo>
                  <a:lnTo>
                    <a:pt x="24383364" y="0"/>
                  </a:lnTo>
                  <a:lnTo>
                    <a:pt x="24383364" y="1499616"/>
                  </a:lnTo>
                  <a:lnTo>
                    <a:pt x="0" y="1499616"/>
                  </a:lnTo>
                  <a:close/>
                </a:path>
              </a:pathLst>
            </a:custGeom>
            <a:solidFill>
              <a:srgbClr val="F0F0F0"/>
            </a:solidFill>
          </p:spPr>
          <p:txBody>
            <a:bodyPr/>
            <a:lstStyle/>
            <a:p>
              <a:endParaRPr lang="en-US"/>
            </a:p>
          </p:txBody>
        </p:sp>
      </p:grpSp>
      <p:grpSp>
        <p:nvGrpSpPr>
          <p:cNvPr id="4" name="Group 4"/>
          <p:cNvGrpSpPr/>
          <p:nvPr/>
        </p:nvGrpSpPr>
        <p:grpSpPr>
          <a:xfrm>
            <a:off x="0" y="0"/>
            <a:ext cx="1645920" cy="1124712"/>
            <a:chOff x="0" y="0"/>
            <a:chExt cx="2194560" cy="1499616"/>
          </a:xfrm>
        </p:grpSpPr>
        <p:sp>
          <p:nvSpPr>
            <p:cNvPr id="5" name="Freeform 5"/>
            <p:cNvSpPr/>
            <p:nvPr/>
          </p:nvSpPr>
          <p:spPr>
            <a:xfrm>
              <a:off x="0" y="0"/>
              <a:ext cx="2194560" cy="1499616"/>
            </a:xfrm>
            <a:custGeom>
              <a:avLst/>
              <a:gdLst/>
              <a:ahLst/>
              <a:cxnLst/>
              <a:rect l="l" t="t" r="r" b="b"/>
              <a:pathLst>
                <a:path w="2194560" h="1499616">
                  <a:moveTo>
                    <a:pt x="0" y="0"/>
                  </a:moveTo>
                  <a:lnTo>
                    <a:pt x="2194560" y="0"/>
                  </a:lnTo>
                  <a:lnTo>
                    <a:pt x="2194560" y="1499616"/>
                  </a:lnTo>
                  <a:lnTo>
                    <a:pt x="0" y="1499616"/>
                  </a:lnTo>
                  <a:close/>
                </a:path>
              </a:pathLst>
            </a:custGeom>
            <a:solidFill>
              <a:srgbClr val="DC2D3A"/>
            </a:solidFill>
          </p:spPr>
          <p:txBody>
            <a:bodyPr/>
            <a:lstStyle/>
            <a:p>
              <a:endParaRPr lang="en-US"/>
            </a:p>
          </p:txBody>
        </p:sp>
      </p:grpSp>
      <p:grpSp>
        <p:nvGrpSpPr>
          <p:cNvPr id="6" name="Group 6"/>
          <p:cNvGrpSpPr/>
          <p:nvPr/>
        </p:nvGrpSpPr>
        <p:grpSpPr>
          <a:xfrm>
            <a:off x="0" y="0"/>
            <a:ext cx="1645920" cy="1124712"/>
            <a:chOff x="0" y="0"/>
            <a:chExt cx="2194560" cy="1499616"/>
          </a:xfrm>
        </p:grpSpPr>
        <p:sp>
          <p:nvSpPr>
            <p:cNvPr id="7" name="Freeform 7"/>
            <p:cNvSpPr/>
            <p:nvPr/>
          </p:nvSpPr>
          <p:spPr>
            <a:xfrm>
              <a:off x="0" y="0"/>
              <a:ext cx="2194560" cy="1499616"/>
            </a:xfrm>
            <a:custGeom>
              <a:avLst/>
              <a:gdLst/>
              <a:ahLst/>
              <a:cxnLst/>
              <a:rect l="l" t="t" r="r" b="b"/>
              <a:pathLst>
                <a:path w="2194560" h="1499616">
                  <a:moveTo>
                    <a:pt x="0" y="0"/>
                  </a:moveTo>
                  <a:lnTo>
                    <a:pt x="2194560" y="0"/>
                  </a:lnTo>
                  <a:lnTo>
                    <a:pt x="2194560" y="1499616"/>
                  </a:lnTo>
                  <a:lnTo>
                    <a:pt x="0" y="1499616"/>
                  </a:lnTo>
                  <a:close/>
                </a:path>
              </a:pathLst>
            </a:custGeom>
            <a:blipFill>
              <a:blip r:embed="rId3">
                <a:alphaModFix amt="0"/>
              </a:blip>
              <a:stretch>
                <a:fillRect l="-37674" r="-37674"/>
              </a:stretch>
            </a:blipFill>
          </p:spPr>
          <p:txBody>
            <a:bodyPr/>
            <a:lstStyle/>
            <a:p>
              <a:endParaRPr lang="en-US"/>
            </a:p>
          </p:txBody>
        </p:sp>
        <p:sp>
          <p:nvSpPr>
            <p:cNvPr id="8" name="TextBox 8"/>
            <p:cNvSpPr txBox="1"/>
            <p:nvPr/>
          </p:nvSpPr>
          <p:spPr>
            <a:xfrm>
              <a:off x="0" y="-19050"/>
              <a:ext cx="2194560" cy="1518666"/>
            </a:xfrm>
            <a:prstGeom prst="rect">
              <a:avLst/>
            </a:prstGeom>
          </p:spPr>
          <p:txBody>
            <a:bodyPr lIns="0" tIns="0" rIns="0" bIns="0" rtlCol="0" anchor="ctr"/>
            <a:lstStyle/>
            <a:p>
              <a:pPr algn="ctr">
                <a:lnSpc>
                  <a:spcPts val="5040"/>
                </a:lnSpc>
              </a:pPr>
              <a:r>
                <a:rPr lang="en-US" sz="4200" b="1">
                  <a:solidFill>
                    <a:srgbClr val="FFFFFF"/>
                  </a:solidFill>
                  <a:latin typeface="Arial Bold"/>
                  <a:ea typeface="Arial Bold"/>
                  <a:cs typeface="Arial Bold"/>
                  <a:sym typeface="Arial Bold"/>
                </a:rPr>
                <a:t>04</a:t>
              </a:r>
            </a:p>
          </p:txBody>
        </p:sp>
      </p:grpSp>
      <p:grpSp>
        <p:nvGrpSpPr>
          <p:cNvPr id="9" name="Group 9"/>
          <p:cNvGrpSpPr/>
          <p:nvPr/>
        </p:nvGrpSpPr>
        <p:grpSpPr>
          <a:xfrm>
            <a:off x="1645920" y="0"/>
            <a:ext cx="12481560" cy="1124712"/>
            <a:chOff x="0" y="0"/>
            <a:chExt cx="16642080" cy="1499616"/>
          </a:xfrm>
        </p:grpSpPr>
        <p:sp>
          <p:nvSpPr>
            <p:cNvPr id="10" name="Freeform 10"/>
            <p:cNvSpPr/>
            <p:nvPr/>
          </p:nvSpPr>
          <p:spPr>
            <a:xfrm>
              <a:off x="0" y="0"/>
              <a:ext cx="16642080" cy="1499616"/>
            </a:xfrm>
            <a:custGeom>
              <a:avLst/>
              <a:gdLst/>
              <a:ahLst/>
              <a:cxnLst/>
              <a:rect l="l" t="t" r="r" b="b"/>
              <a:pathLst>
                <a:path w="16642080" h="1499616">
                  <a:moveTo>
                    <a:pt x="0" y="0"/>
                  </a:moveTo>
                  <a:lnTo>
                    <a:pt x="16642080" y="0"/>
                  </a:lnTo>
                  <a:lnTo>
                    <a:pt x="15636241" y="1499616"/>
                  </a:lnTo>
                  <a:lnTo>
                    <a:pt x="0" y="1499616"/>
                  </a:lnTo>
                  <a:close/>
                </a:path>
              </a:pathLst>
            </a:custGeom>
            <a:solidFill>
              <a:srgbClr val="595959"/>
            </a:solidFill>
          </p:spPr>
          <p:txBody>
            <a:bodyPr/>
            <a:lstStyle/>
            <a:p>
              <a:endParaRPr lang="en-US"/>
            </a:p>
          </p:txBody>
        </p:sp>
      </p:grpSp>
      <p:grpSp>
        <p:nvGrpSpPr>
          <p:cNvPr id="11" name="Group 11"/>
          <p:cNvGrpSpPr/>
          <p:nvPr/>
        </p:nvGrpSpPr>
        <p:grpSpPr>
          <a:xfrm>
            <a:off x="1988820" y="0"/>
            <a:ext cx="11384280" cy="1124712"/>
            <a:chOff x="0" y="0"/>
            <a:chExt cx="15179040" cy="1499616"/>
          </a:xfrm>
        </p:grpSpPr>
        <p:sp>
          <p:nvSpPr>
            <p:cNvPr id="12" name="Freeform 12"/>
            <p:cNvSpPr/>
            <p:nvPr/>
          </p:nvSpPr>
          <p:spPr>
            <a:xfrm>
              <a:off x="0" y="0"/>
              <a:ext cx="15179039" cy="1499616"/>
            </a:xfrm>
            <a:custGeom>
              <a:avLst/>
              <a:gdLst/>
              <a:ahLst/>
              <a:cxnLst/>
              <a:rect l="l" t="t" r="r" b="b"/>
              <a:pathLst>
                <a:path w="15179039" h="1499616">
                  <a:moveTo>
                    <a:pt x="0" y="0"/>
                  </a:moveTo>
                  <a:lnTo>
                    <a:pt x="15179039" y="0"/>
                  </a:lnTo>
                  <a:lnTo>
                    <a:pt x="15179039" y="1499616"/>
                  </a:lnTo>
                  <a:lnTo>
                    <a:pt x="0" y="1499616"/>
                  </a:lnTo>
                  <a:close/>
                </a:path>
              </a:pathLst>
            </a:custGeom>
            <a:blipFill>
              <a:blip r:embed="rId3">
                <a:alphaModFix amt="0"/>
              </a:blip>
              <a:stretch>
                <a:fillRect t="-147226" b="-147226"/>
              </a:stretch>
            </a:blipFill>
          </p:spPr>
          <p:txBody>
            <a:bodyPr/>
            <a:lstStyle/>
            <a:p>
              <a:endParaRPr lang="en-US"/>
            </a:p>
          </p:txBody>
        </p:sp>
        <p:sp>
          <p:nvSpPr>
            <p:cNvPr id="13" name="TextBox 13"/>
            <p:cNvSpPr txBox="1"/>
            <p:nvPr/>
          </p:nvSpPr>
          <p:spPr>
            <a:xfrm>
              <a:off x="0" y="-28575"/>
              <a:ext cx="15179040" cy="1528191"/>
            </a:xfrm>
            <a:prstGeom prst="rect">
              <a:avLst/>
            </a:prstGeom>
          </p:spPr>
          <p:txBody>
            <a:bodyPr lIns="0" tIns="0" rIns="0" bIns="0" rtlCol="0" anchor="ctr"/>
            <a:lstStyle/>
            <a:p>
              <a:pPr algn="l">
                <a:lnSpc>
                  <a:spcPts val="3960"/>
                </a:lnSpc>
              </a:pPr>
              <a:r>
                <a:rPr lang="en-US" sz="3300" b="1">
                  <a:solidFill>
                    <a:srgbClr val="FFFFFF"/>
                  </a:solidFill>
                  <a:latin typeface="Arial Bold"/>
                  <a:ea typeface="Arial Bold"/>
                  <a:cs typeface="Arial Bold"/>
                  <a:sym typeface="Arial Bold"/>
                </a:rPr>
                <a:t>TRIỂN KHAI PHẦN CỨNG VÀ HỆ THỐNG THỰC NGHIỆM</a:t>
              </a:r>
            </a:p>
          </p:txBody>
        </p:sp>
      </p:grpSp>
      <p:grpSp>
        <p:nvGrpSpPr>
          <p:cNvPr id="14" name="Group 14"/>
          <p:cNvGrpSpPr/>
          <p:nvPr/>
        </p:nvGrpSpPr>
        <p:grpSpPr>
          <a:xfrm>
            <a:off x="9271797" y="1245203"/>
            <a:ext cx="8561956" cy="7878890"/>
            <a:chOff x="0" y="0"/>
            <a:chExt cx="11415941" cy="10505186"/>
          </a:xfrm>
        </p:grpSpPr>
        <p:sp>
          <p:nvSpPr>
            <p:cNvPr id="15" name="Freeform 15"/>
            <p:cNvSpPr/>
            <p:nvPr/>
          </p:nvSpPr>
          <p:spPr>
            <a:xfrm>
              <a:off x="0" y="0"/>
              <a:ext cx="11415903" cy="10505186"/>
            </a:xfrm>
            <a:custGeom>
              <a:avLst/>
              <a:gdLst/>
              <a:ahLst/>
              <a:cxnLst/>
              <a:rect l="l" t="t" r="r" b="b"/>
              <a:pathLst>
                <a:path w="11415903" h="10505186">
                  <a:moveTo>
                    <a:pt x="0" y="0"/>
                  </a:moveTo>
                  <a:lnTo>
                    <a:pt x="11415903" y="0"/>
                  </a:lnTo>
                  <a:lnTo>
                    <a:pt x="11415903" y="10505186"/>
                  </a:lnTo>
                  <a:lnTo>
                    <a:pt x="0" y="10505186"/>
                  </a:lnTo>
                  <a:close/>
                </a:path>
              </a:pathLst>
            </a:custGeom>
            <a:solidFill>
              <a:srgbClr val="FFFFFF"/>
            </a:solidFill>
            <a:ln w="33338" cap="sq">
              <a:solidFill>
                <a:srgbClr val="DC2D3A"/>
              </a:solidFill>
              <a:prstDash val="solid"/>
              <a:miter/>
            </a:ln>
          </p:spPr>
          <p:txBody>
            <a:bodyPr/>
            <a:lstStyle/>
            <a:p>
              <a:endParaRPr lang="en-US"/>
            </a:p>
          </p:txBody>
        </p:sp>
      </p:grpSp>
      <p:grpSp>
        <p:nvGrpSpPr>
          <p:cNvPr id="16" name="Group 16"/>
          <p:cNvGrpSpPr/>
          <p:nvPr/>
        </p:nvGrpSpPr>
        <p:grpSpPr>
          <a:xfrm>
            <a:off x="9370762" y="1344168"/>
            <a:ext cx="8364026" cy="7680960"/>
            <a:chOff x="0" y="0"/>
            <a:chExt cx="11152035" cy="10241280"/>
          </a:xfrm>
        </p:grpSpPr>
        <p:sp>
          <p:nvSpPr>
            <p:cNvPr id="17" name="Freeform 17" descr="Quadrotor thực nghiệm đã lắp Raspberry Pi 5, Pixhawk 6C, camera + servo và GPS"/>
            <p:cNvSpPr/>
            <p:nvPr/>
          </p:nvSpPr>
          <p:spPr>
            <a:xfrm>
              <a:off x="0" y="0"/>
              <a:ext cx="11151997" cy="10241280"/>
            </a:xfrm>
            <a:custGeom>
              <a:avLst/>
              <a:gdLst/>
              <a:ahLst/>
              <a:cxnLst/>
              <a:rect l="l" t="t" r="r" b="b"/>
              <a:pathLst>
                <a:path w="11151997" h="10241280">
                  <a:moveTo>
                    <a:pt x="0" y="0"/>
                  </a:moveTo>
                  <a:lnTo>
                    <a:pt x="11151997" y="0"/>
                  </a:lnTo>
                  <a:lnTo>
                    <a:pt x="11151997" y="10241280"/>
                  </a:lnTo>
                  <a:lnTo>
                    <a:pt x="0" y="10241280"/>
                  </a:lnTo>
                  <a:lnTo>
                    <a:pt x="0" y="0"/>
                  </a:lnTo>
                  <a:close/>
                </a:path>
              </a:pathLst>
            </a:custGeom>
            <a:blipFill>
              <a:blip r:embed="rId4"/>
              <a:stretch>
                <a:fillRect/>
              </a:stretch>
            </a:blipFill>
          </p:spPr>
          <p:txBody>
            <a:bodyPr/>
            <a:lstStyle/>
            <a:p>
              <a:endParaRPr lang="en-US"/>
            </a:p>
          </p:txBody>
        </p:sp>
      </p:grpSp>
      <p:sp>
        <p:nvSpPr>
          <p:cNvPr id="18" name="TextBox 18"/>
          <p:cNvSpPr txBox="1"/>
          <p:nvPr/>
        </p:nvSpPr>
        <p:spPr>
          <a:xfrm>
            <a:off x="9370762" y="9143238"/>
            <a:ext cx="8364026" cy="293370"/>
          </a:xfrm>
          <a:prstGeom prst="rect">
            <a:avLst/>
          </a:prstGeom>
        </p:spPr>
        <p:txBody>
          <a:bodyPr lIns="0" tIns="0" rIns="0" bIns="0" rtlCol="0" anchor="t">
            <a:spAutoFit/>
          </a:bodyPr>
          <a:lstStyle/>
          <a:p>
            <a:pPr algn="ctr">
              <a:lnSpc>
                <a:spcPts val="1800"/>
              </a:lnSpc>
            </a:pPr>
            <a:r>
              <a:rPr lang="en-US" sz="1500" i="1">
                <a:solidFill>
                  <a:srgbClr val="6B7280"/>
                </a:solidFill>
                <a:latin typeface="Arial Italics"/>
                <a:ea typeface="Arial Italics"/>
                <a:cs typeface="Arial Italics"/>
                <a:sym typeface="Arial Italics"/>
              </a:rPr>
              <a:t>Quadrotor thực nghiệm đã lắp đặt các thành phần chính (ảnh chụp thực tế)</a:t>
            </a:r>
          </a:p>
        </p:txBody>
      </p:sp>
      <p:sp>
        <p:nvSpPr>
          <p:cNvPr id="19" name="TextBox 19"/>
          <p:cNvSpPr txBox="1"/>
          <p:nvPr/>
        </p:nvSpPr>
        <p:spPr>
          <a:xfrm>
            <a:off x="548640" y="1325118"/>
            <a:ext cx="7955280" cy="375666"/>
          </a:xfrm>
          <a:prstGeom prst="rect">
            <a:avLst/>
          </a:prstGeom>
        </p:spPr>
        <p:txBody>
          <a:bodyPr lIns="0" tIns="0" rIns="0" bIns="0" rtlCol="0" anchor="t">
            <a:spAutoFit/>
          </a:bodyPr>
          <a:lstStyle/>
          <a:p>
            <a:pPr algn="l">
              <a:lnSpc>
                <a:spcPts val="2340"/>
              </a:lnSpc>
            </a:pPr>
            <a:r>
              <a:rPr lang="en-US" sz="1950" b="1">
                <a:solidFill>
                  <a:srgbClr val="DC2D3A"/>
                </a:solidFill>
                <a:latin typeface="Arial Bold"/>
                <a:ea typeface="Arial Bold"/>
                <a:cs typeface="Arial Bold"/>
                <a:sym typeface="Arial Bold"/>
              </a:rPr>
              <a:t>KIẾN TRÚC KẾT NỐI PHẦN CỨNG</a:t>
            </a:r>
          </a:p>
        </p:txBody>
      </p:sp>
      <p:grpSp>
        <p:nvGrpSpPr>
          <p:cNvPr id="20" name="Group 20"/>
          <p:cNvGrpSpPr/>
          <p:nvPr/>
        </p:nvGrpSpPr>
        <p:grpSpPr>
          <a:xfrm>
            <a:off x="539115" y="1910715"/>
            <a:ext cx="3242310" cy="869442"/>
            <a:chOff x="0" y="0"/>
            <a:chExt cx="4323080" cy="1159256"/>
          </a:xfrm>
        </p:grpSpPr>
        <p:sp>
          <p:nvSpPr>
            <p:cNvPr id="21" name="Freeform 21"/>
            <p:cNvSpPr/>
            <p:nvPr/>
          </p:nvSpPr>
          <p:spPr>
            <a:xfrm>
              <a:off x="0" y="0"/>
              <a:ext cx="4323080" cy="1159256"/>
            </a:xfrm>
            <a:custGeom>
              <a:avLst/>
              <a:gdLst/>
              <a:ahLst/>
              <a:cxnLst/>
              <a:rect l="l" t="t" r="r" b="b"/>
              <a:pathLst>
                <a:path w="4323080" h="1159256">
                  <a:moveTo>
                    <a:pt x="0" y="112141"/>
                  </a:moveTo>
                  <a:cubicBezTo>
                    <a:pt x="0" y="50165"/>
                    <a:pt x="50165" y="0"/>
                    <a:pt x="112141" y="0"/>
                  </a:cubicBezTo>
                  <a:lnTo>
                    <a:pt x="4210939" y="0"/>
                  </a:lnTo>
                  <a:cubicBezTo>
                    <a:pt x="4272915" y="0"/>
                    <a:pt x="4323080" y="50165"/>
                    <a:pt x="4323080" y="112141"/>
                  </a:cubicBezTo>
                  <a:lnTo>
                    <a:pt x="4323080" y="1047115"/>
                  </a:lnTo>
                  <a:cubicBezTo>
                    <a:pt x="4323080" y="1109091"/>
                    <a:pt x="4272915" y="1159256"/>
                    <a:pt x="4210939" y="1159256"/>
                  </a:cubicBezTo>
                  <a:lnTo>
                    <a:pt x="112141" y="1159256"/>
                  </a:lnTo>
                  <a:cubicBezTo>
                    <a:pt x="50165" y="1159256"/>
                    <a:pt x="0" y="1109091"/>
                    <a:pt x="0" y="1047115"/>
                  </a:cubicBezTo>
                  <a:close/>
                </a:path>
              </a:pathLst>
            </a:custGeom>
            <a:solidFill>
              <a:srgbClr val="F2F3F5"/>
            </a:solidFill>
            <a:ln w="19050" cap="sq">
              <a:solidFill>
                <a:srgbClr val="D1D5DB"/>
              </a:solidFill>
              <a:prstDash val="solid"/>
              <a:miter/>
            </a:ln>
          </p:spPr>
          <p:txBody>
            <a:bodyPr/>
            <a:lstStyle/>
            <a:p>
              <a:endParaRPr lang="en-US"/>
            </a:p>
          </p:txBody>
        </p:sp>
      </p:grpSp>
      <p:sp>
        <p:nvSpPr>
          <p:cNvPr id="22" name="TextBox 22"/>
          <p:cNvSpPr txBox="1"/>
          <p:nvPr/>
        </p:nvSpPr>
        <p:spPr>
          <a:xfrm>
            <a:off x="651510" y="1997202"/>
            <a:ext cx="3017520" cy="375666"/>
          </a:xfrm>
          <a:prstGeom prst="rect">
            <a:avLst/>
          </a:prstGeom>
        </p:spPr>
        <p:txBody>
          <a:bodyPr lIns="0" tIns="0" rIns="0" bIns="0" rtlCol="0" anchor="t">
            <a:spAutoFit/>
          </a:bodyPr>
          <a:lstStyle/>
          <a:p>
            <a:pPr algn="l">
              <a:lnSpc>
                <a:spcPts val="2340"/>
              </a:lnSpc>
            </a:pPr>
            <a:r>
              <a:rPr lang="en-US" sz="1950" b="1">
                <a:solidFill>
                  <a:srgbClr val="1F2937"/>
                </a:solidFill>
                <a:latin typeface="Arial Bold"/>
                <a:ea typeface="Arial Bold"/>
                <a:cs typeface="Arial Bold"/>
                <a:sym typeface="Arial Bold"/>
              </a:rPr>
              <a:t>Intel RealSense</a:t>
            </a:r>
          </a:p>
        </p:txBody>
      </p:sp>
      <p:sp>
        <p:nvSpPr>
          <p:cNvPr id="23" name="TextBox 23"/>
          <p:cNvSpPr txBox="1"/>
          <p:nvPr/>
        </p:nvSpPr>
        <p:spPr>
          <a:xfrm>
            <a:off x="610076" y="2367534"/>
            <a:ext cx="3100388" cy="247650"/>
          </a:xfrm>
          <a:prstGeom prst="rect">
            <a:avLst/>
          </a:prstGeom>
        </p:spPr>
        <p:txBody>
          <a:bodyPr lIns="0" tIns="0" rIns="0" bIns="0" rtlCol="0" anchor="t">
            <a:spAutoFit/>
          </a:bodyPr>
          <a:lstStyle/>
          <a:p>
            <a:pPr algn="l">
              <a:lnSpc>
                <a:spcPts val="1800"/>
              </a:lnSpc>
            </a:pPr>
            <a:r>
              <a:rPr lang="en-US" sz="1500">
                <a:solidFill>
                  <a:srgbClr val="6B7280"/>
                </a:solidFill>
                <a:latin typeface="Arial"/>
                <a:ea typeface="Arial"/>
                <a:cs typeface="Arial"/>
                <a:sym typeface="Arial"/>
              </a:rPr>
              <a:t>Camera chiều sâu + servo MG996R</a:t>
            </a:r>
          </a:p>
        </p:txBody>
      </p:sp>
      <p:grpSp>
        <p:nvGrpSpPr>
          <p:cNvPr id="24" name="Group 24"/>
          <p:cNvGrpSpPr/>
          <p:nvPr/>
        </p:nvGrpSpPr>
        <p:grpSpPr>
          <a:xfrm>
            <a:off x="4046220" y="1920240"/>
            <a:ext cx="4526280" cy="850392"/>
            <a:chOff x="0" y="0"/>
            <a:chExt cx="6035040" cy="1133856"/>
          </a:xfrm>
        </p:grpSpPr>
        <p:sp>
          <p:nvSpPr>
            <p:cNvPr id="25" name="Freeform 25"/>
            <p:cNvSpPr/>
            <p:nvPr/>
          </p:nvSpPr>
          <p:spPr>
            <a:xfrm>
              <a:off x="0" y="0"/>
              <a:ext cx="6035040" cy="1133856"/>
            </a:xfrm>
            <a:custGeom>
              <a:avLst/>
              <a:gdLst/>
              <a:ahLst/>
              <a:cxnLst/>
              <a:rect l="l" t="t" r="r" b="b"/>
              <a:pathLst>
                <a:path w="6035040" h="1133856">
                  <a:moveTo>
                    <a:pt x="0" y="0"/>
                  </a:moveTo>
                  <a:lnTo>
                    <a:pt x="6035040" y="0"/>
                  </a:lnTo>
                  <a:lnTo>
                    <a:pt x="6035040" y="1133856"/>
                  </a:lnTo>
                  <a:lnTo>
                    <a:pt x="0" y="1133856"/>
                  </a:lnTo>
                  <a:close/>
                </a:path>
              </a:pathLst>
            </a:custGeom>
            <a:blipFill>
              <a:blip r:embed="rId3">
                <a:alphaModFix amt="0"/>
              </a:blip>
              <a:stretch>
                <a:fillRect t="-53710" b="-53710"/>
              </a:stretch>
            </a:blipFill>
          </p:spPr>
          <p:txBody>
            <a:bodyPr/>
            <a:lstStyle/>
            <a:p>
              <a:endParaRPr lang="en-US"/>
            </a:p>
          </p:txBody>
        </p:sp>
        <p:sp>
          <p:nvSpPr>
            <p:cNvPr id="26" name="TextBox 26"/>
            <p:cNvSpPr txBox="1"/>
            <p:nvPr/>
          </p:nvSpPr>
          <p:spPr>
            <a:xfrm>
              <a:off x="0" y="-19050"/>
              <a:ext cx="6035040" cy="1152906"/>
            </a:xfrm>
            <a:prstGeom prst="rect">
              <a:avLst/>
            </a:prstGeom>
          </p:spPr>
          <p:txBody>
            <a:bodyPr lIns="0" tIns="0" rIns="0" bIns="0" rtlCol="0" anchor="ctr"/>
            <a:lstStyle/>
            <a:p>
              <a:pPr algn="l">
                <a:lnSpc>
                  <a:spcPts val="1980"/>
                </a:lnSpc>
              </a:pPr>
              <a:r>
                <a:rPr lang="en-US" sz="1650">
                  <a:solidFill>
                    <a:srgbClr val="374151"/>
                  </a:solidFill>
                  <a:latin typeface="Arial"/>
                  <a:ea typeface="Arial"/>
                  <a:cs typeface="Arial"/>
                  <a:sym typeface="Arial"/>
                </a:rPr>
                <a:t>Cung cấp dữ liệu hình ảnh và chiều sâu</a:t>
              </a:r>
            </a:p>
          </p:txBody>
        </p:sp>
      </p:grpSp>
      <p:sp>
        <p:nvSpPr>
          <p:cNvPr id="27" name="AutoShape 27"/>
          <p:cNvSpPr/>
          <p:nvPr/>
        </p:nvSpPr>
        <p:spPr>
          <a:xfrm flipH="1">
            <a:off x="2160270" y="2780157"/>
            <a:ext cx="0" cy="387668"/>
          </a:xfrm>
          <a:prstGeom prst="line">
            <a:avLst/>
          </a:prstGeom>
          <a:ln w="19050" cap="rnd">
            <a:solidFill>
              <a:srgbClr val="DC2D3A"/>
            </a:solidFill>
            <a:prstDash val="solid"/>
            <a:headEnd type="none" w="sm" len="sm"/>
            <a:tailEnd type="triangle" w="lg" len="med"/>
          </a:ln>
        </p:spPr>
        <p:txBody>
          <a:bodyPr/>
          <a:lstStyle/>
          <a:p>
            <a:endParaRPr lang="en-US"/>
          </a:p>
        </p:txBody>
      </p:sp>
      <p:sp>
        <p:nvSpPr>
          <p:cNvPr id="28" name="TextBox 28"/>
          <p:cNvSpPr txBox="1"/>
          <p:nvPr/>
        </p:nvSpPr>
        <p:spPr>
          <a:xfrm>
            <a:off x="2290341" y="2879217"/>
            <a:ext cx="2057400" cy="293370"/>
          </a:xfrm>
          <a:prstGeom prst="rect">
            <a:avLst/>
          </a:prstGeom>
        </p:spPr>
        <p:txBody>
          <a:bodyPr lIns="0" tIns="0" rIns="0" bIns="0" rtlCol="0" anchor="t">
            <a:spAutoFit/>
          </a:bodyPr>
          <a:lstStyle/>
          <a:p>
            <a:pPr algn="l">
              <a:lnSpc>
                <a:spcPts val="1800"/>
              </a:lnSpc>
            </a:pPr>
            <a:r>
              <a:rPr lang="en-US" sz="1500" b="1">
                <a:solidFill>
                  <a:srgbClr val="DC2D3A"/>
                </a:solidFill>
                <a:latin typeface="Arial Bold"/>
                <a:ea typeface="Arial Bold"/>
                <a:cs typeface="Arial Bold"/>
                <a:sym typeface="Arial Bold"/>
              </a:rPr>
              <a:t>USB 3.0</a:t>
            </a:r>
          </a:p>
        </p:txBody>
      </p:sp>
      <p:grpSp>
        <p:nvGrpSpPr>
          <p:cNvPr id="29" name="Group 29"/>
          <p:cNvGrpSpPr/>
          <p:nvPr/>
        </p:nvGrpSpPr>
        <p:grpSpPr>
          <a:xfrm>
            <a:off x="534353" y="3167824"/>
            <a:ext cx="3251835" cy="878967"/>
            <a:chOff x="0" y="0"/>
            <a:chExt cx="4335780" cy="1171956"/>
          </a:xfrm>
        </p:grpSpPr>
        <p:sp>
          <p:nvSpPr>
            <p:cNvPr id="30" name="Freeform 30"/>
            <p:cNvSpPr/>
            <p:nvPr/>
          </p:nvSpPr>
          <p:spPr>
            <a:xfrm>
              <a:off x="0" y="0"/>
              <a:ext cx="4335780" cy="1171956"/>
            </a:xfrm>
            <a:custGeom>
              <a:avLst/>
              <a:gdLst/>
              <a:ahLst/>
              <a:cxnLst/>
              <a:rect l="l" t="t" r="r" b="b"/>
              <a:pathLst>
                <a:path w="4335780" h="1171956">
                  <a:moveTo>
                    <a:pt x="0" y="113411"/>
                  </a:moveTo>
                  <a:cubicBezTo>
                    <a:pt x="0" y="50800"/>
                    <a:pt x="50800" y="0"/>
                    <a:pt x="113411" y="0"/>
                  </a:cubicBezTo>
                  <a:lnTo>
                    <a:pt x="4222369" y="0"/>
                  </a:lnTo>
                  <a:cubicBezTo>
                    <a:pt x="4284980" y="0"/>
                    <a:pt x="4335780" y="50800"/>
                    <a:pt x="4335780" y="113411"/>
                  </a:cubicBezTo>
                  <a:lnTo>
                    <a:pt x="4335780" y="1058545"/>
                  </a:lnTo>
                  <a:cubicBezTo>
                    <a:pt x="4335780" y="1121156"/>
                    <a:pt x="4284980" y="1171956"/>
                    <a:pt x="4222369" y="1171956"/>
                  </a:cubicBezTo>
                  <a:lnTo>
                    <a:pt x="113411" y="1171956"/>
                  </a:lnTo>
                  <a:cubicBezTo>
                    <a:pt x="50800" y="1171956"/>
                    <a:pt x="0" y="1121156"/>
                    <a:pt x="0" y="1058545"/>
                  </a:cubicBezTo>
                  <a:close/>
                </a:path>
              </a:pathLst>
            </a:custGeom>
            <a:solidFill>
              <a:srgbClr val="FDECEE"/>
            </a:solidFill>
            <a:ln w="28575" cap="sq">
              <a:solidFill>
                <a:srgbClr val="DC2D3A"/>
              </a:solidFill>
              <a:prstDash val="solid"/>
              <a:miter/>
            </a:ln>
          </p:spPr>
          <p:txBody>
            <a:bodyPr/>
            <a:lstStyle/>
            <a:p>
              <a:endParaRPr lang="en-US"/>
            </a:p>
          </p:txBody>
        </p:sp>
      </p:grpSp>
      <p:sp>
        <p:nvSpPr>
          <p:cNvPr id="31" name="TextBox 31"/>
          <p:cNvSpPr txBox="1"/>
          <p:nvPr/>
        </p:nvSpPr>
        <p:spPr>
          <a:xfrm>
            <a:off x="651510" y="3259074"/>
            <a:ext cx="3017520" cy="375666"/>
          </a:xfrm>
          <a:prstGeom prst="rect">
            <a:avLst/>
          </a:prstGeom>
        </p:spPr>
        <p:txBody>
          <a:bodyPr lIns="0" tIns="0" rIns="0" bIns="0" rtlCol="0" anchor="t">
            <a:spAutoFit/>
          </a:bodyPr>
          <a:lstStyle/>
          <a:p>
            <a:pPr algn="l">
              <a:lnSpc>
                <a:spcPts val="2340"/>
              </a:lnSpc>
            </a:pPr>
            <a:r>
              <a:rPr lang="en-US" sz="1950" b="1">
                <a:solidFill>
                  <a:srgbClr val="1F2937"/>
                </a:solidFill>
                <a:latin typeface="Arial Bold"/>
                <a:ea typeface="Arial Bold"/>
                <a:cs typeface="Arial Bold"/>
                <a:sym typeface="Arial Bold"/>
              </a:rPr>
              <a:t>Raspberry Pi 5</a:t>
            </a:r>
          </a:p>
        </p:txBody>
      </p:sp>
      <p:sp>
        <p:nvSpPr>
          <p:cNvPr id="32" name="TextBox 32"/>
          <p:cNvSpPr txBox="1"/>
          <p:nvPr/>
        </p:nvSpPr>
        <p:spPr>
          <a:xfrm>
            <a:off x="651510" y="3629406"/>
            <a:ext cx="3017520" cy="293370"/>
          </a:xfrm>
          <a:prstGeom prst="rect">
            <a:avLst/>
          </a:prstGeom>
        </p:spPr>
        <p:txBody>
          <a:bodyPr lIns="0" tIns="0" rIns="0" bIns="0" rtlCol="0" anchor="t">
            <a:spAutoFit/>
          </a:bodyPr>
          <a:lstStyle/>
          <a:p>
            <a:pPr algn="l">
              <a:lnSpc>
                <a:spcPts val="1800"/>
              </a:lnSpc>
            </a:pPr>
            <a:r>
              <a:rPr lang="en-US" sz="1500">
                <a:solidFill>
                  <a:srgbClr val="6B7280"/>
                </a:solidFill>
                <a:latin typeface="Arial"/>
                <a:ea typeface="Arial"/>
                <a:cs typeface="Arial"/>
                <a:sym typeface="Arial"/>
              </a:rPr>
              <a:t>Máy tính nhúng</a:t>
            </a:r>
          </a:p>
        </p:txBody>
      </p:sp>
      <p:grpSp>
        <p:nvGrpSpPr>
          <p:cNvPr id="33" name="Group 33"/>
          <p:cNvGrpSpPr/>
          <p:nvPr/>
        </p:nvGrpSpPr>
        <p:grpSpPr>
          <a:xfrm>
            <a:off x="4046220" y="3182112"/>
            <a:ext cx="4526280" cy="850392"/>
            <a:chOff x="0" y="0"/>
            <a:chExt cx="6035040" cy="1133856"/>
          </a:xfrm>
        </p:grpSpPr>
        <p:sp>
          <p:nvSpPr>
            <p:cNvPr id="34" name="Freeform 34"/>
            <p:cNvSpPr/>
            <p:nvPr/>
          </p:nvSpPr>
          <p:spPr>
            <a:xfrm>
              <a:off x="0" y="0"/>
              <a:ext cx="6035040" cy="1133856"/>
            </a:xfrm>
            <a:custGeom>
              <a:avLst/>
              <a:gdLst/>
              <a:ahLst/>
              <a:cxnLst/>
              <a:rect l="l" t="t" r="r" b="b"/>
              <a:pathLst>
                <a:path w="6035040" h="1133856">
                  <a:moveTo>
                    <a:pt x="0" y="0"/>
                  </a:moveTo>
                  <a:lnTo>
                    <a:pt x="6035040" y="0"/>
                  </a:lnTo>
                  <a:lnTo>
                    <a:pt x="6035040" y="1133856"/>
                  </a:lnTo>
                  <a:lnTo>
                    <a:pt x="0" y="1133856"/>
                  </a:lnTo>
                  <a:close/>
                </a:path>
              </a:pathLst>
            </a:custGeom>
            <a:blipFill>
              <a:blip r:embed="rId3">
                <a:alphaModFix amt="0"/>
              </a:blip>
              <a:stretch>
                <a:fillRect t="-53710" b="-53710"/>
              </a:stretch>
            </a:blipFill>
          </p:spPr>
          <p:txBody>
            <a:bodyPr/>
            <a:lstStyle/>
            <a:p>
              <a:endParaRPr lang="en-US"/>
            </a:p>
          </p:txBody>
        </p:sp>
        <p:sp>
          <p:nvSpPr>
            <p:cNvPr id="35" name="TextBox 35"/>
            <p:cNvSpPr txBox="1"/>
            <p:nvPr/>
          </p:nvSpPr>
          <p:spPr>
            <a:xfrm>
              <a:off x="0" y="-19050"/>
              <a:ext cx="6035040" cy="1152906"/>
            </a:xfrm>
            <a:prstGeom prst="rect">
              <a:avLst/>
            </a:prstGeom>
          </p:spPr>
          <p:txBody>
            <a:bodyPr lIns="0" tIns="0" rIns="0" bIns="0" rtlCol="0" anchor="ctr"/>
            <a:lstStyle/>
            <a:p>
              <a:pPr algn="l">
                <a:lnSpc>
                  <a:spcPts val="1980"/>
                </a:lnSpc>
              </a:pPr>
              <a:r>
                <a:rPr lang="en-US" sz="1650">
                  <a:solidFill>
                    <a:srgbClr val="374151"/>
                  </a:solidFill>
                  <a:latin typeface="Arial"/>
                  <a:ea typeface="Arial"/>
                  <a:cs typeface="Arial"/>
                  <a:sym typeface="Arial"/>
                </a:rPr>
                <a:t>Chạy xử lý ảnh và các chức năng thuật toán đã triển khai</a:t>
              </a:r>
            </a:p>
          </p:txBody>
        </p:sp>
      </p:grpSp>
      <p:sp>
        <p:nvSpPr>
          <p:cNvPr id="36" name="AutoShape 36"/>
          <p:cNvSpPr/>
          <p:nvPr/>
        </p:nvSpPr>
        <p:spPr>
          <a:xfrm>
            <a:off x="2160270" y="4046792"/>
            <a:ext cx="0" cy="387668"/>
          </a:xfrm>
          <a:prstGeom prst="line">
            <a:avLst/>
          </a:prstGeom>
          <a:ln w="19050" cap="rnd">
            <a:solidFill>
              <a:srgbClr val="DC2D3A"/>
            </a:solidFill>
            <a:prstDash val="solid"/>
            <a:headEnd type="none" w="sm" len="sm"/>
            <a:tailEnd type="triangle" w="lg" len="med"/>
          </a:ln>
        </p:spPr>
        <p:txBody>
          <a:bodyPr/>
          <a:lstStyle/>
          <a:p>
            <a:endParaRPr lang="en-US"/>
          </a:p>
        </p:txBody>
      </p:sp>
      <p:sp>
        <p:nvSpPr>
          <p:cNvPr id="37" name="TextBox 37"/>
          <p:cNvSpPr txBox="1"/>
          <p:nvPr/>
        </p:nvSpPr>
        <p:spPr>
          <a:xfrm>
            <a:off x="2290341" y="4113466"/>
            <a:ext cx="2057400" cy="293370"/>
          </a:xfrm>
          <a:prstGeom prst="rect">
            <a:avLst/>
          </a:prstGeom>
        </p:spPr>
        <p:txBody>
          <a:bodyPr lIns="0" tIns="0" rIns="0" bIns="0" rtlCol="0" anchor="t">
            <a:spAutoFit/>
          </a:bodyPr>
          <a:lstStyle/>
          <a:p>
            <a:pPr algn="l">
              <a:lnSpc>
                <a:spcPts val="1800"/>
              </a:lnSpc>
            </a:pPr>
            <a:r>
              <a:rPr lang="en-US" sz="1500" b="1">
                <a:solidFill>
                  <a:srgbClr val="DC2D3A"/>
                </a:solidFill>
                <a:latin typeface="Arial Bold"/>
                <a:ea typeface="Arial Bold"/>
                <a:cs typeface="Arial Bold"/>
                <a:sym typeface="Arial Bold"/>
              </a:rPr>
              <a:t>UART / TELEM2</a:t>
            </a:r>
          </a:p>
        </p:txBody>
      </p:sp>
      <p:grpSp>
        <p:nvGrpSpPr>
          <p:cNvPr id="38" name="Group 38"/>
          <p:cNvGrpSpPr/>
          <p:nvPr/>
        </p:nvGrpSpPr>
        <p:grpSpPr>
          <a:xfrm>
            <a:off x="539115" y="4434459"/>
            <a:ext cx="3242310" cy="869442"/>
            <a:chOff x="0" y="0"/>
            <a:chExt cx="4323080" cy="1159256"/>
          </a:xfrm>
        </p:grpSpPr>
        <p:sp>
          <p:nvSpPr>
            <p:cNvPr id="39" name="Freeform 39"/>
            <p:cNvSpPr/>
            <p:nvPr/>
          </p:nvSpPr>
          <p:spPr>
            <a:xfrm>
              <a:off x="0" y="0"/>
              <a:ext cx="4323080" cy="1159256"/>
            </a:xfrm>
            <a:custGeom>
              <a:avLst/>
              <a:gdLst/>
              <a:ahLst/>
              <a:cxnLst/>
              <a:rect l="l" t="t" r="r" b="b"/>
              <a:pathLst>
                <a:path w="4323080" h="1159256">
                  <a:moveTo>
                    <a:pt x="0" y="112141"/>
                  </a:moveTo>
                  <a:cubicBezTo>
                    <a:pt x="0" y="50165"/>
                    <a:pt x="50165" y="0"/>
                    <a:pt x="112141" y="0"/>
                  </a:cubicBezTo>
                  <a:lnTo>
                    <a:pt x="4210939" y="0"/>
                  </a:lnTo>
                  <a:cubicBezTo>
                    <a:pt x="4272915" y="0"/>
                    <a:pt x="4323080" y="50165"/>
                    <a:pt x="4323080" y="112141"/>
                  </a:cubicBezTo>
                  <a:lnTo>
                    <a:pt x="4323080" y="1047115"/>
                  </a:lnTo>
                  <a:cubicBezTo>
                    <a:pt x="4323080" y="1109091"/>
                    <a:pt x="4272915" y="1159256"/>
                    <a:pt x="4210939" y="1159256"/>
                  </a:cubicBezTo>
                  <a:lnTo>
                    <a:pt x="112141" y="1159256"/>
                  </a:lnTo>
                  <a:cubicBezTo>
                    <a:pt x="50165" y="1159256"/>
                    <a:pt x="0" y="1109091"/>
                    <a:pt x="0" y="1047115"/>
                  </a:cubicBezTo>
                  <a:close/>
                </a:path>
              </a:pathLst>
            </a:custGeom>
            <a:solidFill>
              <a:srgbClr val="F2F3F5"/>
            </a:solidFill>
            <a:ln w="19050" cap="sq">
              <a:solidFill>
                <a:srgbClr val="D1D5DB"/>
              </a:solidFill>
              <a:prstDash val="solid"/>
              <a:miter/>
            </a:ln>
          </p:spPr>
          <p:txBody>
            <a:bodyPr/>
            <a:lstStyle/>
            <a:p>
              <a:endParaRPr lang="en-US"/>
            </a:p>
          </p:txBody>
        </p:sp>
      </p:grpSp>
      <p:sp>
        <p:nvSpPr>
          <p:cNvPr id="40" name="TextBox 40"/>
          <p:cNvSpPr txBox="1"/>
          <p:nvPr/>
        </p:nvSpPr>
        <p:spPr>
          <a:xfrm>
            <a:off x="651510" y="4520946"/>
            <a:ext cx="3017520" cy="375666"/>
          </a:xfrm>
          <a:prstGeom prst="rect">
            <a:avLst/>
          </a:prstGeom>
        </p:spPr>
        <p:txBody>
          <a:bodyPr lIns="0" tIns="0" rIns="0" bIns="0" rtlCol="0" anchor="t">
            <a:spAutoFit/>
          </a:bodyPr>
          <a:lstStyle/>
          <a:p>
            <a:pPr algn="l">
              <a:lnSpc>
                <a:spcPts val="2340"/>
              </a:lnSpc>
            </a:pPr>
            <a:r>
              <a:rPr lang="en-US" sz="1950" b="1">
                <a:solidFill>
                  <a:srgbClr val="1F2937"/>
                </a:solidFill>
                <a:latin typeface="Arial Bold"/>
                <a:ea typeface="Arial Bold"/>
                <a:cs typeface="Arial Bold"/>
                <a:sym typeface="Arial Bold"/>
              </a:rPr>
              <a:t>Pixhawk 6C · PX4</a:t>
            </a:r>
          </a:p>
        </p:txBody>
      </p:sp>
      <p:sp>
        <p:nvSpPr>
          <p:cNvPr id="41" name="TextBox 41"/>
          <p:cNvSpPr txBox="1"/>
          <p:nvPr/>
        </p:nvSpPr>
        <p:spPr>
          <a:xfrm>
            <a:off x="651510" y="4891278"/>
            <a:ext cx="3017520" cy="293370"/>
          </a:xfrm>
          <a:prstGeom prst="rect">
            <a:avLst/>
          </a:prstGeom>
        </p:spPr>
        <p:txBody>
          <a:bodyPr lIns="0" tIns="0" rIns="0" bIns="0" rtlCol="0" anchor="t">
            <a:spAutoFit/>
          </a:bodyPr>
          <a:lstStyle/>
          <a:p>
            <a:pPr algn="l">
              <a:lnSpc>
                <a:spcPts val="1800"/>
              </a:lnSpc>
            </a:pPr>
            <a:r>
              <a:rPr lang="en-US" sz="1500">
                <a:solidFill>
                  <a:srgbClr val="6B7280"/>
                </a:solidFill>
                <a:latin typeface="Arial"/>
                <a:ea typeface="Arial"/>
                <a:cs typeface="Arial"/>
                <a:sym typeface="Arial"/>
              </a:rPr>
              <a:t>Flight controller</a:t>
            </a:r>
          </a:p>
        </p:txBody>
      </p:sp>
      <p:grpSp>
        <p:nvGrpSpPr>
          <p:cNvPr id="42" name="Group 42"/>
          <p:cNvGrpSpPr/>
          <p:nvPr/>
        </p:nvGrpSpPr>
        <p:grpSpPr>
          <a:xfrm>
            <a:off x="4046220" y="4443984"/>
            <a:ext cx="4526280" cy="850392"/>
            <a:chOff x="0" y="0"/>
            <a:chExt cx="6035040" cy="1133856"/>
          </a:xfrm>
        </p:grpSpPr>
        <p:sp>
          <p:nvSpPr>
            <p:cNvPr id="43" name="Freeform 43"/>
            <p:cNvSpPr/>
            <p:nvPr/>
          </p:nvSpPr>
          <p:spPr>
            <a:xfrm>
              <a:off x="0" y="0"/>
              <a:ext cx="6035040" cy="1133856"/>
            </a:xfrm>
            <a:custGeom>
              <a:avLst/>
              <a:gdLst/>
              <a:ahLst/>
              <a:cxnLst/>
              <a:rect l="l" t="t" r="r" b="b"/>
              <a:pathLst>
                <a:path w="6035040" h="1133856">
                  <a:moveTo>
                    <a:pt x="0" y="0"/>
                  </a:moveTo>
                  <a:lnTo>
                    <a:pt x="6035040" y="0"/>
                  </a:lnTo>
                  <a:lnTo>
                    <a:pt x="6035040" y="1133856"/>
                  </a:lnTo>
                  <a:lnTo>
                    <a:pt x="0" y="1133856"/>
                  </a:lnTo>
                  <a:close/>
                </a:path>
              </a:pathLst>
            </a:custGeom>
            <a:blipFill>
              <a:blip r:embed="rId3">
                <a:alphaModFix amt="0"/>
              </a:blip>
              <a:stretch>
                <a:fillRect t="-53710" b="-53710"/>
              </a:stretch>
            </a:blipFill>
          </p:spPr>
          <p:txBody>
            <a:bodyPr/>
            <a:lstStyle/>
            <a:p>
              <a:endParaRPr lang="en-US"/>
            </a:p>
          </p:txBody>
        </p:sp>
        <p:sp>
          <p:nvSpPr>
            <p:cNvPr id="44" name="TextBox 44"/>
            <p:cNvSpPr txBox="1"/>
            <p:nvPr/>
          </p:nvSpPr>
          <p:spPr>
            <a:xfrm>
              <a:off x="0" y="-19050"/>
              <a:ext cx="6035040" cy="1152906"/>
            </a:xfrm>
            <a:prstGeom prst="rect">
              <a:avLst/>
            </a:prstGeom>
          </p:spPr>
          <p:txBody>
            <a:bodyPr lIns="0" tIns="0" rIns="0" bIns="0" rtlCol="0" anchor="ctr"/>
            <a:lstStyle/>
            <a:p>
              <a:pPr algn="l">
                <a:lnSpc>
                  <a:spcPts val="1980"/>
                </a:lnSpc>
              </a:pPr>
              <a:r>
                <a:rPr lang="en-US" sz="1650">
                  <a:solidFill>
                    <a:srgbClr val="374151"/>
                  </a:solidFill>
                  <a:latin typeface="Arial"/>
                  <a:ea typeface="Arial"/>
                  <a:cs typeface="Arial"/>
                  <a:sym typeface="Arial"/>
                </a:rPr>
                <a:t>Điều khiển bay theo lệnh gửi từ máy tính nhúng</a:t>
              </a:r>
            </a:p>
          </p:txBody>
        </p:sp>
      </p:grpSp>
      <p:sp>
        <p:nvSpPr>
          <p:cNvPr id="45" name="AutoShape 45"/>
          <p:cNvSpPr/>
          <p:nvPr/>
        </p:nvSpPr>
        <p:spPr>
          <a:xfrm flipH="1">
            <a:off x="2160270" y="5339433"/>
            <a:ext cx="0" cy="324132"/>
          </a:xfrm>
          <a:prstGeom prst="line">
            <a:avLst/>
          </a:prstGeom>
          <a:ln w="19050" cap="rnd">
            <a:solidFill>
              <a:srgbClr val="DC2D3A"/>
            </a:solidFill>
            <a:prstDash val="solid"/>
            <a:headEnd type="none" w="sm" len="sm"/>
            <a:tailEnd type="triangle" w="lg" len="med"/>
          </a:ln>
        </p:spPr>
        <p:txBody>
          <a:bodyPr/>
          <a:lstStyle/>
          <a:p>
            <a:endParaRPr lang="en-US"/>
          </a:p>
        </p:txBody>
      </p:sp>
      <p:grpSp>
        <p:nvGrpSpPr>
          <p:cNvPr id="46" name="Group 46"/>
          <p:cNvGrpSpPr/>
          <p:nvPr/>
        </p:nvGrpSpPr>
        <p:grpSpPr>
          <a:xfrm>
            <a:off x="539115" y="5696331"/>
            <a:ext cx="3242310" cy="869442"/>
            <a:chOff x="0" y="0"/>
            <a:chExt cx="4323080" cy="1159256"/>
          </a:xfrm>
        </p:grpSpPr>
        <p:sp>
          <p:nvSpPr>
            <p:cNvPr id="47" name="Freeform 47"/>
            <p:cNvSpPr/>
            <p:nvPr/>
          </p:nvSpPr>
          <p:spPr>
            <a:xfrm>
              <a:off x="0" y="0"/>
              <a:ext cx="4323080" cy="1159256"/>
            </a:xfrm>
            <a:custGeom>
              <a:avLst/>
              <a:gdLst/>
              <a:ahLst/>
              <a:cxnLst/>
              <a:rect l="l" t="t" r="r" b="b"/>
              <a:pathLst>
                <a:path w="4323080" h="1159256">
                  <a:moveTo>
                    <a:pt x="0" y="112141"/>
                  </a:moveTo>
                  <a:cubicBezTo>
                    <a:pt x="0" y="50165"/>
                    <a:pt x="50165" y="0"/>
                    <a:pt x="112141" y="0"/>
                  </a:cubicBezTo>
                  <a:lnTo>
                    <a:pt x="4210939" y="0"/>
                  </a:lnTo>
                  <a:cubicBezTo>
                    <a:pt x="4272915" y="0"/>
                    <a:pt x="4323080" y="50165"/>
                    <a:pt x="4323080" y="112141"/>
                  </a:cubicBezTo>
                  <a:lnTo>
                    <a:pt x="4323080" y="1047115"/>
                  </a:lnTo>
                  <a:cubicBezTo>
                    <a:pt x="4323080" y="1109091"/>
                    <a:pt x="4272915" y="1159256"/>
                    <a:pt x="4210939" y="1159256"/>
                  </a:cubicBezTo>
                  <a:lnTo>
                    <a:pt x="112141" y="1159256"/>
                  </a:lnTo>
                  <a:cubicBezTo>
                    <a:pt x="50165" y="1159256"/>
                    <a:pt x="0" y="1109091"/>
                    <a:pt x="0" y="1047115"/>
                  </a:cubicBezTo>
                  <a:close/>
                </a:path>
              </a:pathLst>
            </a:custGeom>
            <a:solidFill>
              <a:srgbClr val="F2F3F5"/>
            </a:solidFill>
            <a:ln w="19050" cap="sq">
              <a:solidFill>
                <a:srgbClr val="D1D5DB"/>
              </a:solidFill>
              <a:prstDash val="solid"/>
              <a:miter/>
            </a:ln>
          </p:spPr>
          <p:txBody>
            <a:bodyPr/>
            <a:lstStyle/>
            <a:p>
              <a:endParaRPr lang="en-US"/>
            </a:p>
          </p:txBody>
        </p:sp>
      </p:grpSp>
      <p:sp>
        <p:nvSpPr>
          <p:cNvPr id="48" name="TextBox 48"/>
          <p:cNvSpPr txBox="1"/>
          <p:nvPr/>
        </p:nvSpPr>
        <p:spPr>
          <a:xfrm>
            <a:off x="651510" y="5782818"/>
            <a:ext cx="3017520" cy="375666"/>
          </a:xfrm>
          <a:prstGeom prst="rect">
            <a:avLst/>
          </a:prstGeom>
        </p:spPr>
        <p:txBody>
          <a:bodyPr lIns="0" tIns="0" rIns="0" bIns="0" rtlCol="0" anchor="t">
            <a:spAutoFit/>
          </a:bodyPr>
          <a:lstStyle/>
          <a:p>
            <a:pPr algn="l">
              <a:lnSpc>
                <a:spcPts val="2340"/>
              </a:lnSpc>
            </a:pPr>
            <a:r>
              <a:rPr lang="en-US" sz="1950" b="1">
                <a:solidFill>
                  <a:srgbClr val="1F2937"/>
                </a:solidFill>
                <a:latin typeface="Arial Bold"/>
                <a:ea typeface="Arial Bold"/>
                <a:cs typeface="Arial Bold"/>
                <a:sym typeface="Arial Bold"/>
              </a:rPr>
              <a:t>Quadrotor</a:t>
            </a:r>
          </a:p>
        </p:txBody>
      </p:sp>
      <p:sp>
        <p:nvSpPr>
          <p:cNvPr id="49" name="TextBox 49"/>
          <p:cNvSpPr txBox="1"/>
          <p:nvPr/>
        </p:nvSpPr>
        <p:spPr>
          <a:xfrm>
            <a:off x="651510" y="6153150"/>
            <a:ext cx="3017520" cy="293370"/>
          </a:xfrm>
          <a:prstGeom prst="rect">
            <a:avLst/>
          </a:prstGeom>
        </p:spPr>
        <p:txBody>
          <a:bodyPr lIns="0" tIns="0" rIns="0" bIns="0" rtlCol="0" anchor="t">
            <a:spAutoFit/>
          </a:bodyPr>
          <a:lstStyle/>
          <a:p>
            <a:pPr algn="l">
              <a:lnSpc>
                <a:spcPts val="1800"/>
              </a:lnSpc>
            </a:pPr>
            <a:r>
              <a:rPr lang="en-US" sz="1500">
                <a:solidFill>
                  <a:srgbClr val="6B7280"/>
                </a:solidFill>
                <a:latin typeface="Arial"/>
                <a:ea typeface="Arial"/>
                <a:cs typeface="Arial"/>
                <a:sym typeface="Arial"/>
              </a:rPr>
              <a:t>Khung + động cơ</a:t>
            </a:r>
          </a:p>
        </p:txBody>
      </p:sp>
      <p:grpSp>
        <p:nvGrpSpPr>
          <p:cNvPr id="50" name="Group 50"/>
          <p:cNvGrpSpPr/>
          <p:nvPr/>
        </p:nvGrpSpPr>
        <p:grpSpPr>
          <a:xfrm>
            <a:off x="4046220" y="5705856"/>
            <a:ext cx="4526280" cy="850392"/>
            <a:chOff x="0" y="0"/>
            <a:chExt cx="6035040" cy="1133856"/>
          </a:xfrm>
        </p:grpSpPr>
        <p:sp>
          <p:nvSpPr>
            <p:cNvPr id="51" name="Freeform 51"/>
            <p:cNvSpPr/>
            <p:nvPr/>
          </p:nvSpPr>
          <p:spPr>
            <a:xfrm>
              <a:off x="0" y="0"/>
              <a:ext cx="6035040" cy="1133856"/>
            </a:xfrm>
            <a:custGeom>
              <a:avLst/>
              <a:gdLst/>
              <a:ahLst/>
              <a:cxnLst/>
              <a:rect l="l" t="t" r="r" b="b"/>
              <a:pathLst>
                <a:path w="6035040" h="1133856">
                  <a:moveTo>
                    <a:pt x="0" y="0"/>
                  </a:moveTo>
                  <a:lnTo>
                    <a:pt x="6035040" y="0"/>
                  </a:lnTo>
                  <a:lnTo>
                    <a:pt x="6035040" y="1133856"/>
                  </a:lnTo>
                  <a:lnTo>
                    <a:pt x="0" y="1133856"/>
                  </a:lnTo>
                  <a:close/>
                </a:path>
              </a:pathLst>
            </a:custGeom>
            <a:blipFill>
              <a:blip r:embed="rId3">
                <a:alphaModFix amt="0"/>
              </a:blip>
              <a:stretch>
                <a:fillRect t="-53710" b="-53710"/>
              </a:stretch>
            </a:blipFill>
          </p:spPr>
          <p:txBody>
            <a:bodyPr/>
            <a:lstStyle/>
            <a:p>
              <a:endParaRPr lang="en-US"/>
            </a:p>
          </p:txBody>
        </p:sp>
        <p:sp>
          <p:nvSpPr>
            <p:cNvPr id="52" name="TextBox 52"/>
            <p:cNvSpPr txBox="1"/>
            <p:nvPr/>
          </p:nvSpPr>
          <p:spPr>
            <a:xfrm>
              <a:off x="0" y="-19050"/>
              <a:ext cx="6035040" cy="1152906"/>
            </a:xfrm>
            <a:prstGeom prst="rect">
              <a:avLst/>
            </a:prstGeom>
          </p:spPr>
          <p:txBody>
            <a:bodyPr lIns="0" tIns="0" rIns="0" bIns="0" rtlCol="0" anchor="ctr"/>
            <a:lstStyle/>
            <a:p>
              <a:pPr algn="l">
                <a:lnSpc>
                  <a:spcPts val="1980"/>
                </a:lnSpc>
              </a:pPr>
              <a:r>
                <a:rPr lang="en-US" sz="1650">
                  <a:solidFill>
                    <a:srgbClr val="374151"/>
                  </a:solidFill>
                  <a:latin typeface="Arial"/>
                  <a:ea typeface="Arial"/>
                  <a:cs typeface="Arial"/>
                  <a:sym typeface="Arial"/>
                </a:rPr>
                <a:t>Thực thi chuyển động</a:t>
              </a:r>
            </a:p>
          </p:txBody>
        </p:sp>
      </p:grpSp>
      <p:sp>
        <p:nvSpPr>
          <p:cNvPr id="53" name="TextBox 53"/>
          <p:cNvSpPr txBox="1"/>
          <p:nvPr/>
        </p:nvSpPr>
        <p:spPr>
          <a:xfrm>
            <a:off x="548640" y="6674358"/>
            <a:ext cx="7955280" cy="375666"/>
          </a:xfrm>
          <a:prstGeom prst="rect">
            <a:avLst/>
          </a:prstGeom>
        </p:spPr>
        <p:txBody>
          <a:bodyPr lIns="0" tIns="0" rIns="0" bIns="0" rtlCol="0" anchor="t">
            <a:spAutoFit/>
          </a:bodyPr>
          <a:lstStyle/>
          <a:p>
            <a:pPr algn="l">
              <a:lnSpc>
                <a:spcPts val="2340"/>
              </a:lnSpc>
            </a:pPr>
            <a:r>
              <a:rPr lang="en-US" sz="1950" b="1">
                <a:solidFill>
                  <a:srgbClr val="1F7A8C"/>
                </a:solidFill>
                <a:latin typeface="Arial Bold"/>
                <a:ea typeface="Arial Bold"/>
                <a:cs typeface="Arial Bold"/>
                <a:sym typeface="Arial Bold"/>
              </a:rPr>
              <a:t>HẠNG MỤC TRIỂN KHAI VÀ KIỂM TRA</a:t>
            </a:r>
          </a:p>
        </p:txBody>
      </p:sp>
      <p:grpSp>
        <p:nvGrpSpPr>
          <p:cNvPr id="54" name="Group 54"/>
          <p:cNvGrpSpPr/>
          <p:nvPr/>
        </p:nvGrpSpPr>
        <p:grpSpPr>
          <a:xfrm>
            <a:off x="548640" y="7159752"/>
            <a:ext cx="4046220" cy="905256"/>
            <a:chOff x="0" y="0"/>
            <a:chExt cx="5394960" cy="1207008"/>
          </a:xfrm>
        </p:grpSpPr>
        <p:sp>
          <p:nvSpPr>
            <p:cNvPr id="55" name="Freeform 55"/>
            <p:cNvSpPr/>
            <p:nvPr/>
          </p:nvSpPr>
          <p:spPr>
            <a:xfrm>
              <a:off x="0" y="0"/>
              <a:ext cx="5394960" cy="1207008"/>
            </a:xfrm>
            <a:custGeom>
              <a:avLst/>
              <a:gdLst/>
              <a:ahLst/>
              <a:cxnLst/>
              <a:rect l="l" t="t" r="r" b="b"/>
              <a:pathLst>
                <a:path w="5394960" h="1207008">
                  <a:moveTo>
                    <a:pt x="0" y="109728"/>
                  </a:moveTo>
                  <a:cubicBezTo>
                    <a:pt x="0" y="49149"/>
                    <a:pt x="49149" y="0"/>
                    <a:pt x="109728" y="0"/>
                  </a:cubicBezTo>
                  <a:lnTo>
                    <a:pt x="5285232" y="0"/>
                  </a:lnTo>
                  <a:cubicBezTo>
                    <a:pt x="5345811" y="0"/>
                    <a:pt x="5394960" y="49149"/>
                    <a:pt x="5394960" y="109728"/>
                  </a:cubicBezTo>
                  <a:lnTo>
                    <a:pt x="5394960" y="1097280"/>
                  </a:lnTo>
                  <a:cubicBezTo>
                    <a:pt x="5394960" y="1157859"/>
                    <a:pt x="5345811" y="1207008"/>
                    <a:pt x="5285232" y="1207008"/>
                  </a:cubicBezTo>
                  <a:lnTo>
                    <a:pt x="109728" y="1207008"/>
                  </a:lnTo>
                  <a:cubicBezTo>
                    <a:pt x="49149" y="1207008"/>
                    <a:pt x="0" y="1157859"/>
                    <a:pt x="0" y="1097280"/>
                  </a:cubicBezTo>
                  <a:close/>
                </a:path>
              </a:pathLst>
            </a:custGeom>
            <a:solidFill>
              <a:srgbClr val="E3F1F4"/>
            </a:solidFill>
          </p:spPr>
          <p:txBody>
            <a:bodyPr/>
            <a:lstStyle/>
            <a:p>
              <a:endParaRPr lang="en-US"/>
            </a:p>
          </p:txBody>
        </p:sp>
      </p:grpSp>
      <p:grpSp>
        <p:nvGrpSpPr>
          <p:cNvPr id="56" name="Group 56"/>
          <p:cNvGrpSpPr/>
          <p:nvPr/>
        </p:nvGrpSpPr>
        <p:grpSpPr>
          <a:xfrm>
            <a:off x="685800" y="7406640"/>
            <a:ext cx="411480" cy="411480"/>
            <a:chOff x="0" y="0"/>
            <a:chExt cx="548640" cy="548640"/>
          </a:xfrm>
        </p:grpSpPr>
        <p:sp>
          <p:nvSpPr>
            <p:cNvPr id="57" name="Freeform 57"/>
            <p:cNvSpPr/>
            <p:nvPr/>
          </p:nvSpPr>
          <p:spPr>
            <a:xfrm>
              <a:off x="0" y="0"/>
              <a:ext cx="548640" cy="548640"/>
            </a:xfrm>
            <a:custGeom>
              <a:avLst/>
              <a:gdLst/>
              <a:ahLst/>
              <a:cxnLst/>
              <a:rect l="l" t="t" r="r" b="b"/>
              <a:pathLst>
                <a:path w="548640" h="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1F7A8C"/>
            </a:solidFill>
          </p:spPr>
          <p:txBody>
            <a:bodyPr/>
            <a:lstStyle/>
            <a:p>
              <a:endParaRPr lang="en-US"/>
            </a:p>
          </p:txBody>
        </p:sp>
        <p:sp>
          <p:nvSpPr>
            <p:cNvPr id="58" name="TextBox 58"/>
            <p:cNvSpPr txBox="1"/>
            <p:nvPr/>
          </p:nvSpPr>
          <p:spPr>
            <a:xfrm>
              <a:off x="0" y="-19050"/>
              <a:ext cx="548640" cy="567690"/>
            </a:xfrm>
            <a:prstGeom prst="rect">
              <a:avLst/>
            </a:prstGeom>
          </p:spPr>
          <p:txBody>
            <a:bodyPr lIns="50800" tIns="50800" rIns="50800" bIns="50800" rtlCol="0" anchor="ctr"/>
            <a:lstStyle/>
            <a:p>
              <a:pPr algn="ctr">
                <a:lnSpc>
                  <a:spcPts val="2160"/>
                </a:lnSpc>
              </a:pPr>
              <a:r>
                <a:rPr lang="en-US" sz="1800" b="1">
                  <a:solidFill>
                    <a:srgbClr val="FFFFFF"/>
                  </a:solidFill>
                  <a:latin typeface="Arial Bold"/>
                  <a:ea typeface="Arial Bold"/>
                  <a:cs typeface="Arial Bold"/>
                  <a:sym typeface="Arial Bold"/>
                </a:rPr>
                <a:t>1</a:t>
              </a:r>
            </a:p>
          </p:txBody>
        </p:sp>
      </p:grpSp>
      <p:sp>
        <p:nvSpPr>
          <p:cNvPr id="59" name="TextBox 59"/>
          <p:cNvSpPr txBox="1"/>
          <p:nvPr/>
        </p:nvSpPr>
        <p:spPr>
          <a:xfrm>
            <a:off x="1234440" y="7250430"/>
            <a:ext cx="3291840" cy="348234"/>
          </a:xfrm>
          <a:prstGeom prst="rect">
            <a:avLst/>
          </a:prstGeom>
        </p:spPr>
        <p:txBody>
          <a:bodyPr lIns="0" tIns="0" rIns="0" bIns="0" rtlCol="0" anchor="t">
            <a:spAutoFit/>
          </a:bodyPr>
          <a:lstStyle/>
          <a:p>
            <a:pPr algn="l">
              <a:lnSpc>
                <a:spcPts val="2070"/>
              </a:lnSpc>
            </a:pPr>
            <a:r>
              <a:rPr lang="en-US" sz="1725" b="1">
                <a:solidFill>
                  <a:srgbClr val="1F2937"/>
                </a:solidFill>
                <a:latin typeface="Arial Bold"/>
                <a:ea typeface="Arial Bold"/>
                <a:cs typeface="Arial Bold"/>
                <a:sym typeface="Arial Bold"/>
              </a:rPr>
              <a:t>C++20 trên Raspberry Pi 5</a:t>
            </a:r>
          </a:p>
        </p:txBody>
      </p:sp>
      <p:sp>
        <p:nvSpPr>
          <p:cNvPr id="60" name="TextBox 60"/>
          <p:cNvSpPr txBox="1"/>
          <p:nvPr/>
        </p:nvSpPr>
        <p:spPr>
          <a:xfrm>
            <a:off x="1234440" y="7607046"/>
            <a:ext cx="3291840" cy="320802"/>
          </a:xfrm>
          <a:prstGeom prst="rect">
            <a:avLst/>
          </a:prstGeom>
        </p:spPr>
        <p:txBody>
          <a:bodyPr lIns="0" tIns="0" rIns="0" bIns="0" rtlCol="0" anchor="t">
            <a:spAutoFit/>
          </a:bodyPr>
          <a:lstStyle/>
          <a:p>
            <a:pPr algn="l">
              <a:lnSpc>
                <a:spcPts val="1800"/>
              </a:lnSpc>
            </a:pPr>
            <a:r>
              <a:rPr lang="en-US" sz="1500">
                <a:solidFill>
                  <a:srgbClr val="374151"/>
                </a:solidFill>
                <a:latin typeface="Arial"/>
                <a:ea typeface="Arial"/>
                <a:cs typeface="Arial"/>
                <a:sym typeface="Arial"/>
              </a:rPr>
              <a:t>Xử lý ảnh, tích hợp phần mềm</a:t>
            </a:r>
          </a:p>
        </p:txBody>
      </p:sp>
      <p:grpSp>
        <p:nvGrpSpPr>
          <p:cNvPr id="61" name="Group 61"/>
          <p:cNvGrpSpPr/>
          <p:nvPr/>
        </p:nvGrpSpPr>
        <p:grpSpPr>
          <a:xfrm>
            <a:off x="4800600" y="7159752"/>
            <a:ext cx="4046220" cy="905256"/>
            <a:chOff x="0" y="0"/>
            <a:chExt cx="5394960" cy="1207008"/>
          </a:xfrm>
        </p:grpSpPr>
        <p:sp>
          <p:nvSpPr>
            <p:cNvPr id="62" name="Freeform 62"/>
            <p:cNvSpPr/>
            <p:nvPr/>
          </p:nvSpPr>
          <p:spPr>
            <a:xfrm>
              <a:off x="0" y="0"/>
              <a:ext cx="5394960" cy="1207008"/>
            </a:xfrm>
            <a:custGeom>
              <a:avLst/>
              <a:gdLst/>
              <a:ahLst/>
              <a:cxnLst/>
              <a:rect l="l" t="t" r="r" b="b"/>
              <a:pathLst>
                <a:path w="5394960" h="1207008">
                  <a:moveTo>
                    <a:pt x="0" y="109728"/>
                  </a:moveTo>
                  <a:cubicBezTo>
                    <a:pt x="0" y="49149"/>
                    <a:pt x="49149" y="0"/>
                    <a:pt x="109728" y="0"/>
                  </a:cubicBezTo>
                  <a:lnTo>
                    <a:pt x="5285232" y="0"/>
                  </a:lnTo>
                  <a:cubicBezTo>
                    <a:pt x="5345811" y="0"/>
                    <a:pt x="5394960" y="49149"/>
                    <a:pt x="5394960" y="109728"/>
                  </a:cubicBezTo>
                  <a:lnTo>
                    <a:pt x="5394960" y="1097280"/>
                  </a:lnTo>
                  <a:cubicBezTo>
                    <a:pt x="5394960" y="1157859"/>
                    <a:pt x="5345811" y="1207008"/>
                    <a:pt x="5285232" y="1207008"/>
                  </a:cubicBezTo>
                  <a:lnTo>
                    <a:pt x="109728" y="1207008"/>
                  </a:lnTo>
                  <a:cubicBezTo>
                    <a:pt x="49149" y="1207008"/>
                    <a:pt x="0" y="1157859"/>
                    <a:pt x="0" y="1097280"/>
                  </a:cubicBezTo>
                  <a:close/>
                </a:path>
              </a:pathLst>
            </a:custGeom>
            <a:solidFill>
              <a:srgbClr val="E3F1F4"/>
            </a:solidFill>
          </p:spPr>
          <p:txBody>
            <a:bodyPr/>
            <a:lstStyle/>
            <a:p>
              <a:endParaRPr lang="en-US"/>
            </a:p>
          </p:txBody>
        </p:sp>
      </p:grpSp>
      <p:grpSp>
        <p:nvGrpSpPr>
          <p:cNvPr id="63" name="Group 63"/>
          <p:cNvGrpSpPr/>
          <p:nvPr/>
        </p:nvGrpSpPr>
        <p:grpSpPr>
          <a:xfrm>
            <a:off x="4937760" y="7406640"/>
            <a:ext cx="411480" cy="411480"/>
            <a:chOff x="0" y="0"/>
            <a:chExt cx="548640" cy="548640"/>
          </a:xfrm>
        </p:grpSpPr>
        <p:sp>
          <p:nvSpPr>
            <p:cNvPr id="64" name="Freeform 64"/>
            <p:cNvSpPr/>
            <p:nvPr/>
          </p:nvSpPr>
          <p:spPr>
            <a:xfrm>
              <a:off x="0" y="0"/>
              <a:ext cx="548640" cy="548640"/>
            </a:xfrm>
            <a:custGeom>
              <a:avLst/>
              <a:gdLst/>
              <a:ahLst/>
              <a:cxnLst/>
              <a:rect l="l" t="t" r="r" b="b"/>
              <a:pathLst>
                <a:path w="548640" h="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1F7A8C"/>
            </a:solidFill>
          </p:spPr>
          <p:txBody>
            <a:bodyPr/>
            <a:lstStyle/>
            <a:p>
              <a:endParaRPr lang="en-US"/>
            </a:p>
          </p:txBody>
        </p:sp>
        <p:sp>
          <p:nvSpPr>
            <p:cNvPr id="65" name="TextBox 65"/>
            <p:cNvSpPr txBox="1"/>
            <p:nvPr/>
          </p:nvSpPr>
          <p:spPr>
            <a:xfrm>
              <a:off x="0" y="-19050"/>
              <a:ext cx="548640" cy="567690"/>
            </a:xfrm>
            <a:prstGeom prst="rect">
              <a:avLst/>
            </a:prstGeom>
          </p:spPr>
          <p:txBody>
            <a:bodyPr lIns="50800" tIns="50800" rIns="50800" bIns="50800" rtlCol="0" anchor="ctr"/>
            <a:lstStyle/>
            <a:p>
              <a:pPr algn="ctr">
                <a:lnSpc>
                  <a:spcPts val="2160"/>
                </a:lnSpc>
              </a:pPr>
              <a:r>
                <a:rPr lang="en-US" sz="1800" b="1">
                  <a:solidFill>
                    <a:srgbClr val="FFFFFF"/>
                  </a:solidFill>
                  <a:latin typeface="Arial Bold"/>
                  <a:ea typeface="Arial Bold"/>
                  <a:cs typeface="Arial Bold"/>
                  <a:sym typeface="Arial Bold"/>
                </a:rPr>
                <a:t>2</a:t>
              </a:r>
            </a:p>
          </p:txBody>
        </p:sp>
      </p:grpSp>
      <p:sp>
        <p:nvSpPr>
          <p:cNvPr id="66" name="TextBox 66"/>
          <p:cNvSpPr txBox="1"/>
          <p:nvPr/>
        </p:nvSpPr>
        <p:spPr>
          <a:xfrm>
            <a:off x="5486400" y="7250430"/>
            <a:ext cx="3291840" cy="348234"/>
          </a:xfrm>
          <a:prstGeom prst="rect">
            <a:avLst/>
          </a:prstGeom>
        </p:spPr>
        <p:txBody>
          <a:bodyPr lIns="0" tIns="0" rIns="0" bIns="0" rtlCol="0" anchor="t">
            <a:spAutoFit/>
          </a:bodyPr>
          <a:lstStyle/>
          <a:p>
            <a:pPr algn="l">
              <a:lnSpc>
                <a:spcPts val="2070"/>
              </a:lnSpc>
            </a:pPr>
            <a:r>
              <a:rPr lang="en-US" sz="1725" b="1">
                <a:solidFill>
                  <a:srgbClr val="1F2937"/>
                </a:solidFill>
                <a:latin typeface="Arial Bold"/>
                <a:ea typeface="Arial Bold"/>
                <a:cs typeface="Arial Bold"/>
                <a:sym typeface="Arial Bold"/>
              </a:rPr>
              <a:t>Bench-test camera</a:t>
            </a:r>
          </a:p>
        </p:txBody>
      </p:sp>
      <p:sp>
        <p:nvSpPr>
          <p:cNvPr id="67" name="TextBox 67"/>
          <p:cNvSpPr txBox="1"/>
          <p:nvPr/>
        </p:nvSpPr>
        <p:spPr>
          <a:xfrm>
            <a:off x="5486400" y="7607046"/>
            <a:ext cx="3291840" cy="320802"/>
          </a:xfrm>
          <a:prstGeom prst="rect">
            <a:avLst/>
          </a:prstGeom>
        </p:spPr>
        <p:txBody>
          <a:bodyPr lIns="0" tIns="0" rIns="0" bIns="0" rtlCol="0" anchor="t">
            <a:spAutoFit/>
          </a:bodyPr>
          <a:lstStyle/>
          <a:p>
            <a:pPr algn="l">
              <a:lnSpc>
                <a:spcPts val="1800"/>
              </a:lnSpc>
            </a:pPr>
            <a:r>
              <a:rPr lang="en-US" sz="1500">
                <a:solidFill>
                  <a:srgbClr val="374151"/>
                </a:solidFill>
                <a:latin typeface="Arial"/>
                <a:ea typeface="Arial"/>
                <a:cs typeface="Arial"/>
                <a:sym typeface="Arial"/>
              </a:rPr>
              <a:t>Nhận diện marker bãi đáp</a:t>
            </a:r>
          </a:p>
        </p:txBody>
      </p:sp>
      <p:grpSp>
        <p:nvGrpSpPr>
          <p:cNvPr id="68" name="Group 68"/>
          <p:cNvGrpSpPr/>
          <p:nvPr/>
        </p:nvGrpSpPr>
        <p:grpSpPr>
          <a:xfrm>
            <a:off x="548640" y="8202168"/>
            <a:ext cx="4046220" cy="905256"/>
            <a:chOff x="0" y="0"/>
            <a:chExt cx="5394960" cy="1207008"/>
          </a:xfrm>
        </p:grpSpPr>
        <p:sp>
          <p:nvSpPr>
            <p:cNvPr id="69" name="Freeform 69"/>
            <p:cNvSpPr/>
            <p:nvPr/>
          </p:nvSpPr>
          <p:spPr>
            <a:xfrm>
              <a:off x="0" y="0"/>
              <a:ext cx="5394960" cy="1207008"/>
            </a:xfrm>
            <a:custGeom>
              <a:avLst/>
              <a:gdLst/>
              <a:ahLst/>
              <a:cxnLst/>
              <a:rect l="l" t="t" r="r" b="b"/>
              <a:pathLst>
                <a:path w="5394960" h="1207008">
                  <a:moveTo>
                    <a:pt x="0" y="109728"/>
                  </a:moveTo>
                  <a:cubicBezTo>
                    <a:pt x="0" y="49149"/>
                    <a:pt x="49149" y="0"/>
                    <a:pt x="109728" y="0"/>
                  </a:cubicBezTo>
                  <a:lnTo>
                    <a:pt x="5285232" y="0"/>
                  </a:lnTo>
                  <a:cubicBezTo>
                    <a:pt x="5345811" y="0"/>
                    <a:pt x="5394960" y="49149"/>
                    <a:pt x="5394960" y="109728"/>
                  </a:cubicBezTo>
                  <a:lnTo>
                    <a:pt x="5394960" y="1097280"/>
                  </a:lnTo>
                  <a:cubicBezTo>
                    <a:pt x="5394960" y="1157859"/>
                    <a:pt x="5345811" y="1207008"/>
                    <a:pt x="5285232" y="1207008"/>
                  </a:cubicBezTo>
                  <a:lnTo>
                    <a:pt x="109728" y="1207008"/>
                  </a:lnTo>
                  <a:cubicBezTo>
                    <a:pt x="49149" y="1207008"/>
                    <a:pt x="0" y="1157859"/>
                    <a:pt x="0" y="1097280"/>
                  </a:cubicBezTo>
                  <a:close/>
                </a:path>
              </a:pathLst>
            </a:custGeom>
            <a:solidFill>
              <a:srgbClr val="E3F1F4"/>
            </a:solidFill>
          </p:spPr>
          <p:txBody>
            <a:bodyPr/>
            <a:lstStyle/>
            <a:p>
              <a:endParaRPr lang="en-US"/>
            </a:p>
          </p:txBody>
        </p:sp>
      </p:grpSp>
      <p:grpSp>
        <p:nvGrpSpPr>
          <p:cNvPr id="70" name="Group 70"/>
          <p:cNvGrpSpPr/>
          <p:nvPr/>
        </p:nvGrpSpPr>
        <p:grpSpPr>
          <a:xfrm>
            <a:off x="685800" y="8449056"/>
            <a:ext cx="411480" cy="411480"/>
            <a:chOff x="0" y="0"/>
            <a:chExt cx="548640" cy="548640"/>
          </a:xfrm>
        </p:grpSpPr>
        <p:sp>
          <p:nvSpPr>
            <p:cNvPr id="71" name="Freeform 71"/>
            <p:cNvSpPr/>
            <p:nvPr/>
          </p:nvSpPr>
          <p:spPr>
            <a:xfrm>
              <a:off x="0" y="0"/>
              <a:ext cx="548640" cy="548640"/>
            </a:xfrm>
            <a:custGeom>
              <a:avLst/>
              <a:gdLst/>
              <a:ahLst/>
              <a:cxnLst/>
              <a:rect l="l" t="t" r="r" b="b"/>
              <a:pathLst>
                <a:path w="548640" h="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1F7A8C"/>
            </a:solidFill>
          </p:spPr>
          <p:txBody>
            <a:bodyPr/>
            <a:lstStyle/>
            <a:p>
              <a:endParaRPr lang="en-US"/>
            </a:p>
          </p:txBody>
        </p:sp>
        <p:sp>
          <p:nvSpPr>
            <p:cNvPr id="72" name="TextBox 72"/>
            <p:cNvSpPr txBox="1"/>
            <p:nvPr/>
          </p:nvSpPr>
          <p:spPr>
            <a:xfrm>
              <a:off x="0" y="-19050"/>
              <a:ext cx="548640" cy="567690"/>
            </a:xfrm>
            <a:prstGeom prst="rect">
              <a:avLst/>
            </a:prstGeom>
          </p:spPr>
          <p:txBody>
            <a:bodyPr lIns="50800" tIns="50800" rIns="50800" bIns="50800" rtlCol="0" anchor="ctr"/>
            <a:lstStyle/>
            <a:p>
              <a:pPr algn="ctr">
                <a:lnSpc>
                  <a:spcPts val="2160"/>
                </a:lnSpc>
              </a:pPr>
              <a:r>
                <a:rPr lang="en-US" sz="1800" b="1">
                  <a:solidFill>
                    <a:srgbClr val="FFFFFF"/>
                  </a:solidFill>
                  <a:latin typeface="Arial Bold"/>
                  <a:ea typeface="Arial Bold"/>
                  <a:cs typeface="Arial Bold"/>
                  <a:sym typeface="Arial Bold"/>
                </a:rPr>
                <a:t>3</a:t>
              </a:r>
            </a:p>
          </p:txBody>
        </p:sp>
      </p:grpSp>
      <p:sp>
        <p:nvSpPr>
          <p:cNvPr id="73" name="TextBox 73"/>
          <p:cNvSpPr txBox="1"/>
          <p:nvPr/>
        </p:nvSpPr>
        <p:spPr>
          <a:xfrm>
            <a:off x="1234440" y="8292846"/>
            <a:ext cx="3291840" cy="348234"/>
          </a:xfrm>
          <a:prstGeom prst="rect">
            <a:avLst/>
          </a:prstGeom>
        </p:spPr>
        <p:txBody>
          <a:bodyPr lIns="0" tIns="0" rIns="0" bIns="0" rtlCol="0" anchor="t">
            <a:spAutoFit/>
          </a:bodyPr>
          <a:lstStyle/>
          <a:p>
            <a:pPr algn="l">
              <a:lnSpc>
                <a:spcPts val="2070"/>
              </a:lnSpc>
            </a:pPr>
            <a:r>
              <a:rPr lang="en-US" sz="1725" b="1">
                <a:solidFill>
                  <a:srgbClr val="1F2937"/>
                </a:solidFill>
                <a:latin typeface="Arial Bold"/>
                <a:ea typeface="Arial Bold"/>
                <a:cs typeface="Arial Bold"/>
                <a:sym typeface="Arial Bold"/>
              </a:rPr>
              <a:t>Đo chiều sâu</a:t>
            </a:r>
          </a:p>
        </p:txBody>
      </p:sp>
      <p:sp>
        <p:nvSpPr>
          <p:cNvPr id="74" name="TextBox 74"/>
          <p:cNvSpPr txBox="1"/>
          <p:nvPr/>
        </p:nvSpPr>
        <p:spPr>
          <a:xfrm>
            <a:off x="1234440" y="8649462"/>
            <a:ext cx="3291840" cy="320802"/>
          </a:xfrm>
          <a:prstGeom prst="rect">
            <a:avLst/>
          </a:prstGeom>
        </p:spPr>
        <p:txBody>
          <a:bodyPr lIns="0" tIns="0" rIns="0" bIns="0" rtlCol="0" anchor="t">
            <a:spAutoFit/>
          </a:bodyPr>
          <a:lstStyle/>
          <a:p>
            <a:pPr algn="l">
              <a:lnSpc>
                <a:spcPts val="1800"/>
              </a:lnSpc>
            </a:pPr>
            <a:r>
              <a:rPr lang="en-US" sz="1500">
                <a:solidFill>
                  <a:srgbClr val="374151"/>
                </a:solidFill>
                <a:latin typeface="Arial"/>
                <a:ea typeface="Arial"/>
                <a:cs typeface="Arial"/>
                <a:sym typeface="Arial"/>
              </a:rPr>
              <a:t>Đối chiếu với khoảng cách thực</a:t>
            </a:r>
          </a:p>
        </p:txBody>
      </p:sp>
      <p:grpSp>
        <p:nvGrpSpPr>
          <p:cNvPr id="75" name="Group 75"/>
          <p:cNvGrpSpPr/>
          <p:nvPr/>
        </p:nvGrpSpPr>
        <p:grpSpPr>
          <a:xfrm>
            <a:off x="4800600" y="8202168"/>
            <a:ext cx="4046220" cy="905256"/>
            <a:chOff x="0" y="0"/>
            <a:chExt cx="5394960" cy="1207008"/>
          </a:xfrm>
        </p:grpSpPr>
        <p:sp>
          <p:nvSpPr>
            <p:cNvPr id="76" name="Freeform 76"/>
            <p:cNvSpPr/>
            <p:nvPr/>
          </p:nvSpPr>
          <p:spPr>
            <a:xfrm>
              <a:off x="0" y="0"/>
              <a:ext cx="5394960" cy="1207008"/>
            </a:xfrm>
            <a:custGeom>
              <a:avLst/>
              <a:gdLst/>
              <a:ahLst/>
              <a:cxnLst/>
              <a:rect l="l" t="t" r="r" b="b"/>
              <a:pathLst>
                <a:path w="5394960" h="1207008">
                  <a:moveTo>
                    <a:pt x="0" y="109728"/>
                  </a:moveTo>
                  <a:cubicBezTo>
                    <a:pt x="0" y="49149"/>
                    <a:pt x="49149" y="0"/>
                    <a:pt x="109728" y="0"/>
                  </a:cubicBezTo>
                  <a:lnTo>
                    <a:pt x="5285232" y="0"/>
                  </a:lnTo>
                  <a:cubicBezTo>
                    <a:pt x="5345811" y="0"/>
                    <a:pt x="5394960" y="49149"/>
                    <a:pt x="5394960" y="109728"/>
                  </a:cubicBezTo>
                  <a:lnTo>
                    <a:pt x="5394960" y="1097280"/>
                  </a:lnTo>
                  <a:cubicBezTo>
                    <a:pt x="5394960" y="1157859"/>
                    <a:pt x="5345811" y="1207008"/>
                    <a:pt x="5285232" y="1207008"/>
                  </a:cubicBezTo>
                  <a:lnTo>
                    <a:pt x="109728" y="1207008"/>
                  </a:lnTo>
                  <a:cubicBezTo>
                    <a:pt x="49149" y="1207008"/>
                    <a:pt x="0" y="1157859"/>
                    <a:pt x="0" y="1097280"/>
                  </a:cubicBezTo>
                  <a:close/>
                </a:path>
              </a:pathLst>
            </a:custGeom>
            <a:solidFill>
              <a:srgbClr val="E3F1F4"/>
            </a:solidFill>
          </p:spPr>
          <p:txBody>
            <a:bodyPr/>
            <a:lstStyle/>
            <a:p>
              <a:endParaRPr lang="en-US"/>
            </a:p>
          </p:txBody>
        </p:sp>
      </p:grpSp>
      <p:grpSp>
        <p:nvGrpSpPr>
          <p:cNvPr id="77" name="Group 77"/>
          <p:cNvGrpSpPr/>
          <p:nvPr/>
        </p:nvGrpSpPr>
        <p:grpSpPr>
          <a:xfrm>
            <a:off x="4937760" y="8449056"/>
            <a:ext cx="411480" cy="411480"/>
            <a:chOff x="0" y="0"/>
            <a:chExt cx="548640" cy="548640"/>
          </a:xfrm>
        </p:grpSpPr>
        <p:sp>
          <p:nvSpPr>
            <p:cNvPr id="78" name="Freeform 78"/>
            <p:cNvSpPr/>
            <p:nvPr/>
          </p:nvSpPr>
          <p:spPr>
            <a:xfrm>
              <a:off x="0" y="0"/>
              <a:ext cx="548640" cy="548640"/>
            </a:xfrm>
            <a:custGeom>
              <a:avLst/>
              <a:gdLst/>
              <a:ahLst/>
              <a:cxnLst/>
              <a:rect l="l" t="t" r="r" b="b"/>
              <a:pathLst>
                <a:path w="548640" h="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1F7A8C"/>
            </a:solidFill>
          </p:spPr>
          <p:txBody>
            <a:bodyPr/>
            <a:lstStyle/>
            <a:p>
              <a:endParaRPr lang="en-US"/>
            </a:p>
          </p:txBody>
        </p:sp>
        <p:sp>
          <p:nvSpPr>
            <p:cNvPr id="79" name="TextBox 79"/>
            <p:cNvSpPr txBox="1"/>
            <p:nvPr/>
          </p:nvSpPr>
          <p:spPr>
            <a:xfrm>
              <a:off x="0" y="-19050"/>
              <a:ext cx="548640" cy="567690"/>
            </a:xfrm>
            <a:prstGeom prst="rect">
              <a:avLst/>
            </a:prstGeom>
          </p:spPr>
          <p:txBody>
            <a:bodyPr lIns="50800" tIns="50800" rIns="50800" bIns="50800" rtlCol="0" anchor="ctr"/>
            <a:lstStyle/>
            <a:p>
              <a:pPr algn="ctr">
                <a:lnSpc>
                  <a:spcPts val="2160"/>
                </a:lnSpc>
              </a:pPr>
              <a:r>
                <a:rPr lang="en-US" sz="1800" b="1">
                  <a:solidFill>
                    <a:srgbClr val="FFFFFF"/>
                  </a:solidFill>
                  <a:latin typeface="Arial Bold"/>
                  <a:ea typeface="Arial Bold"/>
                  <a:cs typeface="Arial Bold"/>
                  <a:sym typeface="Arial Bold"/>
                </a:rPr>
                <a:t>4</a:t>
              </a:r>
            </a:p>
          </p:txBody>
        </p:sp>
      </p:grpSp>
      <p:sp>
        <p:nvSpPr>
          <p:cNvPr id="80" name="TextBox 80"/>
          <p:cNvSpPr txBox="1"/>
          <p:nvPr/>
        </p:nvSpPr>
        <p:spPr>
          <a:xfrm>
            <a:off x="5486400" y="8292846"/>
            <a:ext cx="3291840" cy="348234"/>
          </a:xfrm>
          <a:prstGeom prst="rect">
            <a:avLst/>
          </a:prstGeom>
        </p:spPr>
        <p:txBody>
          <a:bodyPr lIns="0" tIns="0" rIns="0" bIns="0" rtlCol="0" anchor="t">
            <a:spAutoFit/>
          </a:bodyPr>
          <a:lstStyle/>
          <a:p>
            <a:pPr algn="l">
              <a:lnSpc>
                <a:spcPts val="2070"/>
              </a:lnSpc>
            </a:pPr>
            <a:r>
              <a:rPr lang="en-US" sz="1725" b="1">
                <a:solidFill>
                  <a:srgbClr val="1F2937"/>
                </a:solidFill>
                <a:latin typeface="Arial Bold"/>
                <a:ea typeface="Arial Bold"/>
                <a:cs typeface="Arial Bold"/>
                <a:sym typeface="Arial Bold"/>
              </a:rPr>
              <a:t>Điều khiển gimbal/servo</a:t>
            </a:r>
          </a:p>
        </p:txBody>
      </p:sp>
      <p:sp>
        <p:nvSpPr>
          <p:cNvPr id="81" name="TextBox 81"/>
          <p:cNvSpPr txBox="1"/>
          <p:nvPr/>
        </p:nvSpPr>
        <p:spPr>
          <a:xfrm>
            <a:off x="5486400" y="8649462"/>
            <a:ext cx="3291840" cy="320802"/>
          </a:xfrm>
          <a:prstGeom prst="rect">
            <a:avLst/>
          </a:prstGeom>
        </p:spPr>
        <p:txBody>
          <a:bodyPr lIns="0" tIns="0" rIns="0" bIns="0" rtlCol="0" anchor="t">
            <a:spAutoFit/>
          </a:bodyPr>
          <a:lstStyle/>
          <a:p>
            <a:pPr algn="l">
              <a:lnSpc>
                <a:spcPts val="1800"/>
              </a:lnSpc>
            </a:pPr>
            <a:r>
              <a:rPr lang="en-US" sz="1500">
                <a:solidFill>
                  <a:srgbClr val="374151"/>
                </a:solidFill>
                <a:latin typeface="Arial"/>
                <a:ea typeface="Arial"/>
                <a:cs typeface="Arial"/>
                <a:sym typeface="Arial"/>
              </a:rPr>
              <a:t>Điều chỉnh hướng camera</a:t>
            </a:r>
          </a:p>
        </p:txBody>
      </p:sp>
      <p:grpSp>
        <p:nvGrpSpPr>
          <p:cNvPr id="82" name="Group 82"/>
          <p:cNvGrpSpPr/>
          <p:nvPr/>
        </p:nvGrpSpPr>
        <p:grpSpPr>
          <a:xfrm>
            <a:off x="17793" y="9899142"/>
            <a:ext cx="15704172" cy="67818"/>
            <a:chOff x="0" y="0"/>
            <a:chExt cx="20938896" cy="90424"/>
          </a:xfrm>
        </p:grpSpPr>
        <p:sp>
          <p:nvSpPr>
            <p:cNvPr id="83" name="Freeform 83"/>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grpSp>
        <p:nvGrpSpPr>
          <p:cNvPr id="84" name="Group 84"/>
          <p:cNvGrpSpPr/>
          <p:nvPr/>
        </p:nvGrpSpPr>
        <p:grpSpPr>
          <a:xfrm>
            <a:off x="15715107" y="9456321"/>
            <a:ext cx="1988172" cy="688105"/>
            <a:chOff x="0" y="0"/>
            <a:chExt cx="2650896" cy="917473"/>
          </a:xfrm>
        </p:grpSpPr>
        <p:sp>
          <p:nvSpPr>
            <p:cNvPr id="85" name="Freeform 8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5"/>
              <a:stretch>
                <a:fillRect l="-183" r="-185" b="-2"/>
              </a:stretch>
            </a:blipFill>
          </p:spPr>
          <p:txBody>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5" name="Group 5"/>
          <p:cNvGrpSpPr/>
          <p:nvPr/>
        </p:nvGrpSpPr>
        <p:grpSpPr>
          <a:xfrm>
            <a:off x="0" y="9536906"/>
            <a:ext cx="15704172" cy="107156"/>
            <a:chOff x="0" y="0"/>
            <a:chExt cx="20938896" cy="142875"/>
          </a:xfrm>
        </p:grpSpPr>
        <p:sp>
          <p:nvSpPr>
            <p:cNvPr id="6" name="Freeform 6"/>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7" name="Group 7"/>
          <p:cNvGrpSpPr/>
          <p:nvPr/>
        </p:nvGrpSpPr>
        <p:grpSpPr>
          <a:xfrm>
            <a:off x="16002000" y="9318508"/>
            <a:ext cx="1988172" cy="688105"/>
            <a:chOff x="0" y="0"/>
            <a:chExt cx="2650896" cy="917473"/>
          </a:xfrm>
        </p:grpSpPr>
        <p:sp>
          <p:nvSpPr>
            <p:cNvPr id="8" name="Freeform 8"/>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grpSp>
        <p:nvGrpSpPr>
          <p:cNvPr id="9" name="Group 9"/>
          <p:cNvGrpSpPr/>
          <p:nvPr/>
        </p:nvGrpSpPr>
        <p:grpSpPr>
          <a:xfrm>
            <a:off x="0" y="0"/>
            <a:ext cx="18288000" cy="10287000"/>
            <a:chOff x="0" y="0"/>
            <a:chExt cx="24384000" cy="13716000"/>
          </a:xfrm>
        </p:grpSpPr>
        <p:sp>
          <p:nvSpPr>
            <p:cNvPr id="10" name="Freeform 10"/>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11" name="Group 11"/>
          <p:cNvGrpSpPr/>
          <p:nvPr/>
        </p:nvGrpSpPr>
        <p:grpSpPr>
          <a:xfrm>
            <a:off x="-19050" y="-38100"/>
            <a:ext cx="18326100" cy="1371324"/>
            <a:chOff x="0" y="0"/>
            <a:chExt cx="24434800" cy="1828432"/>
          </a:xfrm>
        </p:grpSpPr>
        <p:sp>
          <p:nvSpPr>
            <p:cNvPr id="12" name="Freeform 12"/>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13" name="Group 13"/>
          <p:cNvGrpSpPr/>
          <p:nvPr/>
        </p:nvGrpSpPr>
        <p:grpSpPr>
          <a:xfrm>
            <a:off x="29594" y="0"/>
            <a:ext cx="9465469" cy="1112891"/>
            <a:chOff x="0" y="0"/>
            <a:chExt cx="12620625" cy="1483855"/>
          </a:xfrm>
        </p:grpSpPr>
        <p:sp>
          <p:nvSpPr>
            <p:cNvPr id="14" name="Freeform 14"/>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5" name="Group 15"/>
          <p:cNvGrpSpPr/>
          <p:nvPr/>
        </p:nvGrpSpPr>
        <p:grpSpPr>
          <a:xfrm>
            <a:off x="1799377" y="165943"/>
            <a:ext cx="7109765" cy="741447"/>
            <a:chOff x="0" y="0"/>
            <a:chExt cx="9479686" cy="988596"/>
          </a:xfrm>
        </p:grpSpPr>
        <p:sp>
          <p:nvSpPr>
            <p:cNvPr id="16" name="Freeform 16"/>
            <p:cNvSpPr/>
            <p:nvPr/>
          </p:nvSpPr>
          <p:spPr>
            <a:xfrm>
              <a:off x="0" y="0"/>
              <a:ext cx="9479687" cy="988599"/>
            </a:xfrm>
            <a:custGeom>
              <a:avLst/>
              <a:gdLst/>
              <a:ahLst/>
              <a:cxnLst/>
              <a:rect l="l" t="t" r="r" b="b"/>
              <a:pathLst>
                <a:path w="9479687" h="988599">
                  <a:moveTo>
                    <a:pt x="0" y="0"/>
                  </a:moveTo>
                  <a:lnTo>
                    <a:pt x="9479687" y="0"/>
                  </a:lnTo>
                  <a:lnTo>
                    <a:pt x="9479687" y="988599"/>
                  </a:lnTo>
                  <a:lnTo>
                    <a:pt x="0" y="988599"/>
                  </a:lnTo>
                  <a:close/>
                </a:path>
              </a:pathLst>
            </a:custGeom>
            <a:blipFill>
              <a:blip r:embed="rId5">
                <a:alphaModFix amt="0"/>
              </a:blip>
              <a:stretch>
                <a:fillRect t="-148607" b="-125076"/>
              </a:stretch>
            </a:blipFill>
          </p:spPr>
          <p:txBody>
            <a:bodyPr/>
            <a:lstStyle/>
            <a:p>
              <a:endParaRPr lang="en-US"/>
            </a:p>
          </p:txBody>
        </p:sp>
        <p:sp>
          <p:nvSpPr>
            <p:cNvPr id="17" name="TextBox 17"/>
            <p:cNvSpPr txBox="1"/>
            <p:nvPr/>
          </p:nvSpPr>
          <p:spPr>
            <a:xfrm>
              <a:off x="0" y="114300"/>
              <a:ext cx="9479686" cy="874296"/>
            </a:xfrm>
            <a:prstGeom prst="rect">
              <a:avLst/>
            </a:prstGeom>
          </p:spPr>
          <p:txBody>
            <a:bodyPr lIns="0" tIns="0" rIns="0" bIns="0" rtlCol="0" anchor="ctr"/>
            <a:lstStyle/>
            <a:p>
              <a:pPr algn="l">
                <a:lnSpc>
                  <a:spcPts val="2812"/>
                </a:lnSpc>
              </a:pPr>
              <a:r>
                <a:rPr lang="en-US" sz="3600" b="1">
                  <a:solidFill>
                    <a:srgbClr val="FFFFFF"/>
                  </a:solidFill>
                  <a:latin typeface="Arial Bold"/>
                  <a:ea typeface="Arial Bold"/>
                  <a:cs typeface="Arial Bold"/>
                  <a:sym typeface="Arial Bold"/>
                </a:rPr>
                <a:t>KẾT LUẬN</a:t>
              </a:r>
            </a:p>
          </p:txBody>
        </p:sp>
      </p:grpSp>
      <p:grpSp>
        <p:nvGrpSpPr>
          <p:cNvPr id="18" name="Group 18"/>
          <p:cNvGrpSpPr/>
          <p:nvPr/>
        </p:nvGrpSpPr>
        <p:grpSpPr>
          <a:xfrm>
            <a:off x="29594" y="0"/>
            <a:ext cx="1612373" cy="1112891"/>
            <a:chOff x="0" y="0"/>
            <a:chExt cx="2149831" cy="1483855"/>
          </a:xfrm>
        </p:grpSpPr>
        <p:sp>
          <p:nvSpPr>
            <p:cNvPr id="19" name="Freeform 19"/>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20" name="TextBox 20"/>
          <p:cNvSpPr txBox="1"/>
          <p:nvPr/>
        </p:nvSpPr>
        <p:spPr>
          <a:xfrm>
            <a:off x="566642" y="193015"/>
            <a:ext cx="635794" cy="714375"/>
          </a:xfrm>
          <a:prstGeom prst="rect">
            <a:avLst/>
          </a:prstGeom>
        </p:spPr>
        <p:txBody>
          <a:bodyPr lIns="0" tIns="0" rIns="0" bIns="0" rtlCol="0" anchor="t">
            <a:spAutoFit/>
          </a:bodyPr>
          <a:lstStyle/>
          <a:p>
            <a:pPr algn="l">
              <a:lnSpc>
                <a:spcPts val="5400"/>
              </a:lnSpc>
            </a:pPr>
            <a:r>
              <a:rPr lang="en-US" sz="4500" b="1">
                <a:solidFill>
                  <a:srgbClr val="FFFFFF"/>
                </a:solidFill>
                <a:latin typeface="Arial Bold"/>
                <a:ea typeface="Arial Bold"/>
                <a:cs typeface="Arial Bold"/>
                <a:sym typeface="Arial Bold"/>
              </a:rPr>
              <a:t>05</a:t>
            </a:r>
          </a:p>
        </p:txBody>
      </p:sp>
      <p:grpSp>
        <p:nvGrpSpPr>
          <p:cNvPr id="21" name="Group 21"/>
          <p:cNvGrpSpPr/>
          <p:nvPr/>
        </p:nvGrpSpPr>
        <p:grpSpPr>
          <a:xfrm>
            <a:off x="457200" y="1402690"/>
            <a:ext cx="17439932" cy="698041"/>
            <a:chOff x="0" y="0"/>
            <a:chExt cx="23253243" cy="930721"/>
          </a:xfrm>
        </p:grpSpPr>
        <p:sp>
          <p:nvSpPr>
            <p:cNvPr id="22" name="Freeform 22"/>
            <p:cNvSpPr/>
            <p:nvPr/>
          </p:nvSpPr>
          <p:spPr>
            <a:xfrm>
              <a:off x="0" y="0"/>
              <a:ext cx="23253192" cy="930683"/>
            </a:xfrm>
            <a:custGeom>
              <a:avLst/>
              <a:gdLst/>
              <a:ahLst/>
              <a:cxnLst/>
              <a:rect l="l" t="t" r="r" b="b"/>
              <a:pathLst>
                <a:path w="23253192" h="930683">
                  <a:moveTo>
                    <a:pt x="0" y="0"/>
                  </a:moveTo>
                  <a:lnTo>
                    <a:pt x="23253192" y="0"/>
                  </a:lnTo>
                  <a:lnTo>
                    <a:pt x="23253192" y="930683"/>
                  </a:lnTo>
                  <a:lnTo>
                    <a:pt x="0" y="930683"/>
                  </a:lnTo>
                  <a:close/>
                </a:path>
              </a:pathLst>
            </a:custGeom>
            <a:solidFill>
              <a:srgbClr val="F2F2F2">
                <a:alpha val="63922"/>
              </a:srgbClr>
            </a:solidFill>
          </p:spPr>
          <p:txBody>
            <a:bodyPr/>
            <a:lstStyle/>
            <a:p>
              <a:endParaRPr lang="en-US"/>
            </a:p>
          </p:txBody>
        </p:sp>
        <p:sp>
          <p:nvSpPr>
            <p:cNvPr id="23" name="TextBox 23"/>
            <p:cNvSpPr txBox="1"/>
            <p:nvPr/>
          </p:nvSpPr>
          <p:spPr>
            <a:xfrm>
              <a:off x="0" y="-19050"/>
              <a:ext cx="23253243" cy="949771"/>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LỘ TRÌNH TRIỂN KHAI DỰ ÁN</a:t>
              </a:r>
            </a:p>
          </p:txBody>
        </p:sp>
      </p:grpSp>
      <p:sp>
        <p:nvSpPr>
          <p:cNvPr id="24" name="AutoShape 24"/>
          <p:cNvSpPr/>
          <p:nvPr/>
        </p:nvSpPr>
        <p:spPr>
          <a:xfrm>
            <a:off x="3139891" y="3046096"/>
            <a:ext cx="12113444" cy="0"/>
          </a:xfrm>
          <a:prstGeom prst="line">
            <a:avLst/>
          </a:prstGeom>
          <a:ln w="28575" cap="rnd">
            <a:solidFill>
              <a:srgbClr val="D9D9D9"/>
            </a:solidFill>
            <a:prstDash val="solid"/>
            <a:headEnd type="none" w="sm" len="sm"/>
            <a:tailEnd type="none" w="sm" len="sm"/>
          </a:ln>
        </p:spPr>
        <p:txBody>
          <a:bodyPr/>
          <a:lstStyle/>
          <a:p>
            <a:endParaRPr lang="en-US"/>
          </a:p>
        </p:txBody>
      </p:sp>
      <p:sp>
        <p:nvSpPr>
          <p:cNvPr id="25" name="AutoShape 25"/>
          <p:cNvSpPr/>
          <p:nvPr/>
        </p:nvSpPr>
        <p:spPr>
          <a:xfrm>
            <a:off x="3058668" y="3017520"/>
            <a:ext cx="6083046" cy="0"/>
          </a:xfrm>
          <a:prstGeom prst="line">
            <a:avLst/>
          </a:prstGeom>
          <a:ln w="28575" cap="rnd">
            <a:solidFill>
              <a:srgbClr val="DB3038"/>
            </a:solidFill>
            <a:prstDash val="solid"/>
            <a:headEnd type="none" w="sm" len="sm"/>
            <a:tailEnd type="none" w="sm" len="sm"/>
          </a:ln>
        </p:spPr>
        <p:txBody>
          <a:bodyPr/>
          <a:lstStyle/>
          <a:p>
            <a:endParaRPr lang="en-US"/>
          </a:p>
        </p:txBody>
      </p:sp>
      <p:grpSp>
        <p:nvGrpSpPr>
          <p:cNvPr id="26" name="Group 26"/>
          <p:cNvGrpSpPr/>
          <p:nvPr/>
        </p:nvGrpSpPr>
        <p:grpSpPr>
          <a:xfrm>
            <a:off x="3058668" y="2578608"/>
            <a:ext cx="877824" cy="877824"/>
            <a:chOff x="0" y="0"/>
            <a:chExt cx="1170432" cy="1170432"/>
          </a:xfrm>
        </p:grpSpPr>
        <p:sp>
          <p:nvSpPr>
            <p:cNvPr id="27" name="Freeform 27"/>
            <p:cNvSpPr/>
            <p:nvPr/>
          </p:nvSpPr>
          <p:spPr>
            <a:xfrm>
              <a:off x="0" y="0"/>
              <a:ext cx="1170432" cy="1170432"/>
            </a:xfrm>
            <a:custGeom>
              <a:avLst/>
              <a:gdLst/>
              <a:ahLst/>
              <a:cxnLst/>
              <a:rect l="l" t="t" r="r" b="b"/>
              <a:pathLst>
                <a:path w="1170432" h="1170432">
                  <a:moveTo>
                    <a:pt x="0" y="585216"/>
                  </a:moveTo>
                  <a:cubicBezTo>
                    <a:pt x="0" y="262001"/>
                    <a:pt x="262001" y="0"/>
                    <a:pt x="585216" y="0"/>
                  </a:cubicBezTo>
                  <a:cubicBezTo>
                    <a:pt x="908431" y="0"/>
                    <a:pt x="1170432" y="262001"/>
                    <a:pt x="1170432" y="585216"/>
                  </a:cubicBezTo>
                  <a:cubicBezTo>
                    <a:pt x="1170432" y="908431"/>
                    <a:pt x="908431" y="1170432"/>
                    <a:pt x="585216" y="1170432"/>
                  </a:cubicBezTo>
                  <a:cubicBezTo>
                    <a:pt x="262001" y="1170432"/>
                    <a:pt x="0" y="908431"/>
                    <a:pt x="0" y="585216"/>
                  </a:cubicBezTo>
                  <a:close/>
                </a:path>
              </a:pathLst>
            </a:custGeom>
            <a:solidFill>
              <a:srgbClr val="DB3038"/>
            </a:solidFill>
          </p:spPr>
          <p:txBody>
            <a:bodyPr/>
            <a:lstStyle/>
            <a:p>
              <a:endParaRPr lang="en-US"/>
            </a:p>
          </p:txBody>
        </p:sp>
        <p:sp>
          <p:nvSpPr>
            <p:cNvPr id="28" name="TextBox 28"/>
            <p:cNvSpPr txBox="1"/>
            <p:nvPr/>
          </p:nvSpPr>
          <p:spPr>
            <a:xfrm>
              <a:off x="0" y="-19050"/>
              <a:ext cx="1170432" cy="1189482"/>
            </a:xfrm>
            <a:prstGeom prst="rect">
              <a:avLst/>
            </a:prstGeom>
          </p:spPr>
          <p:txBody>
            <a:bodyPr lIns="50800" tIns="50800" rIns="50800" bIns="50800" rtlCol="0" anchor="ctr"/>
            <a:lstStyle/>
            <a:p>
              <a:pPr algn="ctr">
                <a:lnSpc>
                  <a:spcPts val="3240"/>
                </a:lnSpc>
              </a:pPr>
              <a:r>
                <a:rPr lang="en-US" sz="2700" b="1">
                  <a:solidFill>
                    <a:srgbClr val="FFFFFF"/>
                  </a:solidFill>
                  <a:latin typeface="Arimo Bold"/>
                  <a:ea typeface="Arimo Bold"/>
                  <a:cs typeface="Arimo Bold"/>
                  <a:sym typeface="Arimo Bold"/>
                </a:rPr>
                <a:t>✓</a:t>
              </a:r>
            </a:p>
          </p:txBody>
        </p:sp>
      </p:grpSp>
      <p:grpSp>
        <p:nvGrpSpPr>
          <p:cNvPr id="29" name="Group 29"/>
          <p:cNvGrpSpPr/>
          <p:nvPr/>
        </p:nvGrpSpPr>
        <p:grpSpPr>
          <a:xfrm>
            <a:off x="815816" y="3764756"/>
            <a:ext cx="5363528" cy="3511867"/>
            <a:chOff x="0" y="0"/>
            <a:chExt cx="7151370" cy="4682490"/>
          </a:xfrm>
        </p:grpSpPr>
        <p:sp>
          <p:nvSpPr>
            <p:cNvPr id="30" name="Freeform 30"/>
            <p:cNvSpPr/>
            <p:nvPr/>
          </p:nvSpPr>
          <p:spPr>
            <a:xfrm>
              <a:off x="0" y="0"/>
              <a:ext cx="7151370" cy="4682490"/>
            </a:xfrm>
            <a:custGeom>
              <a:avLst/>
              <a:gdLst/>
              <a:ahLst/>
              <a:cxnLst/>
              <a:rect l="l" t="t" r="r" b="b"/>
              <a:pathLst>
                <a:path w="7151370" h="4682490">
                  <a:moveTo>
                    <a:pt x="0" y="220345"/>
                  </a:moveTo>
                  <a:cubicBezTo>
                    <a:pt x="0" y="98679"/>
                    <a:pt x="98679" y="0"/>
                    <a:pt x="220345" y="0"/>
                  </a:cubicBezTo>
                  <a:lnTo>
                    <a:pt x="6931025" y="0"/>
                  </a:lnTo>
                  <a:cubicBezTo>
                    <a:pt x="7052691" y="0"/>
                    <a:pt x="7151370" y="98679"/>
                    <a:pt x="7151370" y="220345"/>
                  </a:cubicBezTo>
                  <a:lnTo>
                    <a:pt x="7151370" y="4462145"/>
                  </a:lnTo>
                  <a:cubicBezTo>
                    <a:pt x="7151370" y="4583811"/>
                    <a:pt x="7052691" y="4682490"/>
                    <a:pt x="6931025" y="4682490"/>
                  </a:cubicBezTo>
                  <a:lnTo>
                    <a:pt x="220345" y="4682490"/>
                  </a:lnTo>
                  <a:cubicBezTo>
                    <a:pt x="98679" y="4682490"/>
                    <a:pt x="0" y="4583811"/>
                    <a:pt x="0" y="446214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31" name="Group 31"/>
          <p:cNvGrpSpPr/>
          <p:nvPr/>
        </p:nvGrpSpPr>
        <p:grpSpPr>
          <a:xfrm>
            <a:off x="1097280" y="3771900"/>
            <a:ext cx="960120" cy="68580"/>
            <a:chOff x="0" y="0"/>
            <a:chExt cx="1280160" cy="91440"/>
          </a:xfrm>
        </p:grpSpPr>
        <p:sp>
          <p:nvSpPr>
            <p:cNvPr id="32" name="Freeform 32"/>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sp>
        <p:nvSpPr>
          <p:cNvPr id="33" name="TextBox 33"/>
          <p:cNvSpPr txBox="1"/>
          <p:nvPr/>
        </p:nvSpPr>
        <p:spPr>
          <a:xfrm>
            <a:off x="1202436" y="3976878"/>
            <a:ext cx="4590288" cy="352425"/>
          </a:xfrm>
          <a:prstGeom prst="rect">
            <a:avLst/>
          </a:prstGeom>
        </p:spPr>
        <p:txBody>
          <a:bodyPr lIns="0" tIns="0" rIns="0" bIns="0" rtlCol="0" anchor="t">
            <a:spAutoFit/>
          </a:bodyPr>
          <a:lstStyle/>
          <a:p>
            <a:pPr algn="l">
              <a:lnSpc>
                <a:spcPts val="2639"/>
              </a:lnSpc>
            </a:pPr>
            <a:r>
              <a:rPr lang="en-US" sz="2199" b="1">
                <a:solidFill>
                  <a:srgbClr val="DB3038"/>
                </a:solidFill>
                <a:latin typeface="Arial Bold"/>
                <a:ea typeface="Arial Bold"/>
                <a:cs typeface="Arial Bold"/>
                <a:sym typeface="Arial Bold"/>
              </a:rPr>
              <a:t>GIAI ĐOẠN 1</a:t>
            </a:r>
          </a:p>
        </p:txBody>
      </p:sp>
      <p:sp>
        <p:nvSpPr>
          <p:cNvPr id="34" name="TextBox 34"/>
          <p:cNvSpPr txBox="1"/>
          <p:nvPr/>
        </p:nvSpPr>
        <p:spPr>
          <a:xfrm>
            <a:off x="1202436" y="4462653"/>
            <a:ext cx="4590288" cy="371475"/>
          </a:xfrm>
          <a:prstGeom prst="rect">
            <a:avLst/>
          </a:prstGeom>
        </p:spPr>
        <p:txBody>
          <a:bodyPr lIns="0" tIns="0" rIns="0" bIns="0" rtlCol="0" anchor="t">
            <a:spAutoFit/>
          </a:bodyPr>
          <a:lstStyle/>
          <a:p>
            <a:pPr algn="l">
              <a:lnSpc>
                <a:spcPts val="2819"/>
              </a:lnSpc>
            </a:pPr>
            <a:r>
              <a:rPr lang="en-US" sz="2349" b="1">
                <a:solidFill>
                  <a:srgbClr val="262626"/>
                </a:solidFill>
                <a:latin typeface="Arial Bold"/>
                <a:ea typeface="Arial Bold"/>
                <a:cs typeface="Arial Bold"/>
                <a:sym typeface="Arial Bold"/>
              </a:rPr>
              <a:t>ĐÃ HOÀN THÀNH 100%</a:t>
            </a:r>
          </a:p>
        </p:txBody>
      </p:sp>
      <p:sp>
        <p:nvSpPr>
          <p:cNvPr id="35" name="TextBox 35"/>
          <p:cNvSpPr txBox="1"/>
          <p:nvPr/>
        </p:nvSpPr>
        <p:spPr>
          <a:xfrm>
            <a:off x="1097280" y="5316141"/>
            <a:ext cx="4658868" cy="1228725"/>
          </a:xfrm>
          <a:prstGeom prst="rect">
            <a:avLst/>
          </a:prstGeom>
        </p:spPr>
        <p:txBody>
          <a:bodyPr lIns="0" tIns="0" rIns="0" bIns="0" rtlCol="0" anchor="t">
            <a:spAutoFit/>
          </a:bodyPr>
          <a:lstStyle/>
          <a:p>
            <a:pPr marL="366473" lvl="1" indent="-183237" algn="l">
              <a:lnSpc>
                <a:spcPts val="2429"/>
              </a:lnSpc>
              <a:buFont typeface="Arial"/>
              <a:buChar char="•"/>
            </a:pPr>
            <a:r>
              <a:rPr lang="en-US" sz="2024">
                <a:solidFill>
                  <a:srgbClr val="404040"/>
                </a:solidFill>
                <a:latin typeface="Arial"/>
                <a:ea typeface="Arial"/>
                <a:cs typeface="Arial"/>
                <a:sym typeface="Arial"/>
              </a:rPr>
              <a:t>Nghiệm thu Simulink</a:t>
            </a:r>
          </a:p>
          <a:p>
            <a:pPr marL="366473" lvl="1" indent="-183237" algn="l">
              <a:lnSpc>
                <a:spcPts val="2429"/>
              </a:lnSpc>
              <a:buFont typeface="Arial"/>
              <a:buChar char="•"/>
            </a:pPr>
            <a:r>
              <a:rPr lang="en-US" sz="2024">
                <a:solidFill>
                  <a:srgbClr val="404040"/>
                </a:solidFill>
                <a:latin typeface="Arial"/>
                <a:ea typeface="Arial"/>
                <a:cs typeface="Arial"/>
                <a:sym typeface="Arial"/>
              </a:rPr>
              <a:t>Nghiệm thu PX4 SITL &amp; Gazebo</a:t>
            </a:r>
          </a:p>
          <a:p>
            <a:pPr marL="366473" lvl="1" indent="-183237" algn="l">
              <a:lnSpc>
                <a:spcPts val="2429"/>
              </a:lnSpc>
              <a:buFont typeface="Arial"/>
              <a:buChar char="•"/>
            </a:pPr>
            <a:r>
              <a:rPr lang="en-US" sz="2024">
                <a:solidFill>
                  <a:srgbClr val="404040"/>
                </a:solidFill>
                <a:latin typeface="Arial"/>
                <a:ea typeface="Arial"/>
                <a:cs typeface="Arial"/>
                <a:sym typeface="Arial"/>
              </a:rPr>
              <a:t>Bench-test phần cứng</a:t>
            </a:r>
          </a:p>
          <a:p>
            <a:pPr marL="366473" lvl="1" indent="-183237" algn="l">
              <a:lnSpc>
                <a:spcPts val="2429"/>
              </a:lnSpc>
              <a:buFont typeface="Arial"/>
              <a:buChar char="•"/>
            </a:pPr>
            <a:r>
              <a:rPr lang="en-US" sz="2024">
                <a:solidFill>
                  <a:srgbClr val="404040"/>
                </a:solidFill>
                <a:latin typeface="Arial"/>
                <a:ea typeface="Arial"/>
                <a:cs typeface="Arial"/>
                <a:sym typeface="Arial"/>
              </a:rPr>
              <a:t>Đóng gói C++ / ROS 2 node</a:t>
            </a:r>
          </a:p>
        </p:txBody>
      </p:sp>
      <p:grpSp>
        <p:nvGrpSpPr>
          <p:cNvPr id="36" name="Group 36"/>
          <p:cNvGrpSpPr/>
          <p:nvPr/>
        </p:nvGrpSpPr>
        <p:grpSpPr>
          <a:xfrm>
            <a:off x="8702802" y="2578608"/>
            <a:ext cx="877824" cy="877824"/>
            <a:chOff x="0" y="0"/>
            <a:chExt cx="1170432" cy="1170432"/>
          </a:xfrm>
        </p:grpSpPr>
        <p:sp>
          <p:nvSpPr>
            <p:cNvPr id="37" name="Freeform 37"/>
            <p:cNvSpPr/>
            <p:nvPr/>
          </p:nvSpPr>
          <p:spPr>
            <a:xfrm>
              <a:off x="0" y="0"/>
              <a:ext cx="1170432" cy="1170432"/>
            </a:xfrm>
            <a:custGeom>
              <a:avLst/>
              <a:gdLst/>
              <a:ahLst/>
              <a:cxnLst/>
              <a:rect l="l" t="t" r="r" b="b"/>
              <a:pathLst>
                <a:path w="1170432" h="1170432">
                  <a:moveTo>
                    <a:pt x="0" y="585216"/>
                  </a:moveTo>
                  <a:cubicBezTo>
                    <a:pt x="0" y="262001"/>
                    <a:pt x="262001" y="0"/>
                    <a:pt x="585216" y="0"/>
                  </a:cubicBezTo>
                  <a:cubicBezTo>
                    <a:pt x="908431" y="0"/>
                    <a:pt x="1170432" y="262001"/>
                    <a:pt x="1170432" y="585216"/>
                  </a:cubicBezTo>
                  <a:cubicBezTo>
                    <a:pt x="1170432" y="908431"/>
                    <a:pt x="908431" y="1170432"/>
                    <a:pt x="585216" y="1170432"/>
                  </a:cubicBezTo>
                  <a:cubicBezTo>
                    <a:pt x="262001" y="1170432"/>
                    <a:pt x="0" y="908431"/>
                    <a:pt x="0" y="585216"/>
                  </a:cubicBezTo>
                  <a:close/>
                </a:path>
              </a:pathLst>
            </a:custGeom>
            <a:solidFill>
              <a:srgbClr val="FFFFFF"/>
            </a:solidFill>
          </p:spPr>
          <p:txBody>
            <a:bodyPr/>
            <a:lstStyle/>
            <a:p>
              <a:endParaRPr lang="en-US"/>
            </a:p>
          </p:txBody>
        </p:sp>
        <p:sp>
          <p:nvSpPr>
            <p:cNvPr id="38" name="TextBox 38"/>
            <p:cNvSpPr txBox="1"/>
            <p:nvPr/>
          </p:nvSpPr>
          <p:spPr>
            <a:xfrm>
              <a:off x="0" y="-19050"/>
              <a:ext cx="1170432" cy="1189482"/>
            </a:xfrm>
            <a:prstGeom prst="rect">
              <a:avLst/>
            </a:prstGeom>
          </p:spPr>
          <p:txBody>
            <a:bodyPr lIns="50800" tIns="50800" rIns="50800" bIns="50800" rtlCol="0" anchor="ctr"/>
            <a:lstStyle/>
            <a:p>
              <a:pPr algn="ctr">
                <a:lnSpc>
                  <a:spcPts val="3240"/>
                </a:lnSpc>
              </a:pPr>
              <a:r>
                <a:rPr lang="en-US" sz="2700" b="1">
                  <a:solidFill>
                    <a:srgbClr val="595959"/>
                  </a:solidFill>
                  <a:latin typeface="Arial Bold"/>
                  <a:ea typeface="Arial Bold"/>
                  <a:cs typeface="Arial Bold"/>
                  <a:sym typeface="Arial Bold"/>
                </a:rPr>
                <a:t>2</a:t>
              </a:r>
            </a:p>
          </p:txBody>
        </p:sp>
      </p:grpSp>
      <p:grpSp>
        <p:nvGrpSpPr>
          <p:cNvPr id="39" name="Group 39"/>
          <p:cNvGrpSpPr/>
          <p:nvPr/>
        </p:nvGrpSpPr>
        <p:grpSpPr>
          <a:xfrm>
            <a:off x="8681371" y="2557177"/>
            <a:ext cx="920686" cy="920686"/>
            <a:chOff x="0" y="0"/>
            <a:chExt cx="1227582" cy="1227582"/>
          </a:xfrm>
        </p:grpSpPr>
        <p:sp>
          <p:nvSpPr>
            <p:cNvPr id="40" name="Freeform 40"/>
            <p:cNvSpPr/>
            <p:nvPr/>
          </p:nvSpPr>
          <p:spPr>
            <a:xfrm>
              <a:off x="0" y="0"/>
              <a:ext cx="1227582" cy="1227582"/>
            </a:xfrm>
            <a:custGeom>
              <a:avLst/>
              <a:gdLst/>
              <a:ahLst/>
              <a:cxnLst/>
              <a:rect l="l" t="t" r="r" b="b"/>
              <a:pathLst>
                <a:path w="1227582" h="1227582">
                  <a:moveTo>
                    <a:pt x="0" y="613791"/>
                  </a:moveTo>
                  <a:cubicBezTo>
                    <a:pt x="0" y="274828"/>
                    <a:pt x="274828" y="0"/>
                    <a:pt x="613791" y="0"/>
                  </a:cubicBezTo>
                  <a:cubicBezTo>
                    <a:pt x="952754" y="0"/>
                    <a:pt x="1227582" y="274828"/>
                    <a:pt x="1227582" y="613791"/>
                  </a:cubicBezTo>
                  <a:cubicBezTo>
                    <a:pt x="1227582" y="952754"/>
                    <a:pt x="952754" y="1227582"/>
                    <a:pt x="613791" y="1227582"/>
                  </a:cubicBezTo>
                  <a:cubicBezTo>
                    <a:pt x="274828" y="1227582"/>
                    <a:pt x="0" y="952754"/>
                    <a:pt x="0" y="613791"/>
                  </a:cubicBezTo>
                  <a:close/>
                </a:path>
              </a:pathLst>
            </a:custGeom>
            <a:blipFill>
              <a:blip r:embed="rId5">
                <a:alphaModFix amt="0"/>
              </a:blip>
              <a:stretch>
                <a:fillRect l="-78303" r="-78303"/>
              </a:stretch>
            </a:blipFill>
            <a:ln w="42862" cap="sq">
              <a:solidFill>
                <a:srgbClr val="595959"/>
              </a:solidFill>
              <a:prstDash val="solid"/>
              <a:miter/>
            </a:ln>
          </p:spPr>
          <p:txBody>
            <a:bodyPr/>
            <a:lstStyle/>
            <a:p>
              <a:endParaRPr lang="en-US"/>
            </a:p>
          </p:txBody>
        </p:sp>
      </p:grpSp>
      <p:grpSp>
        <p:nvGrpSpPr>
          <p:cNvPr id="41" name="Group 41"/>
          <p:cNvGrpSpPr/>
          <p:nvPr/>
        </p:nvGrpSpPr>
        <p:grpSpPr>
          <a:xfrm>
            <a:off x="6459950" y="3764756"/>
            <a:ext cx="5363528" cy="3511867"/>
            <a:chOff x="0" y="0"/>
            <a:chExt cx="7151370" cy="4682490"/>
          </a:xfrm>
        </p:grpSpPr>
        <p:sp>
          <p:nvSpPr>
            <p:cNvPr id="42" name="Freeform 42"/>
            <p:cNvSpPr/>
            <p:nvPr/>
          </p:nvSpPr>
          <p:spPr>
            <a:xfrm>
              <a:off x="0" y="0"/>
              <a:ext cx="7151370" cy="4682490"/>
            </a:xfrm>
            <a:custGeom>
              <a:avLst/>
              <a:gdLst/>
              <a:ahLst/>
              <a:cxnLst/>
              <a:rect l="l" t="t" r="r" b="b"/>
              <a:pathLst>
                <a:path w="7151370" h="4682490">
                  <a:moveTo>
                    <a:pt x="0" y="220345"/>
                  </a:moveTo>
                  <a:cubicBezTo>
                    <a:pt x="0" y="98679"/>
                    <a:pt x="98679" y="0"/>
                    <a:pt x="220345" y="0"/>
                  </a:cubicBezTo>
                  <a:lnTo>
                    <a:pt x="6931025" y="0"/>
                  </a:lnTo>
                  <a:cubicBezTo>
                    <a:pt x="7052691" y="0"/>
                    <a:pt x="7151370" y="98679"/>
                    <a:pt x="7151370" y="220345"/>
                  </a:cubicBezTo>
                  <a:lnTo>
                    <a:pt x="7151370" y="4462145"/>
                  </a:lnTo>
                  <a:cubicBezTo>
                    <a:pt x="7151370" y="4583811"/>
                    <a:pt x="7052691" y="4682490"/>
                    <a:pt x="6931025" y="4682490"/>
                  </a:cubicBezTo>
                  <a:lnTo>
                    <a:pt x="220345" y="4682490"/>
                  </a:lnTo>
                  <a:cubicBezTo>
                    <a:pt x="98679" y="4682490"/>
                    <a:pt x="0" y="4583811"/>
                    <a:pt x="0" y="446214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43" name="Group 43"/>
          <p:cNvGrpSpPr/>
          <p:nvPr/>
        </p:nvGrpSpPr>
        <p:grpSpPr>
          <a:xfrm>
            <a:off x="6741414" y="3771900"/>
            <a:ext cx="960120" cy="68580"/>
            <a:chOff x="0" y="0"/>
            <a:chExt cx="1280160" cy="91440"/>
          </a:xfrm>
        </p:grpSpPr>
        <p:sp>
          <p:nvSpPr>
            <p:cNvPr id="44" name="Freeform 44"/>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sp>
        <p:nvSpPr>
          <p:cNvPr id="45" name="TextBox 45"/>
          <p:cNvSpPr txBox="1"/>
          <p:nvPr/>
        </p:nvSpPr>
        <p:spPr>
          <a:xfrm>
            <a:off x="6846570" y="3976878"/>
            <a:ext cx="4590288" cy="352425"/>
          </a:xfrm>
          <a:prstGeom prst="rect">
            <a:avLst/>
          </a:prstGeom>
        </p:spPr>
        <p:txBody>
          <a:bodyPr lIns="0" tIns="0" rIns="0" bIns="0" rtlCol="0" anchor="t">
            <a:spAutoFit/>
          </a:bodyPr>
          <a:lstStyle/>
          <a:p>
            <a:pPr algn="l">
              <a:lnSpc>
                <a:spcPts val="2639"/>
              </a:lnSpc>
            </a:pPr>
            <a:r>
              <a:rPr lang="en-US" sz="2199" b="1">
                <a:solidFill>
                  <a:srgbClr val="595959"/>
                </a:solidFill>
                <a:latin typeface="Arial Bold"/>
                <a:ea typeface="Arial Bold"/>
                <a:cs typeface="Arial Bold"/>
                <a:sym typeface="Arial Bold"/>
              </a:rPr>
              <a:t>GIAI ĐOẠN 2</a:t>
            </a:r>
          </a:p>
        </p:txBody>
      </p:sp>
      <p:sp>
        <p:nvSpPr>
          <p:cNvPr id="46" name="TextBox 46"/>
          <p:cNvSpPr txBox="1"/>
          <p:nvPr/>
        </p:nvSpPr>
        <p:spPr>
          <a:xfrm>
            <a:off x="6846570" y="4462653"/>
            <a:ext cx="4590288" cy="346249"/>
          </a:xfrm>
          <a:prstGeom prst="rect">
            <a:avLst/>
          </a:prstGeom>
        </p:spPr>
        <p:txBody>
          <a:bodyPr lIns="0" tIns="0" rIns="0" bIns="0" rtlCol="0" anchor="t">
            <a:spAutoFit/>
          </a:bodyPr>
          <a:lstStyle/>
          <a:p>
            <a:pPr algn="l">
              <a:lnSpc>
                <a:spcPts val="2700"/>
              </a:lnSpc>
            </a:pPr>
            <a:r>
              <a:rPr lang="en-US" sz="2250" b="1">
                <a:solidFill>
                  <a:srgbClr val="262626"/>
                </a:solidFill>
                <a:latin typeface="Arial Bold"/>
                <a:ea typeface="Arial Bold"/>
                <a:cs typeface="Arial Bold"/>
                <a:sym typeface="Arial Bold"/>
              </a:rPr>
              <a:t>THÁNG 10 - 11</a:t>
            </a:r>
          </a:p>
        </p:txBody>
      </p:sp>
      <p:sp>
        <p:nvSpPr>
          <p:cNvPr id="47" name="TextBox 47"/>
          <p:cNvSpPr txBox="1"/>
          <p:nvPr/>
        </p:nvSpPr>
        <p:spPr>
          <a:xfrm>
            <a:off x="6777990" y="5329428"/>
            <a:ext cx="4658868" cy="923925"/>
          </a:xfrm>
          <a:prstGeom prst="rect">
            <a:avLst/>
          </a:prstGeom>
        </p:spPr>
        <p:txBody>
          <a:bodyPr lIns="0" tIns="0" rIns="0" bIns="0" rtlCol="0" anchor="t">
            <a:spAutoFit/>
          </a:bodyPr>
          <a:lstStyle/>
          <a:p>
            <a:pPr marL="366473" lvl="1" indent="-183237" algn="l">
              <a:lnSpc>
                <a:spcPts val="2429"/>
              </a:lnSpc>
              <a:buFont typeface="Arial"/>
              <a:buChar char="•"/>
            </a:pPr>
            <a:r>
              <a:rPr lang="en-US" sz="2024">
                <a:solidFill>
                  <a:srgbClr val="404040"/>
                </a:solidFill>
                <a:latin typeface="Arial"/>
                <a:ea typeface="Arial"/>
                <a:cs typeface="Arial"/>
                <a:sym typeface="Arial"/>
              </a:rPr>
              <a:t>Bay thử dã ngoại ngoài trời</a:t>
            </a:r>
          </a:p>
          <a:p>
            <a:pPr marL="366473" lvl="1" indent="-183237" algn="l">
              <a:lnSpc>
                <a:spcPts val="2429"/>
              </a:lnSpc>
              <a:buFont typeface="Arial"/>
              <a:buChar char="•"/>
            </a:pPr>
            <a:r>
              <a:rPr lang="en-US" sz="2024">
                <a:solidFill>
                  <a:srgbClr val="404040"/>
                </a:solidFill>
                <a:latin typeface="Arial"/>
                <a:ea typeface="Arial"/>
                <a:cs typeface="Arial"/>
                <a:sym typeface="Arial"/>
              </a:rPr>
              <a:t>Bãi đáp tĩnh</a:t>
            </a:r>
          </a:p>
          <a:p>
            <a:pPr marL="366473" lvl="1" indent="-183237" algn="l">
              <a:lnSpc>
                <a:spcPts val="2429"/>
              </a:lnSpc>
              <a:buFont typeface="Arial"/>
              <a:buChar char="•"/>
            </a:pPr>
            <a:r>
              <a:rPr lang="en-US" sz="2024">
                <a:solidFill>
                  <a:srgbClr val="404040"/>
                </a:solidFill>
                <a:latin typeface="Arial"/>
                <a:ea typeface="Arial"/>
                <a:cs typeface="Arial"/>
                <a:sym typeface="Arial"/>
              </a:rPr>
              <a:t>Bãi đáp di động </a:t>
            </a:r>
          </a:p>
        </p:txBody>
      </p:sp>
      <p:grpSp>
        <p:nvGrpSpPr>
          <p:cNvPr id="48" name="Group 48"/>
          <p:cNvGrpSpPr/>
          <p:nvPr/>
        </p:nvGrpSpPr>
        <p:grpSpPr>
          <a:xfrm>
            <a:off x="14346936" y="2578608"/>
            <a:ext cx="877824" cy="877824"/>
            <a:chOff x="0" y="0"/>
            <a:chExt cx="1170432" cy="1170432"/>
          </a:xfrm>
        </p:grpSpPr>
        <p:sp>
          <p:nvSpPr>
            <p:cNvPr id="49" name="Freeform 49"/>
            <p:cNvSpPr/>
            <p:nvPr/>
          </p:nvSpPr>
          <p:spPr>
            <a:xfrm>
              <a:off x="0" y="0"/>
              <a:ext cx="1170432" cy="1170432"/>
            </a:xfrm>
            <a:custGeom>
              <a:avLst/>
              <a:gdLst/>
              <a:ahLst/>
              <a:cxnLst/>
              <a:rect l="l" t="t" r="r" b="b"/>
              <a:pathLst>
                <a:path w="1170432" h="1170432">
                  <a:moveTo>
                    <a:pt x="0" y="585216"/>
                  </a:moveTo>
                  <a:cubicBezTo>
                    <a:pt x="0" y="262001"/>
                    <a:pt x="262001" y="0"/>
                    <a:pt x="585216" y="0"/>
                  </a:cubicBezTo>
                  <a:cubicBezTo>
                    <a:pt x="908431" y="0"/>
                    <a:pt x="1170432" y="262001"/>
                    <a:pt x="1170432" y="585216"/>
                  </a:cubicBezTo>
                  <a:cubicBezTo>
                    <a:pt x="1170432" y="908431"/>
                    <a:pt x="908431" y="1170432"/>
                    <a:pt x="585216" y="1170432"/>
                  </a:cubicBezTo>
                  <a:cubicBezTo>
                    <a:pt x="262001" y="1170432"/>
                    <a:pt x="0" y="908431"/>
                    <a:pt x="0" y="585216"/>
                  </a:cubicBezTo>
                  <a:close/>
                </a:path>
              </a:pathLst>
            </a:custGeom>
            <a:solidFill>
              <a:srgbClr val="FFFFFF"/>
            </a:solidFill>
          </p:spPr>
          <p:txBody>
            <a:bodyPr/>
            <a:lstStyle/>
            <a:p>
              <a:endParaRPr lang="en-US"/>
            </a:p>
          </p:txBody>
        </p:sp>
        <p:sp>
          <p:nvSpPr>
            <p:cNvPr id="50" name="TextBox 50"/>
            <p:cNvSpPr txBox="1"/>
            <p:nvPr/>
          </p:nvSpPr>
          <p:spPr>
            <a:xfrm>
              <a:off x="0" y="-19050"/>
              <a:ext cx="1170432" cy="1189482"/>
            </a:xfrm>
            <a:prstGeom prst="rect">
              <a:avLst/>
            </a:prstGeom>
          </p:spPr>
          <p:txBody>
            <a:bodyPr lIns="50800" tIns="50800" rIns="50800" bIns="50800" rtlCol="0" anchor="ctr"/>
            <a:lstStyle/>
            <a:p>
              <a:pPr algn="ctr">
                <a:lnSpc>
                  <a:spcPts val="3240"/>
                </a:lnSpc>
              </a:pPr>
              <a:r>
                <a:rPr lang="en-US" sz="2700" b="1">
                  <a:solidFill>
                    <a:srgbClr val="7F7F7F"/>
                  </a:solidFill>
                  <a:latin typeface="Arial Bold"/>
                  <a:ea typeface="Arial Bold"/>
                  <a:cs typeface="Arial Bold"/>
                  <a:sym typeface="Arial Bold"/>
                </a:rPr>
                <a:t>3</a:t>
              </a:r>
            </a:p>
          </p:txBody>
        </p:sp>
      </p:grpSp>
      <p:grpSp>
        <p:nvGrpSpPr>
          <p:cNvPr id="51" name="Group 51"/>
          <p:cNvGrpSpPr/>
          <p:nvPr/>
        </p:nvGrpSpPr>
        <p:grpSpPr>
          <a:xfrm>
            <a:off x="14325505" y="2557177"/>
            <a:ext cx="920686" cy="920686"/>
            <a:chOff x="0" y="0"/>
            <a:chExt cx="1227582" cy="1227582"/>
          </a:xfrm>
        </p:grpSpPr>
        <p:sp>
          <p:nvSpPr>
            <p:cNvPr id="52" name="Freeform 52"/>
            <p:cNvSpPr/>
            <p:nvPr/>
          </p:nvSpPr>
          <p:spPr>
            <a:xfrm>
              <a:off x="0" y="0"/>
              <a:ext cx="1227582" cy="1227582"/>
            </a:xfrm>
            <a:custGeom>
              <a:avLst/>
              <a:gdLst/>
              <a:ahLst/>
              <a:cxnLst/>
              <a:rect l="l" t="t" r="r" b="b"/>
              <a:pathLst>
                <a:path w="1227582" h="1227582">
                  <a:moveTo>
                    <a:pt x="0" y="613791"/>
                  </a:moveTo>
                  <a:cubicBezTo>
                    <a:pt x="0" y="274828"/>
                    <a:pt x="274828" y="0"/>
                    <a:pt x="613791" y="0"/>
                  </a:cubicBezTo>
                  <a:cubicBezTo>
                    <a:pt x="952754" y="0"/>
                    <a:pt x="1227582" y="274828"/>
                    <a:pt x="1227582" y="613791"/>
                  </a:cubicBezTo>
                  <a:cubicBezTo>
                    <a:pt x="1227582" y="952754"/>
                    <a:pt x="952754" y="1227582"/>
                    <a:pt x="613791" y="1227582"/>
                  </a:cubicBezTo>
                  <a:cubicBezTo>
                    <a:pt x="274828" y="1227582"/>
                    <a:pt x="0" y="952754"/>
                    <a:pt x="0" y="613791"/>
                  </a:cubicBezTo>
                  <a:close/>
                </a:path>
              </a:pathLst>
            </a:custGeom>
            <a:blipFill>
              <a:blip r:embed="rId5">
                <a:alphaModFix amt="0"/>
              </a:blip>
              <a:stretch>
                <a:fillRect l="-78303" r="-78303"/>
              </a:stretch>
            </a:blipFill>
            <a:ln w="42862" cap="sq">
              <a:solidFill>
                <a:srgbClr val="7F7F7F"/>
              </a:solidFill>
              <a:prstDash val="solid"/>
              <a:miter/>
            </a:ln>
          </p:spPr>
          <p:txBody>
            <a:bodyPr/>
            <a:lstStyle/>
            <a:p>
              <a:endParaRPr lang="en-US"/>
            </a:p>
          </p:txBody>
        </p:sp>
      </p:grpSp>
      <p:grpSp>
        <p:nvGrpSpPr>
          <p:cNvPr id="53" name="Group 53"/>
          <p:cNvGrpSpPr/>
          <p:nvPr/>
        </p:nvGrpSpPr>
        <p:grpSpPr>
          <a:xfrm>
            <a:off x="12104084" y="3764756"/>
            <a:ext cx="5363528" cy="3511867"/>
            <a:chOff x="0" y="0"/>
            <a:chExt cx="7151370" cy="4682490"/>
          </a:xfrm>
        </p:grpSpPr>
        <p:sp>
          <p:nvSpPr>
            <p:cNvPr id="54" name="Freeform 54"/>
            <p:cNvSpPr/>
            <p:nvPr/>
          </p:nvSpPr>
          <p:spPr>
            <a:xfrm>
              <a:off x="0" y="0"/>
              <a:ext cx="7151370" cy="4682490"/>
            </a:xfrm>
            <a:custGeom>
              <a:avLst/>
              <a:gdLst/>
              <a:ahLst/>
              <a:cxnLst/>
              <a:rect l="l" t="t" r="r" b="b"/>
              <a:pathLst>
                <a:path w="7151370" h="4682490">
                  <a:moveTo>
                    <a:pt x="0" y="220345"/>
                  </a:moveTo>
                  <a:cubicBezTo>
                    <a:pt x="0" y="98679"/>
                    <a:pt x="98679" y="0"/>
                    <a:pt x="220345" y="0"/>
                  </a:cubicBezTo>
                  <a:lnTo>
                    <a:pt x="6931025" y="0"/>
                  </a:lnTo>
                  <a:cubicBezTo>
                    <a:pt x="7052691" y="0"/>
                    <a:pt x="7151370" y="98679"/>
                    <a:pt x="7151370" y="220345"/>
                  </a:cubicBezTo>
                  <a:lnTo>
                    <a:pt x="7151370" y="4462145"/>
                  </a:lnTo>
                  <a:cubicBezTo>
                    <a:pt x="7151370" y="4583811"/>
                    <a:pt x="7052691" y="4682490"/>
                    <a:pt x="6931025" y="4682490"/>
                  </a:cubicBezTo>
                  <a:lnTo>
                    <a:pt x="220345" y="4682490"/>
                  </a:lnTo>
                  <a:cubicBezTo>
                    <a:pt x="98679" y="4682490"/>
                    <a:pt x="0" y="4583811"/>
                    <a:pt x="0" y="446214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55" name="Group 55"/>
          <p:cNvGrpSpPr/>
          <p:nvPr/>
        </p:nvGrpSpPr>
        <p:grpSpPr>
          <a:xfrm>
            <a:off x="12385548" y="3771900"/>
            <a:ext cx="960120" cy="68580"/>
            <a:chOff x="0" y="0"/>
            <a:chExt cx="1280160" cy="91440"/>
          </a:xfrm>
        </p:grpSpPr>
        <p:sp>
          <p:nvSpPr>
            <p:cNvPr id="56" name="Freeform 56"/>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7F7F7F"/>
            </a:solidFill>
          </p:spPr>
          <p:txBody>
            <a:bodyPr/>
            <a:lstStyle/>
            <a:p>
              <a:endParaRPr lang="en-US"/>
            </a:p>
          </p:txBody>
        </p:sp>
      </p:grpSp>
      <p:sp>
        <p:nvSpPr>
          <p:cNvPr id="57" name="TextBox 57"/>
          <p:cNvSpPr txBox="1"/>
          <p:nvPr/>
        </p:nvSpPr>
        <p:spPr>
          <a:xfrm>
            <a:off x="12490704" y="3976878"/>
            <a:ext cx="4590288" cy="352425"/>
          </a:xfrm>
          <a:prstGeom prst="rect">
            <a:avLst/>
          </a:prstGeom>
        </p:spPr>
        <p:txBody>
          <a:bodyPr lIns="0" tIns="0" rIns="0" bIns="0" rtlCol="0" anchor="t">
            <a:spAutoFit/>
          </a:bodyPr>
          <a:lstStyle/>
          <a:p>
            <a:pPr algn="l">
              <a:lnSpc>
                <a:spcPts val="2639"/>
              </a:lnSpc>
            </a:pPr>
            <a:r>
              <a:rPr lang="en-US" sz="2199" b="1">
                <a:solidFill>
                  <a:srgbClr val="7F7F7F"/>
                </a:solidFill>
                <a:latin typeface="Arial Bold"/>
                <a:ea typeface="Arial Bold"/>
                <a:cs typeface="Arial Bold"/>
                <a:sym typeface="Arial Bold"/>
              </a:rPr>
              <a:t>GIAI ĐOẠN 3</a:t>
            </a:r>
          </a:p>
        </p:txBody>
      </p:sp>
      <p:sp>
        <p:nvSpPr>
          <p:cNvPr id="58" name="TextBox 58"/>
          <p:cNvSpPr txBox="1"/>
          <p:nvPr/>
        </p:nvSpPr>
        <p:spPr>
          <a:xfrm>
            <a:off x="12490704" y="4462653"/>
            <a:ext cx="4590288" cy="361950"/>
          </a:xfrm>
          <a:prstGeom prst="rect">
            <a:avLst/>
          </a:prstGeom>
        </p:spPr>
        <p:txBody>
          <a:bodyPr lIns="0" tIns="0" rIns="0" bIns="0" rtlCol="0" anchor="t">
            <a:spAutoFit/>
          </a:bodyPr>
          <a:lstStyle/>
          <a:p>
            <a:pPr algn="l">
              <a:lnSpc>
                <a:spcPts val="2700"/>
              </a:lnSpc>
            </a:pPr>
            <a:r>
              <a:rPr lang="en-US" sz="2250" b="1">
                <a:solidFill>
                  <a:srgbClr val="262626"/>
                </a:solidFill>
                <a:latin typeface="Arial Bold"/>
                <a:ea typeface="Arial Bold"/>
                <a:cs typeface="Arial Bold"/>
                <a:sym typeface="Arial Bold"/>
              </a:rPr>
              <a:t>TƯƠNG LAI</a:t>
            </a:r>
          </a:p>
        </p:txBody>
      </p:sp>
      <p:sp>
        <p:nvSpPr>
          <p:cNvPr id="59" name="TextBox 59"/>
          <p:cNvSpPr txBox="1"/>
          <p:nvPr/>
        </p:nvSpPr>
        <p:spPr>
          <a:xfrm>
            <a:off x="12385548" y="5316141"/>
            <a:ext cx="4658868" cy="1231106"/>
          </a:xfrm>
          <a:prstGeom prst="rect">
            <a:avLst/>
          </a:prstGeom>
        </p:spPr>
        <p:txBody>
          <a:bodyPr lIns="0" tIns="0" rIns="0" bIns="0" rtlCol="0" anchor="t">
            <a:spAutoFit/>
          </a:bodyPr>
          <a:lstStyle/>
          <a:p>
            <a:pPr marL="366473" lvl="1" indent="-183237" algn="l">
              <a:lnSpc>
                <a:spcPts val="2429"/>
              </a:lnSpc>
              <a:buFont typeface="Arial"/>
              <a:buChar char="•"/>
            </a:pPr>
            <a:r>
              <a:rPr lang="en-US" sz="2024">
                <a:solidFill>
                  <a:srgbClr val="404040"/>
                </a:solidFill>
                <a:latin typeface="Arial"/>
                <a:ea typeface="Arial"/>
                <a:cs typeface="Arial"/>
                <a:sym typeface="Arial"/>
              </a:rPr>
              <a:t>AI Object Detection (YOLOv8-Nano)</a:t>
            </a:r>
          </a:p>
          <a:p>
            <a:pPr marL="366473" lvl="1" indent="-183237" algn="l">
              <a:lnSpc>
                <a:spcPts val="2429"/>
              </a:lnSpc>
              <a:buFont typeface="Arial"/>
              <a:buChar char="•"/>
            </a:pPr>
            <a:r>
              <a:rPr lang="en-US" sz="2024">
                <a:solidFill>
                  <a:srgbClr val="404040"/>
                </a:solidFill>
                <a:latin typeface="Arial"/>
                <a:ea typeface="Arial"/>
                <a:cs typeface="Arial"/>
                <a:sym typeface="Arial"/>
              </a:rPr>
              <a:t>Nhận diện vật cản động</a:t>
            </a:r>
          </a:p>
          <a:p>
            <a:pPr marL="366473" lvl="1" indent="-183237" algn="l">
              <a:lnSpc>
                <a:spcPts val="2429"/>
              </a:lnSpc>
              <a:buFont typeface="Arial"/>
              <a:buChar char="•"/>
            </a:pPr>
            <a:r>
              <a:rPr lang="en-US" sz="2024">
                <a:solidFill>
                  <a:srgbClr val="404040"/>
                </a:solidFill>
                <a:latin typeface="Arial"/>
                <a:ea typeface="Arial"/>
                <a:cs typeface="Arial"/>
                <a:sym typeface="Arial"/>
              </a:rPr>
              <a:t>Phân loại vật cản</a:t>
            </a:r>
          </a:p>
          <a:p>
            <a:pPr marL="366473" lvl="1" indent="-183237" algn="l">
              <a:lnSpc>
                <a:spcPts val="2429"/>
              </a:lnSpc>
              <a:buFont typeface="Arial"/>
              <a:buChar char="•"/>
            </a:pPr>
            <a:r>
              <a:rPr lang="en-US" sz="2024">
                <a:solidFill>
                  <a:srgbClr val="404040"/>
                </a:solidFill>
                <a:latin typeface="Arial"/>
                <a:ea typeface="Arial"/>
                <a:cs typeface="Arial"/>
                <a:sym typeface="Arial"/>
              </a:rPr>
              <a:t>Hạ cánh trên sàn dập dềnh</a:t>
            </a:r>
          </a:p>
        </p:txBody>
      </p:sp>
      <p:grpSp>
        <p:nvGrpSpPr>
          <p:cNvPr id="60" name="Group 60"/>
          <p:cNvGrpSpPr/>
          <p:nvPr/>
        </p:nvGrpSpPr>
        <p:grpSpPr>
          <a:xfrm>
            <a:off x="806291" y="7527131"/>
            <a:ext cx="16670846" cy="1884998"/>
            <a:chOff x="0" y="0"/>
            <a:chExt cx="22227794" cy="2513330"/>
          </a:xfrm>
        </p:grpSpPr>
        <p:sp>
          <p:nvSpPr>
            <p:cNvPr id="61" name="Freeform 61"/>
            <p:cNvSpPr/>
            <p:nvPr/>
          </p:nvSpPr>
          <p:spPr>
            <a:xfrm>
              <a:off x="0" y="0"/>
              <a:ext cx="22227794" cy="2513330"/>
            </a:xfrm>
            <a:custGeom>
              <a:avLst/>
              <a:gdLst/>
              <a:ahLst/>
              <a:cxnLst/>
              <a:rect l="l" t="t" r="r" b="b"/>
              <a:pathLst>
                <a:path w="22227794" h="2513330">
                  <a:moveTo>
                    <a:pt x="0" y="223393"/>
                  </a:moveTo>
                  <a:cubicBezTo>
                    <a:pt x="0" y="100076"/>
                    <a:pt x="100076" y="0"/>
                    <a:pt x="223393" y="0"/>
                  </a:cubicBezTo>
                  <a:lnTo>
                    <a:pt x="22004401" y="0"/>
                  </a:lnTo>
                  <a:cubicBezTo>
                    <a:pt x="22127718" y="0"/>
                    <a:pt x="22227794" y="100076"/>
                    <a:pt x="22227794" y="223393"/>
                  </a:cubicBezTo>
                  <a:lnTo>
                    <a:pt x="22227794" y="2289937"/>
                  </a:lnTo>
                  <a:cubicBezTo>
                    <a:pt x="22227794" y="2413254"/>
                    <a:pt x="22127718" y="2513330"/>
                    <a:pt x="22004401" y="2513330"/>
                  </a:cubicBezTo>
                  <a:lnTo>
                    <a:pt x="223393" y="2513330"/>
                  </a:lnTo>
                  <a:cubicBezTo>
                    <a:pt x="100076" y="2513330"/>
                    <a:pt x="0" y="2413254"/>
                    <a:pt x="0" y="2289937"/>
                  </a:cubicBezTo>
                  <a:close/>
                </a:path>
              </a:pathLst>
            </a:custGeom>
            <a:solidFill>
              <a:srgbClr val="FFFFFF"/>
            </a:solidFill>
            <a:ln w="33338" cap="sq">
              <a:solidFill>
                <a:srgbClr val="595959"/>
              </a:solidFill>
              <a:prstDash val="solid"/>
              <a:miter/>
            </a:ln>
          </p:spPr>
          <p:txBody>
            <a:bodyPr/>
            <a:lstStyle/>
            <a:p>
              <a:endParaRPr lang="en-US"/>
            </a:p>
          </p:txBody>
        </p:sp>
      </p:grpSp>
      <p:grpSp>
        <p:nvGrpSpPr>
          <p:cNvPr id="62" name="Group 62"/>
          <p:cNvGrpSpPr/>
          <p:nvPr/>
        </p:nvGrpSpPr>
        <p:grpSpPr>
          <a:xfrm>
            <a:off x="1097280" y="7627965"/>
            <a:ext cx="2743200" cy="533055"/>
            <a:chOff x="0" y="0"/>
            <a:chExt cx="3657600" cy="710740"/>
          </a:xfrm>
        </p:grpSpPr>
        <p:sp>
          <p:nvSpPr>
            <p:cNvPr id="63" name="Freeform 63"/>
            <p:cNvSpPr/>
            <p:nvPr/>
          </p:nvSpPr>
          <p:spPr>
            <a:xfrm>
              <a:off x="0" y="0"/>
              <a:ext cx="3657600" cy="710740"/>
            </a:xfrm>
            <a:custGeom>
              <a:avLst/>
              <a:gdLst/>
              <a:ahLst/>
              <a:cxnLst/>
              <a:rect l="l" t="t" r="r" b="b"/>
              <a:pathLst>
                <a:path w="3657600" h="710740">
                  <a:moveTo>
                    <a:pt x="0" y="355370"/>
                  </a:moveTo>
                  <a:cubicBezTo>
                    <a:pt x="0" y="159104"/>
                    <a:pt x="139192" y="0"/>
                    <a:pt x="310896" y="0"/>
                  </a:cubicBezTo>
                  <a:lnTo>
                    <a:pt x="3346704" y="0"/>
                  </a:lnTo>
                  <a:cubicBezTo>
                    <a:pt x="3518408" y="0"/>
                    <a:pt x="3657600" y="159104"/>
                    <a:pt x="3657600" y="355370"/>
                  </a:cubicBezTo>
                  <a:cubicBezTo>
                    <a:pt x="3657600" y="551636"/>
                    <a:pt x="3518408" y="710740"/>
                    <a:pt x="3346704" y="710740"/>
                  </a:cubicBezTo>
                  <a:lnTo>
                    <a:pt x="310896" y="710740"/>
                  </a:lnTo>
                  <a:cubicBezTo>
                    <a:pt x="139192" y="710740"/>
                    <a:pt x="0" y="551636"/>
                    <a:pt x="0" y="355370"/>
                  </a:cubicBezTo>
                  <a:close/>
                </a:path>
              </a:pathLst>
            </a:custGeom>
            <a:solidFill>
              <a:srgbClr val="595959"/>
            </a:solidFill>
          </p:spPr>
          <p:txBody>
            <a:bodyPr/>
            <a:lstStyle/>
            <a:p>
              <a:endParaRPr lang="en-US"/>
            </a:p>
          </p:txBody>
        </p:sp>
        <p:sp>
          <p:nvSpPr>
            <p:cNvPr id="64" name="TextBox 64"/>
            <p:cNvSpPr txBox="1"/>
            <p:nvPr/>
          </p:nvSpPr>
          <p:spPr>
            <a:xfrm>
              <a:off x="0" y="-9525"/>
              <a:ext cx="3657600" cy="720265"/>
            </a:xfrm>
            <a:prstGeom prst="rect">
              <a:avLst/>
            </a:prstGeom>
          </p:spPr>
          <p:txBody>
            <a:bodyPr lIns="50800" tIns="50800" rIns="50800" bIns="50800" rtlCol="0" anchor="ctr"/>
            <a:lstStyle/>
            <a:p>
              <a:pPr algn="ctr">
                <a:lnSpc>
                  <a:spcPts val="2699"/>
                </a:lnSpc>
              </a:pPr>
              <a:r>
                <a:rPr lang="en-US" sz="2249" b="1">
                  <a:solidFill>
                    <a:srgbClr val="FFFFFF"/>
                  </a:solidFill>
                  <a:latin typeface="Arial Bold"/>
                  <a:ea typeface="Arial Bold"/>
                  <a:cs typeface="Arial Bold"/>
                  <a:sym typeface="Arial Bold"/>
                </a:rPr>
                <a:t>Kết quả</a:t>
              </a:r>
            </a:p>
          </p:txBody>
        </p:sp>
      </p:grpSp>
      <p:sp>
        <p:nvSpPr>
          <p:cNvPr id="65" name="TextBox 65"/>
          <p:cNvSpPr txBox="1"/>
          <p:nvPr/>
        </p:nvSpPr>
        <p:spPr>
          <a:xfrm>
            <a:off x="1202436" y="8303895"/>
            <a:ext cx="11996928" cy="1009650"/>
          </a:xfrm>
          <a:prstGeom prst="rect">
            <a:avLst/>
          </a:prstGeom>
        </p:spPr>
        <p:txBody>
          <a:bodyPr lIns="0" tIns="0" rIns="0" bIns="0" rtlCol="0" anchor="t">
            <a:spAutoFit/>
          </a:bodyPr>
          <a:lstStyle/>
          <a:p>
            <a:pPr algn="l">
              <a:lnSpc>
                <a:spcPts val="2669"/>
              </a:lnSpc>
            </a:pPr>
            <a:r>
              <a:rPr lang="en-US" sz="2224" b="1">
                <a:solidFill>
                  <a:srgbClr val="262626"/>
                </a:solidFill>
                <a:latin typeface="Arial Bold"/>
                <a:ea typeface="Arial Bold"/>
                <a:cs typeface="Arial Bold"/>
                <a:sym typeface="Arial Bold"/>
              </a:rPr>
              <a:t>LÀM CHỦ THUẬT TOÁN TỰ HÀNH CỐT LÕI</a:t>
            </a:r>
          </a:p>
          <a:p>
            <a:pPr algn="l">
              <a:lnSpc>
                <a:spcPts val="2669"/>
              </a:lnSpc>
            </a:pPr>
            <a:r>
              <a:rPr lang="en-US" sz="2224">
                <a:solidFill>
                  <a:srgbClr val="262626"/>
                </a:solidFill>
                <a:latin typeface="Arial"/>
                <a:ea typeface="Arial"/>
                <a:cs typeface="Arial"/>
                <a:sym typeface="Arial"/>
              </a:rPr>
              <a:t>Phát triển và tích hợp các thuật toán bám mục tiêu, tránh vật cản và hạ cánh chính xác trên nền tảng PX4 phổ biến — kiến trúc mô-đun, linh hoạt và có khả năng mở rộng.</a:t>
            </a:r>
          </a:p>
        </p:txBody>
      </p:sp>
      <p:grpSp>
        <p:nvGrpSpPr>
          <p:cNvPr id="66" name="Group 66"/>
          <p:cNvGrpSpPr/>
          <p:nvPr/>
        </p:nvGrpSpPr>
        <p:grpSpPr>
          <a:xfrm>
            <a:off x="13647420" y="8161020"/>
            <a:ext cx="3566160" cy="754380"/>
            <a:chOff x="0" y="0"/>
            <a:chExt cx="4754880" cy="1005840"/>
          </a:xfrm>
        </p:grpSpPr>
        <p:sp>
          <p:nvSpPr>
            <p:cNvPr id="67" name="Freeform 67"/>
            <p:cNvSpPr/>
            <p:nvPr/>
          </p:nvSpPr>
          <p:spPr>
            <a:xfrm>
              <a:off x="0" y="0"/>
              <a:ext cx="4754880" cy="1005840"/>
            </a:xfrm>
            <a:custGeom>
              <a:avLst/>
              <a:gdLst/>
              <a:ahLst/>
              <a:cxnLst/>
              <a:rect l="l" t="t" r="r" b="b"/>
              <a:pathLst>
                <a:path w="4754880" h="1005840">
                  <a:moveTo>
                    <a:pt x="0" y="502920"/>
                  </a:moveTo>
                  <a:cubicBezTo>
                    <a:pt x="0" y="225171"/>
                    <a:pt x="225171" y="0"/>
                    <a:pt x="502920" y="0"/>
                  </a:cubicBezTo>
                  <a:lnTo>
                    <a:pt x="4251960" y="0"/>
                  </a:lnTo>
                  <a:cubicBezTo>
                    <a:pt x="4529709" y="0"/>
                    <a:pt x="4754880" y="225171"/>
                    <a:pt x="4754880" y="502920"/>
                  </a:cubicBezTo>
                  <a:cubicBezTo>
                    <a:pt x="4754880" y="780669"/>
                    <a:pt x="4529709" y="1005840"/>
                    <a:pt x="4251960" y="1005840"/>
                  </a:cubicBezTo>
                  <a:lnTo>
                    <a:pt x="502920" y="1005840"/>
                  </a:lnTo>
                  <a:cubicBezTo>
                    <a:pt x="225171" y="1005840"/>
                    <a:pt x="0" y="780669"/>
                    <a:pt x="0" y="502920"/>
                  </a:cubicBezTo>
                  <a:close/>
                </a:path>
              </a:pathLst>
            </a:custGeom>
            <a:solidFill>
              <a:srgbClr val="DB3038"/>
            </a:solidFill>
          </p:spPr>
          <p:txBody>
            <a:bodyPr/>
            <a:lstStyle/>
            <a:p>
              <a:endParaRPr lang="en-US"/>
            </a:p>
          </p:txBody>
        </p:sp>
        <p:sp>
          <p:nvSpPr>
            <p:cNvPr id="68" name="TextBox 68"/>
            <p:cNvSpPr txBox="1"/>
            <p:nvPr/>
          </p:nvSpPr>
          <p:spPr>
            <a:xfrm>
              <a:off x="0" y="0"/>
              <a:ext cx="4754880" cy="1005840"/>
            </a:xfrm>
            <a:prstGeom prst="rect">
              <a:avLst/>
            </a:prstGeom>
          </p:spPr>
          <p:txBody>
            <a:bodyPr lIns="50800" tIns="50800" rIns="50800" bIns="50800" rtlCol="0" anchor="ctr"/>
            <a:lstStyle/>
            <a:p>
              <a:pPr algn="ctr">
                <a:lnSpc>
                  <a:spcPts val="2399"/>
                </a:lnSpc>
              </a:pPr>
              <a:r>
                <a:rPr lang="en-US" sz="1999" b="1">
                  <a:solidFill>
                    <a:srgbClr val="FFFFFF"/>
                  </a:solidFill>
                  <a:latin typeface="Arial Bold"/>
                  <a:ea typeface="Arial Bold"/>
                  <a:cs typeface="Arial Bold"/>
                  <a:sym typeface="Arial Bold"/>
                </a:rPr>
                <a:t>XIN TRÂN TRỌNG CẢM ƠN</a:t>
              </a:r>
            </a:p>
          </p:txBody>
        </p:sp>
      </p:grpSp>
      <p:grpSp>
        <p:nvGrpSpPr>
          <p:cNvPr id="69" name="Group 69"/>
          <p:cNvGrpSpPr/>
          <p:nvPr/>
        </p:nvGrpSpPr>
        <p:grpSpPr>
          <a:xfrm>
            <a:off x="15715107" y="9456321"/>
            <a:ext cx="1988172" cy="688105"/>
            <a:chOff x="0" y="0"/>
            <a:chExt cx="2650896" cy="917473"/>
          </a:xfrm>
        </p:grpSpPr>
        <p:sp>
          <p:nvSpPr>
            <p:cNvPr id="70" name="Freeform 70"/>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grpSp>
        <p:nvGrpSpPr>
          <p:cNvPr id="71" name="Group 71"/>
          <p:cNvGrpSpPr/>
          <p:nvPr/>
        </p:nvGrpSpPr>
        <p:grpSpPr>
          <a:xfrm>
            <a:off x="17793" y="9800082"/>
            <a:ext cx="15704172" cy="67818"/>
            <a:chOff x="0" y="0"/>
            <a:chExt cx="20938896" cy="90424"/>
          </a:xfrm>
        </p:grpSpPr>
        <p:sp>
          <p:nvSpPr>
            <p:cNvPr id="72" name="Freeform 72"/>
            <p:cNvSpPr/>
            <p:nvPr/>
          </p:nvSpPr>
          <p:spPr>
            <a:xfrm>
              <a:off x="0" y="0"/>
              <a:ext cx="20938871" cy="90424"/>
            </a:xfrm>
            <a:custGeom>
              <a:avLst/>
              <a:gdLst/>
              <a:ahLst/>
              <a:cxnLst/>
              <a:rect l="l" t="t" r="r" b="b"/>
              <a:pathLst>
                <a:path w="20938871" h="90424">
                  <a:moveTo>
                    <a:pt x="0" y="0"/>
                  </a:moveTo>
                  <a:lnTo>
                    <a:pt x="20938871" y="0"/>
                  </a:lnTo>
                  <a:lnTo>
                    <a:pt x="20938871" y="90424"/>
                  </a:lnTo>
                  <a:lnTo>
                    <a:pt x="0" y="90424"/>
                  </a:lnTo>
                  <a:close/>
                </a:path>
              </a:pathLst>
            </a:custGeom>
            <a:solidFill>
              <a:srgbClr val="E91E38"/>
            </a:solid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6002000" y="9318508"/>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2"/>
              <a:stretch>
                <a:fillRect l="-183" r="-185" b="-2"/>
              </a:stretch>
            </a:blipFill>
          </p:spPr>
          <p:txBody>
            <a:bodyPr/>
            <a:lstStyle/>
            <a:p>
              <a:endParaRPr lang="en-US"/>
            </a:p>
          </p:txBody>
        </p:sp>
      </p:grpSp>
      <p:grpSp>
        <p:nvGrpSpPr>
          <p:cNvPr id="6" name="Group 6"/>
          <p:cNvGrpSpPr/>
          <p:nvPr/>
        </p:nvGrpSpPr>
        <p:grpSpPr>
          <a:xfrm>
            <a:off x="-19050" y="-38100"/>
            <a:ext cx="18326100" cy="1371324"/>
            <a:chOff x="0" y="0"/>
            <a:chExt cx="24434800" cy="1828432"/>
          </a:xfrm>
        </p:grpSpPr>
        <p:sp>
          <p:nvSpPr>
            <p:cNvPr id="7" name="Freeform 7"/>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8" name="Group 8"/>
          <p:cNvGrpSpPr/>
          <p:nvPr/>
        </p:nvGrpSpPr>
        <p:grpSpPr>
          <a:xfrm>
            <a:off x="29594" y="0"/>
            <a:ext cx="9465469" cy="1112891"/>
            <a:chOff x="0" y="0"/>
            <a:chExt cx="12620625" cy="1483855"/>
          </a:xfrm>
        </p:grpSpPr>
        <p:sp>
          <p:nvSpPr>
            <p:cNvPr id="9" name="Freeform 9"/>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0" name="Group 10"/>
          <p:cNvGrpSpPr/>
          <p:nvPr/>
        </p:nvGrpSpPr>
        <p:grpSpPr>
          <a:xfrm>
            <a:off x="29594" y="0"/>
            <a:ext cx="1612373" cy="1112891"/>
            <a:chOff x="0" y="0"/>
            <a:chExt cx="2149831" cy="1483855"/>
          </a:xfrm>
        </p:grpSpPr>
        <p:sp>
          <p:nvSpPr>
            <p:cNvPr id="11" name="Freeform 11"/>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2" name="Group 12"/>
          <p:cNvGrpSpPr/>
          <p:nvPr/>
        </p:nvGrpSpPr>
        <p:grpSpPr>
          <a:xfrm>
            <a:off x="457200" y="1402690"/>
            <a:ext cx="17439932" cy="698041"/>
            <a:chOff x="0" y="0"/>
            <a:chExt cx="23253243" cy="930721"/>
          </a:xfrm>
        </p:grpSpPr>
        <p:sp>
          <p:nvSpPr>
            <p:cNvPr id="13" name="Freeform 13"/>
            <p:cNvSpPr/>
            <p:nvPr/>
          </p:nvSpPr>
          <p:spPr>
            <a:xfrm>
              <a:off x="0" y="0"/>
              <a:ext cx="23253192" cy="930683"/>
            </a:xfrm>
            <a:custGeom>
              <a:avLst/>
              <a:gdLst/>
              <a:ahLst/>
              <a:cxnLst/>
              <a:rect l="l" t="t" r="r" b="b"/>
              <a:pathLst>
                <a:path w="23253192" h="930683">
                  <a:moveTo>
                    <a:pt x="0" y="0"/>
                  </a:moveTo>
                  <a:lnTo>
                    <a:pt x="23253192" y="0"/>
                  </a:lnTo>
                  <a:lnTo>
                    <a:pt x="23253192" y="930683"/>
                  </a:lnTo>
                  <a:lnTo>
                    <a:pt x="0" y="930683"/>
                  </a:lnTo>
                  <a:close/>
                </a:path>
              </a:pathLst>
            </a:custGeom>
            <a:solidFill>
              <a:srgbClr val="F2F2F2">
                <a:alpha val="63922"/>
              </a:srgbClr>
            </a:solidFill>
          </p:spPr>
          <p:txBody>
            <a:bodyPr/>
            <a:lstStyle/>
            <a:p>
              <a:endParaRPr lang="en-US"/>
            </a:p>
          </p:txBody>
        </p:sp>
        <p:sp>
          <p:nvSpPr>
            <p:cNvPr id="14" name="TextBox 14"/>
            <p:cNvSpPr txBox="1"/>
            <p:nvPr/>
          </p:nvSpPr>
          <p:spPr>
            <a:xfrm>
              <a:off x="0" y="-19050"/>
              <a:ext cx="23253243" cy="949771"/>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Cấu trúc điều khiển</a:t>
              </a:r>
            </a:p>
          </p:txBody>
        </p:sp>
      </p:grpSp>
      <p:sp>
        <p:nvSpPr>
          <p:cNvPr id="16" name="TextBox 16"/>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18" name="Group 18"/>
          <p:cNvGrpSpPr/>
          <p:nvPr/>
        </p:nvGrpSpPr>
        <p:grpSpPr>
          <a:xfrm>
            <a:off x="1799377" y="111327"/>
            <a:ext cx="7109765" cy="701582"/>
            <a:chOff x="0" y="0"/>
            <a:chExt cx="9479686" cy="935443"/>
          </a:xfrm>
        </p:grpSpPr>
        <p:sp>
          <p:nvSpPr>
            <p:cNvPr id="19" name="Freeform 19"/>
            <p:cNvSpPr/>
            <p:nvPr/>
          </p:nvSpPr>
          <p:spPr>
            <a:xfrm>
              <a:off x="0" y="0"/>
              <a:ext cx="9479687" cy="935446"/>
            </a:xfrm>
            <a:custGeom>
              <a:avLst/>
              <a:gdLst/>
              <a:ahLst/>
              <a:cxnLst/>
              <a:rect l="l" t="t" r="r" b="b"/>
              <a:pathLst>
                <a:path w="9479687" h="935446">
                  <a:moveTo>
                    <a:pt x="0" y="0"/>
                  </a:moveTo>
                  <a:lnTo>
                    <a:pt x="9479687" y="0"/>
                  </a:lnTo>
                  <a:lnTo>
                    <a:pt x="9479687" y="935446"/>
                  </a:lnTo>
                  <a:lnTo>
                    <a:pt x="0" y="935446"/>
                  </a:lnTo>
                  <a:close/>
                </a:path>
              </a:pathLst>
            </a:custGeom>
            <a:blipFill>
              <a:blip r:embed="rId3">
                <a:alphaModFix amt="0"/>
              </a:blip>
              <a:stretch>
                <a:fillRect t="-157051" b="-137865"/>
              </a:stretch>
            </a:blipFill>
          </p:spPr>
          <p:txBody>
            <a:bodyPr/>
            <a:lstStyle/>
            <a:p>
              <a:endParaRPr lang="en-US"/>
            </a:p>
          </p:txBody>
        </p:sp>
        <p:sp>
          <p:nvSpPr>
            <p:cNvPr id="20" name="TextBox 20"/>
            <p:cNvSpPr txBox="1"/>
            <p:nvPr/>
          </p:nvSpPr>
          <p:spPr>
            <a:xfrm>
              <a:off x="0" y="66675"/>
              <a:ext cx="9479686" cy="868768"/>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grpSp>
      <p:sp>
        <p:nvSpPr>
          <p:cNvPr id="21" name="TextBox 20">
            <a:extLst>
              <a:ext uri="{FF2B5EF4-FFF2-40B4-BE49-F238E27FC236}">
                <a16:creationId xmlns:a16="http://schemas.microsoft.com/office/drawing/2014/main" id="{0F229C8D-9926-C425-1CAB-D72C1C077B27}"/>
              </a:ext>
            </a:extLst>
          </p:cNvPr>
          <p:cNvSpPr txBox="1"/>
          <p:nvPr/>
        </p:nvSpPr>
        <p:spPr>
          <a:xfrm>
            <a:off x="5791200" y="8768834"/>
            <a:ext cx="5791200" cy="369332"/>
          </a:xfrm>
          <a:prstGeom prst="rect">
            <a:avLst/>
          </a:prstGeom>
          <a:noFill/>
        </p:spPr>
        <p:txBody>
          <a:bodyPr wrap="square" rtlCol="0">
            <a:spAutoFit/>
          </a:bodyPr>
          <a:lstStyle/>
          <a:p>
            <a:pPr algn="ctr"/>
            <a:r>
              <a:rPr lang="en-US" i="1"/>
              <a:t>Hình 1: Cấu trúc điều khiển của hệ thống</a:t>
            </a:r>
          </a:p>
        </p:txBody>
      </p:sp>
      <p:pic>
        <p:nvPicPr>
          <p:cNvPr id="23" name="Picture 22">
            <a:extLst>
              <a:ext uri="{FF2B5EF4-FFF2-40B4-BE49-F238E27FC236}">
                <a16:creationId xmlns:a16="http://schemas.microsoft.com/office/drawing/2014/main" id="{D64EB09C-7458-33E5-7D12-A8202299EA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9123" y="2188800"/>
            <a:ext cx="12989753" cy="6298854"/>
          </a:xfrm>
          <a:prstGeom prst="rect">
            <a:avLst/>
          </a:prstGeom>
        </p:spPr>
      </p:pic>
    </p:spTree>
    <p:extLst>
      <p:ext uri="{BB962C8B-B14F-4D97-AF65-F5344CB8AC3E}">
        <p14:creationId xmlns:p14="http://schemas.microsoft.com/office/powerpoint/2010/main" val="20713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6002000" y="9318508"/>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2"/>
              <a:stretch>
                <a:fillRect l="-183" r="-185" b="-2"/>
              </a:stretch>
            </a:blipFill>
          </p:spPr>
          <p:txBody>
            <a:bodyPr/>
            <a:lstStyle/>
            <a:p>
              <a:endParaRPr lang="en-US"/>
            </a:p>
          </p:txBody>
        </p:sp>
      </p:grpSp>
      <p:grpSp>
        <p:nvGrpSpPr>
          <p:cNvPr id="6" name="Group 6"/>
          <p:cNvGrpSpPr/>
          <p:nvPr/>
        </p:nvGrpSpPr>
        <p:grpSpPr>
          <a:xfrm>
            <a:off x="-19050" y="-38100"/>
            <a:ext cx="18326100" cy="1371324"/>
            <a:chOff x="0" y="0"/>
            <a:chExt cx="24434800" cy="1828432"/>
          </a:xfrm>
        </p:grpSpPr>
        <p:sp>
          <p:nvSpPr>
            <p:cNvPr id="7" name="Freeform 7"/>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8" name="Group 8"/>
          <p:cNvGrpSpPr/>
          <p:nvPr/>
        </p:nvGrpSpPr>
        <p:grpSpPr>
          <a:xfrm>
            <a:off x="29594" y="0"/>
            <a:ext cx="9465469" cy="1112891"/>
            <a:chOff x="0" y="0"/>
            <a:chExt cx="12620625" cy="1483855"/>
          </a:xfrm>
        </p:grpSpPr>
        <p:sp>
          <p:nvSpPr>
            <p:cNvPr id="9" name="Freeform 9"/>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3" name="Group 13"/>
          <p:cNvGrpSpPr/>
          <p:nvPr/>
        </p:nvGrpSpPr>
        <p:grpSpPr>
          <a:xfrm>
            <a:off x="29594" y="0"/>
            <a:ext cx="1612373" cy="1112891"/>
            <a:chOff x="0" y="0"/>
            <a:chExt cx="2149831" cy="1483855"/>
          </a:xfrm>
        </p:grpSpPr>
        <p:sp>
          <p:nvSpPr>
            <p:cNvPr id="14" name="Freeform 14"/>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5" name="Group 15"/>
          <p:cNvGrpSpPr/>
          <p:nvPr/>
        </p:nvGrpSpPr>
        <p:grpSpPr>
          <a:xfrm>
            <a:off x="457200" y="1402690"/>
            <a:ext cx="17439932" cy="698041"/>
            <a:chOff x="0" y="0"/>
            <a:chExt cx="23253243" cy="930721"/>
          </a:xfrm>
        </p:grpSpPr>
        <p:sp>
          <p:nvSpPr>
            <p:cNvPr id="16" name="Freeform 16"/>
            <p:cNvSpPr/>
            <p:nvPr/>
          </p:nvSpPr>
          <p:spPr>
            <a:xfrm>
              <a:off x="0" y="0"/>
              <a:ext cx="23253192" cy="930683"/>
            </a:xfrm>
            <a:custGeom>
              <a:avLst/>
              <a:gdLst/>
              <a:ahLst/>
              <a:cxnLst/>
              <a:rect l="l" t="t" r="r" b="b"/>
              <a:pathLst>
                <a:path w="23253192" h="930683">
                  <a:moveTo>
                    <a:pt x="0" y="0"/>
                  </a:moveTo>
                  <a:lnTo>
                    <a:pt x="23253192" y="0"/>
                  </a:lnTo>
                  <a:lnTo>
                    <a:pt x="23253192" y="930683"/>
                  </a:lnTo>
                  <a:lnTo>
                    <a:pt x="0" y="930683"/>
                  </a:lnTo>
                  <a:close/>
                </a:path>
              </a:pathLst>
            </a:custGeom>
            <a:solidFill>
              <a:srgbClr val="F2F2F2">
                <a:alpha val="63922"/>
              </a:srgbClr>
            </a:solidFill>
          </p:spPr>
          <p:txBody>
            <a:bodyPr/>
            <a:lstStyle/>
            <a:p>
              <a:endParaRPr lang="en-US"/>
            </a:p>
          </p:txBody>
        </p:sp>
        <p:sp>
          <p:nvSpPr>
            <p:cNvPr id="17" name="TextBox 17"/>
            <p:cNvSpPr txBox="1"/>
            <p:nvPr/>
          </p:nvSpPr>
          <p:spPr>
            <a:xfrm>
              <a:off x="0" y="-19050"/>
              <a:ext cx="23253243" cy="949771"/>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CHU TRÌNH NHIỆM VỤ FSM 7 PHA</a:t>
              </a:r>
            </a:p>
          </p:txBody>
        </p:sp>
      </p:grpSp>
      <p:sp>
        <p:nvSpPr>
          <p:cNvPr id="18" name="Freeform 18"/>
          <p:cNvSpPr/>
          <p:nvPr/>
        </p:nvSpPr>
        <p:spPr>
          <a:xfrm>
            <a:off x="3003394" y="2161660"/>
            <a:ext cx="12281211" cy="6360861"/>
          </a:xfrm>
          <a:custGeom>
            <a:avLst/>
            <a:gdLst/>
            <a:ahLst/>
            <a:cxnLst/>
            <a:rect l="l" t="t" r="r" b="b"/>
            <a:pathLst>
              <a:path w="13941787" h="7364466">
                <a:moveTo>
                  <a:pt x="0" y="0"/>
                </a:moveTo>
                <a:lnTo>
                  <a:pt x="13941787" y="0"/>
                </a:lnTo>
                <a:lnTo>
                  <a:pt x="13941787" y="7364466"/>
                </a:lnTo>
                <a:lnTo>
                  <a:pt x="0" y="7364466"/>
                </a:lnTo>
                <a:lnTo>
                  <a:pt x="0" y="0"/>
                </a:lnTo>
                <a:close/>
              </a:path>
            </a:pathLst>
          </a:custGeom>
          <a:blipFill>
            <a:blip r:embed="rId3"/>
            <a:stretch>
              <a:fillRect/>
            </a:stretch>
          </a:blipFill>
        </p:spPr>
        <p:txBody>
          <a:bodyPr/>
          <a:lstStyle/>
          <a:p>
            <a:endParaRPr lang="en-US"/>
          </a:p>
        </p:txBody>
      </p:sp>
      <p:sp>
        <p:nvSpPr>
          <p:cNvPr id="19" name="TextBox 19"/>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22" name="TextBox 21">
            <a:extLst>
              <a:ext uri="{FF2B5EF4-FFF2-40B4-BE49-F238E27FC236}">
                <a16:creationId xmlns:a16="http://schemas.microsoft.com/office/drawing/2014/main" id="{866EC3F3-8DAB-17BB-5332-4242ADDEA3AD}"/>
              </a:ext>
            </a:extLst>
          </p:cNvPr>
          <p:cNvSpPr txBox="1"/>
          <p:nvPr/>
        </p:nvSpPr>
        <p:spPr>
          <a:xfrm>
            <a:off x="6281547" y="8660381"/>
            <a:ext cx="5791200" cy="369332"/>
          </a:xfrm>
          <a:prstGeom prst="rect">
            <a:avLst/>
          </a:prstGeom>
          <a:noFill/>
        </p:spPr>
        <p:txBody>
          <a:bodyPr wrap="square" rtlCol="0">
            <a:spAutoFit/>
          </a:bodyPr>
          <a:lstStyle/>
          <a:p>
            <a:pPr algn="ctr"/>
            <a:r>
              <a:rPr lang="en-US" i="1"/>
              <a:t>Hình 2: Máy trạng thái 7 pha</a:t>
            </a:r>
          </a:p>
        </p:txBody>
      </p:sp>
      <p:sp>
        <p:nvSpPr>
          <p:cNvPr id="21" name="TextBox 20">
            <a:extLst>
              <a:ext uri="{FF2B5EF4-FFF2-40B4-BE49-F238E27FC236}">
                <a16:creationId xmlns:a16="http://schemas.microsoft.com/office/drawing/2014/main" id="{2825739E-6CCF-9D5B-F7A3-F87EAD8BE695}"/>
              </a:ext>
            </a:extLst>
          </p:cNvPr>
          <p:cNvSpPr txBox="1"/>
          <p:nvPr/>
        </p:nvSpPr>
        <p:spPr>
          <a:xfrm>
            <a:off x="1799377" y="161333"/>
            <a:ext cx="7109765" cy="651576"/>
          </a:xfrm>
          <a:prstGeom prst="rect">
            <a:avLst/>
          </a:prstGeom>
        </p:spPr>
        <p:txBody>
          <a:bodyPr lIns="0" tIns="0" rIns="0" bIns="0" rtlCol="0" anchor="ctr"/>
          <a:lstStyle/>
          <a:p>
            <a:pPr algn="l">
              <a:lnSpc>
                <a:spcPts val="2734"/>
              </a:lnSpc>
            </a:pPr>
            <a:r>
              <a:rPr lang="en-US" sz="35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886140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123950"/>
            <a:chOff x="0" y="0"/>
            <a:chExt cx="24384000" cy="1498600"/>
          </a:xfrm>
        </p:grpSpPr>
        <p:sp>
          <p:nvSpPr>
            <p:cNvPr id="3" name="Freeform 3"/>
            <p:cNvSpPr/>
            <p:nvPr/>
          </p:nvSpPr>
          <p:spPr>
            <a:xfrm>
              <a:off x="0" y="0"/>
              <a:ext cx="24384000" cy="1498600"/>
            </a:xfrm>
            <a:custGeom>
              <a:avLst/>
              <a:gdLst/>
              <a:ahLst/>
              <a:cxnLst/>
              <a:rect l="l" t="t" r="r" b="b"/>
              <a:pathLst>
                <a:path w="24384000" h="1498600">
                  <a:moveTo>
                    <a:pt x="0" y="0"/>
                  </a:moveTo>
                  <a:lnTo>
                    <a:pt x="24384000" y="0"/>
                  </a:lnTo>
                  <a:lnTo>
                    <a:pt x="24384000" y="1498600"/>
                  </a:lnTo>
                  <a:lnTo>
                    <a:pt x="0" y="1498600"/>
                  </a:lnTo>
                  <a:close/>
                </a:path>
              </a:pathLst>
            </a:custGeom>
            <a:solidFill>
              <a:srgbClr val="595959"/>
            </a:solidFill>
          </p:spPr>
          <p:txBody>
            <a:bodyPr/>
            <a:lstStyle/>
            <a:p>
              <a:endParaRPr lang="en-US"/>
            </a:p>
          </p:txBody>
        </p:sp>
        <p:sp>
          <p:nvSpPr>
            <p:cNvPr id="4" name="TextBox 4"/>
            <p:cNvSpPr txBox="1"/>
            <p:nvPr/>
          </p:nvSpPr>
          <p:spPr>
            <a:xfrm>
              <a:off x="0" y="-38100"/>
              <a:ext cx="24384000" cy="15367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0" y="0"/>
            <a:ext cx="1619250" cy="1123950"/>
            <a:chOff x="0" y="0"/>
            <a:chExt cx="2159000" cy="1498600"/>
          </a:xfrm>
        </p:grpSpPr>
        <p:sp>
          <p:nvSpPr>
            <p:cNvPr id="6" name="Freeform 6"/>
            <p:cNvSpPr/>
            <p:nvPr/>
          </p:nvSpPr>
          <p:spPr>
            <a:xfrm>
              <a:off x="0" y="0"/>
              <a:ext cx="2159000" cy="1498600"/>
            </a:xfrm>
            <a:custGeom>
              <a:avLst/>
              <a:gdLst/>
              <a:ahLst/>
              <a:cxnLst/>
              <a:rect l="l" t="t" r="r" b="b"/>
              <a:pathLst>
                <a:path w="2159000" h="1498600">
                  <a:moveTo>
                    <a:pt x="0" y="0"/>
                  </a:moveTo>
                  <a:lnTo>
                    <a:pt x="2159000" y="0"/>
                  </a:lnTo>
                  <a:lnTo>
                    <a:pt x="2159000" y="1498600"/>
                  </a:lnTo>
                  <a:lnTo>
                    <a:pt x="0" y="1498600"/>
                  </a:lnTo>
                  <a:close/>
                </a:path>
              </a:pathLst>
            </a:custGeom>
            <a:solidFill>
              <a:srgbClr val="DB3038"/>
            </a:solidFill>
          </p:spPr>
          <p:txBody>
            <a:bodyPr/>
            <a:lstStyle/>
            <a:p>
              <a:endParaRPr lang="en-US"/>
            </a:p>
          </p:txBody>
        </p:sp>
        <p:sp>
          <p:nvSpPr>
            <p:cNvPr id="7" name="TextBox 7"/>
            <p:cNvSpPr txBox="1"/>
            <p:nvPr/>
          </p:nvSpPr>
          <p:spPr>
            <a:xfrm>
              <a:off x="0" y="-38100"/>
              <a:ext cx="2159000" cy="1536700"/>
            </a:xfrm>
            <a:prstGeom prst="rect">
              <a:avLst/>
            </a:prstGeom>
          </p:spPr>
          <p:txBody>
            <a:bodyPr lIns="50800" tIns="50800" rIns="50800" bIns="50800" rtlCol="0" anchor="ctr"/>
            <a:lstStyle/>
            <a:p>
              <a:pPr algn="l">
                <a:lnSpc>
                  <a:spcPts val="1679"/>
                </a:lnSpc>
              </a:pPr>
              <a:endParaRPr/>
            </a:p>
          </p:txBody>
        </p:sp>
      </p:grpSp>
      <p:grpSp>
        <p:nvGrpSpPr>
          <p:cNvPr id="8" name="Group 8"/>
          <p:cNvGrpSpPr/>
          <p:nvPr/>
        </p:nvGrpSpPr>
        <p:grpSpPr>
          <a:xfrm>
            <a:off x="1665692" y="0"/>
            <a:ext cx="7429500" cy="1123950"/>
            <a:chOff x="0" y="0"/>
            <a:chExt cx="9906000" cy="1498600"/>
          </a:xfrm>
        </p:grpSpPr>
        <p:sp>
          <p:nvSpPr>
            <p:cNvPr id="9" name="Freeform 9"/>
            <p:cNvSpPr/>
            <p:nvPr/>
          </p:nvSpPr>
          <p:spPr>
            <a:xfrm>
              <a:off x="0" y="0"/>
              <a:ext cx="9906000" cy="1498600"/>
            </a:xfrm>
            <a:custGeom>
              <a:avLst/>
              <a:gdLst/>
              <a:ahLst/>
              <a:cxnLst/>
              <a:rect l="l" t="t" r="r" b="b"/>
              <a:pathLst>
                <a:path w="9906000" h="1498600">
                  <a:moveTo>
                    <a:pt x="0" y="0"/>
                  </a:moveTo>
                  <a:lnTo>
                    <a:pt x="9906000" y="0"/>
                  </a:lnTo>
                  <a:lnTo>
                    <a:pt x="9906000" y="1498600"/>
                  </a:lnTo>
                  <a:lnTo>
                    <a:pt x="0" y="1498600"/>
                  </a:lnTo>
                  <a:close/>
                </a:path>
              </a:pathLst>
            </a:custGeom>
            <a:solidFill>
              <a:srgbClr val="595959"/>
            </a:solidFill>
          </p:spPr>
          <p:txBody>
            <a:bodyPr/>
            <a:lstStyle/>
            <a:p>
              <a:endParaRPr lang="en-US"/>
            </a:p>
          </p:txBody>
        </p:sp>
        <p:sp>
          <p:nvSpPr>
            <p:cNvPr id="10" name="TextBox 10"/>
            <p:cNvSpPr txBox="1"/>
            <p:nvPr/>
          </p:nvSpPr>
          <p:spPr>
            <a:xfrm>
              <a:off x="0" y="-38100"/>
              <a:ext cx="9906000" cy="15367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266700" y="0"/>
            <a:ext cx="857250" cy="731739"/>
          </a:xfrm>
          <a:prstGeom prst="rect">
            <a:avLst/>
          </a:prstGeom>
        </p:spPr>
        <p:txBody>
          <a:bodyPr wrap="square" lIns="0" tIns="0" rIns="0" bIns="0" rtlCol="0" anchor="t">
            <a:spAutoFit/>
          </a:bodyPr>
          <a:lstStyle/>
          <a:p>
            <a:pPr algn="l">
              <a:lnSpc>
                <a:spcPts val="6160"/>
              </a:lnSpc>
            </a:pPr>
            <a:r>
              <a:rPr lang="en-US" sz="4400" b="1">
                <a:solidFill>
                  <a:srgbClr val="FFFFFF"/>
                </a:solidFill>
                <a:latin typeface="Bai Jamjuree Bold"/>
                <a:ea typeface="Bai Jamjuree Bold"/>
                <a:cs typeface="Bai Jamjuree Bold"/>
                <a:sym typeface="Bai Jamjuree Bold"/>
              </a:rPr>
              <a:t>06</a:t>
            </a:r>
          </a:p>
        </p:txBody>
      </p:sp>
      <p:grpSp>
        <p:nvGrpSpPr>
          <p:cNvPr id="13" name="Group 13"/>
          <p:cNvGrpSpPr/>
          <p:nvPr/>
        </p:nvGrpSpPr>
        <p:grpSpPr>
          <a:xfrm>
            <a:off x="457200" y="1400175"/>
            <a:ext cx="17373600" cy="695325"/>
            <a:chOff x="0" y="0"/>
            <a:chExt cx="23164800" cy="927100"/>
          </a:xfrm>
        </p:grpSpPr>
        <p:sp>
          <p:nvSpPr>
            <p:cNvPr id="14" name="Freeform 14"/>
            <p:cNvSpPr/>
            <p:nvPr/>
          </p:nvSpPr>
          <p:spPr>
            <a:xfrm>
              <a:off x="0" y="0"/>
              <a:ext cx="23164800" cy="927100"/>
            </a:xfrm>
            <a:custGeom>
              <a:avLst/>
              <a:gdLst/>
              <a:ahLst/>
              <a:cxnLst/>
              <a:rect l="l" t="t" r="r" b="b"/>
              <a:pathLst>
                <a:path w="23164800" h="927100">
                  <a:moveTo>
                    <a:pt x="0" y="0"/>
                  </a:moveTo>
                  <a:lnTo>
                    <a:pt x="23164800" y="0"/>
                  </a:lnTo>
                  <a:lnTo>
                    <a:pt x="23164800" y="927100"/>
                  </a:lnTo>
                  <a:lnTo>
                    <a:pt x="0" y="927100"/>
                  </a:lnTo>
                  <a:close/>
                </a:path>
              </a:pathLst>
            </a:custGeom>
            <a:solidFill>
              <a:srgbClr val="F2F2F2"/>
            </a:solidFill>
          </p:spPr>
          <p:txBody>
            <a:bodyPr/>
            <a:lstStyle/>
            <a:p>
              <a:endParaRPr lang="en-US"/>
            </a:p>
          </p:txBody>
        </p:sp>
        <p:sp>
          <p:nvSpPr>
            <p:cNvPr id="15" name="TextBox 15"/>
            <p:cNvSpPr txBox="1"/>
            <p:nvPr/>
          </p:nvSpPr>
          <p:spPr>
            <a:xfrm>
              <a:off x="0" y="-38100"/>
              <a:ext cx="23164800" cy="9652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666750" y="1514475"/>
            <a:ext cx="16668750" cy="382270"/>
          </a:xfrm>
          <a:prstGeom prst="rect">
            <a:avLst/>
          </a:prstGeom>
        </p:spPr>
        <p:txBody>
          <a:bodyPr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IMPROVED ARTIFICIAL POTENTIAL FIELD</a:t>
            </a:r>
          </a:p>
        </p:txBody>
      </p:sp>
      <p:grpSp>
        <p:nvGrpSpPr>
          <p:cNvPr id="17" name="Group 17"/>
          <p:cNvGrpSpPr/>
          <p:nvPr/>
        </p:nvGrpSpPr>
        <p:grpSpPr>
          <a:xfrm>
            <a:off x="809625" y="2371725"/>
            <a:ext cx="7620000" cy="6953250"/>
            <a:chOff x="0" y="0"/>
            <a:chExt cx="10160000" cy="9271000"/>
          </a:xfrm>
        </p:grpSpPr>
        <p:sp>
          <p:nvSpPr>
            <p:cNvPr id="18" name="Freeform 18"/>
            <p:cNvSpPr/>
            <p:nvPr/>
          </p:nvSpPr>
          <p:spPr>
            <a:xfrm>
              <a:off x="0" y="0"/>
              <a:ext cx="10160000" cy="9271000"/>
            </a:xfrm>
            <a:custGeom>
              <a:avLst/>
              <a:gdLst/>
              <a:ahLst/>
              <a:cxnLst/>
              <a:rect l="l" t="t" r="r" b="b"/>
              <a:pathLst>
                <a:path w="10160000" h="9271000">
                  <a:moveTo>
                    <a:pt x="203200" y="0"/>
                  </a:moveTo>
                  <a:lnTo>
                    <a:pt x="9956800" y="0"/>
                  </a:lnTo>
                  <a:cubicBezTo>
                    <a:pt x="10069024" y="0"/>
                    <a:pt x="10160000" y="90976"/>
                    <a:pt x="10160000" y="203200"/>
                  </a:cubicBezTo>
                  <a:lnTo>
                    <a:pt x="10160000" y="9067800"/>
                  </a:lnTo>
                  <a:cubicBezTo>
                    <a:pt x="10160000" y="9180024"/>
                    <a:pt x="10069024" y="9271000"/>
                    <a:pt x="9956800" y="9271000"/>
                  </a:cubicBezTo>
                  <a:lnTo>
                    <a:pt x="203200" y="9271000"/>
                  </a:lnTo>
                  <a:cubicBezTo>
                    <a:pt x="90976" y="9271000"/>
                    <a:pt x="0" y="9180024"/>
                    <a:pt x="0" y="9067800"/>
                  </a:cubicBezTo>
                  <a:lnTo>
                    <a:pt x="0" y="203200"/>
                  </a:lnTo>
                  <a:cubicBezTo>
                    <a:pt x="0" y="90976"/>
                    <a:pt x="90976" y="0"/>
                    <a:pt x="203200" y="0"/>
                  </a:cubicBezTo>
                  <a:close/>
                </a:path>
              </a:pathLst>
            </a:custGeom>
            <a:solidFill>
              <a:srgbClr val="F2F2F2"/>
            </a:solidFill>
          </p:spPr>
          <p:txBody>
            <a:bodyPr/>
            <a:lstStyle/>
            <a:p>
              <a:endParaRPr lang="en-US"/>
            </a:p>
          </p:txBody>
        </p:sp>
        <p:sp>
          <p:nvSpPr>
            <p:cNvPr id="19" name="TextBox 19"/>
            <p:cNvSpPr txBox="1"/>
            <p:nvPr/>
          </p:nvSpPr>
          <p:spPr>
            <a:xfrm>
              <a:off x="0" y="-38100"/>
              <a:ext cx="10160000" cy="9309100"/>
            </a:xfrm>
            <a:prstGeom prst="rect">
              <a:avLst/>
            </a:prstGeom>
          </p:spPr>
          <p:txBody>
            <a:bodyPr lIns="50800" tIns="50800" rIns="50800" bIns="50800" rtlCol="0" anchor="ctr"/>
            <a:lstStyle/>
            <a:p>
              <a:pPr algn="l">
                <a:lnSpc>
                  <a:spcPts val="1679"/>
                </a:lnSpc>
              </a:pPr>
              <a:endParaRPr/>
            </a:p>
          </p:txBody>
        </p:sp>
      </p:grpSp>
      <p:sp>
        <p:nvSpPr>
          <p:cNvPr id="20" name="TextBox 20"/>
          <p:cNvSpPr txBox="1"/>
          <p:nvPr/>
        </p:nvSpPr>
        <p:spPr>
          <a:xfrm>
            <a:off x="1123950" y="2466975"/>
            <a:ext cx="2901360" cy="365869"/>
          </a:xfrm>
          <a:prstGeom prst="rect">
            <a:avLst/>
          </a:prstGeom>
        </p:spPr>
        <p:txBody>
          <a:bodyPr wrap="square" lIns="0" tIns="0" rIns="0" bIns="0" rtlCol="0" anchor="t">
            <a:spAutoFit/>
          </a:bodyPr>
          <a:lstStyle/>
          <a:p>
            <a:pPr algn="l">
              <a:lnSpc>
                <a:spcPts val="3079"/>
              </a:lnSpc>
            </a:pPr>
            <a:r>
              <a:rPr lang="en-US" sz="2199" b="1">
                <a:solidFill>
                  <a:srgbClr val="262626"/>
                </a:solidFill>
                <a:latin typeface="Bai Jamjuree Bold"/>
                <a:ea typeface="Bai Jamjuree Bold"/>
                <a:cs typeface="Bai Jamjuree Bold"/>
                <a:sym typeface="Bai Jamjuree Bold"/>
              </a:rPr>
              <a:t>Mục đích của I-APF</a:t>
            </a:r>
          </a:p>
        </p:txBody>
      </p:sp>
      <p:sp>
        <p:nvSpPr>
          <p:cNvPr id="21" name="TextBox 21"/>
          <p:cNvSpPr txBox="1"/>
          <p:nvPr/>
        </p:nvSpPr>
        <p:spPr>
          <a:xfrm>
            <a:off x="1123950" y="2886075"/>
            <a:ext cx="7010400" cy="531495"/>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Kết hợp lực hút đến target và lực đẩy khỏi vật cản</a:t>
            </a:r>
          </a:p>
          <a:p>
            <a:pPr algn="l">
              <a:lnSpc>
                <a:spcPts val="2159"/>
              </a:lnSpc>
            </a:pPr>
            <a:r>
              <a:rPr lang="en-US" sz="1599">
                <a:solidFill>
                  <a:srgbClr val="404040"/>
                </a:solidFill>
                <a:latin typeface="Bai Jamjuree"/>
                <a:ea typeface="Bai Jamjuree"/>
                <a:cs typeface="Bai Jamjuree"/>
                <a:sym typeface="Bai Jamjuree"/>
              </a:rPr>
              <a:t>để tạo một hướng bay an toàn, liên tục trong không gian 3D.</a:t>
            </a:r>
          </a:p>
        </p:txBody>
      </p:sp>
      <p:sp>
        <p:nvSpPr>
          <p:cNvPr id="22" name="TextBox 22"/>
          <p:cNvSpPr txBox="1"/>
          <p:nvPr/>
        </p:nvSpPr>
        <p:spPr>
          <a:xfrm>
            <a:off x="6505575" y="4177456"/>
            <a:ext cx="9144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TARGET</a:t>
            </a:r>
          </a:p>
        </p:txBody>
      </p:sp>
      <p:sp>
        <p:nvSpPr>
          <p:cNvPr id="23" name="TextBox 23"/>
          <p:cNvSpPr txBox="1"/>
          <p:nvPr/>
        </p:nvSpPr>
        <p:spPr>
          <a:xfrm>
            <a:off x="2957123" y="7556818"/>
            <a:ext cx="571500" cy="224155"/>
          </a:xfrm>
          <a:prstGeom prst="rect">
            <a:avLst/>
          </a:prstGeom>
        </p:spPr>
        <p:txBody>
          <a:bodyPr lIns="0" tIns="0" rIns="0" bIns="0" rtlCol="0" anchor="t">
            <a:spAutoFit/>
          </a:bodyPr>
          <a:lstStyle/>
          <a:p>
            <a:pPr algn="ctr">
              <a:lnSpc>
                <a:spcPts val="1819"/>
              </a:lnSpc>
            </a:pPr>
            <a:r>
              <a:rPr lang="en-US" sz="1299" b="1">
                <a:solidFill>
                  <a:srgbClr val="DB3038"/>
                </a:solidFill>
                <a:latin typeface="Bai Jamjuree Bold"/>
                <a:ea typeface="Bai Jamjuree Bold"/>
                <a:cs typeface="Bai Jamjuree Bold"/>
                <a:sym typeface="Bai Jamjuree Bold"/>
              </a:rPr>
              <a:t>DRONE</a:t>
            </a:r>
          </a:p>
        </p:txBody>
      </p:sp>
      <p:sp>
        <p:nvSpPr>
          <p:cNvPr id="24" name="TextBox 24"/>
          <p:cNvSpPr txBox="1"/>
          <p:nvPr/>
        </p:nvSpPr>
        <p:spPr>
          <a:xfrm>
            <a:off x="5743575" y="5545455"/>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hút → Target</a:t>
            </a:r>
          </a:p>
        </p:txBody>
      </p:sp>
      <p:sp>
        <p:nvSpPr>
          <p:cNvPr id="25" name="TextBox 25"/>
          <p:cNvSpPr txBox="1"/>
          <p:nvPr/>
        </p:nvSpPr>
        <p:spPr>
          <a:xfrm>
            <a:off x="1433123" y="7692708"/>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đẩy</a:t>
            </a:r>
          </a:p>
        </p:txBody>
      </p:sp>
      <p:sp>
        <p:nvSpPr>
          <p:cNvPr id="26" name="TextBox 26"/>
          <p:cNvSpPr txBox="1"/>
          <p:nvPr/>
        </p:nvSpPr>
        <p:spPr>
          <a:xfrm>
            <a:off x="6229350" y="6928993"/>
            <a:ext cx="1905000" cy="239900"/>
          </a:xfrm>
          <a:prstGeom prst="rect">
            <a:avLst/>
          </a:prstGeom>
        </p:spPr>
        <p:txBody>
          <a:bodyPr lIns="0" tIns="0" rIns="0" bIns="0" rtlCol="0" anchor="t">
            <a:spAutoFit/>
          </a:bodyPr>
          <a:lstStyle/>
          <a:p>
            <a:pPr algn="ctr">
              <a:lnSpc>
                <a:spcPts val="2002"/>
              </a:lnSpc>
            </a:pPr>
            <a:r>
              <a:rPr lang="en-US" sz="1430" b="1">
                <a:solidFill>
                  <a:srgbClr val="262626"/>
                </a:solidFill>
                <a:latin typeface="Bai Jamjuree Bold"/>
                <a:ea typeface="Bai Jamjuree Bold"/>
                <a:cs typeface="Bai Jamjuree Bold"/>
                <a:sym typeface="Bai Jamjuree Bold"/>
              </a:rPr>
              <a:t>Hướng bay tổng hợp</a:t>
            </a:r>
          </a:p>
        </p:txBody>
      </p:sp>
      <p:grpSp>
        <p:nvGrpSpPr>
          <p:cNvPr id="27" name="Group 27"/>
          <p:cNvGrpSpPr/>
          <p:nvPr/>
        </p:nvGrpSpPr>
        <p:grpSpPr>
          <a:xfrm>
            <a:off x="8763000" y="2266950"/>
            <a:ext cx="8705850" cy="1238250"/>
            <a:chOff x="0" y="0"/>
            <a:chExt cx="11607800" cy="1651000"/>
          </a:xfrm>
        </p:grpSpPr>
        <p:sp>
          <p:nvSpPr>
            <p:cNvPr id="28" name="Freeform 28"/>
            <p:cNvSpPr/>
            <p:nvPr/>
          </p:nvSpPr>
          <p:spPr>
            <a:xfrm>
              <a:off x="0" y="0"/>
              <a:ext cx="11607800" cy="1651000"/>
            </a:xfrm>
            <a:custGeom>
              <a:avLst/>
              <a:gdLst/>
              <a:ahLst/>
              <a:cxnLst/>
              <a:rect l="l" t="t" r="r" b="b"/>
              <a:pathLst>
                <a:path w="11607800" h="1651000">
                  <a:moveTo>
                    <a:pt x="177800" y="0"/>
                  </a:moveTo>
                  <a:lnTo>
                    <a:pt x="11430000" y="0"/>
                  </a:lnTo>
                  <a:cubicBezTo>
                    <a:pt x="11528196" y="0"/>
                    <a:pt x="11607800" y="79604"/>
                    <a:pt x="11607800" y="177800"/>
                  </a:cubicBezTo>
                  <a:lnTo>
                    <a:pt x="11607800" y="1473200"/>
                  </a:lnTo>
                  <a:cubicBezTo>
                    <a:pt x="11607800" y="1571396"/>
                    <a:pt x="11528196" y="1651000"/>
                    <a:pt x="11430000" y="1651000"/>
                  </a:cubicBezTo>
                  <a:lnTo>
                    <a:pt x="177800" y="1651000"/>
                  </a:lnTo>
                  <a:cubicBezTo>
                    <a:pt x="79604" y="1651000"/>
                    <a:pt x="0" y="1571396"/>
                    <a:pt x="0" y="1473200"/>
                  </a:cubicBezTo>
                  <a:lnTo>
                    <a:pt x="0" y="177800"/>
                  </a:lnTo>
                  <a:cubicBezTo>
                    <a:pt x="0" y="79604"/>
                    <a:pt x="79604" y="0"/>
                    <a:pt x="177800" y="0"/>
                  </a:cubicBezTo>
                  <a:close/>
                </a:path>
              </a:pathLst>
            </a:custGeom>
            <a:solidFill>
              <a:srgbClr val="F2F2F2"/>
            </a:solidFill>
            <a:ln w="9525" cap="sq">
              <a:solidFill>
                <a:srgbClr val="DEDEDE"/>
              </a:solidFill>
              <a:prstDash val="solid"/>
              <a:miter/>
            </a:ln>
          </p:spPr>
          <p:txBody>
            <a:bodyPr/>
            <a:lstStyle/>
            <a:p>
              <a:endParaRPr lang="en-US"/>
            </a:p>
          </p:txBody>
        </p:sp>
        <p:sp>
          <p:nvSpPr>
            <p:cNvPr id="29" name="TextBox 29"/>
            <p:cNvSpPr txBox="1"/>
            <p:nvPr/>
          </p:nvSpPr>
          <p:spPr>
            <a:xfrm>
              <a:off x="0" y="-38100"/>
              <a:ext cx="11607800" cy="1689100"/>
            </a:xfrm>
            <a:prstGeom prst="rect">
              <a:avLst/>
            </a:prstGeom>
          </p:spPr>
          <p:txBody>
            <a:bodyPr lIns="50800" tIns="50800" rIns="50800" bIns="50800" rtlCol="0" anchor="ctr"/>
            <a:lstStyle/>
            <a:p>
              <a:pPr algn="l">
                <a:lnSpc>
                  <a:spcPts val="1679"/>
                </a:lnSpc>
              </a:pPr>
              <a:endParaRPr/>
            </a:p>
          </p:txBody>
        </p:sp>
      </p:grpSp>
      <p:grpSp>
        <p:nvGrpSpPr>
          <p:cNvPr id="30" name="Group 30"/>
          <p:cNvGrpSpPr/>
          <p:nvPr/>
        </p:nvGrpSpPr>
        <p:grpSpPr>
          <a:xfrm>
            <a:off x="8763000" y="2266950"/>
            <a:ext cx="95250" cy="1238250"/>
            <a:chOff x="0" y="0"/>
            <a:chExt cx="127000" cy="1651000"/>
          </a:xfrm>
        </p:grpSpPr>
        <p:sp>
          <p:nvSpPr>
            <p:cNvPr id="31" name="Freeform 31"/>
            <p:cNvSpPr/>
            <p:nvPr/>
          </p:nvSpPr>
          <p:spPr>
            <a:xfrm>
              <a:off x="0" y="0"/>
              <a:ext cx="127000" cy="1651000"/>
            </a:xfrm>
            <a:custGeom>
              <a:avLst/>
              <a:gdLst/>
              <a:ahLst/>
              <a:cxnLst/>
              <a:rect l="l" t="t" r="r" b="b"/>
              <a:pathLst>
                <a:path w="127000" h="1651000">
                  <a:moveTo>
                    <a:pt x="63500" y="0"/>
                  </a:moveTo>
                  <a:lnTo>
                    <a:pt x="63500" y="0"/>
                  </a:lnTo>
                  <a:cubicBezTo>
                    <a:pt x="98570" y="0"/>
                    <a:pt x="127000" y="28430"/>
                    <a:pt x="127000" y="63500"/>
                  </a:cubicBezTo>
                  <a:lnTo>
                    <a:pt x="127000" y="1587500"/>
                  </a:lnTo>
                  <a:cubicBezTo>
                    <a:pt x="127000" y="1622570"/>
                    <a:pt x="98570" y="1651000"/>
                    <a:pt x="63500" y="1651000"/>
                  </a:cubicBezTo>
                  <a:lnTo>
                    <a:pt x="63500" y="1651000"/>
                  </a:lnTo>
                  <a:cubicBezTo>
                    <a:pt x="28430" y="1651000"/>
                    <a:pt x="0" y="1622570"/>
                    <a:pt x="0" y="1587500"/>
                  </a:cubicBezTo>
                  <a:lnTo>
                    <a:pt x="0" y="63500"/>
                  </a:lnTo>
                  <a:cubicBezTo>
                    <a:pt x="0" y="28430"/>
                    <a:pt x="28430" y="0"/>
                    <a:pt x="63500" y="0"/>
                  </a:cubicBezTo>
                  <a:close/>
                </a:path>
              </a:pathLst>
            </a:custGeom>
            <a:solidFill>
              <a:srgbClr val="DB3038"/>
            </a:solidFill>
          </p:spPr>
          <p:txBody>
            <a:bodyPr/>
            <a:lstStyle/>
            <a:p>
              <a:endParaRPr lang="en-US"/>
            </a:p>
          </p:txBody>
        </p:sp>
        <p:sp>
          <p:nvSpPr>
            <p:cNvPr id="32" name="TextBox 32"/>
            <p:cNvSpPr txBox="1"/>
            <p:nvPr/>
          </p:nvSpPr>
          <p:spPr>
            <a:xfrm>
              <a:off x="0" y="-38100"/>
              <a:ext cx="127000" cy="1689100"/>
            </a:xfrm>
            <a:prstGeom prst="rect">
              <a:avLst/>
            </a:prstGeom>
          </p:spPr>
          <p:txBody>
            <a:bodyPr lIns="50800" tIns="50800" rIns="50800" bIns="50800" rtlCol="0" anchor="ctr"/>
            <a:lstStyle/>
            <a:p>
              <a:pPr algn="l">
                <a:lnSpc>
                  <a:spcPts val="1679"/>
                </a:lnSpc>
              </a:pPr>
              <a:endParaRPr/>
            </a:p>
          </p:txBody>
        </p:sp>
      </p:grpSp>
      <p:sp>
        <p:nvSpPr>
          <p:cNvPr id="33" name="TextBox 33"/>
          <p:cNvSpPr txBox="1"/>
          <p:nvPr/>
        </p:nvSpPr>
        <p:spPr>
          <a:xfrm>
            <a:off x="9029700" y="2428875"/>
            <a:ext cx="495300" cy="382270"/>
          </a:xfrm>
          <a:prstGeom prst="rect">
            <a:avLst/>
          </a:prstGeom>
        </p:spPr>
        <p:txBody>
          <a:bodyPr lIns="0" tIns="0" rIns="0" bIns="0" rtlCol="0" anchor="t">
            <a:spAutoFit/>
          </a:bodyPr>
          <a:lstStyle/>
          <a:p>
            <a:pPr algn="l">
              <a:lnSpc>
                <a:spcPts val="3079"/>
              </a:lnSpc>
            </a:pPr>
            <a:r>
              <a:rPr lang="en-US" sz="2199" b="1">
                <a:solidFill>
                  <a:srgbClr val="DB3038"/>
                </a:solidFill>
                <a:latin typeface="Bai Jamjuree Bold"/>
                <a:ea typeface="Bai Jamjuree Bold"/>
                <a:cs typeface="Bai Jamjuree Bold"/>
                <a:sym typeface="Bai Jamjuree Bold"/>
              </a:rPr>
              <a:t>01</a:t>
            </a:r>
          </a:p>
        </p:txBody>
      </p:sp>
      <p:sp>
        <p:nvSpPr>
          <p:cNvPr id="34" name="TextBox 34"/>
          <p:cNvSpPr txBox="1"/>
          <p:nvPr/>
        </p:nvSpPr>
        <p:spPr>
          <a:xfrm>
            <a:off x="9667875" y="2457450"/>
            <a:ext cx="7515225" cy="306705"/>
          </a:xfrm>
          <a:prstGeom prst="rect">
            <a:avLst/>
          </a:prstGeom>
        </p:spPr>
        <p:txBody>
          <a:bodyPr lIns="0" tIns="0" rIns="0" bIns="0" rtlCol="0" anchor="t">
            <a:spAutoFit/>
          </a:bodyPr>
          <a:lstStyle/>
          <a:p>
            <a:pPr algn="l">
              <a:lnSpc>
                <a:spcPts val="2520"/>
              </a:lnSpc>
            </a:pPr>
            <a:r>
              <a:rPr lang="en-US" sz="1800" b="1">
                <a:solidFill>
                  <a:srgbClr val="262626"/>
                </a:solidFill>
                <a:latin typeface="Bai Jamjuree Bold"/>
                <a:ea typeface="Bai Jamjuree Bold"/>
                <a:cs typeface="Bai Jamjuree Bold"/>
                <a:sym typeface="Bai Jamjuree Bold"/>
              </a:rPr>
              <a:t>ĐI ĐÚNG MỤC TIÊU</a:t>
            </a:r>
          </a:p>
        </p:txBody>
      </p:sp>
      <p:sp>
        <p:nvSpPr>
          <p:cNvPr id="35" name="TextBox 35"/>
          <p:cNvSpPr txBox="1"/>
          <p:nvPr/>
        </p:nvSpPr>
        <p:spPr>
          <a:xfrm>
            <a:off x="9667875" y="2857500"/>
            <a:ext cx="7467600" cy="264795"/>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Lực hút kéo drone về target, giữ quỹ đạo hướng đích thay vì chỉ tránh vật cản.</a:t>
            </a:r>
          </a:p>
        </p:txBody>
      </p:sp>
      <p:grpSp>
        <p:nvGrpSpPr>
          <p:cNvPr id="36" name="Group 36"/>
          <p:cNvGrpSpPr/>
          <p:nvPr/>
        </p:nvGrpSpPr>
        <p:grpSpPr>
          <a:xfrm>
            <a:off x="8763000" y="3829050"/>
            <a:ext cx="8705850" cy="1238250"/>
            <a:chOff x="0" y="0"/>
            <a:chExt cx="11607800" cy="1651000"/>
          </a:xfrm>
        </p:grpSpPr>
        <p:sp>
          <p:nvSpPr>
            <p:cNvPr id="37" name="Freeform 37"/>
            <p:cNvSpPr/>
            <p:nvPr/>
          </p:nvSpPr>
          <p:spPr>
            <a:xfrm>
              <a:off x="0" y="0"/>
              <a:ext cx="11607800" cy="1651000"/>
            </a:xfrm>
            <a:custGeom>
              <a:avLst/>
              <a:gdLst/>
              <a:ahLst/>
              <a:cxnLst/>
              <a:rect l="l" t="t" r="r" b="b"/>
              <a:pathLst>
                <a:path w="11607800" h="1651000">
                  <a:moveTo>
                    <a:pt x="177800" y="0"/>
                  </a:moveTo>
                  <a:lnTo>
                    <a:pt x="11430000" y="0"/>
                  </a:lnTo>
                  <a:cubicBezTo>
                    <a:pt x="11528196" y="0"/>
                    <a:pt x="11607800" y="79604"/>
                    <a:pt x="11607800" y="177800"/>
                  </a:cubicBezTo>
                  <a:lnTo>
                    <a:pt x="11607800" y="1473200"/>
                  </a:lnTo>
                  <a:cubicBezTo>
                    <a:pt x="11607800" y="1571396"/>
                    <a:pt x="11528196" y="1651000"/>
                    <a:pt x="11430000" y="1651000"/>
                  </a:cubicBezTo>
                  <a:lnTo>
                    <a:pt x="177800" y="1651000"/>
                  </a:lnTo>
                  <a:cubicBezTo>
                    <a:pt x="79604" y="1651000"/>
                    <a:pt x="0" y="1571396"/>
                    <a:pt x="0" y="1473200"/>
                  </a:cubicBezTo>
                  <a:lnTo>
                    <a:pt x="0" y="177800"/>
                  </a:lnTo>
                  <a:cubicBezTo>
                    <a:pt x="0" y="79604"/>
                    <a:pt x="79604" y="0"/>
                    <a:pt x="177800" y="0"/>
                  </a:cubicBezTo>
                  <a:close/>
                </a:path>
              </a:pathLst>
            </a:custGeom>
            <a:solidFill>
              <a:srgbClr val="F2F2F2"/>
            </a:solidFill>
            <a:ln w="9525" cap="sq">
              <a:solidFill>
                <a:srgbClr val="DEDEDE"/>
              </a:solidFill>
              <a:prstDash val="solid"/>
              <a:miter/>
            </a:ln>
          </p:spPr>
          <p:txBody>
            <a:bodyPr/>
            <a:lstStyle/>
            <a:p>
              <a:endParaRPr lang="en-US"/>
            </a:p>
          </p:txBody>
        </p:sp>
        <p:sp>
          <p:nvSpPr>
            <p:cNvPr id="38" name="TextBox 38"/>
            <p:cNvSpPr txBox="1"/>
            <p:nvPr/>
          </p:nvSpPr>
          <p:spPr>
            <a:xfrm>
              <a:off x="0" y="-38100"/>
              <a:ext cx="11607800" cy="1689100"/>
            </a:xfrm>
            <a:prstGeom prst="rect">
              <a:avLst/>
            </a:prstGeom>
          </p:spPr>
          <p:txBody>
            <a:bodyPr lIns="50800" tIns="50800" rIns="50800" bIns="50800" rtlCol="0" anchor="ctr"/>
            <a:lstStyle/>
            <a:p>
              <a:pPr algn="l">
                <a:lnSpc>
                  <a:spcPts val="1679"/>
                </a:lnSpc>
              </a:pPr>
              <a:endParaRPr/>
            </a:p>
          </p:txBody>
        </p:sp>
      </p:grpSp>
      <p:sp>
        <p:nvSpPr>
          <p:cNvPr id="39" name="TextBox 39"/>
          <p:cNvSpPr txBox="1"/>
          <p:nvPr/>
        </p:nvSpPr>
        <p:spPr>
          <a:xfrm>
            <a:off x="9029700" y="4010660"/>
            <a:ext cx="495300" cy="382270"/>
          </a:xfrm>
          <a:prstGeom prst="rect">
            <a:avLst/>
          </a:prstGeom>
        </p:spPr>
        <p:txBody>
          <a:bodyPr lIns="0" tIns="0" rIns="0" bIns="0" rtlCol="0" anchor="t">
            <a:spAutoFit/>
          </a:bodyPr>
          <a:lstStyle/>
          <a:p>
            <a:pPr algn="l">
              <a:lnSpc>
                <a:spcPts val="3079"/>
              </a:lnSpc>
            </a:pPr>
            <a:r>
              <a:rPr lang="en-US" sz="2199" b="1">
                <a:solidFill>
                  <a:srgbClr val="595959"/>
                </a:solidFill>
                <a:latin typeface="Bai Jamjuree Bold"/>
                <a:ea typeface="Bai Jamjuree Bold"/>
                <a:cs typeface="Bai Jamjuree Bold"/>
                <a:sym typeface="Bai Jamjuree Bold"/>
              </a:rPr>
              <a:t>02</a:t>
            </a:r>
          </a:p>
        </p:txBody>
      </p:sp>
      <p:sp>
        <p:nvSpPr>
          <p:cNvPr id="40" name="TextBox 40"/>
          <p:cNvSpPr txBox="1"/>
          <p:nvPr/>
        </p:nvSpPr>
        <p:spPr>
          <a:xfrm>
            <a:off x="9667875" y="4053205"/>
            <a:ext cx="7515225" cy="306705"/>
          </a:xfrm>
          <a:prstGeom prst="rect">
            <a:avLst/>
          </a:prstGeom>
        </p:spPr>
        <p:txBody>
          <a:bodyPr lIns="0" tIns="0" rIns="0" bIns="0" rtlCol="0" anchor="t">
            <a:spAutoFit/>
          </a:bodyPr>
          <a:lstStyle/>
          <a:p>
            <a:pPr algn="l">
              <a:lnSpc>
                <a:spcPts val="2520"/>
              </a:lnSpc>
            </a:pPr>
            <a:r>
              <a:rPr lang="en-US" sz="1800" b="1">
                <a:solidFill>
                  <a:srgbClr val="262626"/>
                </a:solidFill>
                <a:latin typeface="Bai Jamjuree Bold"/>
                <a:ea typeface="Bai Jamjuree Bold"/>
                <a:cs typeface="Bai Jamjuree Bold"/>
                <a:sym typeface="Bai Jamjuree Bold"/>
              </a:rPr>
              <a:t>TRÁNH VA CHẠM 3D</a:t>
            </a:r>
          </a:p>
        </p:txBody>
      </p:sp>
      <p:sp>
        <p:nvSpPr>
          <p:cNvPr id="41" name="TextBox 41"/>
          <p:cNvSpPr txBox="1"/>
          <p:nvPr/>
        </p:nvSpPr>
        <p:spPr>
          <a:xfrm>
            <a:off x="9667875" y="4408170"/>
            <a:ext cx="7467600" cy="531495"/>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Các vector đẩy tách drone khỏi bề mặt vật cản theo nhiều hướng trong không gian.</a:t>
            </a:r>
          </a:p>
        </p:txBody>
      </p:sp>
      <p:grpSp>
        <p:nvGrpSpPr>
          <p:cNvPr id="42" name="Group 42"/>
          <p:cNvGrpSpPr/>
          <p:nvPr/>
        </p:nvGrpSpPr>
        <p:grpSpPr>
          <a:xfrm>
            <a:off x="8763000" y="5381625"/>
            <a:ext cx="8705850" cy="1181100"/>
            <a:chOff x="0" y="0"/>
            <a:chExt cx="11607800" cy="1574800"/>
          </a:xfrm>
        </p:grpSpPr>
        <p:sp>
          <p:nvSpPr>
            <p:cNvPr id="43" name="Freeform 43"/>
            <p:cNvSpPr/>
            <p:nvPr/>
          </p:nvSpPr>
          <p:spPr>
            <a:xfrm>
              <a:off x="0" y="0"/>
              <a:ext cx="11607800" cy="1574800"/>
            </a:xfrm>
            <a:custGeom>
              <a:avLst/>
              <a:gdLst/>
              <a:ahLst/>
              <a:cxnLst/>
              <a:rect l="l" t="t" r="r" b="b"/>
              <a:pathLst>
                <a:path w="11607800" h="1574800">
                  <a:moveTo>
                    <a:pt x="177800" y="0"/>
                  </a:moveTo>
                  <a:lnTo>
                    <a:pt x="11430000" y="0"/>
                  </a:lnTo>
                  <a:cubicBezTo>
                    <a:pt x="11528196" y="0"/>
                    <a:pt x="11607800" y="79604"/>
                    <a:pt x="11607800" y="177800"/>
                  </a:cubicBezTo>
                  <a:lnTo>
                    <a:pt x="11607800" y="1397000"/>
                  </a:lnTo>
                  <a:cubicBezTo>
                    <a:pt x="11607800" y="1495196"/>
                    <a:pt x="11528196" y="1574800"/>
                    <a:pt x="11430000" y="1574800"/>
                  </a:cubicBezTo>
                  <a:lnTo>
                    <a:pt x="177800" y="1574800"/>
                  </a:lnTo>
                  <a:cubicBezTo>
                    <a:pt x="79604" y="1574800"/>
                    <a:pt x="0" y="1495196"/>
                    <a:pt x="0" y="1397000"/>
                  </a:cubicBezTo>
                  <a:lnTo>
                    <a:pt x="0" y="177800"/>
                  </a:lnTo>
                  <a:cubicBezTo>
                    <a:pt x="0" y="79604"/>
                    <a:pt x="79604" y="0"/>
                    <a:pt x="177800" y="0"/>
                  </a:cubicBezTo>
                  <a:close/>
                </a:path>
              </a:pathLst>
            </a:custGeom>
            <a:solidFill>
              <a:srgbClr val="F2F2F2"/>
            </a:solidFill>
            <a:ln w="9525" cap="sq">
              <a:solidFill>
                <a:srgbClr val="DEDEDE"/>
              </a:solidFill>
              <a:prstDash val="solid"/>
              <a:miter/>
            </a:ln>
          </p:spPr>
          <p:txBody>
            <a:bodyPr/>
            <a:lstStyle/>
            <a:p>
              <a:endParaRPr lang="en-US"/>
            </a:p>
          </p:txBody>
        </p:sp>
        <p:sp>
          <p:nvSpPr>
            <p:cNvPr id="44" name="TextBox 44"/>
            <p:cNvSpPr txBox="1"/>
            <p:nvPr/>
          </p:nvSpPr>
          <p:spPr>
            <a:xfrm>
              <a:off x="0" y="-38100"/>
              <a:ext cx="11607800" cy="1612900"/>
            </a:xfrm>
            <a:prstGeom prst="rect">
              <a:avLst/>
            </a:prstGeom>
          </p:spPr>
          <p:txBody>
            <a:bodyPr lIns="50800" tIns="50800" rIns="50800" bIns="50800" rtlCol="0" anchor="ctr"/>
            <a:lstStyle/>
            <a:p>
              <a:pPr algn="l">
                <a:lnSpc>
                  <a:spcPts val="1679"/>
                </a:lnSpc>
              </a:pPr>
              <a:endParaRPr/>
            </a:p>
          </p:txBody>
        </p:sp>
      </p:grpSp>
      <p:sp>
        <p:nvSpPr>
          <p:cNvPr id="45" name="TextBox 45"/>
          <p:cNvSpPr txBox="1"/>
          <p:nvPr/>
        </p:nvSpPr>
        <p:spPr>
          <a:xfrm>
            <a:off x="9029700" y="5526405"/>
            <a:ext cx="495300" cy="382270"/>
          </a:xfrm>
          <a:prstGeom prst="rect">
            <a:avLst/>
          </a:prstGeom>
        </p:spPr>
        <p:txBody>
          <a:bodyPr lIns="0" tIns="0" rIns="0" bIns="0" rtlCol="0" anchor="t">
            <a:spAutoFit/>
          </a:bodyPr>
          <a:lstStyle/>
          <a:p>
            <a:pPr algn="l">
              <a:lnSpc>
                <a:spcPts val="3079"/>
              </a:lnSpc>
            </a:pPr>
            <a:r>
              <a:rPr lang="en-US" sz="2199" b="1">
                <a:solidFill>
                  <a:srgbClr val="7F7F7F"/>
                </a:solidFill>
                <a:latin typeface="Bai Jamjuree Bold"/>
                <a:ea typeface="Bai Jamjuree Bold"/>
                <a:cs typeface="Bai Jamjuree Bold"/>
                <a:sym typeface="Bai Jamjuree Bold"/>
              </a:rPr>
              <a:t>03</a:t>
            </a:r>
          </a:p>
        </p:txBody>
      </p:sp>
      <p:sp>
        <p:nvSpPr>
          <p:cNvPr id="46" name="TextBox 46"/>
          <p:cNvSpPr txBox="1"/>
          <p:nvPr/>
        </p:nvSpPr>
        <p:spPr>
          <a:xfrm>
            <a:off x="9667875" y="5568950"/>
            <a:ext cx="7515225" cy="306705"/>
          </a:xfrm>
          <a:prstGeom prst="rect">
            <a:avLst/>
          </a:prstGeom>
        </p:spPr>
        <p:txBody>
          <a:bodyPr lIns="0" tIns="0" rIns="0" bIns="0" rtlCol="0" anchor="t">
            <a:spAutoFit/>
          </a:bodyPr>
          <a:lstStyle/>
          <a:p>
            <a:pPr algn="l">
              <a:lnSpc>
                <a:spcPts val="2520"/>
              </a:lnSpc>
            </a:pPr>
            <a:r>
              <a:rPr lang="en-US" sz="1800" b="1">
                <a:solidFill>
                  <a:srgbClr val="262626"/>
                </a:solidFill>
                <a:latin typeface="Bai Jamjuree Bold"/>
                <a:ea typeface="Bai Jamjuree Bold"/>
                <a:cs typeface="Bai Jamjuree Bold"/>
                <a:sym typeface="Bai Jamjuree Bold"/>
              </a:rPr>
              <a:t>THOÁT BẪY KẸT</a:t>
            </a:r>
          </a:p>
        </p:txBody>
      </p:sp>
      <p:sp>
        <p:nvSpPr>
          <p:cNvPr id="47" name="TextBox 47"/>
          <p:cNvSpPr txBox="1"/>
          <p:nvPr/>
        </p:nvSpPr>
        <p:spPr>
          <a:xfrm>
            <a:off x="9667875" y="5938761"/>
            <a:ext cx="7467600" cy="531495"/>
          </a:xfrm>
          <a:prstGeom prst="rect">
            <a:avLst/>
          </a:prstGeom>
        </p:spPr>
        <p:txBody>
          <a:bodyPr lIns="0" tIns="0" rIns="0" bIns="0" rtlCol="0" anchor="t">
            <a:spAutoFit/>
          </a:bodyPr>
          <a:lstStyle/>
          <a:p>
            <a:pPr algn="l">
              <a:lnSpc>
                <a:spcPts val="2159"/>
              </a:lnSpc>
            </a:pPr>
            <a:r>
              <a:rPr lang="en-US" sz="1599">
                <a:solidFill>
                  <a:srgbClr val="404040"/>
                </a:solidFill>
                <a:latin typeface="Bai Jamjuree"/>
                <a:ea typeface="Bai Jamjuree"/>
                <a:cs typeface="Bai Jamjuree"/>
                <a:sym typeface="Bai Jamjuree"/>
              </a:rPr>
              <a:t>Khi lực hút và lực đẩy cân bằng, I-APF tạo hướng tiếp tuyến để drone tiếp tục thoát vùng nguy hiểm.</a:t>
            </a:r>
          </a:p>
        </p:txBody>
      </p:sp>
      <p:grpSp>
        <p:nvGrpSpPr>
          <p:cNvPr id="48" name="Group 48"/>
          <p:cNvGrpSpPr/>
          <p:nvPr/>
        </p:nvGrpSpPr>
        <p:grpSpPr>
          <a:xfrm>
            <a:off x="8763000" y="8096250"/>
            <a:ext cx="8705850" cy="1238250"/>
            <a:chOff x="0" y="0"/>
            <a:chExt cx="11607800" cy="1651000"/>
          </a:xfrm>
        </p:grpSpPr>
        <p:sp>
          <p:nvSpPr>
            <p:cNvPr id="49" name="Freeform 49"/>
            <p:cNvSpPr/>
            <p:nvPr/>
          </p:nvSpPr>
          <p:spPr>
            <a:xfrm>
              <a:off x="0" y="0"/>
              <a:ext cx="11607800" cy="1651000"/>
            </a:xfrm>
            <a:custGeom>
              <a:avLst/>
              <a:gdLst/>
              <a:ahLst/>
              <a:cxnLst/>
              <a:rect l="l" t="t" r="r" b="b"/>
              <a:pathLst>
                <a:path w="11607800" h="1651000">
                  <a:moveTo>
                    <a:pt x="177800" y="0"/>
                  </a:moveTo>
                  <a:lnTo>
                    <a:pt x="11430000" y="0"/>
                  </a:lnTo>
                  <a:cubicBezTo>
                    <a:pt x="11528196" y="0"/>
                    <a:pt x="11607800" y="79604"/>
                    <a:pt x="11607800" y="177800"/>
                  </a:cubicBezTo>
                  <a:lnTo>
                    <a:pt x="11607800" y="1473200"/>
                  </a:lnTo>
                  <a:cubicBezTo>
                    <a:pt x="11607800" y="1571396"/>
                    <a:pt x="11528196" y="1651000"/>
                    <a:pt x="11430000" y="1651000"/>
                  </a:cubicBezTo>
                  <a:lnTo>
                    <a:pt x="177800" y="1651000"/>
                  </a:lnTo>
                  <a:cubicBezTo>
                    <a:pt x="79604" y="1651000"/>
                    <a:pt x="0" y="1571396"/>
                    <a:pt x="0" y="1473200"/>
                  </a:cubicBezTo>
                  <a:lnTo>
                    <a:pt x="0" y="177800"/>
                  </a:lnTo>
                  <a:cubicBezTo>
                    <a:pt x="0" y="79604"/>
                    <a:pt x="79604" y="0"/>
                    <a:pt x="177800" y="0"/>
                  </a:cubicBezTo>
                  <a:close/>
                </a:path>
              </a:pathLst>
            </a:custGeom>
            <a:solidFill>
              <a:srgbClr val="FFF1F2"/>
            </a:solidFill>
            <a:ln w="19050" cap="sq">
              <a:solidFill>
                <a:srgbClr val="DB3038"/>
              </a:solidFill>
              <a:prstDash val="solid"/>
              <a:miter/>
            </a:ln>
          </p:spPr>
          <p:txBody>
            <a:bodyPr/>
            <a:lstStyle/>
            <a:p>
              <a:endParaRPr lang="en-US"/>
            </a:p>
          </p:txBody>
        </p:sp>
        <p:sp>
          <p:nvSpPr>
            <p:cNvPr id="50" name="TextBox 50"/>
            <p:cNvSpPr txBox="1"/>
            <p:nvPr/>
          </p:nvSpPr>
          <p:spPr>
            <a:xfrm>
              <a:off x="0" y="-38100"/>
              <a:ext cx="11607800" cy="1689100"/>
            </a:xfrm>
            <a:prstGeom prst="rect">
              <a:avLst/>
            </a:prstGeom>
          </p:spPr>
          <p:txBody>
            <a:bodyPr lIns="50800" tIns="50800" rIns="50800" bIns="50800" rtlCol="0" anchor="ctr"/>
            <a:lstStyle/>
            <a:p>
              <a:pPr algn="l">
                <a:lnSpc>
                  <a:spcPts val="1679"/>
                </a:lnSpc>
              </a:pPr>
              <a:endParaRPr/>
            </a:p>
          </p:txBody>
        </p:sp>
      </p:grpSp>
      <p:sp>
        <p:nvSpPr>
          <p:cNvPr id="51" name="TextBox 51"/>
          <p:cNvSpPr txBox="1"/>
          <p:nvPr/>
        </p:nvSpPr>
        <p:spPr>
          <a:xfrm>
            <a:off x="9029700" y="8239125"/>
            <a:ext cx="878681" cy="273685"/>
          </a:xfrm>
          <a:prstGeom prst="rect">
            <a:avLst/>
          </a:prstGeom>
        </p:spPr>
        <p:txBody>
          <a:bodyPr lIns="0" tIns="0" rIns="0" bIns="0" rtlCol="0" anchor="t">
            <a:spAutoFit/>
          </a:bodyPr>
          <a:lstStyle/>
          <a:p>
            <a:pPr algn="l">
              <a:lnSpc>
                <a:spcPts val="2239"/>
              </a:lnSpc>
            </a:pPr>
            <a:r>
              <a:rPr lang="en-US" sz="1599" b="1">
                <a:solidFill>
                  <a:srgbClr val="DB3038"/>
                </a:solidFill>
                <a:latin typeface="Bai Jamjuree Bold"/>
                <a:ea typeface="Bai Jamjuree Bold"/>
                <a:cs typeface="Bai Jamjuree Bold"/>
                <a:sym typeface="Bai Jamjuree Bold"/>
              </a:rPr>
              <a:t>KẾT QUẢ</a:t>
            </a:r>
          </a:p>
        </p:txBody>
      </p:sp>
      <p:sp>
        <p:nvSpPr>
          <p:cNvPr id="52" name="TextBox 52"/>
          <p:cNvSpPr txBox="1"/>
          <p:nvPr/>
        </p:nvSpPr>
        <p:spPr>
          <a:xfrm>
            <a:off x="9029700" y="8579485"/>
            <a:ext cx="8172450" cy="342900"/>
          </a:xfrm>
          <a:prstGeom prst="rect">
            <a:avLst/>
          </a:prstGeom>
        </p:spPr>
        <p:txBody>
          <a:bodyPr lIns="0" tIns="0" rIns="0" bIns="0" rtlCol="0" anchor="t">
            <a:spAutoFit/>
          </a:bodyPr>
          <a:lstStyle/>
          <a:p>
            <a:pPr algn="l">
              <a:lnSpc>
                <a:spcPts val="2639"/>
              </a:lnSpc>
            </a:pPr>
            <a:r>
              <a:rPr lang="en-US" sz="2199" b="1">
                <a:solidFill>
                  <a:srgbClr val="262626"/>
                </a:solidFill>
                <a:latin typeface="Bai Jamjuree Bold"/>
                <a:ea typeface="Bai Jamjuree Bold"/>
                <a:cs typeface="Bai Jamjuree Bold"/>
                <a:sym typeface="Bai Jamjuree Bold"/>
              </a:rPr>
              <a:t>Tạo hướng bay mượt, an toàn và luôn tiến về target.</a:t>
            </a:r>
          </a:p>
        </p:txBody>
      </p:sp>
      <p:sp>
        <p:nvSpPr>
          <p:cNvPr id="53" name="TextBox 53"/>
          <p:cNvSpPr txBox="1"/>
          <p:nvPr/>
        </p:nvSpPr>
        <p:spPr>
          <a:xfrm>
            <a:off x="9029700" y="8972550"/>
            <a:ext cx="8172450" cy="240665"/>
          </a:xfrm>
          <a:prstGeom prst="rect">
            <a:avLst/>
          </a:prstGeom>
        </p:spPr>
        <p:txBody>
          <a:bodyPr lIns="0" tIns="0" rIns="0" bIns="0" rtlCol="0" anchor="t">
            <a:spAutoFit/>
          </a:bodyPr>
          <a:lstStyle/>
          <a:p>
            <a:pPr marL="0" lvl="0" indent="0" algn="l">
              <a:lnSpc>
                <a:spcPts val="1960"/>
              </a:lnSpc>
              <a:spcBef>
                <a:spcPct val="0"/>
              </a:spcBef>
            </a:pPr>
            <a:r>
              <a:rPr lang="en-US" sz="1400" u="none" strike="noStrike">
                <a:solidFill>
                  <a:srgbClr val="404040"/>
                </a:solidFill>
                <a:latin typeface="Bai Jamjuree"/>
                <a:ea typeface="Bai Jamjuree"/>
                <a:cs typeface="Bai Jamjuree"/>
                <a:sym typeface="Bai Jamjuree"/>
              </a:rPr>
              <a:t>Đẩy khỏi vật cản • Hút về đích • Thoát điểm kẹt • Giảm dao động</a:t>
            </a:r>
          </a:p>
        </p:txBody>
      </p:sp>
      <p:sp>
        <p:nvSpPr>
          <p:cNvPr id="54" name="TextBox 54"/>
          <p:cNvSpPr txBox="1"/>
          <p:nvPr/>
        </p:nvSpPr>
        <p:spPr>
          <a:xfrm>
            <a:off x="16764000" y="9648825"/>
            <a:ext cx="1095375" cy="273685"/>
          </a:xfrm>
          <a:prstGeom prst="rect">
            <a:avLst/>
          </a:prstGeom>
        </p:spPr>
        <p:txBody>
          <a:bodyPr lIns="0" tIns="0" rIns="0" bIns="0" rtlCol="0" anchor="t">
            <a:spAutoFit/>
          </a:bodyPr>
          <a:lstStyle/>
          <a:p>
            <a:pPr algn="r">
              <a:lnSpc>
                <a:spcPts val="2239"/>
              </a:lnSpc>
            </a:pPr>
            <a:r>
              <a:rPr lang="en-US" sz="1599">
                <a:solidFill>
                  <a:srgbClr val="7F7F7F"/>
                </a:solidFill>
                <a:latin typeface="Bai Jamjuree"/>
                <a:ea typeface="Bai Jamjuree"/>
                <a:cs typeface="Bai Jamjuree"/>
                <a:sym typeface="Bai Jamjuree"/>
              </a:rPr>
              <a:t>10</a:t>
            </a:r>
          </a:p>
        </p:txBody>
      </p:sp>
      <p:sp>
        <p:nvSpPr>
          <p:cNvPr id="55" name="AutoShape 55"/>
          <p:cNvSpPr/>
          <p:nvPr/>
        </p:nvSpPr>
        <p:spPr>
          <a:xfrm flipH="1">
            <a:off x="2493531" y="7160214"/>
            <a:ext cx="693011" cy="1031286"/>
          </a:xfrm>
          <a:prstGeom prst="line">
            <a:avLst/>
          </a:prstGeom>
          <a:ln w="38100" cap="flat">
            <a:solidFill>
              <a:srgbClr val="DD2E3A"/>
            </a:solidFill>
            <a:prstDash val="solid"/>
            <a:headEnd type="none" w="sm" len="sm"/>
            <a:tailEnd type="arrow" w="med" len="sm"/>
          </a:ln>
        </p:spPr>
        <p:txBody>
          <a:bodyPr/>
          <a:lstStyle/>
          <a:p>
            <a:endParaRPr lang="en-US"/>
          </a:p>
        </p:txBody>
      </p:sp>
      <p:sp>
        <p:nvSpPr>
          <p:cNvPr id="56" name="AutoShape 56"/>
          <p:cNvSpPr/>
          <p:nvPr/>
        </p:nvSpPr>
        <p:spPr>
          <a:xfrm flipV="1">
            <a:off x="3302595" y="4999344"/>
            <a:ext cx="3487010" cy="2107741"/>
          </a:xfrm>
          <a:prstGeom prst="line">
            <a:avLst/>
          </a:prstGeom>
          <a:ln w="28575" cap="flat">
            <a:solidFill>
              <a:srgbClr val="DB3038"/>
            </a:solidFill>
            <a:prstDash val="solid"/>
            <a:headEnd type="none" w="sm" len="sm"/>
            <a:tailEnd type="arrow" w="med" len="sm"/>
          </a:ln>
        </p:spPr>
        <p:txBody>
          <a:bodyPr/>
          <a:lstStyle/>
          <a:p>
            <a:endParaRPr lang="en-US"/>
          </a:p>
        </p:txBody>
      </p:sp>
      <p:sp>
        <p:nvSpPr>
          <p:cNvPr id="57" name="AutoShape 57"/>
          <p:cNvSpPr/>
          <p:nvPr/>
        </p:nvSpPr>
        <p:spPr>
          <a:xfrm>
            <a:off x="3395756" y="7063230"/>
            <a:ext cx="829651" cy="151881"/>
          </a:xfrm>
          <a:prstGeom prst="line">
            <a:avLst/>
          </a:prstGeom>
          <a:ln w="28575" cap="flat">
            <a:solidFill>
              <a:srgbClr val="DB3038"/>
            </a:solidFill>
            <a:prstDash val="solid"/>
            <a:headEnd type="none" w="sm" len="sm"/>
            <a:tailEnd type="arrow" w="med" len="sm"/>
          </a:ln>
        </p:spPr>
        <p:txBody>
          <a:bodyPr/>
          <a:lstStyle/>
          <a:p>
            <a:endParaRPr lang="en-US"/>
          </a:p>
        </p:txBody>
      </p:sp>
      <p:sp>
        <p:nvSpPr>
          <p:cNvPr id="58" name="AutoShape 58"/>
          <p:cNvSpPr/>
          <p:nvPr/>
        </p:nvSpPr>
        <p:spPr>
          <a:xfrm flipV="1">
            <a:off x="3395756" y="6846072"/>
            <a:ext cx="3319369" cy="186472"/>
          </a:xfrm>
          <a:prstGeom prst="line">
            <a:avLst/>
          </a:prstGeom>
          <a:ln w="19050" cap="flat">
            <a:solidFill>
              <a:srgbClr val="262626"/>
            </a:solidFill>
            <a:prstDash val="sysDash"/>
            <a:headEnd type="none" w="sm" len="sm"/>
            <a:tailEnd type="arrow" w="med" len="sm"/>
          </a:ln>
        </p:spPr>
        <p:txBody>
          <a:bodyPr/>
          <a:lstStyle/>
          <a:p>
            <a:endParaRPr lang="en-US"/>
          </a:p>
        </p:txBody>
      </p:sp>
      <p:grpSp>
        <p:nvGrpSpPr>
          <p:cNvPr id="59" name="Group 59"/>
          <p:cNvGrpSpPr/>
          <p:nvPr/>
        </p:nvGrpSpPr>
        <p:grpSpPr>
          <a:xfrm>
            <a:off x="6677025" y="4486275"/>
            <a:ext cx="571500" cy="571500"/>
            <a:chOff x="0" y="0"/>
            <a:chExt cx="762000" cy="762000"/>
          </a:xfrm>
        </p:grpSpPr>
        <p:sp>
          <p:nvSpPr>
            <p:cNvPr id="60" name="Freeform 60"/>
            <p:cNvSpPr/>
            <p:nvPr/>
          </p:nvSpPr>
          <p:spPr>
            <a:xfrm>
              <a:off x="0" y="0"/>
              <a:ext cx="762000" cy="762000"/>
            </a:xfrm>
            <a:custGeom>
              <a:avLst/>
              <a:gdLst/>
              <a:ahLst/>
              <a:cxnLst/>
              <a:rect l="l" t="t" r="r" b="b"/>
              <a:pathLst>
                <a:path w="762000" h="762000">
                  <a:moveTo>
                    <a:pt x="0" y="381000"/>
                  </a:moveTo>
                  <a:cubicBezTo>
                    <a:pt x="0" y="591420"/>
                    <a:pt x="170580" y="762000"/>
                    <a:pt x="381000" y="762000"/>
                  </a:cubicBezTo>
                  <a:cubicBezTo>
                    <a:pt x="591420" y="762000"/>
                    <a:pt x="762000" y="591420"/>
                    <a:pt x="762000" y="381000"/>
                  </a:cubicBezTo>
                  <a:cubicBezTo>
                    <a:pt x="762000" y="170580"/>
                    <a:pt x="591420" y="0"/>
                    <a:pt x="381000" y="0"/>
                  </a:cubicBezTo>
                  <a:cubicBezTo>
                    <a:pt x="170580" y="0"/>
                    <a:pt x="0" y="170580"/>
                    <a:pt x="0" y="381000"/>
                  </a:cubicBezTo>
                  <a:close/>
                </a:path>
              </a:pathLst>
            </a:custGeom>
            <a:solidFill>
              <a:srgbClr val="FFF1F2"/>
            </a:solidFill>
            <a:ln w="38100" cap="sq">
              <a:solidFill>
                <a:srgbClr val="DB3038"/>
              </a:solidFill>
              <a:prstDash val="solid"/>
              <a:miter/>
            </a:ln>
          </p:spPr>
          <p:txBody>
            <a:bodyPr/>
            <a:lstStyle/>
            <a:p>
              <a:endParaRPr lang="en-US"/>
            </a:p>
          </p:txBody>
        </p:sp>
        <p:sp>
          <p:nvSpPr>
            <p:cNvPr id="61" name="TextBox 61"/>
            <p:cNvSpPr txBox="1"/>
            <p:nvPr/>
          </p:nvSpPr>
          <p:spPr>
            <a:xfrm>
              <a:off x="0" y="-38100"/>
              <a:ext cx="762000" cy="800100"/>
            </a:xfrm>
            <a:prstGeom prst="rect">
              <a:avLst/>
            </a:prstGeom>
          </p:spPr>
          <p:txBody>
            <a:bodyPr lIns="50800" tIns="50800" rIns="50800" bIns="50800" rtlCol="0" anchor="ctr"/>
            <a:lstStyle/>
            <a:p>
              <a:pPr algn="l">
                <a:lnSpc>
                  <a:spcPts val="1679"/>
                </a:lnSpc>
              </a:pPr>
              <a:endParaRPr/>
            </a:p>
          </p:txBody>
        </p:sp>
      </p:grpSp>
      <p:sp>
        <p:nvSpPr>
          <p:cNvPr id="62" name="AutoShape 62"/>
          <p:cNvSpPr/>
          <p:nvPr/>
        </p:nvSpPr>
        <p:spPr>
          <a:xfrm>
            <a:off x="6715125" y="4772025"/>
            <a:ext cx="482007" cy="0"/>
          </a:xfrm>
          <a:prstGeom prst="line">
            <a:avLst/>
          </a:prstGeom>
          <a:ln w="19050" cap="flat">
            <a:solidFill>
              <a:srgbClr val="DB3038"/>
            </a:solidFill>
            <a:prstDash val="solid"/>
            <a:headEnd type="none" w="sm" len="sm"/>
            <a:tailEnd type="none" w="sm" len="sm"/>
          </a:ln>
        </p:spPr>
        <p:txBody>
          <a:bodyPr/>
          <a:lstStyle/>
          <a:p>
            <a:endParaRPr lang="en-US"/>
          </a:p>
        </p:txBody>
      </p:sp>
      <p:sp>
        <p:nvSpPr>
          <p:cNvPr id="63" name="AutoShape 63"/>
          <p:cNvSpPr/>
          <p:nvPr/>
        </p:nvSpPr>
        <p:spPr>
          <a:xfrm>
            <a:off x="6962775" y="4524375"/>
            <a:ext cx="0" cy="533400"/>
          </a:xfrm>
          <a:prstGeom prst="line">
            <a:avLst/>
          </a:prstGeom>
          <a:ln w="19050" cap="flat">
            <a:solidFill>
              <a:srgbClr val="DB3038"/>
            </a:solidFill>
            <a:prstDash val="solid"/>
            <a:headEnd type="none" w="sm" len="sm"/>
            <a:tailEnd type="none" w="sm" len="sm"/>
          </a:ln>
        </p:spPr>
        <p:txBody>
          <a:bodyPr/>
          <a:lstStyle/>
          <a:p>
            <a:endParaRPr lang="en-US"/>
          </a:p>
        </p:txBody>
      </p:sp>
      <p:sp>
        <p:nvSpPr>
          <p:cNvPr id="64" name="AutoShape 64"/>
          <p:cNvSpPr/>
          <p:nvPr/>
        </p:nvSpPr>
        <p:spPr>
          <a:xfrm>
            <a:off x="2801930" y="6582712"/>
            <a:ext cx="861249" cy="861249"/>
          </a:xfrm>
          <a:prstGeom prst="line">
            <a:avLst/>
          </a:prstGeom>
          <a:ln w="19050" cap="rnd">
            <a:solidFill>
              <a:srgbClr val="7F7F7F"/>
            </a:solidFill>
            <a:prstDash val="solid"/>
            <a:headEnd type="none" w="sm" len="sm"/>
            <a:tailEnd type="none" w="sm" len="sm"/>
          </a:ln>
        </p:spPr>
        <p:txBody>
          <a:bodyPr/>
          <a:lstStyle/>
          <a:p>
            <a:endParaRPr lang="en-US"/>
          </a:p>
        </p:txBody>
      </p:sp>
      <p:grpSp>
        <p:nvGrpSpPr>
          <p:cNvPr id="65" name="Group 65"/>
          <p:cNvGrpSpPr/>
          <p:nvPr/>
        </p:nvGrpSpPr>
        <p:grpSpPr>
          <a:xfrm>
            <a:off x="2658598" y="6470256"/>
            <a:ext cx="390677" cy="390677"/>
            <a:chOff x="0" y="0"/>
            <a:chExt cx="520903" cy="520903"/>
          </a:xfrm>
        </p:grpSpPr>
        <p:sp>
          <p:nvSpPr>
            <p:cNvPr id="66" name="Freeform 66"/>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67" name="Group 67"/>
          <p:cNvGrpSpPr/>
          <p:nvPr/>
        </p:nvGrpSpPr>
        <p:grpSpPr>
          <a:xfrm>
            <a:off x="3467841" y="7255358"/>
            <a:ext cx="390677" cy="390677"/>
            <a:chOff x="0" y="0"/>
            <a:chExt cx="520903" cy="520903"/>
          </a:xfrm>
        </p:grpSpPr>
        <p:sp>
          <p:nvSpPr>
            <p:cNvPr id="68" name="Freeform 68"/>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sp>
        <p:nvSpPr>
          <p:cNvPr id="69" name="AutoShape 69"/>
          <p:cNvSpPr/>
          <p:nvPr/>
        </p:nvSpPr>
        <p:spPr>
          <a:xfrm flipV="1">
            <a:off x="2808666" y="6650733"/>
            <a:ext cx="861249" cy="861249"/>
          </a:xfrm>
          <a:prstGeom prst="line">
            <a:avLst/>
          </a:prstGeom>
          <a:ln w="19050" cap="rnd">
            <a:solidFill>
              <a:srgbClr val="7F7F7F"/>
            </a:solidFill>
            <a:prstDash val="solid"/>
            <a:headEnd type="none" w="sm" len="sm"/>
            <a:tailEnd type="none" w="sm" len="sm"/>
          </a:ln>
        </p:spPr>
        <p:txBody>
          <a:bodyPr/>
          <a:lstStyle/>
          <a:p>
            <a:endParaRPr lang="en-US"/>
          </a:p>
        </p:txBody>
      </p:sp>
      <p:grpSp>
        <p:nvGrpSpPr>
          <p:cNvPr id="70" name="Group 70"/>
          <p:cNvGrpSpPr/>
          <p:nvPr/>
        </p:nvGrpSpPr>
        <p:grpSpPr>
          <a:xfrm>
            <a:off x="3139248" y="6911505"/>
            <a:ext cx="256489" cy="256489"/>
            <a:chOff x="0" y="0"/>
            <a:chExt cx="341986" cy="341986"/>
          </a:xfrm>
        </p:grpSpPr>
        <p:sp>
          <p:nvSpPr>
            <p:cNvPr id="71" name="Freeform 71"/>
            <p:cNvSpPr/>
            <p:nvPr/>
          </p:nvSpPr>
          <p:spPr>
            <a:xfrm>
              <a:off x="0" y="0"/>
              <a:ext cx="342011" cy="342011"/>
            </a:xfrm>
            <a:custGeom>
              <a:avLst/>
              <a:gdLst/>
              <a:ahLst/>
              <a:cxnLst/>
              <a:rect l="l" t="t" r="r" b="b"/>
              <a:pathLst>
                <a:path w="342011" h="342011">
                  <a:moveTo>
                    <a:pt x="0" y="109728"/>
                  </a:moveTo>
                  <a:cubicBezTo>
                    <a:pt x="0" y="49149"/>
                    <a:pt x="49149" y="0"/>
                    <a:pt x="109728" y="0"/>
                  </a:cubicBezTo>
                  <a:lnTo>
                    <a:pt x="232283" y="0"/>
                  </a:lnTo>
                  <a:cubicBezTo>
                    <a:pt x="292862" y="0"/>
                    <a:pt x="342011" y="49149"/>
                    <a:pt x="342011" y="109728"/>
                  </a:cubicBezTo>
                  <a:lnTo>
                    <a:pt x="342011" y="232283"/>
                  </a:lnTo>
                  <a:cubicBezTo>
                    <a:pt x="342011" y="292862"/>
                    <a:pt x="292862" y="342011"/>
                    <a:pt x="232283" y="342011"/>
                  </a:cubicBezTo>
                  <a:lnTo>
                    <a:pt x="109728" y="342011"/>
                  </a:lnTo>
                  <a:cubicBezTo>
                    <a:pt x="49149" y="342011"/>
                    <a:pt x="0" y="292862"/>
                    <a:pt x="0" y="232283"/>
                  </a:cubicBezTo>
                  <a:close/>
                </a:path>
              </a:pathLst>
            </a:custGeom>
            <a:solidFill>
              <a:srgbClr val="DB3038"/>
            </a:solidFill>
          </p:spPr>
          <p:txBody>
            <a:bodyPr/>
            <a:lstStyle/>
            <a:p>
              <a:endParaRPr lang="en-US"/>
            </a:p>
          </p:txBody>
        </p:sp>
      </p:grpSp>
      <p:sp>
        <p:nvSpPr>
          <p:cNvPr id="72" name="AutoShape 72"/>
          <p:cNvSpPr/>
          <p:nvPr/>
        </p:nvSpPr>
        <p:spPr>
          <a:xfrm flipV="1">
            <a:off x="3346019" y="5866771"/>
            <a:ext cx="679291" cy="1051431"/>
          </a:xfrm>
          <a:prstGeom prst="line">
            <a:avLst/>
          </a:prstGeom>
          <a:ln w="19050" cap="rnd">
            <a:solidFill>
              <a:srgbClr val="7F7F7F"/>
            </a:solidFill>
            <a:prstDash val="solid"/>
            <a:headEnd type="none" w="sm" len="sm"/>
            <a:tailEnd type="none" w="sm" len="sm"/>
          </a:ln>
        </p:spPr>
        <p:txBody>
          <a:bodyPr/>
          <a:lstStyle/>
          <a:p>
            <a:endParaRPr lang="en-US"/>
          </a:p>
        </p:txBody>
      </p:sp>
      <p:grpSp>
        <p:nvGrpSpPr>
          <p:cNvPr id="73" name="Group 73"/>
          <p:cNvGrpSpPr/>
          <p:nvPr/>
        </p:nvGrpSpPr>
        <p:grpSpPr>
          <a:xfrm>
            <a:off x="3467841" y="6455394"/>
            <a:ext cx="390677" cy="390677"/>
            <a:chOff x="0" y="0"/>
            <a:chExt cx="520903" cy="520903"/>
          </a:xfrm>
        </p:grpSpPr>
        <p:sp>
          <p:nvSpPr>
            <p:cNvPr id="74" name="Freeform 74"/>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75" name="Group 75"/>
          <p:cNvGrpSpPr/>
          <p:nvPr/>
        </p:nvGrpSpPr>
        <p:grpSpPr>
          <a:xfrm>
            <a:off x="2658598" y="7215111"/>
            <a:ext cx="390677" cy="390677"/>
            <a:chOff x="0" y="0"/>
            <a:chExt cx="520903" cy="520903"/>
          </a:xfrm>
        </p:grpSpPr>
        <p:sp>
          <p:nvSpPr>
            <p:cNvPr id="76" name="Freeform 76"/>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77" name="Group 77"/>
          <p:cNvGrpSpPr/>
          <p:nvPr/>
        </p:nvGrpSpPr>
        <p:grpSpPr>
          <a:xfrm>
            <a:off x="1263666" y="6278131"/>
            <a:ext cx="831059" cy="831059"/>
            <a:chOff x="0" y="0"/>
            <a:chExt cx="1690370" cy="1690370"/>
          </a:xfrm>
        </p:grpSpPr>
        <p:sp>
          <p:nvSpPr>
            <p:cNvPr id="78" name="Freeform 78"/>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2E7D32"/>
              </a:solidFill>
              <a:prstDash val="solid"/>
              <a:miter/>
            </a:ln>
          </p:spPr>
          <p:txBody>
            <a:bodyPr/>
            <a:lstStyle/>
            <a:p>
              <a:endParaRPr lang="en-US"/>
            </a:p>
          </p:txBody>
        </p:sp>
      </p:grpSp>
      <p:grpSp>
        <p:nvGrpSpPr>
          <p:cNvPr id="79" name="Group 79"/>
          <p:cNvGrpSpPr/>
          <p:nvPr/>
        </p:nvGrpSpPr>
        <p:grpSpPr>
          <a:xfrm>
            <a:off x="3669915" y="4436745"/>
            <a:ext cx="1554354" cy="1554354"/>
            <a:chOff x="0" y="0"/>
            <a:chExt cx="1690370" cy="1690370"/>
          </a:xfrm>
        </p:grpSpPr>
        <p:sp>
          <p:nvSpPr>
            <p:cNvPr id="80" name="Freeform 80"/>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2E7D32"/>
              </a:solidFill>
              <a:prstDash val="solid"/>
              <a:miter/>
            </a:ln>
          </p:spPr>
          <p:txBody>
            <a:bodyPr/>
            <a:lstStyle/>
            <a:p>
              <a:endParaRPr lang="en-US"/>
            </a:p>
          </p:txBody>
        </p:sp>
      </p:grpSp>
      <p:sp>
        <p:nvSpPr>
          <p:cNvPr id="81" name="TextBox 81"/>
          <p:cNvSpPr txBox="1"/>
          <p:nvPr/>
        </p:nvSpPr>
        <p:spPr>
          <a:xfrm>
            <a:off x="3710880" y="4105275"/>
            <a:ext cx="1524000" cy="240665"/>
          </a:xfrm>
          <a:prstGeom prst="rect">
            <a:avLst/>
          </a:prstGeom>
        </p:spPr>
        <p:txBody>
          <a:bodyPr lIns="0" tIns="0" rIns="0" bIns="0" rtlCol="0" anchor="t">
            <a:spAutoFit/>
          </a:bodyPr>
          <a:lstStyle/>
          <a:p>
            <a:pPr algn="ctr">
              <a:lnSpc>
                <a:spcPts val="1960"/>
              </a:lnSpc>
            </a:pPr>
            <a:r>
              <a:rPr lang="en-US" sz="1400" b="1">
                <a:solidFill>
                  <a:srgbClr val="2E7D32"/>
                </a:solidFill>
                <a:latin typeface="Bai Jamjuree Bold"/>
                <a:ea typeface="Bai Jamjuree Bold"/>
                <a:cs typeface="Bai Jamjuree Bold"/>
                <a:sym typeface="Bai Jamjuree Bold"/>
              </a:rPr>
              <a:t>Vật cản</a:t>
            </a:r>
          </a:p>
        </p:txBody>
      </p:sp>
      <p:sp>
        <p:nvSpPr>
          <p:cNvPr id="82" name="TextBox 82"/>
          <p:cNvSpPr txBox="1"/>
          <p:nvPr/>
        </p:nvSpPr>
        <p:spPr>
          <a:xfrm>
            <a:off x="857250" y="5955030"/>
            <a:ext cx="1524000" cy="240665"/>
          </a:xfrm>
          <a:prstGeom prst="rect">
            <a:avLst/>
          </a:prstGeom>
        </p:spPr>
        <p:txBody>
          <a:bodyPr lIns="0" tIns="0" rIns="0" bIns="0" rtlCol="0" anchor="t">
            <a:spAutoFit/>
          </a:bodyPr>
          <a:lstStyle/>
          <a:p>
            <a:pPr algn="ctr">
              <a:lnSpc>
                <a:spcPts val="1960"/>
              </a:lnSpc>
            </a:pPr>
            <a:r>
              <a:rPr lang="en-US" sz="1400" b="1">
                <a:solidFill>
                  <a:srgbClr val="2E7D32"/>
                </a:solidFill>
                <a:latin typeface="Bai Jamjuree Bold"/>
                <a:ea typeface="Bai Jamjuree Bold"/>
                <a:cs typeface="Bai Jamjuree Bold"/>
                <a:sym typeface="Bai Jamjuree Bold"/>
              </a:rPr>
              <a:t>Vật cản</a:t>
            </a:r>
          </a:p>
        </p:txBody>
      </p:sp>
      <p:sp>
        <p:nvSpPr>
          <p:cNvPr id="83" name="AutoShape 83"/>
          <p:cNvSpPr/>
          <p:nvPr/>
        </p:nvSpPr>
        <p:spPr>
          <a:xfrm>
            <a:off x="1679196" y="6773005"/>
            <a:ext cx="1460052" cy="245207"/>
          </a:xfrm>
          <a:prstGeom prst="line">
            <a:avLst/>
          </a:prstGeom>
          <a:ln w="19050" cap="rnd">
            <a:solidFill>
              <a:srgbClr val="7F7F7F"/>
            </a:solidFill>
            <a:prstDash val="solid"/>
            <a:headEnd type="none" w="sm" len="sm"/>
            <a:tailEnd type="none" w="sm" len="sm"/>
          </a:ln>
        </p:spPr>
        <p:txBody>
          <a:bodyPr/>
          <a:lstStyle/>
          <a:p>
            <a:endParaRPr lang="en-US"/>
          </a:p>
        </p:txBody>
      </p:sp>
      <p:sp>
        <p:nvSpPr>
          <p:cNvPr id="84" name="TextBox 84"/>
          <p:cNvSpPr txBox="1"/>
          <p:nvPr/>
        </p:nvSpPr>
        <p:spPr>
          <a:xfrm>
            <a:off x="3700269" y="7309341"/>
            <a:ext cx="1524000" cy="240665"/>
          </a:xfrm>
          <a:prstGeom prst="rect">
            <a:avLst/>
          </a:prstGeom>
        </p:spPr>
        <p:txBody>
          <a:bodyPr lIns="0" tIns="0" rIns="0" bIns="0" rtlCol="0" anchor="t">
            <a:spAutoFit/>
          </a:bodyPr>
          <a:lstStyle/>
          <a:p>
            <a:pPr algn="ctr">
              <a:lnSpc>
                <a:spcPts val="1960"/>
              </a:lnSpc>
            </a:pPr>
            <a:r>
              <a:rPr lang="en-US" sz="1400" b="1">
                <a:solidFill>
                  <a:srgbClr val="DB3038"/>
                </a:solidFill>
                <a:latin typeface="Bai Jamjuree Bold"/>
                <a:ea typeface="Bai Jamjuree Bold"/>
                <a:cs typeface="Bai Jamjuree Bold"/>
                <a:sym typeface="Bai Jamjuree Bold"/>
              </a:rPr>
              <a:t>Lực đẩy</a:t>
            </a:r>
          </a:p>
        </p:txBody>
      </p:sp>
      <p:grpSp>
        <p:nvGrpSpPr>
          <p:cNvPr id="85" name="Group 85"/>
          <p:cNvGrpSpPr/>
          <p:nvPr/>
        </p:nvGrpSpPr>
        <p:grpSpPr>
          <a:xfrm>
            <a:off x="8763000" y="6886575"/>
            <a:ext cx="8705850" cy="1153795"/>
            <a:chOff x="0" y="0"/>
            <a:chExt cx="11607800" cy="1538393"/>
          </a:xfrm>
        </p:grpSpPr>
        <p:sp>
          <p:nvSpPr>
            <p:cNvPr id="86" name="Freeform 86"/>
            <p:cNvSpPr/>
            <p:nvPr/>
          </p:nvSpPr>
          <p:spPr>
            <a:xfrm>
              <a:off x="0" y="0"/>
              <a:ext cx="11607800" cy="1538393"/>
            </a:xfrm>
            <a:custGeom>
              <a:avLst/>
              <a:gdLst/>
              <a:ahLst/>
              <a:cxnLst/>
              <a:rect l="l" t="t" r="r" b="b"/>
              <a:pathLst>
                <a:path w="11607800" h="1538393">
                  <a:moveTo>
                    <a:pt x="0" y="0"/>
                  </a:moveTo>
                  <a:lnTo>
                    <a:pt x="11607800" y="0"/>
                  </a:lnTo>
                  <a:lnTo>
                    <a:pt x="11607800" y="1538393"/>
                  </a:lnTo>
                  <a:lnTo>
                    <a:pt x="0" y="1538393"/>
                  </a:lnTo>
                  <a:close/>
                </a:path>
              </a:pathLst>
            </a:custGeom>
            <a:solidFill>
              <a:srgbClr val="F2F2F2"/>
            </a:solidFill>
          </p:spPr>
          <p:txBody>
            <a:bodyPr/>
            <a:lstStyle/>
            <a:p>
              <a:endParaRPr lang="en-US"/>
            </a:p>
          </p:txBody>
        </p:sp>
        <p:sp>
          <p:nvSpPr>
            <p:cNvPr id="87" name="TextBox 87"/>
            <p:cNvSpPr txBox="1"/>
            <p:nvPr/>
          </p:nvSpPr>
          <p:spPr>
            <a:xfrm>
              <a:off x="0" y="-38100"/>
              <a:ext cx="11607800" cy="1576493"/>
            </a:xfrm>
            <a:prstGeom prst="rect">
              <a:avLst/>
            </a:prstGeom>
          </p:spPr>
          <p:txBody>
            <a:bodyPr lIns="50800" tIns="50800" rIns="50800" bIns="50800" rtlCol="0" anchor="ctr"/>
            <a:lstStyle/>
            <a:p>
              <a:pPr algn="l">
                <a:lnSpc>
                  <a:spcPts val="1679"/>
                </a:lnSpc>
              </a:pPr>
              <a:endParaRPr/>
            </a:p>
          </p:txBody>
        </p:sp>
      </p:grpSp>
      <p:sp>
        <p:nvSpPr>
          <p:cNvPr id="88" name="TextBox 88"/>
          <p:cNvSpPr txBox="1"/>
          <p:nvPr/>
        </p:nvSpPr>
        <p:spPr>
          <a:xfrm>
            <a:off x="9029700" y="7019925"/>
            <a:ext cx="495300" cy="382270"/>
          </a:xfrm>
          <a:prstGeom prst="rect">
            <a:avLst/>
          </a:prstGeom>
        </p:spPr>
        <p:txBody>
          <a:bodyPr lIns="0" tIns="0" rIns="0" bIns="0" rtlCol="0" anchor="t">
            <a:spAutoFit/>
          </a:bodyPr>
          <a:lstStyle/>
          <a:p>
            <a:pPr algn="l">
              <a:lnSpc>
                <a:spcPts val="3079"/>
              </a:lnSpc>
            </a:pPr>
            <a:r>
              <a:rPr lang="en-US" sz="2199">
                <a:solidFill>
                  <a:srgbClr val="DB3038"/>
                </a:solidFill>
                <a:latin typeface="Bai Jamjuree"/>
                <a:ea typeface="Bai Jamjuree"/>
                <a:cs typeface="Bai Jamjuree"/>
                <a:sym typeface="Bai Jamjuree"/>
              </a:rPr>
              <a:t>04</a:t>
            </a:r>
          </a:p>
        </p:txBody>
      </p:sp>
      <p:sp>
        <p:nvSpPr>
          <p:cNvPr id="89" name="TextBox 89"/>
          <p:cNvSpPr txBox="1"/>
          <p:nvPr/>
        </p:nvSpPr>
        <p:spPr>
          <a:xfrm>
            <a:off x="9667875" y="7036435"/>
            <a:ext cx="7515225" cy="349250"/>
          </a:xfrm>
          <a:prstGeom prst="rect">
            <a:avLst/>
          </a:prstGeom>
        </p:spPr>
        <p:txBody>
          <a:bodyPr lIns="0" tIns="0" rIns="0" bIns="0" rtlCol="0" anchor="t">
            <a:spAutoFit/>
          </a:bodyPr>
          <a:lstStyle/>
          <a:p>
            <a:pPr algn="l">
              <a:lnSpc>
                <a:spcPts val="2800"/>
              </a:lnSpc>
            </a:pPr>
            <a:r>
              <a:rPr lang="en-US" sz="2000" b="1">
                <a:solidFill>
                  <a:srgbClr val="262626"/>
                </a:solidFill>
                <a:latin typeface="Bai Jamjuree Bold"/>
                <a:ea typeface="Bai Jamjuree Bold"/>
                <a:cs typeface="Bai Jamjuree Bold"/>
                <a:sym typeface="Bai Jamjuree Bold"/>
              </a:rPr>
              <a:t>GIẢM DAO ĐỘNG</a:t>
            </a:r>
          </a:p>
        </p:txBody>
      </p:sp>
      <p:sp>
        <p:nvSpPr>
          <p:cNvPr id="90" name="TextBox 90"/>
          <p:cNvSpPr txBox="1"/>
          <p:nvPr/>
        </p:nvSpPr>
        <p:spPr>
          <a:xfrm>
            <a:off x="9667875" y="7392670"/>
            <a:ext cx="7467600" cy="457200"/>
          </a:xfrm>
          <a:prstGeom prst="rect">
            <a:avLst/>
          </a:prstGeom>
        </p:spPr>
        <p:txBody>
          <a:bodyPr lIns="0" tIns="0" rIns="0" bIns="0" rtlCol="0" anchor="t">
            <a:spAutoFit/>
          </a:bodyPr>
          <a:lstStyle/>
          <a:p>
            <a:pPr algn="l">
              <a:lnSpc>
                <a:spcPts val="1874"/>
              </a:lnSpc>
            </a:pPr>
            <a:r>
              <a:rPr lang="en-US" sz="1499">
                <a:solidFill>
                  <a:srgbClr val="404040"/>
                </a:solidFill>
                <a:latin typeface="Bai Jamjuree"/>
                <a:ea typeface="Bai Jamjuree"/>
                <a:cs typeface="Bai Jamjuree"/>
                <a:sym typeface="Bai Jamjuree"/>
              </a:rPr>
              <a:t>Khi target nằm trong vùng ảnh hưởng của vật cản, tương tác liên tục giữa lực hút và lực đẩy, I-APF điều chỉnh hướng bay tổng hợp, giúp chuyển động ổn định.</a:t>
            </a:r>
          </a:p>
        </p:txBody>
      </p:sp>
      <p:grpSp>
        <p:nvGrpSpPr>
          <p:cNvPr id="91" name="Group 91"/>
          <p:cNvGrpSpPr/>
          <p:nvPr/>
        </p:nvGrpSpPr>
        <p:grpSpPr>
          <a:xfrm>
            <a:off x="8763000" y="3829050"/>
            <a:ext cx="95250" cy="1238250"/>
            <a:chOff x="0" y="0"/>
            <a:chExt cx="127000" cy="1651000"/>
          </a:xfrm>
        </p:grpSpPr>
        <p:sp>
          <p:nvSpPr>
            <p:cNvPr id="92" name="Freeform 92"/>
            <p:cNvSpPr/>
            <p:nvPr/>
          </p:nvSpPr>
          <p:spPr>
            <a:xfrm>
              <a:off x="0" y="0"/>
              <a:ext cx="127000" cy="1651000"/>
            </a:xfrm>
            <a:custGeom>
              <a:avLst/>
              <a:gdLst/>
              <a:ahLst/>
              <a:cxnLst/>
              <a:rect l="l" t="t" r="r" b="b"/>
              <a:pathLst>
                <a:path w="127000" h="1651000">
                  <a:moveTo>
                    <a:pt x="63500" y="0"/>
                  </a:moveTo>
                  <a:lnTo>
                    <a:pt x="63500" y="0"/>
                  </a:lnTo>
                  <a:cubicBezTo>
                    <a:pt x="98570" y="0"/>
                    <a:pt x="127000" y="28430"/>
                    <a:pt x="127000" y="63500"/>
                  </a:cubicBezTo>
                  <a:lnTo>
                    <a:pt x="127000" y="1587500"/>
                  </a:lnTo>
                  <a:cubicBezTo>
                    <a:pt x="127000" y="1622570"/>
                    <a:pt x="98570" y="1651000"/>
                    <a:pt x="63500" y="1651000"/>
                  </a:cubicBezTo>
                  <a:lnTo>
                    <a:pt x="63500" y="1651000"/>
                  </a:lnTo>
                  <a:cubicBezTo>
                    <a:pt x="28430" y="1651000"/>
                    <a:pt x="0" y="1622570"/>
                    <a:pt x="0" y="1587500"/>
                  </a:cubicBezTo>
                  <a:lnTo>
                    <a:pt x="0" y="63500"/>
                  </a:lnTo>
                  <a:cubicBezTo>
                    <a:pt x="0" y="28430"/>
                    <a:pt x="28430" y="0"/>
                    <a:pt x="63500" y="0"/>
                  </a:cubicBezTo>
                  <a:close/>
                </a:path>
              </a:pathLst>
            </a:custGeom>
            <a:solidFill>
              <a:srgbClr val="DB3038"/>
            </a:solidFill>
          </p:spPr>
          <p:txBody>
            <a:bodyPr/>
            <a:lstStyle/>
            <a:p>
              <a:endParaRPr lang="en-US"/>
            </a:p>
          </p:txBody>
        </p:sp>
        <p:sp>
          <p:nvSpPr>
            <p:cNvPr id="93" name="TextBox 93"/>
            <p:cNvSpPr txBox="1"/>
            <p:nvPr/>
          </p:nvSpPr>
          <p:spPr>
            <a:xfrm>
              <a:off x="0" y="-38100"/>
              <a:ext cx="127000" cy="1689100"/>
            </a:xfrm>
            <a:prstGeom prst="rect">
              <a:avLst/>
            </a:prstGeom>
          </p:spPr>
          <p:txBody>
            <a:bodyPr lIns="50800" tIns="50800" rIns="50800" bIns="50800" rtlCol="0" anchor="ctr"/>
            <a:lstStyle/>
            <a:p>
              <a:pPr algn="l">
                <a:lnSpc>
                  <a:spcPts val="1679"/>
                </a:lnSpc>
              </a:pPr>
              <a:endParaRPr/>
            </a:p>
          </p:txBody>
        </p:sp>
      </p:grpSp>
      <p:grpSp>
        <p:nvGrpSpPr>
          <p:cNvPr id="94" name="Group 94"/>
          <p:cNvGrpSpPr/>
          <p:nvPr/>
        </p:nvGrpSpPr>
        <p:grpSpPr>
          <a:xfrm>
            <a:off x="8753475" y="5381625"/>
            <a:ext cx="95250" cy="1181100"/>
            <a:chOff x="0" y="0"/>
            <a:chExt cx="127000" cy="1574800"/>
          </a:xfrm>
        </p:grpSpPr>
        <p:sp>
          <p:nvSpPr>
            <p:cNvPr id="95" name="Freeform 95"/>
            <p:cNvSpPr/>
            <p:nvPr/>
          </p:nvSpPr>
          <p:spPr>
            <a:xfrm>
              <a:off x="0" y="0"/>
              <a:ext cx="127000" cy="1574800"/>
            </a:xfrm>
            <a:custGeom>
              <a:avLst/>
              <a:gdLst/>
              <a:ahLst/>
              <a:cxnLst/>
              <a:rect l="l" t="t" r="r" b="b"/>
              <a:pathLst>
                <a:path w="127000" h="1574800">
                  <a:moveTo>
                    <a:pt x="63500" y="0"/>
                  </a:moveTo>
                  <a:lnTo>
                    <a:pt x="63500" y="0"/>
                  </a:lnTo>
                  <a:cubicBezTo>
                    <a:pt x="98570" y="0"/>
                    <a:pt x="127000" y="28430"/>
                    <a:pt x="127000" y="63500"/>
                  </a:cubicBezTo>
                  <a:lnTo>
                    <a:pt x="127000" y="1511300"/>
                  </a:lnTo>
                  <a:cubicBezTo>
                    <a:pt x="127000" y="1546370"/>
                    <a:pt x="98570" y="1574800"/>
                    <a:pt x="63500" y="1574800"/>
                  </a:cubicBezTo>
                  <a:lnTo>
                    <a:pt x="63500" y="1574800"/>
                  </a:lnTo>
                  <a:cubicBezTo>
                    <a:pt x="28430" y="1574800"/>
                    <a:pt x="0" y="1546370"/>
                    <a:pt x="0" y="1511300"/>
                  </a:cubicBezTo>
                  <a:lnTo>
                    <a:pt x="0" y="63500"/>
                  </a:lnTo>
                  <a:cubicBezTo>
                    <a:pt x="0" y="28430"/>
                    <a:pt x="28430" y="0"/>
                    <a:pt x="63500" y="0"/>
                  </a:cubicBezTo>
                  <a:close/>
                </a:path>
              </a:pathLst>
            </a:custGeom>
            <a:solidFill>
              <a:srgbClr val="DB3038"/>
            </a:solidFill>
          </p:spPr>
          <p:txBody>
            <a:bodyPr/>
            <a:lstStyle/>
            <a:p>
              <a:endParaRPr lang="en-US"/>
            </a:p>
          </p:txBody>
        </p:sp>
        <p:sp>
          <p:nvSpPr>
            <p:cNvPr id="96" name="TextBox 96"/>
            <p:cNvSpPr txBox="1"/>
            <p:nvPr/>
          </p:nvSpPr>
          <p:spPr>
            <a:xfrm>
              <a:off x="0" y="-38100"/>
              <a:ext cx="127000" cy="1612900"/>
            </a:xfrm>
            <a:prstGeom prst="rect">
              <a:avLst/>
            </a:prstGeom>
          </p:spPr>
          <p:txBody>
            <a:bodyPr lIns="50800" tIns="50800" rIns="50800" bIns="50800" rtlCol="0" anchor="ctr"/>
            <a:lstStyle/>
            <a:p>
              <a:pPr algn="l">
                <a:lnSpc>
                  <a:spcPts val="1679"/>
                </a:lnSpc>
              </a:pPr>
              <a:endParaRPr/>
            </a:p>
          </p:txBody>
        </p:sp>
      </p:grpSp>
      <p:grpSp>
        <p:nvGrpSpPr>
          <p:cNvPr id="97" name="Group 97"/>
          <p:cNvGrpSpPr/>
          <p:nvPr/>
        </p:nvGrpSpPr>
        <p:grpSpPr>
          <a:xfrm>
            <a:off x="8753475" y="6886575"/>
            <a:ext cx="95250" cy="1181100"/>
            <a:chOff x="0" y="0"/>
            <a:chExt cx="127000" cy="1574800"/>
          </a:xfrm>
        </p:grpSpPr>
        <p:sp>
          <p:nvSpPr>
            <p:cNvPr id="98" name="Freeform 98"/>
            <p:cNvSpPr/>
            <p:nvPr/>
          </p:nvSpPr>
          <p:spPr>
            <a:xfrm>
              <a:off x="0" y="0"/>
              <a:ext cx="127000" cy="1574800"/>
            </a:xfrm>
            <a:custGeom>
              <a:avLst/>
              <a:gdLst/>
              <a:ahLst/>
              <a:cxnLst/>
              <a:rect l="l" t="t" r="r" b="b"/>
              <a:pathLst>
                <a:path w="127000" h="1574800">
                  <a:moveTo>
                    <a:pt x="63500" y="0"/>
                  </a:moveTo>
                  <a:lnTo>
                    <a:pt x="63500" y="0"/>
                  </a:lnTo>
                  <a:cubicBezTo>
                    <a:pt x="98570" y="0"/>
                    <a:pt x="127000" y="28430"/>
                    <a:pt x="127000" y="63500"/>
                  </a:cubicBezTo>
                  <a:lnTo>
                    <a:pt x="127000" y="1511300"/>
                  </a:lnTo>
                  <a:cubicBezTo>
                    <a:pt x="127000" y="1546370"/>
                    <a:pt x="98570" y="1574800"/>
                    <a:pt x="63500" y="1574800"/>
                  </a:cubicBezTo>
                  <a:lnTo>
                    <a:pt x="63500" y="1574800"/>
                  </a:lnTo>
                  <a:cubicBezTo>
                    <a:pt x="28430" y="1574800"/>
                    <a:pt x="0" y="1546370"/>
                    <a:pt x="0" y="1511300"/>
                  </a:cubicBezTo>
                  <a:lnTo>
                    <a:pt x="0" y="63500"/>
                  </a:lnTo>
                  <a:cubicBezTo>
                    <a:pt x="0" y="28430"/>
                    <a:pt x="28430" y="0"/>
                    <a:pt x="63500" y="0"/>
                  </a:cubicBezTo>
                  <a:close/>
                </a:path>
              </a:pathLst>
            </a:custGeom>
            <a:solidFill>
              <a:srgbClr val="DB3038"/>
            </a:solidFill>
          </p:spPr>
          <p:txBody>
            <a:bodyPr/>
            <a:lstStyle/>
            <a:p>
              <a:endParaRPr lang="en-US"/>
            </a:p>
          </p:txBody>
        </p:sp>
        <p:sp>
          <p:nvSpPr>
            <p:cNvPr id="99" name="TextBox 99"/>
            <p:cNvSpPr txBox="1"/>
            <p:nvPr/>
          </p:nvSpPr>
          <p:spPr>
            <a:xfrm>
              <a:off x="0" y="-38100"/>
              <a:ext cx="127000" cy="1612900"/>
            </a:xfrm>
            <a:prstGeom prst="rect">
              <a:avLst/>
            </a:prstGeom>
          </p:spPr>
          <p:txBody>
            <a:bodyPr lIns="50800" tIns="50800" rIns="50800" bIns="50800" rtlCol="0" anchor="ctr"/>
            <a:lstStyle/>
            <a:p>
              <a:pPr algn="l">
                <a:lnSpc>
                  <a:spcPts val="1679"/>
                </a:lnSpc>
              </a:pPr>
              <a:endParaRPr/>
            </a:p>
          </p:txBody>
        </p:sp>
      </p:grpSp>
      <p:sp>
        <p:nvSpPr>
          <p:cNvPr id="100" name="TextBox 20">
            <a:extLst>
              <a:ext uri="{FF2B5EF4-FFF2-40B4-BE49-F238E27FC236}">
                <a16:creationId xmlns:a16="http://schemas.microsoft.com/office/drawing/2014/main" id="{F0328A67-10FE-792A-B1BC-EE367E85DBE5}"/>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6906"/>
            <a:ext cx="15704172" cy="107156"/>
            <a:chOff x="0" y="0"/>
            <a:chExt cx="20938896" cy="142875"/>
          </a:xfrm>
        </p:grpSpPr>
        <p:sp>
          <p:nvSpPr>
            <p:cNvPr id="3" name="Freeform 3"/>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4" name="Group 4"/>
          <p:cNvGrpSpPr/>
          <p:nvPr/>
        </p:nvGrpSpPr>
        <p:grpSpPr>
          <a:xfrm>
            <a:off x="16109766" y="9402075"/>
            <a:ext cx="1988172" cy="688105"/>
            <a:chOff x="0" y="0"/>
            <a:chExt cx="2650896" cy="917473"/>
          </a:xfrm>
        </p:grpSpPr>
        <p:sp>
          <p:nvSpPr>
            <p:cNvPr id="5" name="Freeform 5"/>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2"/>
              <a:stretch>
                <a:fillRect l="-183" r="-185" b="-2"/>
              </a:stretch>
            </a:blipFill>
          </p:spPr>
          <p:txBody>
            <a:bodyPr/>
            <a:lstStyle/>
            <a:p>
              <a:endParaRPr lang="en-US"/>
            </a:p>
          </p:txBody>
        </p:sp>
      </p:grpSp>
      <p:grpSp>
        <p:nvGrpSpPr>
          <p:cNvPr id="6" name="Group 6"/>
          <p:cNvGrpSpPr/>
          <p:nvPr/>
        </p:nvGrpSpPr>
        <p:grpSpPr>
          <a:xfrm>
            <a:off x="-19050" y="-38100"/>
            <a:ext cx="18326100" cy="1371324"/>
            <a:chOff x="0" y="0"/>
            <a:chExt cx="24434800" cy="1828432"/>
          </a:xfrm>
        </p:grpSpPr>
        <p:sp>
          <p:nvSpPr>
            <p:cNvPr id="7" name="Freeform 7"/>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8" name="Group 8"/>
          <p:cNvGrpSpPr/>
          <p:nvPr/>
        </p:nvGrpSpPr>
        <p:grpSpPr>
          <a:xfrm>
            <a:off x="29594" y="0"/>
            <a:ext cx="9465469" cy="1112891"/>
            <a:chOff x="0" y="0"/>
            <a:chExt cx="12620625" cy="1483855"/>
          </a:xfrm>
        </p:grpSpPr>
        <p:sp>
          <p:nvSpPr>
            <p:cNvPr id="9" name="Freeform 9"/>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0" name="Group 10"/>
          <p:cNvGrpSpPr/>
          <p:nvPr/>
        </p:nvGrpSpPr>
        <p:grpSpPr>
          <a:xfrm>
            <a:off x="1799377" y="285950"/>
            <a:ext cx="7109765" cy="566976"/>
            <a:chOff x="0" y="0"/>
            <a:chExt cx="9479686" cy="755968"/>
          </a:xfrm>
        </p:grpSpPr>
        <p:sp>
          <p:nvSpPr>
            <p:cNvPr id="11" name="Freeform 11"/>
            <p:cNvSpPr/>
            <p:nvPr/>
          </p:nvSpPr>
          <p:spPr>
            <a:xfrm>
              <a:off x="0" y="0"/>
              <a:ext cx="9479687" cy="755971"/>
            </a:xfrm>
            <a:custGeom>
              <a:avLst/>
              <a:gdLst/>
              <a:ahLst/>
              <a:cxnLst/>
              <a:rect l="l" t="t" r="r" b="b"/>
              <a:pathLst>
                <a:path w="9479687" h="755971">
                  <a:moveTo>
                    <a:pt x="0" y="0"/>
                  </a:moveTo>
                  <a:lnTo>
                    <a:pt x="9479687" y="0"/>
                  </a:lnTo>
                  <a:lnTo>
                    <a:pt x="9479687" y="755971"/>
                  </a:lnTo>
                  <a:lnTo>
                    <a:pt x="0" y="755971"/>
                  </a:lnTo>
                  <a:close/>
                </a:path>
              </a:pathLst>
            </a:custGeom>
            <a:blipFill>
              <a:blip r:embed="rId3">
                <a:alphaModFix amt="0"/>
              </a:blip>
              <a:stretch>
                <a:fillRect t="-194337" b="-194337"/>
              </a:stretch>
            </a:blipFill>
          </p:spPr>
          <p:txBody>
            <a:bodyPr/>
            <a:lstStyle/>
            <a:p>
              <a:endParaRPr lang="en-US"/>
            </a:p>
          </p:txBody>
        </p:sp>
        <p:sp>
          <p:nvSpPr>
            <p:cNvPr id="12" name="TextBox 12"/>
            <p:cNvSpPr txBox="1"/>
            <p:nvPr/>
          </p:nvSpPr>
          <p:spPr>
            <a:xfrm>
              <a:off x="0" y="76200"/>
              <a:ext cx="9479686" cy="679768"/>
            </a:xfrm>
            <a:prstGeom prst="rect">
              <a:avLst/>
            </a:prstGeom>
          </p:spPr>
          <p:txBody>
            <a:bodyPr lIns="0" tIns="0" rIns="0" bIns="0" rtlCol="0" anchor="ctr"/>
            <a:lstStyle/>
            <a:p>
              <a:pPr algn="l">
                <a:lnSpc>
                  <a:spcPts val="2812"/>
                </a:lnSpc>
              </a:pPr>
              <a:endParaRPr lang="en-US" sz="3600" b="1">
                <a:solidFill>
                  <a:srgbClr val="FFFFFF"/>
                </a:solidFill>
                <a:latin typeface="Calibri (MS) Bold"/>
                <a:ea typeface="Calibri (MS) Bold"/>
                <a:cs typeface="Calibri (MS) Bold"/>
                <a:sym typeface="Calibri (MS) Bold"/>
              </a:endParaRPr>
            </a:p>
          </p:txBody>
        </p:sp>
      </p:grpSp>
      <p:grpSp>
        <p:nvGrpSpPr>
          <p:cNvPr id="13" name="Group 13"/>
          <p:cNvGrpSpPr/>
          <p:nvPr/>
        </p:nvGrpSpPr>
        <p:grpSpPr>
          <a:xfrm>
            <a:off x="29594" y="0"/>
            <a:ext cx="1612373" cy="1112891"/>
            <a:chOff x="0" y="0"/>
            <a:chExt cx="2149831" cy="1483855"/>
          </a:xfrm>
        </p:grpSpPr>
        <p:sp>
          <p:nvSpPr>
            <p:cNvPr id="14" name="Freeform 14"/>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5" name="Group 15"/>
          <p:cNvGrpSpPr/>
          <p:nvPr/>
        </p:nvGrpSpPr>
        <p:grpSpPr>
          <a:xfrm>
            <a:off x="457200" y="1402690"/>
            <a:ext cx="17439932" cy="698041"/>
            <a:chOff x="0" y="0"/>
            <a:chExt cx="23253243" cy="930721"/>
          </a:xfrm>
        </p:grpSpPr>
        <p:sp>
          <p:nvSpPr>
            <p:cNvPr id="16" name="Freeform 16"/>
            <p:cNvSpPr/>
            <p:nvPr/>
          </p:nvSpPr>
          <p:spPr>
            <a:xfrm>
              <a:off x="0" y="0"/>
              <a:ext cx="23253192" cy="930683"/>
            </a:xfrm>
            <a:custGeom>
              <a:avLst/>
              <a:gdLst/>
              <a:ahLst/>
              <a:cxnLst/>
              <a:rect l="l" t="t" r="r" b="b"/>
              <a:pathLst>
                <a:path w="23253192" h="930683">
                  <a:moveTo>
                    <a:pt x="0" y="0"/>
                  </a:moveTo>
                  <a:lnTo>
                    <a:pt x="23253192" y="0"/>
                  </a:lnTo>
                  <a:lnTo>
                    <a:pt x="23253192" y="930683"/>
                  </a:lnTo>
                  <a:lnTo>
                    <a:pt x="0" y="930683"/>
                  </a:lnTo>
                  <a:close/>
                </a:path>
              </a:pathLst>
            </a:custGeom>
            <a:solidFill>
              <a:srgbClr val="F2F2F2">
                <a:alpha val="63922"/>
              </a:srgbClr>
            </a:solidFill>
          </p:spPr>
          <p:txBody>
            <a:bodyPr/>
            <a:lstStyle/>
            <a:p>
              <a:endParaRPr lang="en-US"/>
            </a:p>
          </p:txBody>
        </p:sp>
        <p:sp>
          <p:nvSpPr>
            <p:cNvPr id="17" name="TextBox 17"/>
            <p:cNvSpPr txBox="1"/>
            <p:nvPr/>
          </p:nvSpPr>
          <p:spPr>
            <a:xfrm>
              <a:off x="0" y="-19050"/>
              <a:ext cx="23253243" cy="949771"/>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NHẬN THỨC: IVBS &amp; Target EKF</a:t>
              </a:r>
            </a:p>
          </p:txBody>
        </p:sp>
      </p:grpSp>
      <p:grpSp>
        <p:nvGrpSpPr>
          <p:cNvPr id="18" name="Group 18"/>
          <p:cNvGrpSpPr/>
          <p:nvPr/>
        </p:nvGrpSpPr>
        <p:grpSpPr>
          <a:xfrm>
            <a:off x="1097280" y="2400300"/>
            <a:ext cx="960120" cy="68580"/>
            <a:chOff x="0" y="0"/>
            <a:chExt cx="1280160" cy="91440"/>
          </a:xfrm>
        </p:grpSpPr>
        <p:sp>
          <p:nvSpPr>
            <p:cNvPr id="19" name="Freeform 19"/>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20" name="Group 20"/>
          <p:cNvGrpSpPr/>
          <p:nvPr/>
        </p:nvGrpSpPr>
        <p:grpSpPr>
          <a:xfrm>
            <a:off x="7879556" y="2393156"/>
            <a:ext cx="9588056" cy="2704105"/>
            <a:chOff x="0" y="0"/>
            <a:chExt cx="12784074" cy="3605473"/>
          </a:xfrm>
        </p:grpSpPr>
        <p:sp>
          <p:nvSpPr>
            <p:cNvPr id="21" name="Freeform 21"/>
            <p:cNvSpPr/>
            <p:nvPr/>
          </p:nvSpPr>
          <p:spPr>
            <a:xfrm>
              <a:off x="0" y="0"/>
              <a:ext cx="12784074" cy="3605473"/>
            </a:xfrm>
            <a:custGeom>
              <a:avLst/>
              <a:gdLst/>
              <a:ahLst/>
              <a:cxnLst/>
              <a:rect l="l" t="t" r="r" b="b"/>
              <a:pathLst>
                <a:path w="12784074" h="3605473">
                  <a:moveTo>
                    <a:pt x="0" y="270372"/>
                  </a:moveTo>
                  <a:cubicBezTo>
                    <a:pt x="0" y="121115"/>
                    <a:pt x="98933" y="0"/>
                    <a:pt x="220853" y="0"/>
                  </a:cubicBezTo>
                  <a:lnTo>
                    <a:pt x="12563221" y="0"/>
                  </a:lnTo>
                  <a:cubicBezTo>
                    <a:pt x="12685268" y="0"/>
                    <a:pt x="12784074" y="121115"/>
                    <a:pt x="12784074" y="270372"/>
                  </a:cubicBezTo>
                  <a:lnTo>
                    <a:pt x="12784074" y="3335101"/>
                  </a:lnTo>
                  <a:cubicBezTo>
                    <a:pt x="12784074" y="3484513"/>
                    <a:pt x="12685140" y="3605473"/>
                    <a:pt x="12563221" y="3605473"/>
                  </a:cubicBezTo>
                  <a:lnTo>
                    <a:pt x="220853" y="3605473"/>
                  </a:lnTo>
                  <a:cubicBezTo>
                    <a:pt x="98933" y="3605473"/>
                    <a:pt x="0" y="3484357"/>
                    <a:pt x="0" y="3335101"/>
                  </a:cubicBezTo>
                  <a:close/>
                </a:path>
              </a:pathLst>
            </a:custGeom>
            <a:solidFill>
              <a:srgbClr val="F2F2F2"/>
            </a:solidFill>
            <a:ln w="14288" cap="sq">
              <a:solidFill>
                <a:srgbClr val="D9D9D9"/>
              </a:solidFill>
              <a:prstDash val="solid"/>
              <a:miter/>
            </a:ln>
          </p:spPr>
          <p:txBody>
            <a:bodyPr/>
            <a:lstStyle/>
            <a:p>
              <a:endParaRPr lang="en-US"/>
            </a:p>
          </p:txBody>
        </p:sp>
      </p:grpSp>
      <p:grpSp>
        <p:nvGrpSpPr>
          <p:cNvPr id="22" name="Group 22"/>
          <p:cNvGrpSpPr/>
          <p:nvPr/>
        </p:nvGrpSpPr>
        <p:grpSpPr>
          <a:xfrm>
            <a:off x="8161020" y="2400300"/>
            <a:ext cx="960120" cy="68580"/>
            <a:chOff x="0" y="0"/>
            <a:chExt cx="1280160" cy="91440"/>
          </a:xfrm>
        </p:grpSpPr>
        <p:sp>
          <p:nvSpPr>
            <p:cNvPr id="23" name="Freeform 23"/>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24" name="Group 24"/>
          <p:cNvGrpSpPr/>
          <p:nvPr/>
        </p:nvGrpSpPr>
        <p:grpSpPr>
          <a:xfrm>
            <a:off x="8153876" y="2607791"/>
            <a:ext cx="1714500" cy="336672"/>
            <a:chOff x="0" y="0"/>
            <a:chExt cx="2286000" cy="448897"/>
          </a:xfrm>
        </p:grpSpPr>
        <p:sp>
          <p:nvSpPr>
            <p:cNvPr id="25" name="Freeform 25"/>
            <p:cNvSpPr/>
            <p:nvPr/>
          </p:nvSpPr>
          <p:spPr>
            <a:xfrm>
              <a:off x="0" y="0"/>
              <a:ext cx="2286000" cy="448897"/>
            </a:xfrm>
            <a:custGeom>
              <a:avLst/>
              <a:gdLst/>
              <a:ahLst/>
              <a:cxnLst/>
              <a:rect l="l" t="t" r="r" b="b"/>
              <a:pathLst>
                <a:path w="2286000" h="448897">
                  <a:moveTo>
                    <a:pt x="0" y="224448"/>
                  </a:moveTo>
                  <a:cubicBezTo>
                    <a:pt x="0" y="100534"/>
                    <a:pt x="98298" y="0"/>
                    <a:pt x="219456" y="0"/>
                  </a:cubicBezTo>
                  <a:lnTo>
                    <a:pt x="2066544" y="0"/>
                  </a:lnTo>
                  <a:cubicBezTo>
                    <a:pt x="2187702" y="0"/>
                    <a:pt x="2286000" y="100534"/>
                    <a:pt x="2286000" y="224448"/>
                  </a:cubicBezTo>
                  <a:cubicBezTo>
                    <a:pt x="2286000" y="348363"/>
                    <a:pt x="2187702" y="448897"/>
                    <a:pt x="2066544" y="448897"/>
                  </a:cubicBezTo>
                  <a:lnTo>
                    <a:pt x="219456" y="448897"/>
                  </a:lnTo>
                  <a:cubicBezTo>
                    <a:pt x="98298" y="448897"/>
                    <a:pt x="0" y="348362"/>
                    <a:pt x="0" y="224448"/>
                  </a:cubicBezTo>
                  <a:close/>
                </a:path>
              </a:pathLst>
            </a:custGeom>
            <a:solidFill>
              <a:srgbClr val="DB3038"/>
            </a:solidFill>
          </p:spPr>
          <p:txBody>
            <a:bodyPr/>
            <a:lstStyle/>
            <a:p>
              <a:endParaRPr lang="en-US"/>
            </a:p>
          </p:txBody>
        </p:sp>
        <p:sp>
          <p:nvSpPr>
            <p:cNvPr id="26" name="TextBox 26"/>
            <p:cNvSpPr txBox="1"/>
            <p:nvPr/>
          </p:nvSpPr>
          <p:spPr>
            <a:xfrm>
              <a:off x="0" y="-19050"/>
              <a:ext cx="2286000" cy="467947"/>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Input</a:t>
              </a:r>
            </a:p>
          </p:txBody>
        </p:sp>
      </p:grpSp>
      <p:grpSp>
        <p:nvGrpSpPr>
          <p:cNvPr id="27" name="Group 27"/>
          <p:cNvGrpSpPr/>
          <p:nvPr/>
        </p:nvGrpSpPr>
        <p:grpSpPr>
          <a:xfrm>
            <a:off x="8153876" y="3106388"/>
            <a:ext cx="8949976" cy="645223"/>
            <a:chOff x="0" y="0"/>
            <a:chExt cx="11933301" cy="860298"/>
          </a:xfrm>
        </p:grpSpPr>
        <p:sp>
          <p:nvSpPr>
            <p:cNvPr id="28" name="Freeform 28"/>
            <p:cNvSpPr/>
            <p:nvPr/>
          </p:nvSpPr>
          <p:spPr>
            <a:xfrm>
              <a:off x="0" y="0"/>
              <a:ext cx="11933301" cy="860298"/>
            </a:xfrm>
            <a:custGeom>
              <a:avLst/>
              <a:gdLst/>
              <a:ahLst/>
              <a:cxnLst/>
              <a:rect l="l" t="t" r="r" b="b"/>
              <a:pathLst>
                <a:path w="11933301" h="860298">
                  <a:moveTo>
                    <a:pt x="0" y="130937"/>
                  </a:moveTo>
                  <a:cubicBezTo>
                    <a:pt x="0" y="58674"/>
                    <a:pt x="80426" y="0"/>
                    <a:pt x="179478" y="0"/>
                  </a:cubicBezTo>
                  <a:lnTo>
                    <a:pt x="11753823" y="0"/>
                  </a:lnTo>
                  <a:cubicBezTo>
                    <a:pt x="11852875" y="0"/>
                    <a:pt x="11933301" y="58674"/>
                    <a:pt x="11933301" y="130937"/>
                  </a:cubicBezTo>
                  <a:lnTo>
                    <a:pt x="11933301" y="729361"/>
                  </a:lnTo>
                  <a:cubicBezTo>
                    <a:pt x="11933301" y="801624"/>
                    <a:pt x="11852875" y="860298"/>
                    <a:pt x="11753823" y="860298"/>
                  </a:cubicBezTo>
                  <a:lnTo>
                    <a:pt x="179478" y="860298"/>
                  </a:lnTo>
                  <a:cubicBezTo>
                    <a:pt x="80426" y="860298"/>
                    <a:pt x="0" y="801624"/>
                    <a:pt x="0" y="729361"/>
                  </a:cubicBezTo>
                  <a:close/>
                </a:path>
              </a:pathLst>
            </a:custGeom>
            <a:solidFill>
              <a:srgbClr val="FFFFFF"/>
            </a:solidFill>
            <a:ln w="14288" cap="sq">
              <a:solidFill>
                <a:srgbClr val="D9D9D9"/>
              </a:solidFill>
              <a:prstDash val="solid"/>
              <a:miter/>
            </a:ln>
          </p:spPr>
          <p:txBody>
            <a:bodyPr/>
            <a:lstStyle/>
            <a:p>
              <a:endParaRPr lang="en-US"/>
            </a:p>
          </p:txBody>
        </p:sp>
      </p:grpSp>
      <p:grpSp>
        <p:nvGrpSpPr>
          <p:cNvPr id="29" name="Group 29"/>
          <p:cNvGrpSpPr/>
          <p:nvPr/>
        </p:nvGrpSpPr>
        <p:grpSpPr>
          <a:xfrm>
            <a:off x="8189595" y="3111151"/>
            <a:ext cx="8942832" cy="616641"/>
            <a:chOff x="0" y="0"/>
            <a:chExt cx="12200192" cy="841248"/>
          </a:xfrm>
        </p:grpSpPr>
        <p:sp>
          <p:nvSpPr>
            <p:cNvPr id="30" name="Freeform 30"/>
            <p:cNvSpPr/>
            <p:nvPr/>
          </p:nvSpPr>
          <p:spPr>
            <a:xfrm>
              <a:off x="0" y="0"/>
              <a:ext cx="12200191" cy="841248"/>
            </a:xfrm>
            <a:custGeom>
              <a:avLst/>
              <a:gdLst/>
              <a:ahLst/>
              <a:cxnLst/>
              <a:rect l="l" t="t" r="r" b="b"/>
              <a:pathLst>
                <a:path w="12200191" h="841248">
                  <a:moveTo>
                    <a:pt x="0" y="0"/>
                  </a:moveTo>
                  <a:lnTo>
                    <a:pt x="12200191" y="0"/>
                  </a:lnTo>
                  <a:lnTo>
                    <a:pt x="12200191" y="841248"/>
                  </a:lnTo>
                  <a:lnTo>
                    <a:pt x="0" y="841248"/>
                  </a:lnTo>
                  <a:close/>
                </a:path>
              </a:pathLst>
            </a:custGeom>
            <a:blipFill>
              <a:blip r:embed="rId3">
                <a:alphaModFix amt="0"/>
              </a:blip>
              <a:stretch>
                <a:fillRect t="-146968" r="30296" b="-146968"/>
              </a:stretch>
            </a:blipFill>
          </p:spPr>
          <p:txBody>
            <a:bodyPr/>
            <a:lstStyle/>
            <a:p>
              <a:endParaRPr lang="en-US"/>
            </a:p>
          </p:txBody>
        </p:sp>
        <mc:AlternateContent xmlns:mc="http://schemas.openxmlformats.org/markup-compatibility/2006" xmlns:a14="http://schemas.microsoft.com/office/drawing/2010/main">
          <mc:Choice Requires="a14">
            <p:sp>
              <p:nvSpPr>
                <p:cNvPr id="31" name="TextBox 31"/>
                <p:cNvSpPr txBox="1"/>
                <p:nvPr/>
              </p:nvSpPr>
              <p:spPr>
                <a:xfrm>
                  <a:off x="0" y="-19050"/>
                  <a:ext cx="12200192" cy="860298"/>
                </a:xfrm>
                <a:prstGeom prst="rect">
                  <a:avLst/>
                </a:prstGeom>
              </p:spPr>
              <p:txBody>
                <a:bodyPr lIns="0" tIns="0" rIns="0" bIns="0" rtlCol="0" anchor="ctr"/>
                <a:lstStyle/>
                <a:p>
                  <a:pPr algn="l">
                    <a:lnSpc>
                      <a:spcPts val="2160"/>
                    </a:lnSpc>
                  </a:pPr>
                  <a:r>
                    <a:rPr lang="en-US" sz="1800">
                      <a:solidFill>
                        <a:srgbClr val="B3222A"/>
                      </a:solidFill>
                      <a:latin typeface="Arial"/>
                      <a:ea typeface="Arial"/>
                      <a:cs typeface="Arial"/>
                      <a:sym typeface="Arial"/>
                    </a:rPr>
                    <a:t>Tọa độ pixel tâm marker </a:t>
                  </a:r>
                  <a14:m>
                    <m:oMath xmlns:m="http://schemas.openxmlformats.org/officeDocument/2006/math">
                      <m:r>
                        <a:rPr lang="en-US" sz="1800" b="0" i="1" smtClean="0">
                          <a:solidFill>
                            <a:srgbClr val="B3222A"/>
                          </a:solidFill>
                          <a:latin typeface="Cambria Math" panose="02040503050406030204" pitchFamily="18" charset="0"/>
                          <a:ea typeface="Arial"/>
                          <a:cs typeface="Arial"/>
                          <a:sym typeface="Arial"/>
                        </a:rPr>
                        <m:t>(</m:t>
                      </m:r>
                      <m:r>
                        <a:rPr lang="en-US" sz="1800" b="0" i="1" smtClean="0">
                          <a:solidFill>
                            <a:srgbClr val="B3222A"/>
                          </a:solidFill>
                          <a:latin typeface="Cambria Math" panose="02040503050406030204" pitchFamily="18" charset="0"/>
                          <a:ea typeface="Arial"/>
                          <a:cs typeface="Arial"/>
                          <a:sym typeface="Arial"/>
                        </a:rPr>
                        <m:t>𝑢</m:t>
                      </m:r>
                      <m:r>
                        <a:rPr lang="en-US" sz="1800" b="0" i="1" smtClean="0">
                          <a:solidFill>
                            <a:srgbClr val="B3222A"/>
                          </a:solidFill>
                          <a:latin typeface="Cambria Math" panose="02040503050406030204" pitchFamily="18" charset="0"/>
                          <a:ea typeface="Arial"/>
                          <a:cs typeface="Arial"/>
                          <a:sym typeface="Arial"/>
                        </a:rPr>
                        <m:t>;</m:t>
                      </m:r>
                      <m:r>
                        <a:rPr lang="en-US" sz="1800" b="0" i="1" smtClean="0">
                          <a:solidFill>
                            <a:srgbClr val="B3222A"/>
                          </a:solidFill>
                          <a:latin typeface="Cambria Math" panose="02040503050406030204" pitchFamily="18" charset="0"/>
                          <a:ea typeface="Arial"/>
                          <a:cs typeface="Arial"/>
                          <a:sym typeface="Arial"/>
                        </a:rPr>
                        <m:t>𝑣</m:t>
                      </m:r>
                      <m:r>
                        <a:rPr lang="en-US" sz="1800" b="0" i="1" smtClean="0">
                          <a:solidFill>
                            <a:srgbClr val="B3222A"/>
                          </a:solidFill>
                          <a:latin typeface="Cambria Math" panose="02040503050406030204" pitchFamily="18" charset="0"/>
                          <a:ea typeface="Arial"/>
                          <a:cs typeface="Arial"/>
                          <a:sym typeface="Arial"/>
                        </a:rPr>
                        <m:t>)</m:t>
                      </m:r>
                    </m:oMath>
                  </a14:m>
                  <a:r>
                    <a:rPr lang="en-US" sz="1800">
                      <a:solidFill>
                        <a:srgbClr val="B3222A"/>
                      </a:solidFill>
                      <a:latin typeface="Arial"/>
                      <a:ea typeface="Arial"/>
                      <a:cs typeface="Arial"/>
                      <a:sym typeface="Arial"/>
                    </a:rPr>
                    <a:t>, vận tốc mục tiêu từ EKF, odometry drone, pha nhiệm vụ</a:t>
                  </a:r>
                </a:p>
              </p:txBody>
            </p:sp>
          </mc:Choice>
          <mc:Fallback xmlns="">
            <p:sp>
              <p:nvSpPr>
                <p:cNvPr id="31" name="TextBox 31"/>
                <p:cNvSpPr txBox="1">
                  <a:spLocks noRot="1" noChangeAspect="1" noMove="1" noResize="1" noEditPoints="1" noAdjustHandles="1" noChangeArrowheads="1" noChangeShapeType="1" noTextEdit="1"/>
                </p:cNvSpPr>
                <p:nvPr/>
              </p:nvSpPr>
              <p:spPr>
                <a:xfrm>
                  <a:off x="0" y="-19050"/>
                  <a:ext cx="12200192" cy="860298"/>
                </a:xfrm>
                <a:prstGeom prst="rect">
                  <a:avLst/>
                </a:prstGeom>
                <a:blipFill>
                  <a:blip r:embed="rId4"/>
                  <a:stretch>
                    <a:fillRect l="-1568" r="-750"/>
                  </a:stretch>
                </a:blipFill>
              </p:spPr>
              <p:txBody>
                <a:bodyPr/>
                <a:lstStyle/>
                <a:p>
                  <a:r>
                    <a:rPr lang="en-US">
                      <a:noFill/>
                    </a:rPr>
                    <a:t> </a:t>
                  </a:r>
                </a:p>
              </p:txBody>
            </p:sp>
          </mc:Fallback>
        </mc:AlternateContent>
      </p:grpSp>
      <p:grpSp>
        <p:nvGrpSpPr>
          <p:cNvPr id="32" name="Group 32"/>
          <p:cNvGrpSpPr/>
          <p:nvPr/>
        </p:nvGrpSpPr>
        <p:grpSpPr>
          <a:xfrm>
            <a:off x="7834836" y="5430636"/>
            <a:ext cx="9588056" cy="3420808"/>
            <a:chOff x="0" y="0"/>
            <a:chExt cx="12784074" cy="4561078"/>
          </a:xfrm>
        </p:grpSpPr>
        <p:sp>
          <p:nvSpPr>
            <p:cNvPr id="33" name="Freeform 33"/>
            <p:cNvSpPr/>
            <p:nvPr/>
          </p:nvSpPr>
          <p:spPr>
            <a:xfrm>
              <a:off x="0" y="0"/>
              <a:ext cx="12784074" cy="4561078"/>
            </a:xfrm>
            <a:custGeom>
              <a:avLst/>
              <a:gdLst/>
              <a:ahLst/>
              <a:cxnLst/>
              <a:rect l="l" t="t" r="r" b="b"/>
              <a:pathLst>
                <a:path w="12784074" h="4561078">
                  <a:moveTo>
                    <a:pt x="0" y="342032"/>
                  </a:moveTo>
                  <a:cubicBezTo>
                    <a:pt x="0" y="153216"/>
                    <a:pt x="98933" y="0"/>
                    <a:pt x="220853" y="0"/>
                  </a:cubicBezTo>
                  <a:lnTo>
                    <a:pt x="12563221" y="0"/>
                  </a:lnTo>
                  <a:cubicBezTo>
                    <a:pt x="12685268" y="0"/>
                    <a:pt x="12784074" y="153216"/>
                    <a:pt x="12784074" y="342032"/>
                  </a:cubicBezTo>
                  <a:lnTo>
                    <a:pt x="12784074" y="4219046"/>
                  </a:lnTo>
                  <a:cubicBezTo>
                    <a:pt x="12784074" y="4408058"/>
                    <a:pt x="12685140" y="4561078"/>
                    <a:pt x="12563221" y="4561078"/>
                  </a:cubicBezTo>
                  <a:lnTo>
                    <a:pt x="220853" y="4561078"/>
                  </a:lnTo>
                  <a:cubicBezTo>
                    <a:pt x="98933" y="4561078"/>
                    <a:pt x="0" y="4407862"/>
                    <a:pt x="0" y="421904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34" name="Group 34"/>
          <p:cNvGrpSpPr/>
          <p:nvPr/>
        </p:nvGrpSpPr>
        <p:grpSpPr>
          <a:xfrm>
            <a:off x="8116300" y="5437780"/>
            <a:ext cx="960120" cy="68580"/>
            <a:chOff x="0" y="0"/>
            <a:chExt cx="1280160" cy="91440"/>
          </a:xfrm>
        </p:grpSpPr>
        <p:sp>
          <p:nvSpPr>
            <p:cNvPr id="35" name="Freeform 35"/>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grpSp>
        <p:nvGrpSpPr>
          <p:cNvPr id="36" name="Group 36"/>
          <p:cNvGrpSpPr/>
          <p:nvPr/>
        </p:nvGrpSpPr>
        <p:grpSpPr>
          <a:xfrm>
            <a:off x="8116300" y="5670952"/>
            <a:ext cx="1714500" cy="444561"/>
            <a:chOff x="0" y="0"/>
            <a:chExt cx="2286000" cy="592748"/>
          </a:xfrm>
        </p:grpSpPr>
        <p:sp>
          <p:nvSpPr>
            <p:cNvPr id="37" name="Freeform 37"/>
            <p:cNvSpPr/>
            <p:nvPr/>
          </p:nvSpPr>
          <p:spPr>
            <a:xfrm>
              <a:off x="0" y="0"/>
              <a:ext cx="2286000" cy="592748"/>
            </a:xfrm>
            <a:custGeom>
              <a:avLst/>
              <a:gdLst/>
              <a:ahLst/>
              <a:cxnLst/>
              <a:rect l="l" t="t" r="r" b="b"/>
              <a:pathLst>
                <a:path w="2286000" h="592748">
                  <a:moveTo>
                    <a:pt x="0" y="296374"/>
                  </a:moveTo>
                  <a:cubicBezTo>
                    <a:pt x="0" y="132751"/>
                    <a:pt x="98298" y="0"/>
                    <a:pt x="219456" y="0"/>
                  </a:cubicBezTo>
                  <a:lnTo>
                    <a:pt x="2066544" y="0"/>
                  </a:lnTo>
                  <a:cubicBezTo>
                    <a:pt x="2187702" y="0"/>
                    <a:pt x="2286000" y="132751"/>
                    <a:pt x="2286000" y="296374"/>
                  </a:cubicBezTo>
                  <a:cubicBezTo>
                    <a:pt x="2286000" y="459997"/>
                    <a:pt x="2187702" y="592748"/>
                    <a:pt x="2066544" y="592748"/>
                  </a:cubicBezTo>
                  <a:lnTo>
                    <a:pt x="219456" y="592748"/>
                  </a:lnTo>
                  <a:cubicBezTo>
                    <a:pt x="98298" y="592748"/>
                    <a:pt x="0" y="459997"/>
                    <a:pt x="0" y="296374"/>
                  </a:cubicBezTo>
                  <a:close/>
                </a:path>
              </a:pathLst>
            </a:custGeom>
            <a:solidFill>
              <a:srgbClr val="595959"/>
            </a:solidFill>
          </p:spPr>
          <p:txBody>
            <a:bodyPr/>
            <a:lstStyle/>
            <a:p>
              <a:endParaRPr lang="en-US"/>
            </a:p>
          </p:txBody>
        </p:sp>
        <p:sp>
          <p:nvSpPr>
            <p:cNvPr id="38" name="TextBox 38"/>
            <p:cNvSpPr txBox="1"/>
            <p:nvPr/>
          </p:nvSpPr>
          <p:spPr>
            <a:xfrm>
              <a:off x="0" y="-19050"/>
              <a:ext cx="2286000" cy="611798"/>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Công thức triển khai</a:t>
              </a:r>
            </a:p>
          </p:txBody>
        </p:sp>
      </p:grpSp>
      <p:grpSp>
        <p:nvGrpSpPr>
          <p:cNvPr id="39" name="Group 39"/>
          <p:cNvGrpSpPr/>
          <p:nvPr/>
        </p:nvGrpSpPr>
        <p:grpSpPr>
          <a:xfrm>
            <a:off x="8078152" y="7234576"/>
            <a:ext cx="6529388" cy="645223"/>
            <a:chOff x="0" y="0"/>
            <a:chExt cx="8705850" cy="860298"/>
          </a:xfrm>
        </p:grpSpPr>
        <p:sp>
          <p:nvSpPr>
            <p:cNvPr id="40" name="Freeform 40"/>
            <p:cNvSpPr/>
            <p:nvPr/>
          </p:nvSpPr>
          <p:spPr>
            <a:xfrm>
              <a:off x="0" y="0"/>
              <a:ext cx="8705850" cy="860298"/>
            </a:xfrm>
            <a:custGeom>
              <a:avLst/>
              <a:gdLst/>
              <a:ahLst/>
              <a:cxnLst/>
              <a:rect l="l" t="t" r="r" b="b"/>
              <a:pathLst>
                <a:path w="8705850" h="860298">
                  <a:moveTo>
                    <a:pt x="0" y="130937"/>
                  </a:moveTo>
                  <a:cubicBezTo>
                    <a:pt x="0" y="58674"/>
                    <a:pt x="58674" y="0"/>
                    <a:pt x="130937" y="0"/>
                  </a:cubicBezTo>
                  <a:lnTo>
                    <a:pt x="8574913" y="0"/>
                  </a:lnTo>
                  <a:cubicBezTo>
                    <a:pt x="8647176" y="0"/>
                    <a:pt x="8705850" y="58674"/>
                    <a:pt x="8705850" y="130937"/>
                  </a:cubicBezTo>
                  <a:lnTo>
                    <a:pt x="8705850" y="729361"/>
                  </a:lnTo>
                  <a:cubicBezTo>
                    <a:pt x="8705850" y="801624"/>
                    <a:pt x="8647176" y="860298"/>
                    <a:pt x="8574913" y="860298"/>
                  </a:cubicBezTo>
                  <a:lnTo>
                    <a:pt x="130937" y="860298"/>
                  </a:lnTo>
                  <a:cubicBezTo>
                    <a:pt x="58674" y="860298"/>
                    <a:pt x="0" y="801624"/>
                    <a:pt x="0" y="729361"/>
                  </a:cubicBezTo>
                  <a:close/>
                </a:path>
              </a:pathLst>
            </a:custGeom>
            <a:solidFill>
              <a:srgbClr val="FFFFFF"/>
            </a:solidFill>
            <a:ln w="14288" cap="sq">
              <a:solidFill>
                <a:srgbClr val="D9D9D9"/>
              </a:solidFill>
              <a:prstDash val="solid"/>
              <a:miter/>
            </a:ln>
          </p:spPr>
          <p:txBody>
            <a:bodyPr/>
            <a:lstStyle/>
            <a:p>
              <a:endParaRPr lang="en-US"/>
            </a:p>
          </p:txBody>
        </p:sp>
      </p:grpSp>
      <p:grpSp>
        <p:nvGrpSpPr>
          <p:cNvPr id="41" name="Group 41"/>
          <p:cNvGrpSpPr/>
          <p:nvPr/>
        </p:nvGrpSpPr>
        <p:grpSpPr>
          <a:xfrm>
            <a:off x="8161020" y="7396393"/>
            <a:ext cx="6377940" cy="490307"/>
            <a:chOff x="0" y="-19050"/>
            <a:chExt cx="8503920" cy="860298"/>
          </a:xfrm>
        </p:grpSpPr>
        <p:sp>
          <p:nvSpPr>
            <p:cNvPr id="42" name="Freeform 42"/>
            <p:cNvSpPr/>
            <p:nvPr/>
          </p:nvSpPr>
          <p:spPr>
            <a:xfrm>
              <a:off x="0" y="-7019"/>
              <a:ext cx="8503920" cy="841247"/>
            </a:xfrm>
            <a:custGeom>
              <a:avLst/>
              <a:gdLst/>
              <a:ahLst/>
              <a:cxnLst/>
              <a:rect l="l" t="t" r="r" b="b"/>
              <a:pathLst>
                <a:path w="8503920" h="841248">
                  <a:moveTo>
                    <a:pt x="0" y="0"/>
                  </a:moveTo>
                  <a:lnTo>
                    <a:pt x="8503920" y="0"/>
                  </a:lnTo>
                  <a:lnTo>
                    <a:pt x="8503920" y="841248"/>
                  </a:lnTo>
                  <a:lnTo>
                    <a:pt x="0" y="841248"/>
                  </a:lnTo>
                  <a:close/>
                </a:path>
              </a:pathLst>
            </a:custGeom>
            <a:blipFill>
              <a:blip r:embed="rId3">
                <a:alphaModFix amt="0"/>
              </a:blip>
              <a:stretch>
                <a:fillRect t="-146968" b="-146968"/>
              </a:stretch>
            </a:blipFill>
          </p:spPr>
          <p:txBody>
            <a:bodyPr/>
            <a:lstStyle/>
            <a:p>
              <a:endParaRPr lang="en-US"/>
            </a:p>
          </p:txBody>
        </p:sp>
        <mc:AlternateContent xmlns:mc="http://schemas.openxmlformats.org/markup-compatibility/2006" xmlns:a14="http://schemas.microsoft.com/office/drawing/2010/main">
          <mc:Choice Requires="a14">
            <p:sp>
              <p:nvSpPr>
                <p:cNvPr id="43" name="TextBox 43"/>
                <p:cNvSpPr txBox="1"/>
                <p:nvPr/>
              </p:nvSpPr>
              <p:spPr>
                <a:xfrm>
                  <a:off x="0" y="-19050"/>
                  <a:ext cx="8503920" cy="860298"/>
                </a:xfrm>
                <a:prstGeom prst="rect">
                  <a:avLst/>
                </a:prstGeom>
              </p:spPr>
              <p:txBody>
                <a:bodyPr lIns="0" tIns="0" rIns="0" bIns="0" rtlCol="0" anchor="ctr"/>
                <a:lstStyle/>
                <a:p>
                  <a:pPr algn="l">
                    <a:lnSpc>
                      <a:spcPts val="2160"/>
                    </a:lnSpc>
                  </a:pPr>
                  <a14:m>
                    <m:oMathPara xmlns:m="http://schemas.openxmlformats.org/officeDocument/2006/math">
                      <m:oMath>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𝜔</m:t>
                            </m:r>
                          </m:e>
                          <m:sub>
                            <m:r>
                              <a:rPr lang="en-US" sz="1800" b="0" i="1" smtClean="0">
                                <a:solidFill>
                                  <a:srgbClr val="B3222A"/>
                                </a:solidFill>
                                <a:latin typeface="Cambria Math" panose="02040503050406030204" pitchFamily="18" charset="0"/>
                                <a:ea typeface="Arial"/>
                                <a:cs typeface="Arial"/>
                                <a:sym typeface="Arial"/>
                              </a:rPr>
                              <m:t>𝐸𝐿</m:t>
                            </m:r>
                          </m:sub>
                        </m:sSub>
                        <m:r>
                          <a:rPr lang="en-US" sz="1800" b="0" i="1" smtClean="0">
                            <a:solidFill>
                              <a:srgbClr val="B3222A"/>
                            </a:solidFill>
                            <a:latin typeface="Cambria Math" panose="02040503050406030204" pitchFamily="18" charset="0"/>
                            <a:ea typeface="Arial"/>
                            <a:cs typeface="Arial"/>
                            <a:sym typeface="Arial"/>
                          </a:rPr>
                          <m:t>=−</m:t>
                        </m:r>
                        <m:r>
                          <a:rPr lang="en-US" sz="1800" b="0" i="1" smtClean="0">
                            <a:solidFill>
                              <a:srgbClr val="B3222A"/>
                            </a:solidFill>
                            <a:latin typeface="Cambria Math" panose="02040503050406030204" pitchFamily="18" charset="0"/>
                            <a:ea typeface="Arial"/>
                            <a:cs typeface="Arial"/>
                            <a:sym typeface="Arial"/>
                          </a:rPr>
                          <m:t>𝑎𝑡𝑎𝑛</m:t>
                        </m:r>
                        <m:r>
                          <a:rPr lang="en-US" sz="1800" b="0" i="1" smtClean="0">
                            <a:solidFill>
                              <a:srgbClr val="B3222A"/>
                            </a:solidFill>
                            <a:latin typeface="Cambria Math" panose="02040503050406030204" pitchFamily="18" charset="0"/>
                            <a:ea typeface="Arial"/>
                            <a:cs typeface="Arial"/>
                            <a:sym typeface="Arial"/>
                          </a:rPr>
                          <m:t>2</m:t>
                        </m:r>
                        <m:d>
                          <m:dPr>
                            <m:ctrlPr>
                              <a:rPr lang="en-US" sz="1800" b="0" i="1" smtClean="0">
                                <a:solidFill>
                                  <a:srgbClr val="B3222A"/>
                                </a:solidFill>
                                <a:latin typeface="Cambria Math" panose="02040503050406030204" pitchFamily="18" charset="0"/>
                                <a:ea typeface="Arial"/>
                                <a:cs typeface="Arial"/>
                                <a:sym typeface="Arial"/>
                              </a:rPr>
                            </m:ctrlPr>
                          </m:dPr>
                          <m:e>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𝑧</m:t>
                                </m:r>
                              </m:e>
                              <m:sub>
                                <m:r>
                                  <a:rPr lang="en-US" sz="1800" b="0" i="1" smtClean="0">
                                    <a:solidFill>
                                      <a:srgbClr val="B3222A"/>
                                    </a:solidFill>
                                    <a:latin typeface="Cambria Math" panose="02040503050406030204" pitchFamily="18" charset="0"/>
                                    <a:ea typeface="Arial"/>
                                    <a:cs typeface="Arial"/>
                                    <a:sym typeface="Arial"/>
                                  </a:rPr>
                                  <m:t>𝑑𝑟𝑜𝑛𝑒</m:t>
                                </m:r>
                              </m:sub>
                            </m:sSub>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𝑧</m:t>
                                </m:r>
                              </m:e>
                              <m:sub>
                                <m:r>
                                  <a:rPr lang="en-US" sz="1800" b="0" i="1" smtClean="0">
                                    <a:solidFill>
                                      <a:srgbClr val="B3222A"/>
                                    </a:solidFill>
                                    <a:latin typeface="Cambria Math" panose="02040503050406030204" pitchFamily="18" charset="0"/>
                                    <a:ea typeface="Arial"/>
                                    <a:cs typeface="Arial"/>
                                    <a:sym typeface="Arial"/>
                                  </a:rPr>
                                  <m:t>𝑡</m:t>
                                </m:r>
                              </m:sub>
                            </m:sSub>
                            <m:r>
                              <a:rPr lang="en-US" sz="1800" b="0" i="1" smtClean="0">
                                <a:solidFill>
                                  <a:srgbClr val="B3222A"/>
                                </a:solidFill>
                                <a:latin typeface="Cambria Math" panose="02040503050406030204" pitchFamily="18" charset="0"/>
                                <a:ea typeface="Arial"/>
                                <a:cs typeface="Arial"/>
                                <a:sym typeface="Arial"/>
                              </a:rPr>
                              <m:t>, </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𝑑</m:t>
                                </m:r>
                              </m:e>
                              <m:sub>
                                <m:r>
                                  <a:rPr lang="en-US" sz="1800" b="0" i="1" smtClean="0">
                                    <a:solidFill>
                                      <a:srgbClr val="B3222A"/>
                                    </a:solidFill>
                                    <a:latin typeface="Cambria Math" panose="02040503050406030204" pitchFamily="18" charset="0"/>
                                    <a:ea typeface="Arial"/>
                                    <a:cs typeface="Arial"/>
                                    <a:sym typeface="Arial"/>
                                  </a:rPr>
                                  <m:t>𝑥𝑦</m:t>
                                </m:r>
                              </m:sub>
                            </m:sSub>
                          </m:e>
                        </m:d>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𝐾</m:t>
                            </m:r>
                          </m:e>
                          <m:sub>
                            <m:r>
                              <a:rPr lang="en-US" sz="1800" b="0" i="1" smtClean="0">
                                <a:solidFill>
                                  <a:srgbClr val="B3222A"/>
                                </a:solidFill>
                                <a:latin typeface="Cambria Math" panose="02040503050406030204" pitchFamily="18" charset="0"/>
                                <a:ea typeface="Arial"/>
                                <a:cs typeface="Arial"/>
                                <a:sym typeface="Arial"/>
                              </a:rPr>
                              <m:t>𝐸𝐿</m:t>
                            </m:r>
                          </m:sub>
                        </m:sSub>
                        <m:r>
                          <a:rPr lang="en-US" sz="1800" b="0" i="1" smtClean="0">
                            <a:solidFill>
                              <a:srgbClr val="B3222A"/>
                            </a:solidFill>
                            <a:latin typeface="Cambria Math" panose="02040503050406030204" pitchFamily="18" charset="0"/>
                            <a:ea typeface="Arial"/>
                            <a:cs typeface="Arial"/>
                            <a:sym typeface="Arial"/>
                          </a:rPr>
                          <m:t>.</m:t>
                        </m:r>
                        <m:f>
                          <m:fPr>
                            <m:ctrlPr>
                              <a:rPr lang="en-US" sz="1800" b="0" i="1" smtClean="0">
                                <a:solidFill>
                                  <a:srgbClr val="B3222A"/>
                                </a:solidFill>
                                <a:latin typeface="Cambria Math" panose="02040503050406030204" pitchFamily="18" charset="0"/>
                                <a:ea typeface="Arial"/>
                                <a:cs typeface="Arial"/>
                                <a:sym typeface="Arial"/>
                              </a:rPr>
                            </m:ctrlPr>
                          </m:fPr>
                          <m:num>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𝑒</m:t>
                                </m:r>
                              </m:e>
                              <m:sub>
                                <m:r>
                                  <a:rPr lang="en-US" sz="1800" b="0" i="1" smtClean="0">
                                    <a:solidFill>
                                      <a:srgbClr val="B3222A"/>
                                    </a:solidFill>
                                    <a:latin typeface="Cambria Math" panose="02040503050406030204" pitchFamily="18" charset="0"/>
                                    <a:ea typeface="Arial"/>
                                    <a:cs typeface="Arial"/>
                                    <a:sym typeface="Arial"/>
                                  </a:rPr>
                                  <m:t>𝑣</m:t>
                                </m:r>
                              </m:sub>
                            </m:sSub>
                          </m:num>
                          <m:den>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𝑓</m:t>
                                </m:r>
                              </m:e>
                              <m:sub>
                                <m:r>
                                  <a:rPr lang="en-US" sz="1800" b="0" i="1" smtClean="0">
                                    <a:solidFill>
                                      <a:srgbClr val="B3222A"/>
                                    </a:solidFill>
                                    <a:latin typeface="Cambria Math" panose="02040503050406030204" pitchFamily="18" charset="0"/>
                                    <a:ea typeface="Arial"/>
                                    <a:cs typeface="Arial"/>
                                    <a:sym typeface="Arial"/>
                                  </a:rPr>
                                  <m:t>𝑦</m:t>
                                </m:r>
                              </m:sub>
                            </m:sSub>
                          </m:den>
                        </m:f>
                      </m:oMath>
                    </m:oMathPara>
                  </a14:m>
                  <a:endParaRPr lang="en-US" sz="1800">
                    <a:solidFill>
                      <a:srgbClr val="B3222A"/>
                    </a:solidFill>
                    <a:latin typeface="Arial"/>
                    <a:ea typeface="Arial"/>
                    <a:cs typeface="Arial"/>
                    <a:sym typeface="Arial"/>
                  </a:endParaRPr>
                </a:p>
              </p:txBody>
            </p:sp>
          </mc:Choice>
          <mc:Fallback xmlns="">
            <p:sp>
              <p:nvSpPr>
                <p:cNvPr id="43" name="TextBox 43"/>
                <p:cNvSpPr txBox="1">
                  <a:spLocks noRot="1" noChangeAspect="1" noMove="1" noResize="1" noEditPoints="1" noAdjustHandles="1" noChangeArrowheads="1" noChangeShapeType="1" noTextEdit="1"/>
                </p:cNvSpPr>
                <p:nvPr/>
              </p:nvSpPr>
              <p:spPr>
                <a:xfrm>
                  <a:off x="0" y="-19050"/>
                  <a:ext cx="8503920" cy="860298"/>
                </a:xfrm>
                <a:prstGeom prst="rect">
                  <a:avLst/>
                </a:prstGeom>
                <a:blipFill>
                  <a:blip r:embed="rId5"/>
                  <a:stretch>
                    <a:fillRect t="-20988" b="-8642"/>
                  </a:stretch>
                </a:blipFill>
              </p:spPr>
              <p:txBody>
                <a:bodyPr/>
                <a:lstStyle/>
                <a:p>
                  <a:r>
                    <a:rPr lang="en-US">
                      <a:noFill/>
                    </a:rPr>
                    <a:t> </a:t>
                  </a:r>
                </a:p>
              </p:txBody>
            </p:sp>
          </mc:Fallback>
        </mc:AlternateContent>
      </p:grpSp>
      <p:grpSp>
        <p:nvGrpSpPr>
          <p:cNvPr id="44" name="Group 44"/>
          <p:cNvGrpSpPr/>
          <p:nvPr/>
        </p:nvGrpSpPr>
        <p:grpSpPr>
          <a:xfrm>
            <a:off x="10195897" y="5663808"/>
            <a:ext cx="6980107" cy="1398267"/>
            <a:chOff x="0" y="0"/>
            <a:chExt cx="8729104" cy="1748629"/>
          </a:xfrm>
        </p:grpSpPr>
        <p:sp>
          <p:nvSpPr>
            <p:cNvPr id="45" name="Freeform 45"/>
            <p:cNvSpPr/>
            <p:nvPr/>
          </p:nvSpPr>
          <p:spPr>
            <a:xfrm>
              <a:off x="0" y="0"/>
              <a:ext cx="8729104" cy="1748630"/>
            </a:xfrm>
            <a:custGeom>
              <a:avLst/>
              <a:gdLst/>
              <a:ahLst/>
              <a:cxnLst/>
              <a:rect l="l" t="t" r="r" b="b"/>
              <a:pathLst>
                <a:path w="8729104" h="1748630">
                  <a:moveTo>
                    <a:pt x="0" y="166509"/>
                  </a:moveTo>
                  <a:cubicBezTo>
                    <a:pt x="0" y="74556"/>
                    <a:pt x="284764" y="0"/>
                    <a:pt x="635972" y="0"/>
                  </a:cubicBezTo>
                  <a:lnTo>
                    <a:pt x="8093131" y="0"/>
                  </a:lnTo>
                  <a:cubicBezTo>
                    <a:pt x="8444340" y="0"/>
                    <a:pt x="8729104" y="74556"/>
                    <a:pt x="8729104" y="166509"/>
                  </a:cubicBezTo>
                  <a:lnTo>
                    <a:pt x="8729104" y="1582121"/>
                  </a:lnTo>
                  <a:cubicBezTo>
                    <a:pt x="8729104" y="1674073"/>
                    <a:pt x="8444340" y="1748630"/>
                    <a:pt x="8093131" y="1748630"/>
                  </a:cubicBezTo>
                  <a:lnTo>
                    <a:pt x="635972" y="1748630"/>
                  </a:lnTo>
                  <a:cubicBezTo>
                    <a:pt x="284764" y="1748630"/>
                    <a:pt x="0" y="1674073"/>
                    <a:pt x="0" y="1582121"/>
                  </a:cubicBezTo>
                  <a:close/>
                </a:path>
              </a:pathLst>
            </a:custGeom>
            <a:solidFill>
              <a:srgbClr val="FFFFFF"/>
            </a:solidFill>
            <a:ln w="14288" cap="sq">
              <a:solidFill>
                <a:srgbClr val="D9D9D9"/>
              </a:solidFill>
              <a:prstDash val="solid"/>
              <a:miter/>
            </a:ln>
          </p:spPr>
          <p:txBody>
            <a:bodyPr/>
            <a:lstStyle/>
            <a:p>
              <a:endParaRPr lang="en-US"/>
            </a:p>
          </p:txBody>
        </p:sp>
      </p:grpSp>
      <p:grpSp>
        <p:nvGrpSpPr>
          <p:cNvPr id="46" name="Group 46"/>
          <p:cNvGrpSpPr/>
          <p:nvPr/>
        </p:nvGrpSpPr>
        <p:grpSpPr>
          <a:xfrm>
            <a:off x="10444669" y="5826185"/>
            <a:ext cx="45329" cy="1090446"/>
            <a:chOff x="0" y="0"/>
            <a:chExt cx="77542" cy="1865376"/>
          </a:xfrm>
        </p:grpSpPr>
        <p:sp>
          <p:nvSpPr>
            <p:cNvPr id="47" name="Freeform 47"/>
            <p:cNvSpPr/>
            <p:nvPr/>
          </p:nvSpPr>
          <p:spPr>
            <a:xfrm>
              <a:off x="0" y="0"/>
              <a:ext cx="77542" cy="1865376"/>
            </a:xfrm>
            <a:custGeom>
              <a:avLst/>
              <a:gdLst/>
              <a:ahLst/>
              <a:cxnLst/>
              <a:rect l="l" t="t" r="r" b="b"/>
              <a:pathLst>
                <a:path w="77542" h="1865376">
                  <a:moveTo>
                    <a:pt x="0" y="0"/>
                  </a:moveTo>
                  <a:lnTo>
                    <a:pt x="77542" y="0"/>
                  </a:lnTo>
                  <a:lnTo>
                    <a:pt x="77542" y="1865376"/>
                  </a:lnTo>
                  <a:lnTo>
                    <a:pt x="0" y="1865376"/>
                  </a:lnTo>
                  <a:close/>
                </a:path>
              </a:pathLst>
            </a:custGeom>
            <a:solidFill>
              <a:srgbClr val="595959"/>
            </a:solidFill>
          </p:spPr>
          <p:txBody>
            <a:bodyPr/>
            <a:lstStyle/>
            <a:p>
              <a:endParaRPr lang="en-US"/>
            </a:p>
          </p:txBody>
        </p:sp>
      </p:grpSp>
      <p:sp>
        <p:nvSpPr>
          <p:cNvPr id="48" name="Freeform 48"/>
          <p:cNvSpPr/>
          <p:nvPr/>
        </p:nvSpPr>
        <p:spPr>
          <a:xfrm>
            <a:off x="457200" y="2338809"/>
            <a:ext cx="5427070" cy="6830623"/>
          </a:xfrm>
          <a:custGeom>
            <a:avLst/>
            <a:gdLst/>
            <a:ahLst/>
            <a:cxnLst/>
            <a:rect l="l" t="t" r="r" b="b"/>
            <a:pathLst>
              <a:path w="5427070" h="6830623">
                <a:moveTo>
                  <a:pt x="0" y="0"/>
                </a:moveTo>
                <a:lnTo>
                  <a:pt x="5427070" y="0"/>
                </a:lnTo>
                <a:lnTo>
                  <a:pt x="5427070" y="6830623"/>
                </a:lnTo>
                <a:lnTo>
                  <a:pt x="0" y="6830623"/>
                </a:lnTo>
                <a:lnTo>
                  <a:pt x="0" y="0"/>
                </a:lnTo>
                <a:close/>
              </a:path>
            </a:pathLst>
          </a:custGeom>
          <a:blipFill>
            <a:blip r:embed="rId6"/>
            <a:stretch>
              <a:fillRect/>
            </a:stretch>
          </a:blipFill>
        </p:spPr>
        <p:txBody>
          <a:bodyPr/>
          <a:lstStyle/>
          <a:p>
            <a:endParaRPr lang="en-US"/>
          </a:p>
        </p:txBody>
      </p:sp>
      <p:sp>
        <p:nvSpPr>
          <p:cNvPr id="49" name="TextBox 49"/>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51" name="Group 51"/>
          <p:cNvGrpSpPr/>
          <p:nvPr/>
        </p:nvGrpSpPr>
        <p:grpSpPr>
          <a:xfrm>
            <a:off x="8197596" y="3818287"/>
            <a:ext cx="1714500" cy="336672"/>
            <a:chOff x="0" y="0"/>
            <a:chExt cx="2286000" cy="448897"/>
          </a:xfrm>
        </p:grpSpPr>
        <p:sp>
          <p:nvSpPr>
            <p:cNvPr id="52" name="Freeform 52"/>
            <p:cNvSpPr/>
            <p:nvPr/>
          </p:nvSpPr>
          <p:spPr>
            <a:xfrm>
              <a:off x="0" y="0"/>
              <a:ext cx="2286000" cy="448897"/>
            </a:xfrm>
            <a:custGeom>
              <a:avLst/>
              <a:gdLst/>
              <a:ahLst/>
              <a:cxnLst/>
              <a:rect l="l" t="t" r="r" b="b"/>
              <a:pathLst>
                <a:path w="2286000" h="448897">
                  <a:moveTo>
                    <a:pt x="0" y="224448"/>
                  </a:moveTo>
                  <a:cubicBezTo>
                    <a:pt x="0" y="100534"/>
                    <a:pt x="98298" y="0"/>
                    <a:pt x="219456" y="0"/>
                  </a:cubicBezTo>
                  <a:lnTo>
                    <a:pt x="2066544" y="0"/>
                  </a:lnTo>
                  <a:cubicBezTo>
                    <a:pt x="2187702" y="0"/>
                    <a:pt x="2286000" y="100534"/>
                    <a:pt x="2286000" y="224448"/>
                  </a:cubicBezTo>
                  <a:cubicBezTo>
                    <a:pt x="2286000" y="348363"/>
                    <a:pt x="2187702" y="448897"/>
                    <a:pt x="2066544" y="448897"/>
                  </a:cubicBezTo>
                  <a:lnTo>
                    <a:pt x="219456" y="448897"/>
                  </a:lnTo>
                  <a:cubicBezTo>
                    <a:pt x="98298" y="448897"/>
                    <a:pt x="0" y="348362"/>
                    <a:pt x="0" y="224448"/>
                  </a:cubicBezTo>
                  <a:close/>
                </a:path>
              </a:pathLst>
            </a:custGeom>
            <a:solidFill>
              <a:srgbClr val="DB3038"/>
            </a:solidFill>
          </p:spPr>
          <p:txBody>
            <a:bodyPr/>
            <a:lstStyle/>
            <a:p>
              <a:endParaRPr lang="en-US"/>
            </a:p>
          </p:txBody>
        </p:sp>
        <p:sp>
          <p:nvSpPr>
            <p:cNvPr id="53" name="TextBox 53"/>
            <p:cNvSpPr txBox="1"/>
            <p:nvPr/>
          </p:nvSpPr>
          <p:spPr>
            <a:xfrm>
              <a:off x="0" y="-19050"/>
              <a:ext cx="2286000" cy="467947"/>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Output</a:t>
              </a:r>
            </a:p>
          </p:txBody>
        </p:sp>
      </p:grpSp>
      <p:grpSp>
        <p:nvGrpSpPr>
          <p:cNvPr id="54" name="Group 54"/>
          <p:cNvGrpSpPr/>
          <p:nvPr/>
        </p:nvGrpSpPr>
        <p:grpSpPr>
          <a:xfrm>
            <a:off x="8197596" y="4297834"/>
            <a:ext cx="8949976" cy="645223"/>
            <a:chOff x="0" y="0"/>
            <a:chExt cx="11933301" cy="860298"/>
          </a:xfrm>
        </p:grpSpPr>
        <p:sp>
          <p:nvSpPr>
            <p:cNvPr id="55" name="Freeform 55"/>
            <p:cNvSpPr/>
            <p:nvPr/>
          </p:nvSpPr>
          <p:spPr>
            <a:xfrm>
              <a:off x="0" y="0"/>
              <a:ext cx="11933301" cy="860298"/>
            </a:xfrm>
            <a:custGeom>
              <a:avLst/>
              <a:gdLst/>
              <a:ahLst/>
              <a:cxnLst/>
              <a:rect l="l" t="t" r="r" b="b"/>
              <a:pathLst>
                <a:path w="11933301" h="860298">
                  <a:moveTo>
                    <a:pt x="0" y="130937"/>
                  </a:moveTo>
                  <a:cubicBezTo>
                    <a:pt x="0" y="58674"/>
                    <a:pt x="80426" y="0"/>
                    <a:pt x="179478" y="0"/>
                  </a:cubicBezTo>
                  <a:lnTo>
                    <a:pt x="11753823" y="0"/>
                  </a:lnTo>
                  <a:cubicBezTo>
                    <a:pt x="11852875" y="0"/>
                    <a:pt x="11933301" y="58674"/>
                    <a:pt x="11933301" y="130937"/>
                  </a:cubicBezTo>
                  <a:lnTo>
                    <a:pt x="11933301" y="729361"/>
                  </a:lnTo>
                  <a:cubicBezTo>
                    <a:pt x="11933301" y="801624"/>
                    <a:pt x="11852875" y="860298"/>
                    <a:pt x="11753823" y="860298"/>
                  </a:cubicBezTo>
                  <a:lnTo>
                    <a:pt x="179478" y="860298"/>
                  </a:lnTo>
                  <a:cubicBezTo>
                    <a:pt x="80426" y="860298"/>
                    <a:pt x="0" y="801624"/>
                    <a:pt x="0" y="729361"/>
                  </a:cubicBezTo>
                  <a:close/>
                </a:path>
              </a:pathLst>
            </a:custGeom>
            <a:solidFill>
              <a:srgbClr val="FFFFFF"/>
            </a:solidFill>
            <a:ln w="14288" cap="sq">
              <a:solidFill>
                <a:srgbClr val="D9D9D9"/>
              </a:solidFill>
              <a:prstDash val="solid"/>
              <a:miter/>
            </a:ln>
          </p:spPr>
          <p:txBody>
            <a:bodyPr/>
            <a:lstStyle/>
            <a:p>
              <a:endParaRPr lang="en-US"/>
            </a:p>
          </p:txBody>
        </p:sp>
      </p:grpSp>
      <p:grpSp>
        <p:nvGrpSpPr>
          <p:cNvPr id="56" name="Group 56"/>
          <p:cNvGrpSpPr/>
          <p:nvPr/>
        </p:nvGrpSpPr>
        <p:grpSpPr>
          <a:xfrm>
            <a:off x="8272748" y="4326409"/>
            <a:ext cx="9150144" cy="630936"/>
            <a:chOff x="0" y="0"/>
            <a:chExt cx="12200192" cy="841248"/>
          </a:xfrm>
        </p:grpSpPr>
        <p:sp>
          <p:nvSpPr>
            <p:cNvPr id="57" name="Freeform 57"/>
            <p:cNvSpPr/>
            <p:nvPr/>
          </p:nvSpPr>
          <p:spPr>
            <a:xfrm>
              <a:off x="0" y="0"/>
              <a:ext cx="12200191" cy="841248"/>
            </a:xfrm>
            <a:custGeom>
              <a:avLst/>
              <a:gdLst/>
              <a:ahLst/>
              <a:cxnLst/>
              <a:rect l="l" t="t" r="r" b="b"/>
              <a:pathLst>
                <a:path w="12200191" h="841248">
                  <a:moveTo>
                    <a:pt x="0" y="0"/>
                  </a:moveTo>
                  <a:lnTo>
                    <a:pt x="12200191" y="0"/>
                  </a:lnTo>
                  <a:lnTo>
                    <a:pt x="12200191" y="841248"/>
                  </a:lnTo>
                  <a:lnTo>
                    <a:pt x="0" y="841248"/>
                  </a:lnTo>
                  <a:close/>
                </a:path>
              </a:pathLst>
            </a:custGeom>
            <a:blipFill>
              <a:blip r:embed="rId3">
                <a:alphaModFix amt="0"/>
              </a:blip>
              <a:stretch>
                <a:fillRect t="-146968" r="30296" b="-146968"/>
              </a:stretch>
            </a:blipFill>
          </p:spPr>
          <p:txBody>
            <a:bodyPr/>
            <a:lstStyle/>
            <a:p>
              <a:endParaRPr lang="en-US"/>
            </a:p>
          </p:txBody>
        </p:sp>
        <mc:AlternateContent xmlns:mc="http://schemas.openxmlformats.org/markup-compatibility/2006" xmlns:a14="http://schemas.microsoft.com/office/drawing/2010/main">
          <mc:Choice Requires="a14">
            <p:sp>
              <p:nvSpPr>
                <p:cNvPr id="58" name="TextBox 58"/>
                <p:cNvSpPr txBox="1"/>
                <p:nvPr/>
              </p:nvSpPr>
              <p:spPr>
                <a:xfrm>
                  <a:off x="0" y="-19050"/>
                  <a:ext cx="12200192" cy="860298"/>
                </a:xfrm>
                <a:prstGeom prst="rect">
                  <a:avLst/>
                </a:prstGeom>
              </p:spPr>
              <p:txBody>
                <a:bodyPr lIns="0" tIns="0" rIns="0" bIns="0" rtlCol="0" anchor="ctr"/>
                <a:lstStyle/>
                <a:p>
                  <a:pPr algn="l">
                    <a:lnSpc>
                      <a:spcPts val="2160"/>
                    </a:lnSpc>
                  </a:pPr>
                  <a14:m>
                    <m:oMath xmlns:m="http://schemas.openxmlformats.org/officeDocument/2006/math">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𝜔</m:t>
                          </m:r>
                        </m:e>
                        <m:sub>
                          <m:r>
                            <a:rPr lang="en-US" sz="1800" b="0" i="1" smtClean="0">
                              <a:solidFill>
                                <a:srgbClr val="B3222A"/>
                              </a:solidFill>
                              <a:latin typeface="Cambria Math" panose="02040503050406030204" pitchFamily="18" charset="0"/>
                              <a:ea typeface="Arial"/>
                              <a:cs typeface="Arial"/>
                              <a:sym typeface="Arial"/>
                            </a:rPr>
                            <m:t>𝑦𝑎𝑤</m:t>
                          </m:r>
                        </m:sub>
                      </m:sSub>
                    </m:oMath>
                  </a14:m>
                  <a:r>
                    <a:rPr lang="en-US" sz="1800">
                      <a:solidFill>
                        <a:srgbClr val="B3222A"/>
                      </a:solidFill>
                      <a:latin typeface="Arial"/>
                      <a:ea typeface="Arial"/>
                      <a:cs typeface="Arial"/>
                      <a:sym typeface="Arial"/>
                    </a:rPr>
                    <a:t> </a:t>
                  </a:r>
                  <a:r>
                    <a:rPr lang="en-US">
                      <a:solidFill>
                        <a:srgbClr val="B3222A"/>
                      </a:solidFill>
                      <a:latin typeface="Arial"/>
                      <a:ea typeface="Arial"/>
                      <a:cs typeface="Arial"/>
                      <a:sym typeface="Arial"/>
                    </a:rPr>
                    <a:t>-</a:t>
                  </a:r>
                  <a:r>
                    <a:rPr lang="en-US" sz="1800">
                      <a:solidFill>
                        <a:srgbClr val="B3222A"/>
                      </a:solidFill>
                      <a:latin typeface="Arial"/>
                      <a:ea typeface="Arial"/>
                      <a:cs typeface="Arial"/>
                      <a:sym typeface="Arial"/>
                    </a:rPr>
                    <a:t> lệnh quay thân drone; </a:t>
                  </a:r>
                  <a14:m>
                    <m:oMath xmlns:m="http://schemas.openxmlformats.org/officeDocument/2006/math">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𝜔</m:t>
                          </m:r>
                        </m:e>
                        <m:sub>
                          <m:r>
                            <a:rPr lang="en-US" sz="1800" b="0" i="1" smtClean="0">
                              <a:solidFill>
                                <a:srgbClr val="B3222A"/>
                              </a:solidFill>
                              <a:latin typeface="Cambria Math" panose="02040503050406030204" pitchFamily="18" charset="0"/>
                              <a:ea typeface="Arial"/>
                              <a:cs typeface="Arial"/>
                              <a:sym typeface="Arial"/>
                            </a:rPr>
                            <m:t>𝐸𝐿</m:t>
                          </m:r>
                        </m:sub>
                      </m:sSub>
                    </m:oMath>
                  </a14:m>
                  <a:r>
                    <a:rPr lang="en-US" sz="1800">
                      <a:solidFill>
                        <a:srgbClr val="B3222A"/>
                      </a:solidFill>
                      <a:latin typeface="Arial"/>
                      <a:ea typeface="Arial"/>
                      <a:cs typeface="Arial"/>
                      <a:sym typeface="Arial"/>
                    </a:rPr>
                    <a:t> — góc gập gimbal</a:t>
                  </a:r>
                </a:p>
              </p:txBody>
            </p:sp>
          </mc:Choice>
          <mc:Fallback xmlns="">
            <p:sp>
              <p:nvSpPr>
                <p:cNvPr id="58" name="TextBox 58"/>
                <p:cNvSpPr txBox="1">
                  <a:spLocks noRot="1" noChangeAspect="1" noMove="1" noResize="1" noEditPoints="1" noAdjustHandles="1" noChangeArrowheads="1" noChangeShapeType="1" noTextEdit="1"/>
                </p:cNvSpPr>
                <p:nvPr/>
              </p:nvSpPr>
              <p:spPr>
                <a:xfrm>
                  <a:off x="0" y="-19050"/>
                  <a:ext cx="12200192" cy="860298"/>
                </a:xfrm>
                <a:prstGeom prst="rect">
                  <a:avLst/>
                </a:prstGeom>
                <a:blipFill>
                  <a:blip r:embed="rId7"/>
                  <a:stretch>
                    <a:fillRect l="-666"/>
                  </a:stretch>
                </a:blipFill>
              </p:spPr>
              <p:txBody>
                <a:bodyPr/>
                <a:lstStyle/>
                <a:p>
                  <a:r>
                    <a:rPr lang="en-US">
                      <a:noFill/>
                    </a:rPr>
                    <a:t> </a:t>
                  </a:r>
                </a:p>
              </p:txBody>
            </p:sp>
          </mc:Fallback>
        </mc:AlternateContent>
      </p:grpSp>
      <p:grpSp>
        <p:nvGrpSpPr>
          <p:cNvPr id="59" name="Group 59"/>
          <p:cNvGrpSpPr/>
          <p:nvPr/>
        </p:nvGrpSpPr>
        <p:grpSpPr>
          <a:xfrm>
            <a:off x="8078152" y="7953427"/>
            <a:ext cx="7626020" cy="645223"/>
            <a:chOff x="0" y="0"/>
            <a:chExt cx="10168026" cy="860298"/>
          </a:xfrm>
        </p:grpSpPr>
        <p:sp>
          <p:nvSpPr>
            <p:cNvPr id="60" name="Freeform 60"/>
            <p:cNvSpPr/>
            <p:nvPr/>
          </p:nvSpPr>
          <p:spPr>
            <a:xfrm>
              <a:off x="0" y="0"/>
              <a:ext cx="10168027" cy="860298"/>
            </a:xfrm>
            <a:custGeom>
              <a:avLst/>
              <a:gdLst/>
              <a:ahLst/>
              <a:cxnLst/>
              <a:rect l="l" t="t" r="r" b="b"/>
              <a:pathLst>
                <a:path w="10168027" h="860298">
                  <a:moveTo>
                    <a:pt x="0" y="130937"/>
                  </a:moveTo>
                  <a:cubicBezTo>
                    <a:pt x="0" y="58674"/>
                    <a:pt x="68528" y="0"/>
                    <a:pt x="152928" y="0"/>
                  </a:cubicBezTo>
                  <a:lnTo>
                    <a:pt x="10015098" y="0"/>
                  </a:lnTo>
                  <a:cubicBezTo>
                    <a:pt x="10099498" y="0"/>
                    <a:pt x="10168027" y="58674"/>
                    <a:pt x="10168027" y="130937"/>
                  </a:cubicBezTo>
                  <a:lnTo>
                    <a:pt x="10168027" y="729361"/>
                  </a:lnTo>
                  <a:cubicBezTo>
                    <a:pt x="10168027" y="801624"/>
                    <a:pt x="10099498" y="860298"/>
                    <a:pt x="10015098" y="860298"/>
                  </a:cubicBezTo>
                  <a:lnTo>
                    <a:pt x="152928" y="860298"/>
                  </a:lnTo>
                  <a:cubicBezTo>
                    <a:pt x="68528" y="860298"/>
                    <a:pt x="0" y="801624"/>
                    <a:pt x="0" y="729361"/>
                  </a:cubicBezTo>
                  <a:close/>
                </a:path>
              </a:pathLst>
            </a:custGeom>
            <a:solidFill>
              <a:srgbClr val="FFFFFF"/>
            </a:solidFill>
            <a:ln w="14288" cap="sq">
              <a:solidFill>
                <a:srgbClr val="D9D9D9"/>
              </a:solidFill>
              <a:prstDash val="solid"/>
              <a:miter/>
            </a:ln>
          </p:spPr>
          <p:txBody>
            <a:bodyPr/>
            <a:lstStyle/>
            <a:p>
              <a:endParaRPr lang="en-US"/>
            </a:p>
          </p:txBody>
        </p:sp>
      </p:grpSp>
      <p:grpSp>
        <p:nvGrpSpPr>
          <p:cNvPr id="61" name="Group 61"/>
          <p:cNvGrpSpPr/>
          <p:nvPr/>
        </p:nvGrpSpPr>
        <p:grpSpPr>
          <a:xfrm>
            <a:off x="8197596" y="7886700"/>
            <a:ext cx="7658116" cy="711951"/>
            <a:chOff x="0" y="-108020"/>
            <a:chExt cx="10210821" cy="949268"/>
          </a:xfrm>
        </p:grpSpPr>
        <p:sp>
          <p:nvSpPr>
            <p:cNvPr id="62" name="Freeform 62"/>
            <p:cNvSpPr/>
            <p:nvPr/>
          </p:nvSpPr>
          <p:spPr>
            <a:xfrm>
              <a:off x="0" y="0"/>
              <a:ext cx="10210821" cy="841248"/>
            </a:xfrm>
            <a:custGeom>
              <a:avLst/>
              <a:gdLst/>
              <a:ahLst/>
              <a:cxnLst/>
              <a:rect l="l" t="t" r="r" b="b"/>
              <a:pathLst>
                <a:path w="10210821" h="841248">
                  <a:moveTo>
                    <a:pt x="0" y="0"/>
                  </a:moveTo>
                  <a:lnTo>
                    <a:pt x="10210821" y="0"/>
                  </a:lnTo>
                  <a:lnTo>
                    <a:pt x="10210821" y="841248"/>
                  </a:lnTo>
                  <a:lnTo>
                    <a:pt x="0" y="841248"/>
                  </a:lnTo>
                  <a:close/>
                </a:path>
              </a:pathLst>
            </a:custGeom>
            <a:blipFill>
              <a:blip r:embed="rId3">
                <a:alphaModFix amt="0"/>
              </a:blip>
              <a:stretch>
                <a:fillRect t="-146968" r="16716" b="-146968"/>
              </a:stretch>
            </a:blipFill>
          </p:spPr>
          <p:txBody>
            <a:bodyPr/>
            <a:lstStyle/>
            <a:p>
              <a:endParaRPr lang="en-US"/>
            </a:p>
          </p:txBody>
        </p:sp>
        <mc:AlternateContent xmlns:mc="http://schemas.openxmlformats.org/markup-compatibility/2006" xmlns:a14="http://schemas.microsoft.com/office/drawing/2010/main">
          <mc:Choice Requires="a14">
            <p:sp>
              <p:nvSpPr>
                <p:cNvPr id="63" name="TextBox 63"/>
                <p:cNvSpPr txBox="1"/>
                <p:nvPr/>
              </p:nvSpPr>
              <p:spPr>
                <a:xfrm>
                  <a:off x="0" y="-108020"/>
                  <a:ext cx="10210821" cy="860299"/>
                </a:xfrm>
                <a:prstGeom prst="rect">
                  <a:avLst/>
                </a:prstGeom>
              </p:spPr>
              <p:txBody>
                <a:bodyPr lIns="0" tIns="0" rIns="0" bIns="0" rtlCol="0" anchor="ctr"/>
                <a:lstStyle/>
                <a:p>
                  <a:pPr algn="l">
                    <a:lnSpc>
                      <a:spcPts val="2160"/>
                    </a:lnSpc>
                  </a:pPr>
                  <a:endParaRPr lang="en-US" sz="1800" b="0" i="1">
                    <a:solidFill>
                      <a:srgbClr val="B3222A"/>
                    </a:solidFill>
                    <a:latin typeface="Cambria Math" panose="02040503050406030204" pitchFamily="18" charset="0"/>
                    <a:ea typeface="Arial"/>
                    <a:cs typeface="Arial"/>
                    <a:sym typeface="Arial"/>
                  </a:endParaRPr>
                </a:p>
                <a:p>
                  <a:pPr algn="l">
                    <a:lnSpc>
                      <a:spcPts val="2160"/>
                    </a:lnSpc>
                  </a:pPr>
                  <a14:m>
                    <m:oMathPara xmlns:m="http://schemas.openxmlformats.org/officeDocument/2006/math">
                      <m:oMath>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𝜔</m:t>
                            </m:r>
                          </m:e>
                          <m:sub>
                            <m:r>
                              <a:rPr lang="en-US" sz="1800" b="0" i="1" smtClean="0">
                                <a:solidFill>
                                  <a:srgbClr val="B3222A"/>
                                </a:solidFill>
                                <a:latin typeface="Cambria Math" panose="02040503050406030204" pitchFamily="18" charset="0"/>
                                <a:ea typeface="Arial"/>
                                <a:cs typeface="Arial"/>
                                <a:sym typeface="Arial"/>
                              </a:rPr>
                              <m:t>𝑦𝑎𝑤</m:t>
                            </m:r>
                            <m:r>
                              <a:rPr lang="en-US" sz="1800" b="0" i="1" smtClean="0">
                                <a:solidFill>
                                  <a:srgbClr val="B3222A"/>
                                </a:solidFill>
                                <a:latin typeface="Cambria Math" panose="02040503050406030204" pitchFamily="18" charset="0"/>
                                <a:ea typeface="Arial"/>
                                <a:cs typeface="Arial"/>
                                <a:sym typeface="Arial"/>
                              </a:rPr>
                              <m:t> </m:t>
                            </m:r>
                          </m:sub>
                        </m:sSub>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𝜔</m:t>
                            </m:r>
                          </m:e>
                          <m:sub>
                            <m:r>
                              <a:rPr lang="en-US" sz="1800" b="0" i="1" smtClean="0">
                                <a:solidFill>
                                  <a:srgbClr val="B3222A"/>
                                </a:solidFill>
                                <a:latin typeface="Cambria Math" panose="02040503050406030204" pitchFamily="18" charset="0"/>
                                <a:ea typeface="Arial"/>
                                <a:cs typeface="Arial"/>
                                <a:sym typeface="Arial"/>
                              </a:rPr>
                              <m:t>𝑑𝑟𝑜𝑛𝑒</m:t>
                            </m:r>
                          </m:sub>
                        </m:sSub>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𝐾</m:t>
                            </m:r>
                          </m:e>
                          <m:sub>
                            <m:r>
                              <a:rPr lang="en-US" sz="1800" b="0" i="1" smtClean="0">
                                <a:solidFill>
                                  <a:srgbClr val="B3222A"/>
                                </a:solidFill>
                                <a:latin typeface="Cambria Math" panose="02040503050406030204" pitchFamily="18" charset="0"/>
                                <a:ea typeface="Arial"/>
                                <a:cs typeface="Arial"/>
                                <a:sym typeface="Arial"/>
                              </a:rPr>
                              <m:t>𝑦𝑎𝑤</m:t>
                            </m:r>
                          </m:sub>
                        </m:sSub>
                        <m:r>
                          <a:rPr lang="en-US" sz="1800" b="0" i="1" smtClean="0">
                            <a:solidFill>
                              <a:srgbClr val="B3222A"/>
                            </a:solidFill>
                            <a:latin typeface="Cambria Math" panose="02040503050406030204" pitchFamily="18" charset="0"/>
                            <a:ea typeface="Arial"/>
                            <a:cs typeface="Arial"/>
                            <a:sym typeface="Arial"/>
                          </a:rPr>
                          <m:t>.</m:t>
                        </m:r>
                        <m:f>
                          <m:fPr>
                            <m:ctrlPr>
                              <a:rPr lang="en-US" sz="1800" b="0" i="1" smtClean="0">
                                <a:solidFill>
                                  <a:srgbClr val="B3222A"/>
                                </a:solidFill>
                                <a:latin typeface="Cambria Math" panose="02040503050406030204" pitchFamily="18" charset="0"/>
                                <a:ea typeface="Arial"/>
                                <a:cs typeface="Arial"/>
                                <a:sym typeface="Arial"/>
                              </a:rPr>
                            </m:ctrlPr>
                          </m:fPr>
                          <m:num>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𝑒</m:t>
                                </m:r>
                              </m:e>
                              <m:sub>
                                <m:r>
                                  <a:rPr lang="en-US" sz="1800" b="0" i="1" smtClean="0">
                                    <a:solidFill>
                                      <a:srgbClr val="B3222A"/>
                                    </a:solidFill>
                                    <a:latin typeface="Cambria Math" panose="02040503050406030204" pitchFamily="18" charset="0"/>
                                    <a:ea typeface="Arial"/>
                                    <a:cs typeface="Arial"/>
                                    <a:sym typeface="Arial"/>
                                  </a:rPr>
                                  <m:t>𝑢</m:t>
                                </m:r>
                              </m:sub>
                            </m:sSub>
                          </m:num>
                          <m:den>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𝑓</m:t>
                                </m:r>
                              </m:e>
                              <m:sub>
                                <m:r>
                                  <a:rPr lang="en-US" sz="1800" b="0" i="1" smtClean="0">
                                    <a:solidFill>
                                      <a:srgbClr val="B3222A"/>
                                    </a:solidFill>
                                    <a:latin typeface="Cambria Math" panose="02040503050406030204" pitchFamily="18" charset="0"/>
                                    <a:ea typeface="Arial"/>
                                    <a:cs typeface="Arial"/>
                                    <a:sym typeface="Arial"/>
                                  </a:rPr>
                                  <m:t>𝑥</m:t>
                                </m:r>
                              </m:sub>
                            </m:sSub>
                          </m:den>
                        </m:f>
                        <m:r>
                          <a:rPr lang="en-US" sz="1800" b="0" i="1" smtClean="0">
                            <a:solidFill>
                              <a:srgbClr val="B3222A"/>
                            </a:solidFill>
                            <a:latin typeface="Cambria Math" panose="02040503050406030204" pitchFamily="18" charset="0"/>
                            <a:ea typeface="Arial"/>
                            <a:cs typeface="Arial"/>
                            <a:sym typeface="Arial"/>
                          </a:rPr>
                          <m:t>+</m:t>
                        </m:r>
                        <m:d>
                          <m:dPr>
                            <m:begChr m:val="["/>
                            <m:endChr m:val="]"/>
                            <m:ctrlPr>
                              <a:rPr lang="en-US" sz="1800" b="0" i="1" smtClean="0">
                                <a:solidFill>
                                  <a:srgbClr val="B3222A"/>
                                </a:solidFill>
                                <a:latin typeface="Cambria Math" panose="02040503050406030204" pitchFamily="18" charset="0"/>
                                <a:ea typeface="Arial"/>
                                <a:cs typeface="Arial"/>
                                <a:sym typeface="Arial"/>
                              </a:rPr>
                            </m:ctrlPr>
                          </m:dPr>
                          <m:e>
                            <m:f>
                              <m:fPr>
                                <m:ctrlPr>
                                  <a:rPr lang="en-US" sz="1800" b="0" i="1" smtClean="0">
                                    <a:solidFill>
                                      <a:srgbClr val="B3222A"/>
                                    </a:solidFill>
                                    <a:latin typeface="Cambria Math" panose="02040503050406030204" pitchFamily="18" charset="0"/>
                                    <a:ea typeface="Arial"/>
                                    <a:cs typeface="Arial"/>
                                    <a:sym typeface="Arial"/>
                                  </a:rPr>
                                </m:ctrlPr>
                              </m:fPr>
                              <m:num>
                                <m:r>
                                  <a:rPr lang="en-US" sz="1800" b="0" i="1" smtClean="0">
                                    <a:solidFill>
                                      <a:srgbClr val="B3222A"/>
                                    </a:solidFill>
                                    <a:latin typeface="Cambria Math" panose="02040503050406030204" pitchFamily="18" charset="0"/>
                                    <a:ea typeface="Arial"/>
                                    <a:cs typeface="Arial"/>
                                    <a:sym typeface="Arial"/>
                                  </a:rPr>
                                  <m:t>−∆</m:t>
                                </m:r>
                                <m:r>
                                  <m:rPr>
                                    <m:sty m:val="p"/>
                                  </m:rPr>
                                  <a:rPr lang="en-US" sz="1800" b="0" i="0" smtClean="0">
                                    <a:solidFill>
                                      <a:srgbClr val="B3222A"/>
                                    </a:solidFill>
                                    <a:latin typeface="Cambria Math" panose="02040503050406030204" pitchFamily="18" charset="0"/>
                                    <a:ea typeface="Arial"/>
                                    <a:cs typeface="Arial"/>
                                    <a:sym typeface="Arial"/>
                                  </a:rPr>
                                  <m:t>y</m:t>
                                </m:r>
                                <m:r>
                                  <a:rPr lang="en-US" sz="1800" b="0" i="0" smtClean="0">
                                    <a:solidFill>
                                      <a:srgbClr val="B3222A"/>
                                    </a:solidFill>
                                    <a:latin typeface="Cambria Math" panose="02040503050406030204" pitchFamily="18" charset="0"/>
                                    <a:ea typeface="Arial"/>
                                    <a:cs typeface="Arial"/>
                                    <a:sym typeface="Arial"/>
                                  </a:rPr>
                                  <m:t>.</m:t>
                                </m:r>
                                <m:sSub>
                                  <m:sSubPr>
                                    <m:ctrlPr>
                                      <a:rPr lang="en-US" sz="1800" b="0" i="0" smtClean="0">
                                        <a:solidFill>
                                          <a:srgbClr val="B3222A"/>
                                        </a:solidFill>
                                        <a:latin typeface="Cambria Math" panose="02040503050406030204" pitchFamily="18" charset="0"/>
                                        <a:ea typeface="Arial"/>
                                        <a:cs typeface="Arial"/>
                                        <a:sym typeface="Arial"/>
                                      </a:rPr>
                                    </m:ctrlPr>
                                  </m:sSubPr>
                                  <m:e>
                                    <m:r>
                                      <m:rPr>
                                        <m:sty m:val="p"/>
                                      </m:rPr>
                                      <a:rPr lang="en-US" sz="1800" b="0" i="0" smtClean="0">
                                        <a:solidFill>
                                          <a:srgbClr val="B3222A"/>
                                        </a:solidFill>
                                        <a:latin typeface="Cambria Math" panose="02040503050406030204" pitchFamily="18" charset="0"/>
                                        <a:ea typeface="Arial"/>
                                        <a:cs typeface="Arial"/>
                                        <a:sym typeface="Arial"/>
                                      </a:rPr>
                                      <m:t>v</m:t>
                                    </m:r>
                                  </m:e>
                                  <m:sub>
                                    <m:r>
                                      <a:rPr lang="en-US" sz="1800" b="0" i="1" smtClean="0">
                                        <a:solidFill>
                                          <a:srgbClr val="B3222A"/>
                                        </a:solidFill>
                                        <a:latin typeface="Cambria Math" panose="02040503050406030204" pitchFamily="18" charset="0"/>
                                        <a:ea typeface="Arial"/>
                                        <a:cs typeface="Arial"/>
                                        <a:sym typeface="Arial"/>
                                      </a:rPr>
                                      <m:t>𝑥𝑡</m:t>
                                    </m:r>
                                  </m:sub>
                                </m:sSub>
                                <m:r>
                                  <a:rPr lang="en-US" sz="1800" b="0" i="1" smtClean="0">
                                    <a:solidFill>
                                      <a:srgbClr val="B3222A"/>
                                    </a:solidFill>
                                    <a:latin typeface="Cambria Math" panose="02040503050406030204" pitchFamily="18" charset="0"/>
                                    <a:ea typeface="Arial"/>
                                    <a:cs typeface="Arial"/>
                                    <a:sym typeface="Arial"/>
                                  </a:rPr>
                                  <m:t>+∆</m:t>
                                </m:r>
                                <m:r>
                                  <a:rPr lang="en-US" sz="1800" b="0" i="1" smtClean="0">
                                    <a:solidFill>
                                      <a:srgbClr val="B3222A"/>
                                    </a:solidFill>
                                    <a:latin typeface="Cambria Math" panose="02040503050406030204" pitchFamily="18" charset="0"/>
                                    <a:ea typeface="Arial"/>
                                    <a:cs typeface="Arial"/>
                                    <a:sym typeface="Arial"/>
                                  </a:rPr>
                                  <m:t>𝑥</m:t>
                                </m:r>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𝑣</m:t>
                                    </m:r>
                                  </m:e>
                                  <m:sub>
                                    <m:r>
                                      <a:rPr lang="en-US" sz="1800" b="0" i="1" smtClean="0">
                                        <a:solidFill>
                                          <a:srgbClr val="B3222A"/>
                                        </a:solidFill>
                                        <a:latin typeface="Cambria Math" panose="02040503050406030204" pitchFamily="18" charset="0"/>
                                        <a:ea typeface="Arial"/>
                                        <a:cs typeface="Arial"/>
                                        <a:sym typeface="Arial"/>
                                      </a:rPr>
                                      <m:t>𝑦𝑡</m:t>
                                    </m:r>
                                  </m:sub>
                                </m:sSub>
                              </m:num>
                              <m:den>
                                <m:sSubSup>
                                  <m:sSubSupPr>
                                    <m:ctrlPr>
                                      <a:rPr lang="en-US" sz="1800" b="0" i="1" smtClean="0">
                                        <a:solidFill>
                                          <a:srgbClr val="B3222A"/>
                                        </a:solidFill>
                                        <a:latin typeface="Cambria Math" panose="02040503050406030204" pitchFamily="18" charset="0"/>
                                        <a:ea typeface="Arial"/>
                                        <a:cs typeface="Arial"/>
                                        <a:sym typeface="Arial"/>
                                      </a:rPr>
                                    </m:ctrlPr>
                                  </m:sSubSupPr>
                                  <m:e>
                                    <m:r>
                                      <a:rPr lang="en-US" sz="1800" b="0" i="1" smtClean="0">
                                        <a:solidFill>
                                          <a:srgbClr val="B3222A"/>
                                        </a:solidFill>
                                        <a:latin typeface="Cambria Math" panose="02040503050406030204" pitchFamily="18" charset="0"/>
                                        <a:ea typeface="Arial"/>
                                        <a:cs typeface="Arial"/>
                                        <a:sym typeface="Arial"/>
                                      </a:rPr>
                                      <m:t>𝑑</m:t>
                                    </m:r>
                                  </m:e>
                                  <m:sub>
                                    <m:r>
                                      <a:rPr lang="en-US" sz="1800" b="0" i="1" smtClean="0">
                                        <a:solidFill>
                                          <a:srgbClr val="B3222A"/>
                                        </a:solidFill>
                                        <a:latin typeface="Cambria Math" panose="02040503050406030204" pitchFamily="18" charset="0"/>
                                        <a:ea typeface="Arial"/>
                                        <a:cs typeface="Arial"/>
                                        <a:sym typeface="Arial"/>
                                      </a:rPr>
                                      <m:t>𝑥𝑦</m:t>
                                    </m:r>
                                  </m:sub>
                                  <m:sup>
                                    <m:r>
                                      <a:rPr lang="en-US" sz="1800" b="0" i="1" smtClean="0">
                                        <a:solidFill>
                                          <a:srgbClr val="B3222A"/>
                                        </a:solidFill>
                                        <a:latin typeface="Cambria Math" panose="02040503050406030204" pitchFamily="18" charset="0"/>
                                        <a:ea typeface="Arial"/>
                                        <a:cs typeface="Arial"/>
                                        <a:sym typeface="Arial"/>
                                      </a:rPr>
                                      <m:t>2</m:t>
                                    </m:r>
                                  </m:sup>
                                </m:sSubSup>
                              </m:den>
                            </m:f>
                          </m:e>
                        </m:d>
                        <m:r>
                          <a:rPr lang="en-US" sz="1800" b="0" i="1" smtClean="0">
                            <a:solidFill>
                              <a:srgbClr val="B3222A"/>
                            </a:solidFill>
                            <a:latin typeface="Cambria Math" panose="02040503050406030204" pitchFamily="18" charset="0"/>
                            <a:ea typeface="Arial"/>
                            <a:cs typeface="Arial"/>
                            <a:sym typeface="Arial"/>
                          </a:rPr>
                          <m:t>∆</m:t>
                        </m:r>
                        <m:r>
                          <a:rPr lang="en-US" sz="1800" b="0" i="1" smtClean="0">
                            <a:solidFill>
                              <a:srgbClr val="B3222A"/>
                            </a:solidFill>
                            <a:latin typeface="Cambria Math" panose="02040503050406030204" pitchFamily="18" charset="0"/>
                            <a:ea typeface="Arial"/>
                            <a:cs typeface="Arial"/>
                            <a:sym typeface="Arial"/>
                          </a:rPr>
                          <m:t>𝑡</m:t>
                        </m:r>
                      </m:oMath>
                    </m:oMathPara>
                  </a14:m>
                  <a:endParaRPr lang="en-US" sz="1800">
                    <a:solidFill>
                      <a:srgbClr val="B3222A"/>
                    </a:solidFill>
                    <a:latin typeface="Arial"/>
                    <a:ea typeface="Arial"/>
                    <a:cs typeface="Arial"/>
                    <a:sym typeface="Arial"/>
                  </a:endParaRPr>
                </a:p>
              </p:txBody>
            </p:sp>
          </mc:Choice>
          <mc:Fallback xmlns="">
            <p:sp>
              <p:nvSpPr>
                <p:cNvPr id="63" name="TextBox 63"/>
                <p:cNvSpPr txBox="1">
                  <a:spLocks noRot="1" noChangeAspect="1" noMove="1" noResize="1" noEditPoints="1" noAdjustHandles="1" noChangeArrowheads="1" noChangeShapeType="1" noTextEdit="1"/>
                </p:cNvSpPr>
                <p:nvPr/>
              </p:nvSpPr>
              <p:spPr>
                <a:xfrm>
                  <a:off x="0" y="-108020"/>
                  <a:ext cx="10210821" cy="860299"/>
                </a:xfrm>
                <a:prstGeom prst="rect">
                  <a:avLst/>
                </a:prstGeom>
                <a:blipFill>
                  <a:blip r:embed="rId8"/>
                  <a:stretch>
                    <a:fillRect b="-1698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4"/>
              <p:cNvSpPr txBox="1"/>
              <p:nvPr/>
            </p:nvSpPr>
            <p:spPr>
              <a:xfrm>
                <a:off x="14607540" y="5807135"/>
                <a:ext cx="2002274" cy="218008"/>
              </a:xfrm>
              <a:prstGeom prst="rect">
                <a:avLst/>
              </a:prstGeom>
            </p:spPr>
            <p:txBody>
              <a:bodyPr lIns="0" tIns="0" rIns="0" bIns="0" rtlCol="0" anchor="t">
                <a:spAutoFit/>
              </a:bodyPr>
              <a:lstStyle/>
              <a:p>
                <a:pPr algn="ctr">
                  <a:lnSpc>
                    <a:spcPts val="1709"/>
                  </a:lnSpc>
                  <a:spcBef>
                    <a:spcPct val="0"/>
                  </a:spcBef>
                </a:pPr>
                <a14:m>
                  <m:oMathPara xmlns:m="http://schemas.openxmlformats.org/officeDocument/2006/math">
                    <m:oMath>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𝑒</m:t>
                          </m:r>
                        </m:e>
                        <m:sub>
                          <m:r>
                            <a:rPr lang="en-US" sz="1425" b="0" i="1" smtClean="0">
                              <a:solidFill>
                                <a:srgbClr val="000000"/>
                              </a:solidFill>
                              <a:latin typeface="Cambria Math" panose="02040503050406030204" pitchFamily="18" charset="0"/>
                              <a:ea typeface="Arial"/>
                              <a:cs typeface="Arial"/>
                              <a:sym typeface="Arial"/>
                            </a:rPr>
                            <m:t>𝑢</m:t>
                          </m:r>
                        </m:sub>
                      </m:sSub>
                      <m:r>
                        <a:rPr lang="en-US" sz="1425" b="0" i="1" smtClean="0">
                          <a:solidFill>
                            <a:srgbClr val="000000"/>
                          </a:solidFill>
                          <a:latin typeface="Cambria Math" panose="02040503050406030204" pitchFamily="18" charset="0"/>
                          <a:ea typeface="Arial"/>
                          <a:cs typeface="Arial"/>
                          <a:sym typeface="Arial"/>
                        </a:rPr>
                        <m:t>=</m:t>
                      </m:r>
                      <m:r>
                        <a:rPr lang="en-US" sz="1425" b="0" i="1" smtClean="0">
                          <a:solidFill>
                            <a:srgbClr val="000000"/>
                          </a:solidFill>
                          <a:latin typeface="Cambria Math" panose="02040503050406030204" pitchFamily="18" charset="0"/>
                          <a:ea typeface="Arial"/>
                          <a:cs typeface="Arial"/>
                          <a:sym typeface="Arial"/>
                        </a:rPr>
                        <m:t>𝑢</m:t>
                      </m:r>
                      <m:r>
                        <a:rPr lang="en-US" sz="1425" b="0" i="1" smtClean="0">
                          <a:solidFill>
                            <a:srgbClr val="000000"/>
                          </a:solidFill>
                          <a:latin typeface="Cambria Math" panose="02040503050406030204" pitchFamily="18" charset="0"/>
                          <a:ea typeface="Arial"/>
                          <a:cs typeface="Arial"/>
                          <a:sym typeface="Arial"/>
                        </a:rPr>
                        <m:t>−</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𝑢</m:t>
                          </m:r>
                        </m:e>
                        <m:sub>
                          <m:r>
                            <a:rPr lang="en-US" sz="1425" b="0" i="1" smtClean="0">
                              <a:solidFill>
                                <a:srgbClr val="000000"/>
                              </a:solidFill>
                              <a:latin typeface="Cambria Math" panose="02040503050406030204" pitchFamily="18" charset="0"/>
                              <a:ea typeface="Arial"/>
                              <a:cs typeface="Arial"/>
                              <a:sym typeface="Arial"/>
                            </a:rPr>
                            <m:t>0</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𝑒</m:t>
                          </m:r>
                        </m:e>
                        <m:sub>
                          <m:r>
                            <a:rPr lang="en-US" sz="1425" b="0" i="1" smtClean="0">
                              <a:solidFill>
                                <a:srgbClr val="000000"/>
                              </a:solidFill>
                              <a:latin typeface="Cambria Math" panose="02040503050406030204" pitchFamily="18" charset="0"/>
                              <a:ea typeface="Arial"/>
                              <a:cs typeface="Arial"/>
                              <a:sym typeface="Arial"/>
                            </a:rPr>
                            <m:t>𝑣</m:t>
                          </m:r>
                        </m:sub>
                      </m:sSub>
                      <m:r>
                        <a:rPr lang="en-US" sz="1425" b="0" i="1" smtClean="0">
                          <a:solidFill>
                            <a:srgbClr val="000000"/>
                          </a:solidFill>
                          <a:latin typeface="Cambria Math" panose="02040503050406030204" pitchFamily="18" charset="0"/>
                          <a:ea typeface="Arial"/>
                          <a:cs typeface="Arial"/>
                          <a:sym typeface="Arial"/>
                        </a:rPr>
                        <m:t>=</m:t>
                      </m:r>
                      <m:r>
                        <a:rPr lang="en-US" sz="1425" b="0" i="1" smtClean="0">
                          <a:solidFill>
                            <a:srgbClr val="000000"/>
                          </a:solidFill>
                          <a:latin typeface="Cambria Math" panose="02040503050406030204" pitchFamily="18" charset="0"/>
                          <a:ea typeface="Arial"/>
                          <a:cs typeface="Arial"/>
                          <a:sym typeface="Arial"/>
                        </a:rPr>
                        <m:t>𝑣</m:t>
                      </m:r>
                      <m:r>
                        <a:rPr lang="en-US" sz="1425" b="0" i="1" smtClean="0">
                          <a:solidFill>
                            <a:srgbClr val="000000"/>
                          </a:solidFill>
                          <a:latin typeface="Cambria Math" panose="02040503050406030204" pitchFamily="18" charset="0"/>
                          <a:ea typeface="Arial"/>
                          <a:cs typeface="Arial"/>
                          <a:sym typeface="Arial"/>
                        </a:rPr>
                        <m:t>−</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𝑣</m:t>
                          </m:r>
                        </m:e>
                        <m:sub>
                          <m:r>
                            <a:rPr lang="en-US" sz="1425" b="0" i="1" smtClean="0">
                              <a:solidFill>
                                <a:srgbClr val="000000"/>
                              </a:solidFill>
                              <a:latin typeface="Cambria Math" panose="02040503050406030204" pitchFamily="18" charset="0"/>
                              <a:ea typeface="Arial"/>
                              <a:cs typeface="Arial"/>
                              <a:sym typeface="Arial"/>
                            </a:rPr>
                            <m:t>0</m:t>
                          </m:r>
                        </m:sub>
                      </m:sSub>
                    </m:oMath>
                  </m:oMathPara>
                </a14:m>
                <a:endParaRPr lang="en-US" sz="1425">
                  <a:solidFill>
                    <a:srgbClr val="000000"/>
                  </a:solidFill>
                  <a:latin typeface="Arial"/>
                  <a:ea typeface="Arial"/>
                  <a:cs typeface="Arial"/>
                  <a:sym typeface="Arial"/>
                </a:endParaRPr>
              </a:p>
            </p:txBody>
          </p:sp>
        </mc:Choice>
        <mc:Fallback xmlns="">
          <p:sp>
            <p:nvSpPr>
              <p:cNvPr id="64" name="TextBox 64"/>
              <p:cNvSpPr txBox="1">
                <a:spLocks noRot="1" noChangeAspect="1" noMove="1" noResize="1" noEditPoints="1" noAdjustHandles="1" noChangeArrowheads="1" noChangeShapeType="1" noTextEdit="1"/>
              </p:cNvSpPr>
              <p:nvPr/>
            </p:nvSpPr>
            <p:spPr>
              <a:xfrm>
                <a:off x="14607540" y="5807135"/>
                <a:ext cx="2002274" cy="218008"/>
              </a:xfrm>
              <a:prstGeom prst="rect">
                <a:avLst/>
              </a:prstGeom>
              <a:blipFill>
                <a:blip r:embed="rId9"/>
                <a:stretch>
                  <a:fillRect l="-912" b="-20000"/>
                </a:stretch>
              </a:blipFill>
            </p:spPr>
            <p:txBody>
              <a:bodyPr/>
              <a:lstStyle/>
              <a:p>
                <a:r>
                  <a:rPr lang="en-US">
                    <a:noFill/>
                  </a:rPr>
                  <a:t> </a:t>
                </a:r>
              </a:p>
            </p:txBody>
          </p:sp>
        </mc:Fallback>
      </mc:AlternateContent>
      <p:sp>
        <p:nvSpPr>
          <p:cNvPr id="65" name="TextBox 65"/>
          <p:cNvSpPr txBox="1"/>
          <p:nvPr/>
        </p:nvSpPr>
        <p:spPr>
          <a:xfrm>
            <a:off x="10438623" y="5807135"/>
            <a:ext cx="4254781" cy="241703"/>
          </a:xfrm>
          <a:prstGeom prst="rect">
            <a:avLst/>
          </a:prstGeom>
        </p:spPr>
        <p:txBody>
          <a:bodyPr lIns="0" tIns="0" rIns="0" bIns="0" rtlCol="0" anchor="t">
            <a:spAutoFit/>
          </a:bodyPr>
          <a:lstStyle/>
          <a:p>
            <a:pPr algn="ctr">
              <a:lnSpc>
                <a:spcPts val="1816"/>
              </a:lnSpc>
              <a:spcBef>
                <a:spcPct val="0"/>
              </a:spcBef>
            </a:pPr>
            <a:r>
              <a:rPr lang="en-US" sz="1514">
                <a:solidFill>
                  <a:srgbClr val="000000"/>
                </a:solidFill>
                <a:latin typeface="Arial"/>
                <a:ea typeface="Arial"/>
                <a:cs typeface="Arial"/>
                <a:sym typeface="Arial"/>
              </a:rPr>
              <a:t>Sai số pixel giữa mục tiêu và tâm khung ảnh:</a:t>
            </a:r>
          </a:p>
        </p:txBody>
      </p:sp>
      <mc:AlternateContent xmlns:mc="http://schemas.openxmlformats.org/markup-compatibility/2006" xmlns:a14="http://schemas.microsoft.com/office/drawing/2010/main">
        <mc:Choice Requires="a14">
          <p:sp>
            <p:nvSpPr>
              <p:cNvPr id="66" name="TextBox 66"/>
              <p:cNvSpPr txBox="1"/>
              <p:nvPr/>
            </p:nvSpPr>
            <p:spPr>
              <a:xfrm>
                <a:off x="10554352" y="6108778"/>
                <a:ext cx="2760160" cy="218008"/>
              </a:xfrm>
              <a:prstGeom prst="rect">
                <a:avLst/>
              </a:prstGeom>
            </p:spPr>
            <p:txBody>
              <a:bodyPr wrap="square" lIns="0" tIns="0" rIns="0" bIns="0" rtlCol="0" anchor="t">
                <a:spAutoFit/>
              </a:bodyPr>
              <a:lstStyle/>
              <a:p>
                <a:pPr algn="ctr">
                  <a:lnSpc>
                    <a:spcPts val="1709"/>
                  </a:lnSpc>
                  <a:spcBef>
                    <a:spcPct val="0"/>
                  </a:spcBef>
                </a:pPr>
                <a:r>
                  <a:rPr lang="en-US" sz="1425">
                    <a:solidFill>
                      <a:srgbClr val="000000"/>
                    </a:solidFill>
                    <a:latin typeface="Arial"/>
                    <a:ea typeface="Arial"/>
                    <a:cs typeface="Arial"/>
                    <a:sym typeface="Arial"/>
                  </a:rPr>
                  <a:t>Vị trí 3D từ EKF </a:t>
                </a:r>
                <a14:m>
                  <m:oMath xmlns:m="http://schemas.openxmlformats.org/officeDocument/2006/math">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𝑃</m:t>
                        </m:r>
                      </m:e>
                      <m:sub>
                        <m:r>
                          <a:rPr lang="en-US" sz="1425" b="0" i="1" smtClean="0">
                            <a:solidFill>
                              <a:srgbClr val="000000"/>
                            </a:solidFill>
                            <a:latin typeface="Cambria Math" panose="02040503050406030204" pitchFamily="18" charset="0"/>
                            <a:ea typeface="Arial"/>
                            <a:cs typeface="Arial"/>
                            <a:sym typeface="Arial"/>
                          </a:rPr>
                          <m:t>𝑡</m:t>
                        </m:r>
                      </m:sub>
                    </m:sSub>
                    <m:r>
                      <a:rPr lang="en-US" sz="1425" b="0" i="1" smtClean="0">
                        <a:solidFill>
                          <a:srgbClr val="000000"/>
                        </a:solidFill>
                        <a:latin typeface="Cambria Math" panose="02040503050406030204" pitchFamily="18" charset="0"/>
                        <a:ea typeface="Arial"/>
                        <a:cs typeface="Arial"/>
                        <a:sym typeface="Arial"/>
                      </a:rPr>
                      <m:t>=</m:t>
                    </m:r>
                    <m:sSup>
                      <m:sSupPr>
                        <m:ctrlPr>
                          <a:rPr lang="en-US" sz="1425" b="0" i="1" smtClean="0">
                            <a:solidFill>
                              <a:srgbClr val="000000"/>
                            </a:solidFill>
                            <a:latin typeface="Cambria Math" panose="02040503050406030204" pitchFamily="18" charset="0"/>
                            <a:ea typeface="Arial"/>
                            <a:cs typeface="Arial"/>
                            <a:sym typeface="Arial"/>
                          </a:rPr>
                        </m:ctrlPr>
                      </m:sSupPr>
                      <m:e>
                        <m:d>
                          <m:dPr>
                            <m:begChr m:val="["/>
                            <m:endChr m:val="]"/>
                            <m:ctrlPr>
                              <a:rPr lang="en-US" sz="1425" b="0" i="1" smtClean="0">
                                <a:solidFill>
                                  <a:srgbClr val="000000"/>
                                </a:solidFill>
                                <a:latin typeface="Cambria Math" panose="02040503050406030204" pitchFamily="18" charset="0"/>
                                <a:ea typeface="Arial"/>
                                <a:cs typeface="Arial"/>
                                <a:sym typeface="Arial"/>
                              </a:rPr>
                            </m:ctrlPr>
                          </m:dPr>
                          <m:e>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𝑥</m:t>
                                </m:r>
                              </m:e>
                              <m:sub>
                                <m:r>
                                  <a:rPr lang="en-US" sz="1425" b="0" i="1" smtClean="0">
                                    <a:solidFill>
                                      <a:srgbClr val="000000"/>
                                    </a:solidFill>
                                    <a:latin typeface="Cambria Math" panose="02040503050406030204" pitchFamily="18" charset="0"/>
                                    <a:ea typeface="Arial"/>
                                    <a:cs typeface="Arial"/>
                                    <a:sym typeface="Arial"/>
                                  </a:rPr>
                                  <m:t>𝑡</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𝑦</m:t>
                                </m:r>
                              </m:e>
                              <m:sub>
                                <m:r>
                                  <a:rPr lang="en-US" sz="1425" b="0" i="1" smtClean="0">
                                    <a:solidFill>
                                      <a:srgbClr val="000000"/>
                                    </a:solidFill>
                                    <a:latin typeface="Cambria Math" panose="02040503050406030204" pitchFamily="18" charset="0"/>
                                    <a:ea typeface="Arial"/>
                                    <a:cs typeface="Arial"/>
                                    <a:sym typeface="Arial"/>
                                  </a:rPr>
                                  <m:t>𝑡</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𝑧</m:t>
                                </m:r>
                              </m:e>
                              <m:sub>
                                <m:r>
                                  <a:rPr lang="en-US" sz="1425" b="0" i="1" smtClean="0">
                                    <a:solidFill>
                                      <a:srgbClr val="000000"/>
                                    </a:solidFill>
                                    <a:latin typeface="Cambria Math" panose="02040503050406030204" pitchFamily="18" charset="0"/>
                                    <a:ea typeface="Arial"/>
                                    <a:cs typeface="Arial"/>
                                    <a:sym typeface="Arial"/>
                                  </a:rPr>
                                  <m:t>𝑡</m:t>
                                </m:r>
                              </m:sub>
                            </m:sSub>
                          </m:e>
                        </m:d>
                      </m:e>
                      <m:sup>
                        <m:r>
                          <a:rPr lang="en-US" sz="1425" b="0" i="1" smtClean="0">
                            <a:solidFill>
                              <a:srgbClr val="000000"/>
                            </a:solidFill>
                            <a:latin typeface="Cambria Math" panose="02040503050406030204" pitchFamily="18" charset="0"/>
                            <a:ea typeface="Arial"/>
                            <a:cs typeface="Arial"/>
                            <a:sym typeface="Arial"/>
                          </a:rPr>
                          <m:t>𝑇</m:t>
                        </m:r>
                      </m:sup>
                    </m:sSup>
                  </m:oMath>
                </a14:m>
                <a:endParaRPr lang="en-US" sz="1425">
                  <a:solidFill>
                    <a:srgbClr val="000000"/>
                  </a:solidFill>
                  <a:latin typeface="Arial"/>
                  <a:ea typeface="Arial"/>
                  <a:cs typeface="Arial"/>
                  <a:sym typeface="Arial"/>
                </a:endParaRPr>
              </a:p>
            </p:txBody>
          </p:sp>
        </mc:Choice>
        <mc:Fallback xmlns="">
          <p:sp>
            <p:nvSpPr>
              <p:cNvPr id="66" name="TextBox 66"/>
              <p:cNvSpPr txBox="1">
                <a:spLocks noRot="1" noChangeAspect="1" noMove="1" noResize="1" noEditPoints="1" noAdjustHandles="1" noChangeArrowheads="1" noChangeShapeType="1" noTextEdit="1"/>
              </p:cNvSpPr>
              <p:nvPr/>
            </p:nvSpPr>
            <p:spPr>
              <a:xfrm>
                <a:off x="10554352" y="6108778"/>
                <a:ext cx="2760160" cy="218008"/>
              </a:xfrm>
              <a:prstGeom prst="rect">
                <a:avLst/>
              </a:prstGeom>
              <a:blipFill>
                <a:blip r:embed="rId10"/>
                <a:stretch>
                  <a:fillRect l="-442" t="-25000" b="-5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7"/>
              <p:cNvSpPr txBox="1"/>
              <p:nvPr/>
            </p:nvSpPr>
            <p:spPr>
              <a:xfrm>
                <a:off x="10633818" y="6401519"/>
                <a:ext cx="3620810" cy="226537"/>
              </a:xfrm>
              <a:prstGeom prst="rect">
                <a:avLst/>
              </a:prstGeom>
            </p:spPr>
            <p:txBody>
              <a:bodyPr lIns="0" tIns="0" rIns="0" bIns="0" rtlCol="0" anchor="t">
                <a:spAutoFit/>
              </a:bodyPr>
              <a:lstStyle/>
              <a:p>
                <a:pPr>
                  <a:lnSpc>
                    <a:spcPts val="1709"/>
                  </a:lnSpc>
                  <a:spcBef>
                    <a:spcPct val="0"/>
                  </a:spcBef>
                </a:pPr>
                <a:r>
                  <a:rPr lang="en-US" sz="1425">
                    <a:solidFill>
                      <a:srgbClr val="000000"/>
                    </a:solidFill>
                    <a:latin typeface="Arial"/>
                    <a:ea typeface="Arial"/>
                    <a:cs typeface="Arial"/>
                    <a:sym typeface="Arial"/>
                  </a:rPr>
                  <a:t>Vận tốc mục tiêu từ EKF </a:t>
                </a:r>
                <a14:m>
                  <m:oMath xmlns:m="http://schemas.openxmlformats.org/officeDocument/2006/math">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𝑉</m:t>
                        </m:r>
                      </m:e>
                      <m:sub>
                        <m:r>
                          <a:rPr lang="en-US" sz="1425" b="0" i="1" smtClean="0">
                            <a:solidFill>
                              <a:srgbClr val="000000"/>
                            </a:solidFill>
                            <a:latin typeface="Cambria Math" panose="02040503050406030204" pitchFamily="18" charset="0"/>
                            <a:ea typeface="Arial"/>
                            <a:cs typeface="Arial"/>
                            <a:sym typeface="Arial"/>
                          </a:rPr>
                          <m:t>𝑡</m:t>
                        </m:r>
                      </m:sub>
                    </m:sSub>
                    <m:r>
                      <a:rPr lang="en-US" sz="1425" b="0" i="1" smtClean="0">
                        <a:solidFill>
                          <a:srgbClr val="000000"/>
                        </a:solidFill>
                        <a:latin typeface="Cambria Math" panose="02040503050406030204" pitchFamily="18" charset="0"/>
                        <a:ea typeface="Arial"/>
                        <a:cs typeface="Arial"/>
                        <a:sym typeface="Arial"/>
                      </a:rPr>
                      <m:t>=</m:t>
                    </m:r>
                    <m:sSup>
                      <m:sSupPr>
                        <m:ctrlPr>
                          <a:rPr lang="en-US" sz="1425" b="0" i="1" smtClean="0">
                            <a:solidFill>
                              <a:srgbClr val="000000"/>
                            </a:solidFill>
                            <a:latin typeface="Cambria Math" panose="02040503050406030204" pitchFamily="18" charset="0"/>
                            <a:ea typeface="Arial"/>
                            <a:cs typeface="Arial"/>
                            <a:sym typeface="Arial"/>
                          </a:rPr>
                        </m:ctrlPr>
                      </m:sSupPr>
                      <m:e>
                        <m:d>
                          <m:dPr>
                            <m:begChr m:val="["/>
                            <m:endChr m:val="]"/>
                            <m:ctrlPr>
                              <a:rPr lang="en-US" sz="1425" b="0" i="1" smtClean="0">
                                <a:solidFill>
                                  <a:srgbClr val="000000"/>
                                </a:solidFill>
                                <a:latin typeface="Cambria Math" panose="02040503050406030204" pitchFamily="18" charset="0"/>
                                <a:ea typeface="Arial"/>
                                <a:cs typeface="Arial"/>
                                <a:sym typeface="Arial"/>
                              </a:rPr>
                            </m:ctrlPr>
                          </m:dPr>
                          <m:e>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𝑣</m:t>
                                </m:r>
                              </m:e>
                              <m:sub>
                                <m:r>
                                  <a:rPr lang="en-US" sz="1425" b="0" i="1" smtClean="0">
                                    <a:solidFill>
                                      <a:srgbClr val="000000"/>
                                    </a:solidFill>
                                    <a:latin typeface="Cambria Math" panose="02040503050406030204" pitchFamily="18" charset="0"/>
                                    <a:ea typeface="Arial"/>
                                    <a:cs typeface="Arial"/>
                                    <a:sym typeface="Arial"/>
                                  </a:rPr>
                                  <m:t>𝑥𝑡</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𝑣</m:t>
                                </m:r>
                              </m:e>
                              <m:sub>
                                <m:r>
                                  <a:rPr lang="en-US" sz="1425" b="0" i="1" smtClean="0">
                                    <a:solidFill>
                                      <a:srgbClr val="000000"/>
                                    </a:solidFill>
                                    <a:latin typeface="Cambria Math" panose="02040503050406030204" pitchFamily="18" charset="0"/>
                                    <a:ea typeface="Arial"/>
                                    <a:cs typeface="Arial"/>
                                    <a:sym typeface="Arial"/>
                                  </a:rPr>
                                  <m:t>𝑦𝑡</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𝑣</m:t>
                                </m:r>
                              </m:e>
                              <m:sub>
                                <m:r>
                                  <a:rPr lang="en-US" sz="1425" b="0" i="1" smtClean="0">
                                    <a:solidFill>
                                      <a:srgbClr val="000000"/>
                                    </a:solidFill>
                                    <a:latin typeface="Cambria Math" panose="02040503050406030204" pitchFamily="18" charset="0"/>
                                    <a:ea typeface="Arial"/>
                                    <a:cs typeface="Arial"/>
                                    <a:sym typeface="Arial"/>
                                  </a:rPr>
                                  <m:t>𝑧𝑡</m:t>
                                </m:r>
                              </m:sub>
                            </m:sSub>
                          </m:e>
                        </m:d>
                      </m:e>
                      <m:sup>
                        <m:r>
                          <a:rPr lang="en-US" sz="1425" b="0" i="1" smtClean="0">
                            <a:solidFill>
                              <a:srgbClr val="000000"/>
                            </a:solidFill>
                            <a:latin typeface="Cambria Math" panose="02040503050406030204" pitchFamily="18" charset="0"/>
                            <a:ea typeface="Arial"/>
                            <a:cs typeface="Arial"/>
                            <a:sym typeface="Arial"/>
                          </a:rPr>
                          <m:t>𝑇</m:t>
                        </m:r>
                      </m:sup>
                    </m:sSup>
                  </m:oMath>
                </a14:m>
                <a:endParaRPr lang="en-US" sz="1425">
                  <a:solidFill>
                    <a:srgbClr val="000000"/>
                  </a:solidFill>
                  <a:latin typeface="Arial"/>
                  <a:ea typeface="Arial"/>
                  <a:cs typeface="Arial"/>
                  <a:sym typeface="Arial"/>
                </a:endParaRPr>
              </a:p>
            </p:txBody>
          </p:sp>
        </mc:Choice>
        <mc:Fallback xmlns="">
          <p:sp>
            <p:nvSpPr>
              <p:cNvPr id="67" name="TextBox 67"/>
              <p:cNvSpPr txBox="1">
                <a:spLocks noRot="1" noChangeAspect="1" noMove="1" noResize="1" noEditPoints="1" noAdjustHandles="1" noChangeArrowheads="1" noChangeShapeType="1" noTextEdit="1"/>
              </p:cNvSpPr>
              <p:nvPr/>
            </p:nvSpPr>
            <p:spPr>
              <a:xfrm>
                <a:off x="10633818" y="6401519"/>
                <a:ext cx="3620810" cy="226537"/>
              </a:xfrm>
              <a:prstGeom prst="rect">
                <a:avLst/>
              </a:prstGeom>
              <a:blipFill>
                <a:blip r:embed="rId11"/>
                <a:stretch>
                  <a:fillRect l="-3030" t="-29730" b="-432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8"/>
              <p:cNvSpPr txBox="1"/>
              <p:nvPr/>
            </p:nvSpPr>
            <p:spPr>
              <a:xfrm>
                <a:off x="10647019" y="6706319"/>
                <a:ext cx="2488287" cy="222625"/>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Arial"/>
                    <a:ea typeface="Arial"/>
                    <a:cs typeface="Arial"/>
                    <a:sym typeface="Arial"/>
                  </a:rPr>
                  <a:t>Tiêu cự thấu kính camera </a:t>
                </a:r>
                <a14:m>
                  <m:oMath xmlns:m="http://schemas.openxmlformats.org/officeDocument/2006/math">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𝑓</m:t>
                        </m:r>
                      </m:e>
                      <m:sub>
                        <m:r>
                          <a:rPr lang="en-US" sz="1425" b="0" i="1" smtClean="0">
                            <a:solidFill>
                              <a:srgbClr val="000000"/>
                            </a:solidFill>
                            <a:latin typeface="Cambria Math" panose="02040503050406030204" pitchFamily="18" charset="0"/>
                            <a:ea typeface="Arial"/>
                            <a:cs typeface="Arial"/>
                            <a:sym typeface="Arial"/>
                          </a:rPr>
                          <m:t>𝑥</m:t>
                        </m:r>
                      </m:sub>
                    </m:sSub>
                    <m:r>
                      <a:rPr lang="en-US" sz="1425" b="0" i="1" smtClean="0">
                        <a:solidFill>
                          <a:srgbClr val="000000"/>
                        </a:solidFill>
                        <a:latin typeface="Cambria Math" panose="02040503050406030204" pitchFamily="18" charset="0"/>
                        <a:ea typeface="Arial"/>
                        <a:cs typeface="Arial"/>
                        <a:sym typeface="Arial"/>
                      </a:rPr>
                      <m:t>, </m:t>
                    </m:r>
                    <m:sSub>
                      <m:sSubPr>
                        <m:ctrlPr>
                          <a:rPr lang="en-US" sz="1425" b="0" i="1" smtClean="0">
                            <a:solidFill>
                              <a:srgbClr val="000000"/>
                            </a:solidFill>
                            <a:latin typeface="Cambria Math" panose="02040503050406030204" pitchFamily="18" charset="0"/>
                            <a:ea typeface="Arial"/>
                            <a:cs typeface="Arial"/>
                            <a:sym typeface="Arial"/>
                          </a:rPr>
                        </m:ctrlPr>
                      </m:sSubPr>
                      <m:e>
                        <m:r>
                          <a:rPr lang="en-US" sz="1425" b="0" i="1" smtClean="0">
                            <a:solidFill>
                              <a:srgbClr val="000000"/>
                            </a:solidFill>
                            <a:latin typeface="Cambria Math" panose="02040503050406030204" pitchFamily="18" charset="0"/>
                            <a:ea typeface="Arial"/>
                            <a:cs typeface="Arial"/>
                            <a:sym typeface="Arial"/>
                          </a:rPr>
                          <m:t>𝑓</m:t>
                        </m:r>
                      </m:e>
                      <m:sub>
                        <m:r>
                          <a:rPr lang="en-US" sz="1425" b="0" i="1" smtClean="0">
                            <a:solidFill>
                              <a:srgbClr val="000000"/>
                            </a:solidFill>
                            <a:latin typeface="Cambria Math" panose="02040503050406030204" pitchFamily="18" charset="0"/>
                            <a:ea typeface="Arial"/>
                            <a:cs typeface="Arial"/>
                            <a:sym typeface="Arial"/>
                          </a:rPr>
                          <m:t>𝑦</m:t>
                        </m:r>
                      </m:sub>
                    </m:sSub>
                  </m:oMath>
                </a14:m>
                <a:endParaRPr lang="en-US" sz="1425">
                  <a:solidFill>
                    <a:srgbClr val="000000"/>
                  </a:solidFill>
                  <a:latin typeface="Arial"/>
                  <a:ea typeface="Arial"/>
                  <a:cs typeface="Arial"/>
                  <a:sym typeface="Arial"/>
                </a:endParaRPr>
              </a:p>
            </p:txBody>
          </p:sp>
        </mc:Choice>
        <mc:Fallback xmlns="">
          <p:sp>
            <p:nvSpPr>
              <p:cNvPr id="68" name="TextBox 68"/>
              <p:cNvSpPr txBox="1">
                <a:spLocks noRot="1" noChangeAspect="1" noMove="1" noResize="1" noEditPoints="1" noAdjustHandles="1" noChangeArrowheads="1" noChangeShapeType="1" noTextEdit="1"/>
              </p:cNvSpPr>
              <p:nvPr/>
            </p:nvSpPr>
            <p:spPr>
              <a:xfrm>
                <a:off x="10647019" y="6706319"/>
                <a:ext cx="2488287" cy="222625"/>
              </a:xfrm>
              <a:prstGeom prst="rect">
                <a:avLst/>
              </a:prstGeom>
              <a:blipFill>
                <a:blip r:embed="rId12"/>
                <a:stretch>
                  <a:fillRect l="-4657" t="-32432" r="-1471" b="-40541"/>
                </a:stretch>
              </a:blipFill>
            </p:spPr>
            <p:txBody>
              <a:bodyPr/>
              <a:lstStyle/>
              <a:p>
                <a:r>
                  <a:rPr lang="en-US">
                    <a:noFill/>
                  </a:rPr>
                  <a:t> </a:t>
                </a:r>
              </a:p>
            </p:txBody>
          </p:sp>
        </mc:Fallback>
      </mc:AlternateContent>
      <p:sp>
        <p:nvSpPr>
          <p:cNvPr id="72" name="TextBox 20">
            <a:extLst>
              <a:ext uri="{FF2B5EF4-FFF2-40B4-BE49-F238E27FC236}">
                <a16:creationId xmlns:a16="http://schemas.microsoft.com/office/drawing/2014/main" id="{50C14D65-00ED-55F0-6C47-95C24441070A}"/>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3340902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5" name="Group 5"/>
          <p:cNvGrpSpPr/>
          <p:nvPr/>
        </p:nvGrpSpPr>
        <p:grpSpPr>
          <a:xfrm>
            <a:off x="13716" y="9786376"/>
            <a:ext cx="15704172" cy="107156"/>
            <a:chOff x="0" y="0"/>
            <a:chExt cx="20938896" cy="142875"/>
          </a:xfrm>
        </p:grpSpPr>
        <p:sp>
          <p:nvSpPr>
            <p:cNvPr id="6" name="Freeform 6"/>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sp>
        <p:nvSpPr>
          <p:cNvPr id="8" name="Freeform 8"/>
          <p:cNvSpPr/>
          <p:nvPr/>
        </p:nvSpPr>
        <p:spPr>
          <a:xfrm>
            <a:off x="15955132" y="9585866"/>
            <a:ext cx="1988153" cy="688086"/>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nvGrpSpPr>
          <p:cNvPr id="11" name="Group 11"/>
          <p:cNvGrpSpPr/>
          <p:nvPr/>
        </p:nvGrpSpPr>
        <p:grpSpPr>
          <a:xfrm>
            <a:off x="-19050" y="-38100"/>
            <a:ext cx="18326100" cy="1371324"/>
            <a:chOff x="0" y="0"/>
            <a:chExt cx="24434800" cy="1828432"/>
          </a:xfrm>
        </p:grpSpPr>
        <p:sp>
          <p:nvSpPr>
            <p:cNvPr id="12" name="Freeform 12"/>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13" name="Group 13"/>
          <p:cNvGrpSpPr/>
          <p:nvPr/>
        </p:nvGrpSpPr>
        <p:grpSpPr>
          <a:xfrm>
            <a:off x="29594" y="0"/>
            <a:ext cx="9465469" cy="1112891"/>
            <a:chOff x="0" y="0"/>
            <a:chExt cx="12620625" cy="1483855"/>
          </a:xfrm>
        </p:grpSpPr>
        <p:sp>
          <p:nvSpPr>
            <p:cNvPr id="14" name="Freeform 14"/>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5" name="Group 15"/>
          <p:cNvGrpSpPr/>
          <p:nvPr/>
        </p:nvGrpSpPr>
        <p:grpSpPr>
          <a:xfrm>
            <a:off x="1799377" y="285950"/>
            <a:ext cx="7109765" cy="566976"/>
            <a:chOff x="0" y="0"/>
            <a:chExt cx="9479686" cy="755968"/>
          </a:xfrm>
        </p:grpSpPr>
        <p:sp>
          <p:nvSpPr>
            <p:cNvPr id="16" name="Freeform 16"/>
            <p:cNvSpPr/>
            <p:nvPr/>
          </p:nvSpPr>
          <p:spPr>
            <a:xfrm>
              <a:off x="0" y="0"/>
              <a:ext cx="9479687" cy="755971"/>
            </a:xfrm>
            <a:custGeom>
              <a:avLst/>
              <a:gdLst/>
              <a:ahLst/>
              <a:cxnLst/>
              <a:rect l="l" t="t" r="r" b="b"/>
              <a:pathLst>
                <a:path w="9479687" h="755971">
                  <a:moveTo>
                    <a:pt x="0" y="0"/>
                  </a:moveTo>
                  <a:lnTo>
                    <a:pt x="9479687" y="0"/>
                  </a:lnTo>
                  <a:lnTo>
                    <a:pt x="9479687" y="755971"/>
                  </a:lnTo>
                  <a:lnTo>
                    <a:pt x="0" y="755971"/>
                  </a:lnTo>
                  <a:close/>
                </a:path>
              </a:pathLst>
            </a:custGeom>
            <a:blipFill>
              <a:blip r:embed="rId4">
                <a:alphaModFix amt="0"/>
              </a:blip>
              <a:stretch>
                <a:fillRect t="-194337" b="-194337"/>
              </a:stretch>
            </a:blipFill>
          </p:spPr>
          <p:txBody>
            <a:bodyPr/>
            <a:lstStyle/>
            <a:p>
              <a:endParaRPr lang="en-US"/>
            </a:p>
          </p:txBody>
        </p:sp>
        <p:sp>
          <p:nvSpPr>
            <p:cNvPr id="17" name="TextBox 17"/>
            <p:cNvSpPr txBox="1"/>
            <p:nvPr/>
          </p:nvSpPr>
          <p:spPr>
            <a:xfrm>
              <a:off x="0" y="76200"/>
              <a:ext cx="9479686" cy="679768"/>
            </a:xfrm>
            <a:prstGeom prst="rect">
              <a:avLst/>
            </a:prstGeom>
          </p:spPr>
          <p:txBody>
            <a:bodyPr lIns="0" tIns="0" rIns="0" bIns="0" rtlCol="0" anchor="ctr"/>
            <a:lstStyle/>
            <a:p>
              <a:pPr algn="l">
                <a:lnSpc>
                  <a:spcPts val="2812"/>
                </a:lnSpc>
              </a:pPr>
              <a:endParaRPr lang="en-US" sz="3600" b="1">
                <a:solidFill>
                  <a:srgbClr val="FFFFFF"/>
                </a:solidFill>
                <a:latin typeface="Calibri (MS) Bold"/>
                <a:ea typeface="Calibri (MS) Bold"/>
                <a:cs typeface="Calibri (MS) Bold"/>
                <a:sym typeface="Calibri (MS) Bold"/>
              </a:endParaRPr>
            </a:p>
          </p:txBody>
        </p:sp>
      </p:grpSp>
      <p:grpSp>
        <p:nvGrpSpPr>
          <p:cNvPr id="18" name="Group 18"/>
          <p:cNvGrpSpPr/>
          <p:nvPr/>
        </p:nvGrpSpPr>
        <p:grpSpPr>
          <a:xfrm>
            <a:off x="29594" y="0"/>
            <a:ext cx="1612373" cy="1112891"/>
            <a:chOff x="0" y="0"/>
            <a:chExt cx="2149831" cy="1483855"/>
          </a:xfrm>
        </p:grpSpPr>
        <p:sp>
          <p:nvSpPr>
            <p:cNvPr id="19" name="Freeform 19"/>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20" name="TextBox 20"/>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21" name="Group 21"/>
          <p:cNvGrpSpPr/>
          <p:nvPr/>
        </p:nvGrpSpPr>
        <p:grpSpPr>
          <a:xfrm>
            <a:off x="457200" y="1402690"/>
            <a:ext cx="17439932" cy="692496"/>
            <a:chOff x="0" y="0"/>
            <a:chExt cx="23253243" cy="923328"/>
          </a:xfrm>
        </p:grpSpPr>
        <p:sp>
          <p:nvSpPr>
            <p:cNvPr id="22" name="Freeform 2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23" name="TextBox 2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NÉ VẬT CẢN 3D: I-APF — CHỐNG GNRON, OSCILLATION &amp; THOÁT BẪY KẸT</a:t>
              </a:r>
            </a:p>
          </p:txBody>
        </p:sp>
      </p:grpSp>
      <p:grpSp>
        <p:nvGrpSpPr>
          <p:cNvPr id="25" name="Group 25"/>
          <p:cNvGrpSpPr/>
          <p:nvPr/>
        </p:nvGrpSpPr>
        <p:grpSpPr>
          <a:xfrm>
            <a:off x="815816" y="2393156"/>
            <a:ext cx="6872288" cy="7009447"/>
            <a:chOff x="0" y="0"/>
            <a:chExt cx="9163050" cy="9345930"/>
          </a:xfrm>
        </p:grpSpPr>
        <p:sp>
          <p:nvSpPr>
            <p:cNvPr id="26" name="Freeform 26"/>
            <p:cNvSpPr/>
            <p:nvPr/>
          </p:nvSpPr>
          <p:spPr>
            <a:xfrm>
              <a:off x="0" y="0"/>
              <a:ext cx="9163050" cy="9345930"/>
            </a:xfrm>
            <a:custGeom>
              <a:avLst/>
              <a:gdLst/>
              <a:ahLst/>
              <a:cxnLst/>
              <a:rect l="l" t="t" r="r" b="b"/>
              <a:pathLst>
                <a:path w="9163050" h="9345930">
                  <a:moveTo>
                    <a:pt x="0" y="219964"/>
                  </a:moveTo>
                  <a:cubicBezTo>
                    <a:pt x="0" y="98425"/>
                    <a:pt x="98425" y="0"/>
                    <a:pt x="219964" y="0"/>
                  </a:cubicBezTo>
                  <a:lnTo>
                    <a:pt x="8943086" y="0"/>
                  </a:lnTo>
                  <a:cubicBezTo>
                    <a:pt x="9064498" y="0"/>
                    <a:pt x="9163050" y="98425"/>
                    <a:pt x="9163050" y="219964"/>
                  </a:cubicBezTo>
                  <a:lnTo>
                    <a:pt x="9163050" y="9125966"/>
                  </a:lnTo>
                  <a:cubicBezTo>
                    <a:pt x="9163050" y="9247378"/>
                    <a:pt x="9064625" y="9345930"/>
                    <a:pt x="8943086" y="9345930"/>
                  </a:cubicBezTo>
                  <a:lnTo>
                    <a:pt x="219964" y="9345930"/>
                  </a:lnTo>
                  <a:cubicBezTo>
                    <a:pt x="98425" y="9345930"/>
                    <a:pt x="0" y="9247505"/>
                    <a:pt x="0" y="912596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27" name="Group 27"/>
          <p:cNvGrpSpPr/>
          <p:nvPr/>
        </p:nvGrpSpPr>
        <p:grpSpPr>
          <a:xfrm>
            <a:off x="1097280" y="2400300"/>
            <a:ext cx="960120" cy="68580"/>
            <a:chOff x="0" y="0"/>
            <a:chExt cx="1280160" cy="91440"/>
          </a:xfrm>
        </p:grpSpPr>
        <p:sp>
          <p:nvSpPr>
            <p:cNvPr id="28" name="Freeform 28"/>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262626"/>
            </a:solidFill>
          </p:spPr>
          <p:txBody>
            <a:bodyPr/>
            <a:lstStyle/>
            <a:p>
              <a:endParaRPr lang="en-US"/>
            </a:p>
          </p:txBody>
        </p:sp>
      </p:grpSp>
      <p:sp>
        <p:nvSpPr>
          <p:cNvPr id="29" name="TextBox 29"/>
          <p:cNvSpPr txBox="1"/>
          <p:nvPr/>
        </p:nvSpPr>
        <p:spPr>
          <a:xfrm>
            <a:off x="1133856" y="2605278"/>
            <a:ext cx="6236208" cy="393954"/>
          </a:xfrm>
          <a:prstGeom prst="rect">
            <a:avLst/>
          </a:prstGeom>
        </p:spPr>
        <p:txBody>
          <a:bodyPr lIns="0" tIns="0" rIns="0" bIns="0" rtlCol="0" anchor="t">
            <a:spAutoFit/>
          </a:bodyPr>
          <a:lstStyle/>
          <a:p>
            <a:pPr algn="l">
              <a:lnSpc>
                <a:spcPts val="1980"/>
              </a:lnSpc>
            </a:pPr>
            <a:r>
              <a:rPr lang="en-US" sz="1650" b="1">
                <a:solidFill>
                  <a:srgbClr val="262626"/>
                </a:solidFill>
                <a:latin typeface="Arial Bold"/>
                <a:ea typeface="Arial Bold"/>
                <a:cs typeface="Arial Bold"/>
                <a:sym typeface="Arial Bold"/>
              </a:rPr>
              <a:t>Kịch bản bẫy đối xứng (Symmetric Obstacle Trap)</a:t>
            </a:r>
          </a:p>
        </p:txBody>
      </p:sp>
      <p:sp>
        <p:nvSpPr>
          <p:cNvPr id="30" name="AutoShape 30"/>
          <p:cNvSpPr/>
          <p:nvPr/>
        </p:nvSpPr>
        <p:spPr>
          <a:xfrm rot="-2801220">
            <a:off x="1487491" y="7280529"/>
            <a:ext cx="2634872" cy="0"/>
          </a:xfrm>
          <a:prstGeom prst="line">
            <a:avLst/>
          </a:prstGeom>
          <a:ln w="19050" cap="flat" cmpd="sng" algn="ctr">
            <a:solidFill>
              <a:schemeClr val="tx1">
                <a:lumMod val="50000"/>
                <a:lumOff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en-US">
              <a:ln>
                <a:solidFill>
                  <a:schemeClr val="tx1">
                    <a:lumMod val="50000"/>
                    <a:lumOff val="50000"/>
                  </a:schemeClr>
                </a:solidFill>
              </a:ln>
            </a:endParaRPr>
          </a:p>
        </p:txBody>
      </p:sp>
      <p:grpSp>
        <p:nvGrpSpPr>
          <p:cNvPr id="31" name="Group 31"/>
          <p:cNvGrpSpPr/>
          <p:nvPr/>
        </p:nvGrpSpPr>
        <p:grpSpPr>
          <a:xfrm>
            <a:off x="4372451" y="5840063"/>
            <a:ext cx="1267777" cy="1267777"/>
            <a:chOff x="0" y="0"/>
            <a:chExt cx="1690370" cy="1690370"/>
          </a:xfrm>
        </p:grpSpPr>
        <p:sp>
          <p:nvSpPr>
            <p:cNvPr id="32" name="Freeform 32"/>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DB3038"/>
              </a:solidFill>
              <a:prstDash val="solid"/>
              <a:miter/>
            </a:ln>
          </p:spPr>
          <p:txBody>
            <a:bodyPr/>
            <a:lstStyle/>
            <a:p>
              <a:endParaRPr lang="en-US"/>
            </a:p>
          </p:txBody>
        </p:sp>
      </p:grpSp>
      <p:grpSp>
        <p:nvGrpSpPr>
          <p:cNvPr id="33" name="Group 33"/>
          <p:cNvGrpSpPr/>
          <p:nvPr/>
        </p:nvGrpSpPr>
        <p:grpSpPr>
          <a:xfrm>
            <a:off x="2863691" y="4427315"/>
            <a:ext cx="1267777" cy="1267777"/>
            <a:chOff x="0" y="0"/>
            <a:chExt cx="1690370" cy="1690370"/>
          </a:xfrm>
        </p:grpSpPr>
        <p:sp>
          <p:nvSpPr>
            <p:cNvPr id="34" name="Freeform 34"/>
            <p:cNvSpPr/>
            <p:nvPr/>
          </p:nvSpPr>
          <p:spPr>
            <a:xfrm>
              <a:off x="0" y="0"/>
              <a:ext cx="1690370" cy="1690370"/>
            </a:xfrm>
            <a:custGeom>
              <a:avLst/>
              <a:gdLst/>
              <a:ahLst/>
              <a:cxnLst/>
              <a:rect l="l" t="t" r="r" b="b"/>
              <a:pathLst>
                <a:path w="1690370" h="1690370">
                  <a:moveTo>
                    <a:pt x="0" y="845185"/>
                  </a:moveTo>
                  <a:cubicBezTo>
                    <a:pt x="0" y="378460"/>
                    <a:pt x="378460" y="0"/>
                    <a:pt x="845185" y="0"/>
                  </a:cubicBezTo>
                  <a:cubicBezTo>
                    <a:pt x="1311910" y="0"/>
                    <a:pt x="1690370" y="378460"/>
                    <a:pt x="1690370" y="845185"/>
                  </a:cubicBezTo>
                  <a:cubicBezTo>
                    <a:pt x="1690370" y="1311910"/>
                    <a:pt x="1311910" y="1690370"/>
                    <a:pt x="845185" y="1690370"/>
                  </a:cubicBezTo>
                  <a:cubicBezTo>
                    <a:pt x="378460" y="1690370"/>
                    <a:pt x="0" y="1311910"/>
                    <a:pt x="0" y="845185"/>
                  </a:cubicBezTo>
                  <a:close/>
                </a:path>
              </a:pathLst>
            </a:custGeom>
            <a:solidFill>
              <a:srgbClr val="FBE5E6"/>
            </a:solidFill>
            <a:ln w="33338" cap="sq">
              <a:solidFill>
                <a:srgbClr val="DB3038"/>
              </a:solidFill>
              <a:prstDash val="solid"/>
              <a:miter/>
            </a:ln>
          </p:spPr>
          <p:txBody>
            <a:bodyPr/>
            <a:lstStyle/>
            <a:p>
              <a:endParaRPr lang="en-US"/>
            </a:p>
          </p:txBody>
        </p:sp>
      </p:grpSp>
      <p:sp>
        <p:nvSpPr>
          <p:cNvPr id="35" name="TextBox 35"/>
          <p:cNvSpPr txBox="1"/>
          <p:nvPr/>
        </p:nvSpPr>
        <p:spPr>
          <a:xfrm>
            <a:off x="3555233" y="5764530"/>
            <a:ext cx="758163" cy="476250"/>
          </a:xfrm>
          <a:prstGeom prst="rect">
            <a:avLst/>
          </a:prstGeom>
        </p:spPr>
        <p:txBody>
          <a:bodyPr lIns="0" tIns="0" rIns="0" bIns="0" rtlCol="0" anchor="t">
            <a:spAutoFit/>
          </a:bodyPr>
          <a:lstStyle/>
          <a:p>
            <a:pPr algn="l">
              <a:lnSpc>
                <a:spcPts val="1800"/>
              </a:lnSpc>
            </a:pPr>
            <a:r>
              <a:rPr lang="en-US" sz="1500" b="1">
                <a:solidFill>
                  <a:srgbClr val="DB3038"/>
                </a:solidFill>
                <a:latin typeface="Arimo Bold"/>
                <a:ea typeface="Arimo Bold"/>
                <a:cs typeface="Arimo Bold"/>
                <a:sym typeface="Arimo Bold"/>
              </a:rPr>
              <a:t>✕ Local Minima</a:t>
            </a:r>
          </a:p>
        </p:txBody>
      </p:sp>
      <p:sp>
        <p:nvSpPr>
          <p:cNvPr id="36" name="AutoShape 36"/>
          <p:cNvSpPr/>
          <p:nvPr/>
        </p:nvSpPr>
        <p:spPr>
          <a:xfrm>
            <a:off x="4090979" y="7499024"/>
            <a:ext cx="885407" cy="201081"/>
          </a:xfrm>
          <a:prstGeom prst="line">
            <a:avLst/>
          </a:prstGeom>
          <a:ln w="28575" cap="rnd">
            <a:solidFill>
              <a:srgbClr val="262626"/>
            </a:solidFill>
            <a:prstDash val="solid"/>
            <a:headEnd type="none" w="sm" len="sm"/>
            <a:tailEnd type="none" w="sm" len="sm"/>
          </a:ln>
        </p:spPr>
        <p:txBody>
          <a:bodyPr/>
          <a:lstStyle/>
          <a:p>
            <a:endParaRPr lang="en-US"/>
          </a:p>
        </p:txBody>
      </p:sp>
      <p:sp>
        <p:nvSpPr>
          <p:cNvPr id="37" name="AutoShape 37"/>
          <p:cNvSpPr/>
          <p:nvPr/>
        </p:nvSpPr>
        <p:spPr>
          <a:xfrm flipV="1">
            <a:off x="6333172" y="4687252"/>
            <a:ext cx="89536" cy="1370648"/>
          </a:xfrm>
          <a:prstGeom prst="line">
            <a:avLst/>
          </a:prstGeom>
          <a:ln w="28575" cap="rnd">
            <a:solidFill>
              <a:srgbClr val="262626"/>
            </a:solidFill>
            <a:prstDash val="solid"/>
            <a:headEnd type="none" w="sm" len="sm"/>
            <a:tailEnd type="none" w="sm" len="sm"/>
          </a:ln>
        </p:spPr>
        <p:txBody>
          <a:bodyPr/>
          <a:lstStyle/>
          <a:p>
            <a:endParaRPr lang="en-US"/>
          </a:p>
        </p:txBody>
      </p:sp>
      <p:sp>
        <p:nvSpPr>
          <p:cNvPr id="38" name="AutoShape 38"/>
          <p:cNvSpPr/>
          <p:nvPr/>
        </p:nvSpPr>
        <p:spPr>
          <a:xfrm rot="-4692420">
            <a:off x="5929560" y="4066222"/>
            <a:ext cx="1239650" cy="0"/>
          </a:xfrm>
          <a:prstGeom prst="line">
            <a:avLst/>
          </a:prstGeom>
          <a:ln w="28575" cap="rnd">
            <a:solidFill>
              <a:srgbClr val="262626"/>
            </a:solidFill>
            <a:prstDash val="solid"/>
            <a:headEnd type="none" w="sm" len="sm"/>
            <a:tailEnd type="triangle" w="lg" len="med"/>
          </a:ln>
        </p:spPr>
        <p:txBody>
          <a:bodyPr/>
          <a:lstStyle/>
          <a:p>
            <a:endParaRPr lang="en-US"/>
          </a:p>
        </p:txBody>
      </p:sp>
      <p:sp>
        <p:nvSpPr>
          <p:cNvPr id="39" name="AutoShape 39"/>
          <p:cNvSpPr/>
          <p:nvPr/>
        </p:nvSpPr>
        <p:spPr>
          <a:xfrm rot="2700000">
            <a:off x="1311240" y="8220075"/>
            <a:ext cx="1217990" cy="0"/>
          </a:xfrm>
          <a:prstGeom prst="line">
            <a:avLst/>
          </a:prstGeom>
          <a:ln w="19050" cap="rnd">
            <a:solidFill>
              <a:srgbClr val="7F7F7F"/>
            </a:solidFill>
            <a:prstDash val="solid"/>
            <a:headEnd type="none" w="sm" len="sm"/>
            <a:tailEnd type="none" w="sm" len="sm"/>
          </a:ln>
        </p:spPr>
        <p:txBody>
          <a:bodyPr/>
          <a:lstStyle/>
          <a:p>
            <a:endParaRPr lang="en-US"/>
          </a:p>
        </p:txBody>
      </p:sp>
      <p:sp>
        <p:nvSpPr>
          <p:cNvPr id="40" name="AutoShape 40"/>
          <p:cNvSpPr/>
          <p:nvPr/>
        </p:nvSpPr>
        <p:spPr>
          <a:xfrm rot="-2700000">
            <a:off x="1311240" y="8220075"/>
            <a:ext cx="1217990" cy="0"/>
          </a:xfrm>
          <a:prstGeom prst="line">
            <a:avLst/>
          </a:prstGeom>
          <a:ln w="19050" cap="rnd">
            <a:solidFill>
              <a:srgbClr val="7F7F7F"/>
            </a:solidFill>
            <a:prstDash val="solid"/>
            <a:headEnd type="none" w="sm" len="sm"/>
            <a:tailEnd type="none" w="sm" len="sm"/>
          </a:ln>
        </p:spPr>
        <p:txBody>
          <a:bodyPr/>
          <a:lstStyle/>
          <a:p>
            <a:endParaRPr lang="en-US"/>
          </a:p>
        </p:txBody>
      </p:sp>
      <p:grpSp>
        <p:nvGrpSpPr>
          <p:cNvPr id="41" name="Group 41"/>
          <p:cNvGrpSpPr/>
          <p:nvPr/>
        </p:nvGrpSpPr>
        <p:grpSpPr>
          <a:xfrm>
            <a:off x="1309992" y="7619352"/>
            <a:ext cx="390677" cy="390677"/>
            <a:chOff x="0" y="0"/>
            <a:chExt cx="520903" cy="520903"/>
          </a:xfrm>
        </p:grpSpPr>
        <p:sp>
          <p:nvSpPr>
            <p:cNvPr id="42" name="Freeform 42"/>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3" name="Group 43"/>
          <p:cNvGrpSpPr/>
          <p:nvPr/>
        </p:nvGrpSpPr>
        <p:grpSpPr>
          <a:xfrm>
            <a:off x="2139810" y="7619352"/>
            <a:ext cx="390677" cy="390677"/>
            <a:chOff x="0" y="0"/>
            <a:chExt cx="520903" cy="520903"/>
          </a:xfrm>
        </p:grpSpPr>
        <p:sp>
          <p:nvSpPr>
            <p:cNvPr id="44" name="Freeform 44"/>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5" name="Group 45"/>
          <p:cNvGrpSpPr/>
          <p:nvPr/>
        </p:nvGrpSpPr>
        <p:grpSpPr>
          <a:xfrm>
            <a:off x="1309992" y="8449170"/>
            <a:ext cx="390677" cy="390677"/>
            <a:chOff x="0" y="0"/>
            <a:chExt cx="520903" cy="520903"/>
          </a:xfrm>
        </p:grpSpPr>
        <p:sp>
          <p:nvSpPr>
            <p:cNvPr id="46" name="Freeform 46"/>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7" name="Group 47"/>
          <p:cNvGrpSpPr/>
          <p:nvPr/>
        </p:nvGrpSpPr>
        <p:grpSpPr>
          <a:xfrm>
            <a:off x="2139810" y="8449170"/>
            <a:ext cx="390677" cy="390677"/>
            <a:chOff x="0" y="0"/>
            <a:chExt cx="520903" cy="520903"/>
          </a:xfrm>
        </p:grpSpPr>
        <p:sp>
          <p:nvSpPr>
            <p:cNvPr id="48" name="Freeform 48"/>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sp>
        <p:nvSpPr>
          <p:cNvPr id="49" name="AutoShape 49"/>
          <p:cNvSpPr/>
          <p:nvPr/>
        </p:nvSpPr>
        <p:spPr>
          <a:xfrm flipV="1">
            <a:off x="1920240" y="5335524"/>
            <a:ext cx="610248" cy="3022321"/>
          </a:xfrm>
          <a:prstGeom prst="line">
            <a:avLst/>
          </a:prstGeom>
          <a:ln w="19050" cap="flat" cmpd="sng" algn="ctr">
            <a:solidFill>
              <a:schemeClr val="tx1">
                <a:lumMod val="50000"/>
                <a:lumOff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50" name="Group 50"/>
          <p:cNvGrpSpPr/>
          <p:nvPr/>
        </p:nvGrpSpPr>
        <p:grpSpPr>
          <a:xfrm>
            <a:off x="1791995" y="8101355"/>
            <a:ext cx="256489" cy="256489"/>
            <a:chOff x="0" y="0"/>
            <a:chExt cx="341986" cy="341986"/>
          </a:xfrm>
        </p:grpSpPr>
        <p:sp>
          <p:nvSpPr>
            <p:cNvPr id="51" name="Freeform 51"/>
            <p:cNvSpPr/>
            <p:nvPr/>
          </p:nvSpPr>
          <p:spPr>
            <a:xfrm>
              <a:off x="0" y="0"/>
              <a:ext cx="342011" cy="342011"/>
            </a:xfrm>
            <a:custGeom>
              <a:avLst/>
              <a:gdLst/>
              <a:ahLst/>
              <a:cxnLst/>
              <a:rect l="l" t="t" r="r" b="b"/>
              <a:pathLst>
                <a:path w="342011" h="342011">
                  <a:moveTo>
                    <a:pt x="0" y="109728"/>
                  </a:moveTo>
                  <a:cubicBezTo>
                    <a:pt x="0" y="49149"/>
                    <a:pt x="49149" y="0"/>
                    <a:pt x="109728" y="0"/>
                  </a:cubicBezTo>
                  <a:lnTo>
                    <a:pt x="232283" y="0"/>
                  </a:lnTo>
                  <a:cubicBezTo>
                    <a:pt x="292862" y="0"/>
                    <a:pt x="342011" y="49149"/>
                    <a:pt x="342011" y="109728"/>
                  </a:cubicBezTo>
                  <a:lnTo>
                    <a:pt x="342011" y="232283"/>
                  </a:lnTo>
                  <a:cubicBezTo>
                    <a:pt x="342011" y="292862"/>
                    <a:pt x="292862" y="342011"/>
                    <a:pt x="232283" y="342011"/>
                  </a:cubicBezTo>
                  <a:lnTo>
                    <a:pt x="109728" y="342011"/>
                  </a:lnTo>
                  <a:cubicBezTo>
                    <a:pt x="49149" y="342011"/>
                    <a:pt x="0" y="292862"/>
                    <a:pt x="0" y="232283"/>
                  </a:cubicBezTo>
                  <a:close/>
                </a:path>
              </a:pathLst>
            </a:custGeom>
            <a:solidFill>
              <a:srgbClr val="DB3038"/>
            </a:solidFill>
          </p:spPr>
          <p:txBody>
            <a:bodyPr/>
            <a:lstStyle/>
            <a:p>
              <a:endParaRPr lang="en-US"/>
            </a:p>
          </p:txBody>
        </p:sp>
      </p:grpSp>
      <p:grpSp>
        <p:nvGrpSpPr>
          <p:cNvPr id="52" name="Group 52"/>
          <p:cNvGrpSpPr/>
          <p:nvPr/>
        </p:nvGrpSpPr>
        <p:grpSpPr>
          <a:xfrm>
            <a:off x="6350508" y="3195828"/>
            <a:ext cx="603504" cy="603504"/>
            <a:chOff x="0" y="0"/>
            <a:chExt cx="804672" cy="804672"/>
          </a:xfrm>
        </p:grpSpPr>
        <p:sp>
          <p:nvSpPr>
            <p:cNvPr id="53" name="Freeform 53"/>
            <p:cNvSpPr/>
            <p:nvPr/>
          </p:nvSpPr>
          <p:spPr>
            <a:xfrm>
              <a:off x="0" y="0"/>
              <a:ext cx="804672" cy="804672"/>
            </a:xfrm>
            <a:custGeom>
              <a:avLst/>
              <a:gdLst/>
              <a:ahLst/>
              <a:cxnLst/>
              <a:rect l="l" t="t" r="r" b="b"/>
              <a:pathLst>
                <a:path w="804672" h="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595959"/>
            </a:solidFill>
          </p:spPr>
          <p:txBody>
            <a:bodyPr/>
            <a:lstStyle/>
            <a:p>
              <a:endParaRPr lang="en-US"/>
            </a:p>
          </p:txBody>
        </p:sp>
      </p:grpSp>
      <p:sp>
        <p:nvSpPr>
          <p:cNvPr id="54" name="TextBox 54"/>
          <p:cNvSpPr txBox="1"/>
          <p:nvPr/>
        </p:nvSpPr>
        <p:spPr>
          <a:xfrm>
            <a:off x="5728716" y="2742438"/>
            <a:ext cx="1847088" cy="247650"/>
          </a:xfrm>
          <a:prstGeom prst="rect">
            <a:avLst/>
          </a:prstGeom>
        </p:spPr>
        <p:txBody>
          <a:bodyPr lIns="0" tIns="0" rIns="0" bIns="0" rtlCol="0" anchor="t">
            <a:spAutoFit/>
          </a:bodyPr>
          <a:lstStyle/>
          <a:p>
            <a:pPr algn="ctr">
              <a:lnSpc>
                <a:spcPts val="1800"/>
              </a:lnSpc>
            </a:pPr>
            <a:r>
              <a:rPr lang="en-US" sz="1500" b="1">
                <a:solidFill>
                  <a:srgbClr val="595959"/>
                </a:solidFill>
                <a:latin typeface="Arial Bold"/>
                <a:ea typeface="Arial Bold"/>
                <a:cs typeface="Arial Bold"/>
                <a:sym typeface="Arial Bold"/>
              </a:rPr>
              <a:t>H-Pad</a:t>
            </a:r>
          </a:p>
        </p:txBody>
      </p:sp>
      <p:grpSp>
        <p:nvGrpSpPr>
          <p:cNvPr id="55" name="Group 55"/>
          <p:cNvGrpSpPr/>
          <p:nvPr/>
        </p:nvGrpSpPr>
        <p:grpSpPr>
          <a:xfrm>
            <a:off x="1158716" y="8865489"/>
            <a:ext cx="3031808" cy="425768"/>
            <a:chOff x="0" y="0"/>
            <a:chExt cx="4042410" cy="567690"/>
          </a:xfrm>
        </p:grpSpPr>
        <p:sp>
          <p:nvSpPr>
            <p:cNvPr id="56" name="Freeform 56"/>
            <p:cNvSpPr/>
            <p:nvPr/>
          </p:nvSpPr>
          <p:spPr>
            <a:xfrm>
              <a:off x="0" y="0"/>
              <a:ext cx="4042410" cy="567690"/>
            </a:xfrm>
            <a:custGeom>
              <a:avLst/>
              <a:gdLst/>
              <a:ahLst/>
              <a:cxnLst/>
              <a:rect l="l" t="t" r="r" b="b"/>
              <a:pathLst>
                <a:path w="4042410" h="567690">
                  <a:moveTo>
                    <a:pt x="0" y="283845"/>
                  </a:moveTo>
                  <a:cubicBezTo>
                    <a:pt x="0" y="127127"/>
                    <a:pt x="127127" y="0"/>
                    <a:pt x="283845" y="0"/>
                  </a:cubicBezTo>
                  <a:lnTo>
                    <a:pt x="3758565" y="0"/>
                  </a:lnTo>
                  <a:cubicBezTo>
                    <a:pt x="3915283" y="0"/>
                    <a:pt x="4042410" y="127127"/>
                    <a:pt x="4042410" y="283845"/>
                  </a:cubicBezTo>
                  <a:cubicBezTo>
                    <a:pt x="4042410" y="440563"/>
                    <a:pt x="3915283" y="567690"/>
                    <a:pt x="3758565" y="567690"/>
                  </a:cubicBezTo>
                  <a:lnTo>
                    <a:pt x="283845" y="567690"/>
                  </a:lnTo>
                  <a:cubicBezTo>
                    <a:pt x="127127" y="567690"/>
                    <a:pt x="0" y="440563"/>
                    <a:pt x="0" y="283845"/>
                  </a:cubicBezTo>
                  <a:close/>
                </a:path>
              </a:pathLst>
            </a:custGeom>
            <a:blipFill>
              <a:blip r:embed="rId4">
                <a:alphaModFix amt="0"/>
              </a:blip>
              <a:stretch>
                <a:fillRect t="-88749" b="-88749"/>
              </a:stretch>
            </a:blipFill>
            <a:ln w="14288" cap="sq">
              <a:solidFill>
                <a:srgbClr val="D9D9D9"/>
              </a:solidFill>
              <a:prstDash val="solid"/>
              <a:miter/>
            </a:ln>
          </p:spPr>
          <p:txBody>
            <a:bodyPr/>
            <a:lstStyle/>
            <a:p>
              <a:endParaRPr lang="en-US"/>
            </a:p>
          </p:txBody>
        </p:sp>
        <p:sp>
          <p:nvSpPr>
            <p:cNvPr id="57" name="TextBox 57"/>
            <p:cNvSpPr txBox="1"/>
            <p:nvPr/>
          </p:nvSpPr>
          <p:spPr>
            <a:xfrm>
              <a:off x="0" y="-19050"/>
              <a:ext cx="4042410" cy="586740"/>
            </a:xfrm>
            <a:prstGeom prst="rect">
              <a:avLst/>
            </a:prstGeom>
          </p:spPr>
          <p:txBody>
            <a:bodyPr lIns="50800" tIns="50800" rIns="50800" bIns="50800" rtlCol="0" anchor="ctr"/>
            <a:lstStyle/>
            <a:p>
              <a:pPr algn="ctr">
                <a:lnSpc>
                  <a:spcPts val="1709"/>
                </a:lnSpc>
              </a:pPr>
              <a:r>
                <a:rPr lang="en-US" sz="1425" b="1">
                  <a:solidFill>
                    <a:srgbClr val="7F7F7F"/>
                  </a:solidFill>
                  <a:latin typeface="Arial Bold"/>
                  <a:ea typeface="Arial Bold"/>
                  <a:cs typeface="Arial Bold"/>
                  <a:sym typeface="Arial Bold"/>
                </a:rPr>
                <a:t>- - Standard APF: kẹt</a:t>
              </a:r>
            </a:p>
          </p:txBody>
        </p:sp>
      </p:grpSp>
      <p:grpSp>
        <p:nvGrpSpPr>
          <p:cNvPr id="58" name="Group 58"/>
          <p:cNvGrpSpPr/>
          <p:nvPr/>
        </p:nvGrpSpPr>
        <p:grpSpPr>
          <a:xfrm>
            <a:off x="4313396" y="8865489"/>
            <a:ext cx="3100388" cy="425768"/>
            <a:chOff x="0" y="0"/>
            <a:chExt cx="4133850" cy="567690"/>
          </a:xfrm>
        </p:grpSpPr>
        <p:sp>
          <p:nvSpPr>
            <p:cNvPr id="59" name="Freeform 59"/>
            <p:cNvSpPr/>
            <p:nvPr/>
          </p:nvSpPr>
          <p:spPr>
            <a:xfrm>
              <a:off x="0" y="0"/>
              <a:ext cx="4133850" cy="567690"/>
            </a:xfrm>
            <a:custGeom>
              <a:avLst/>
              <a:gdLst/>
              <a:ahLst/>
              <a:cxnLst/>
              <a:rect l="l" t="t" r="r" b="b"/>
              <a:pathLst>
                <a:path w="4133850" h="567690">
                  <a:moveTo>
                    <a:pt x="0" y="283845"/>
                  </a:moveTo>
                  <a:cubicBezTo>
                    <a:pt x="0" y="127127"/>
                    <a:pt x="127127" y="0"/>
                    <a:pt x="283845" y="0"/>
                  </a:cubicBezTo>
                  <a:lnTo>
                    <a:pt x="3850005" y="0"/>
                  </a:lnTo>
                  <a:cubicBezTo>
                    <a:pt x="4006723" y="0"/>
                    <a:pt x="4133850" y="127127"/>
                    <a:pt x="4133850" y="283845"/>
                  </a:cubicBezTo>
                  <a:cubicBezTo>
                    <a:pt x="4133850" y="440563"/>
                    <a:pt x="4006723" y="567690"/>
                    <a:pt x="3850005" y="567690"/>
                  </a:cubicBezTo>
                  <a:lnTo>
                    <a:pt x="283845" y="567690"/>
                  </a:lnTo>
                  <a:cubicBezTo>
                    <a:pt x="127127" y="567690"/>
                    <a:pt x="0" y="440563"/>
                    <a:pt x="0" y="283845"/>
                  </a:cubicBezTo>
                  <a:close/>
                </a:path>
              </a:pathLst>
            </a:custGeom>
            <a:blipFill>
              <a:blip r:embed="rId4">
                <a:alphaModFix amt="0"/>
              </a:blip>
              <a:stretch>
                <a:fillRect t="-91887" b="-91887"/>
              </a:stretch>
            </a:blipFill>
            <a:ln w="14288" cap="sq">
              <a:solidFill>
                <a:srgbClr val="262626"/>
              </a:solidFill>
              <a:prstDash val="solid"/>
              <a:miter/>
            </a:ln>
          </p:spPr>
          <p:txBody>
            <a:bodyPr/>
            <a:lstStyle/>
            <a:p>
              <a:endParaRPr lang="en-US"/>
            </a:p>
          </p:txBody>
        </p:sp>
        <p:sp>
          <p:nvSpPr>
            <p:cNvPr id="60" name="TextBox 60"/>
            <p:cNvSpPr txBox="1"/>
            <p:nvPr/>
          </p:nvSpPr>
          <p:spPr>
            <a:xfrm>
              <a:off x="0" y="-19050"/>
              <a:ext cx="4133850" cy="586740"/>
            </a:xfrm>
            <a:prstGeom prst="rect">
              <a:avLst/>
            </a:prstGeom>
          </p:spPr>
          <p:txBody>
            <a:bodyPr lIns="50800" tIns="50800" rIns="50800" bIns="50800" rtlCol="0" anchor="ctr"/>
            <a:lstStyle/>
            <a:p>
              <a:pPr algn="ctr">
                <a:lnSpc>
                  <a:spcPts val="1709"/>
                </a:lnSpc>
              </a:pPr>
              <a:r>
                <a:rPr lang="en-US" sz="1425" b="1">
                  <a:solidFill>
                    <a:srgbClr val="262626"/>
                  </a:solidFill>
                  <a:latin typeface="Arimo Bold"/>
                  <a:ea typeface="Arimo Bold"/>
                  <a:cs typeface="Arimo Bold"/>
                  <a:sym typeface="Arimo Bold"/>
                </a:rPr>
                <a:t>━ I-APF: tiếp tuyến 3D</a:t>
              </a:r>
            </a:p>
          </p:txBody>
        </p:sp>
      </p:grpSp>
      <p:grpSp>
        <p:nvGrpSpPr>
          <p:cNvPr id="61" name="Group 61"/>
          <p:cNvGrpSpPr/>
          <p:nvPr/>
        </p:nvGrpSpPr>
        <p:grpSpPr>
          <a:xfrm>
            <a:off x="8016716" y="2393156"/>
            <a:ext cx="9450896" cy="1797367"/>
            <a:chOff x="0" y="0"/>
            <a:chExt cx="12601194" cy="2396490"/>
          </a:xfrm>
        </p:grpSpPr>
        <p:sp>
          <p:nvSpPr>
            <p:cNvPr id="62" name="Freeform 62"/>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63" name="Group 63"/>
          <p:cNvGrpSpPr/>
          <p:nvPr/>
        </p:nvGrpSpPr>
        <p:grpSpPr>
          <a:xfrm>
            <a:off x="8298180" y="2400300"/>
            <a:ext cx="960120" cy="68580"/>
            <a:chOff x="0" y="0"/>
            <a:chExt cx="1280160" cy="91440"/>
          </a:xfrm>
        </p:grpSpPr>
        <p:sp>
          <p:nvSpPr>
            <p:cNvPr id="64" name="Freeform 64"/>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262626"/>
            </a:solidFill>
          </p:spPr>
          <p:txBody>
            <a:bodyPr/>
            <a:lstStyle/>
            <a:p>
              <a:endParaRPr lang="en-US"/>
            </a:p>
          </p:txBody>
        </p:sp>
      </p:grpSp>
      <p:grpSp>
        <p:nvGrpSpPr>
          <p:cNvPr id="65" name="Group 65"/>
          <p:cNvGrpSpPr/>
          <p:nvPr/>
        </p:nvGrpSpPr>
        <p:grpSpPr>
          <a:xfrm>
            <a:off x="8298180" y="2633472"/>
            <a:ext cx="1165860" cy="329184"/>
            <a:chOff x="0" y="0"/>
            <a:chExt cx="1554480" cy="438912"/>
          </a:xfrm>
        </p:grpSpPr>
        <p:sp>
          <p:nvSpPr>
            <p:cNvPr id="66" name="Freeform 66"/>
            <p:cNvSpPr/>
            <p:nvPr/>
          </p:nvSpPr>
          <p:spPr>
            <a:xfrm>
              <a:off x="0" y="0"/>
              <a:ext cx="1554480" cy="438912"/>
            </a:xfrm>
            <a:custGeom>
              <a:avLst/>
              <a:gdLst/>
              <a:ahLst/>
              <a:cxnLst/>
              <a:rect l="l" t="t" r="r" b="b"/>
              <a:pathLst>
                <a:path w="1554480" h="438912">
                  <a:moveTo>
                    <a:pt x="0" y="219456"/>
                  </a:moveTo>
                  <a:cubicBezTo>
                    <a:pt x="0" y="98298"/>
                    <a:pt x="98298" y="0"/>
                    <a:pt x="219456" y="0"/>
                  </a:cubicBezTo>
                  <a:lnTo>
                    <a:pt x="1335024" y="0"/>
                  </a:lnTo>
                  <a:cubicBezTo>
                    <a:pt x="1456182" y="0"/>
                    <a:pt x="1554480" y="98298"/>
                    <a:pt x="1554480" y="219456"/>
                  </a:cubicBezTo>
                  <a:cubicBezTo>
                    <a:pt x="1554480" y="340614"/>
                    <a:pt x="1456182" y="438912"/>
                    <a:pt x="1335024" y="438912"/>
                  </a:cubicBezTo>
                  <a:lnTo>
                    <a:pt x="219456" y="438912"/>
                  </a:lnTo>
                  <a:cubicBezTo>
                    <a:pt x="98298" y="438912"/>
                    <a:pt x="0" y="340614"/>
                    <a:pt x="0" y="219456"/>
                  </a:cubicBezTo>
                  <a:close/>
                </a:path>
              </a:pathLst>
            </a:custGeom>
            <a:solidFill>
              <a:srgbClr val="262626"/>
            </a:solidFill>
          </p:spPr>
          <p:txBody>
            <a:bodyPr/>
            <a:lstStyle/>
            <a:p>
              <a:endParaRPr lang="en-US"/>
            </a:p>
          </p:txBody>
        </p:sp>
        <p:sp>
          <p:nvSpPr>
            <p:cNvPr id="67" name="TextBox 67"/>
            <p:cNvSpPr txBox="1"/>
            <p:nvPr/>
          </p:nvSpPr>
          <p:spPr>
            <a:xfrm>
              <a:off x="0" y="-19050"/>
              <a:ext cx="1554480"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GNRON</a:t>
              </a:r>
            </a:p>
          </p:txBody>
        </p:sp>
      </p:grpSp>
      <p:grpSp>
        <p:nvGrpSpPr>
          <p:cNvPr id="68" name="Group 68"/>
          <p:cNvGrpSpPr/>
          <p:nvPr/>
        </p:nvGrpSpPr>
        <p:grpSpPr>
          <a:xfrm>
            <a:off x="9738360" y="2592324"/>
            <a:ext cx="6899148" cy="411480"/>
            <a:chOff x="0" y="0"/>
            <a:chExt cx="9198864" cy="548640"/>
          </a:xfrm>
        </p:grpSpPr>
        <p:sp>
          <p:nvSpPr>
            <p:cNvPr id="69" name="Freeform 69"/>
            <p:cNvSpPr/>
            <p:nvPr/>
          </p:nvSpPr>
          <p:spPr>
            <a:xfrm>
              <a:off x="0" y="0"/>
              <a:ext cx="9198864" cy="548640"/>
            </a:xfrm>
            <a:custGeom>
              <a:avLst/>
              <a:gdLst/>
              <a:ahLst/>
              <a:cxnLst/>
              <a:rect l="l" t="t" r="r" b="b"/>
              <a:pathLst>
                <a:path w="9198864" h="548640">
                  <a:moveTo>
                    <a:pt x="0" y="0"/>
                  </a:moveTo>
                  <a:lnTo>
                    <a:pt x="9198864" y="0"/>
                  </a:lnTo>
                  <a:lnTo>
                    <a:pt x="9198864" y="548640"/>
                  </a:lnTo>
                  <a:lnTo>
                    <a:pt x="0" y="548640"/>
                  </a:lnTo>
                  <a:close/>
                </a:path>
              </a:pathLst>
            </a:custGeom>
            <a:blipFill>
              <a:blip r:embed="rId4">
                <a:alphaModFix amt="0"/>
              </a:blip>
              <a:stretch>
                <a:fillRect t="-276699" b="-276699"/>
              </a:stretch>
            </a:blipFill>
          </p:spPr>
          <p:txBody>
            <a:bodyPr/>
            <a:lstStyle/>
            <a:p>
              <a:endParaRPr lang="en-US"/>
            </a:p>
          </p:txBody>
        </p:sp>
        <p:sp>
          <p:nvSpPr>
            <p:cNvPr id="70" name="TextBox 70"/>
            <p:cNvSpPr txBox="1"/>
            <p:nvPr/>
          </p:nvSpPr>
          <p:spPr>
            <a:xfrm>
              <a:off x="0" y="-28575"/>
              <a:ext cx="9198864"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Điều biến lực đẩy bằng Sigmoid</a:t>
              </a:r>
            </a:p>
          </p:txBody>
        </p:sp>
      </p:grpSp>
      <p:grpSp>
        <p:nvGrpSpPr>
          <p:cNvPr id="71" name="Group 71"/>
          <p:cNvGrpSpPr/>
          <p:nvPr/>
        </p:nvGrpSpPr>
        <p:grpSpPr>
          <a:xfrm>
            <a:off x="8291036" y="3106388"/>
            <a:ext cx="8902256" cy="617792"/>
            <a:chOff x="0" y="0"/>
            <a:chExt cx="11869674" cy="823722"/>
          </a:xfrm>
        </p:grpSpPr>
        <p:sp>
          <p:nvSpPr>
            <p:cNvPr id="72" name="Freeform 72"/>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73" name="Group 73"/>
          <p:cNvGrpSpPr/>
          <p:nvPr/>
        </p:nvGrpSpPr>
        <p:grpSpPr>
          <a:xfrm>
            <a:off x="8407908" y="3168396"/>
            <a:ext cx="8668512" cy="603504"/>
            <a:chOff x="0" y="0"/>
            <a:chExt cx="11558016" cy="804672"/>
          </a:xfrm>
        </p:grpSpPr>
        <p:sp>
          <p:nvSpPr>
            <p:cNvPr id="74" name="Freeform 74"/>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75" name="TextBox 75"/>
                <p:cNvSpPr txBox="1"/>
                <p:nvPr/>
              </p:nvSpPr>
              <p:spPr>
                <a:xfrm>
                  <a:off x="0" y="-19050"/>
                  <a:ext cx="11558016" cy="823722"/>
                </a:xfrm>
                <a:prstGeom prst="rect">
                  <a:avLst/>
                </a:prstGeom>
              </p:spPr>
              <p:txBody>
                <a:bodyPr lIns="0" tIns="0" rIns="0" bIns="0" rtlCol="0" anchor="ctr"/>
                <a:lstStyle/>
                <a:p>
                  <a:pPr algn="l">
                    <a:lnSpc>
                      <a:spcPts val="2340"/>
                    </a:lnSpc>
                  </a:pPr>
                  <a:r>
                    <a:rPr lang="en-US" sz="1950">
                      <a:solidFill>
                        <a:srgbClr val="B3222A"/>
                      </a:solidFill>
                      <a:latin typeface="Arial"/>
                      <a:ea typeface="Arial"/>
                      <a:cs typeface="Arial"/>
                      <a:sym typeface="Arial"/>
                    </a:rPr>
                    <a:t> </a:t>
                  </a:r>
                  <a14:m>
                    <m:oMath xmlns:m="http://schemas.openxmlformats.org/officeDocument/2006/math">
                      <m:sSub>
                        <m:sSubPr>
                          <m:ctrlPr>
                            <a:rPr lang="en-US" sz="2200" b="0" i="1" smtClean="0">
                              <a:solidFill>
                                <a:srgbClr val="B3222A"/>
                              </a:solidFill>
                              <a:latin typeface="Cambria Math" panose="02040503050406030204" pitchFamily="18" charset="0"/>
                              <a:ea typeface="Arial"/>
                              <a:cs typeface="Arial"/>
                              <a:sym typeface="Arial"/>
                            </a:rPr>
                          </m:ctrlPr>
                        </m:sSubPr>
                        <m:e>
                          <m:r>
                            <a:rPr lang="en-US" sz="2200" b="0" i="1" smtClean="0">
                              <a:solidFill>
                                <a:srgbClr val="B3222A"/>
                              </a:solidFill>
                              <a:latin typeface="Cambria Math" panose="02040503050406030204" pitchFamily="18" charset="0"/>
                              <a:ea typeface="Arial"/>
                              <a:cs typeface="Arial"/>
                              <a:sym typeface="Arial"/>
                            </a:rPr>
                            <m:t>𝑤</m:t>
                          </m:r>
                        </m:e>
                        <m:sub>
                          <m:r>
                            <a:rPr lang="en-US" sz="2200" b="0" i="1" smtClean="0">
                              <a:solidFill>
                                <a:srgbClr val="B3222A"/>
                              </a:solidFill>
                              <a:latin typeface="Cambria Math" panose="02040503050406030204" pitchFamily="18" charset="0"/>
                              <a:ea typeface="Arial"/>
                              <a:cs typeface="Arial"/>
                              <a:sym typeface="Arial"/>
                            </a:rPr>
                            <m:t>𝑟𝑒𝑝</m:t>
                          </m:r>
                        </m:sub>
                      </m:sSub>
                      <m:r>
                        <a:rPr lang="en-US" sz="2200" b="0" i="1" smtClean="0">
                          <a:solidFill>
                            <a:srgbClr val="B3222A"/>
                          </a:solidFill>
                          <a:latin typeface="Cambria Math" panose="02040503050406030204" pitchFamily="18" charset="0"/>
                          <a:ea typeface="Arial"/>
                          <a:cs typeface="Arial"/>
                          <a:sym typeface="Arial"/>
                        </a:rPr>
                        <m:t>=</m:t>
                      </m:r>
                      <m:f>
                        <m:fPr>
                          <m:ctrlPr>
                            <a:rPr lang="en-US" sz="2200" b="0" i="1" smtClean="0">
                              <a:solidFill>
                                <a:srgbClr val="B3222A"/>
                              </a:solidFill>
                              <a:latin typeface="Cambria Math" panose="02040503050406030204" pitchFamily="18" charset="0"/>
                              <a:ea typeface="Arial"/>
                              <a:cs typeface="Arial"/>
                              <a:sym typeface="Arial"/>
                            </a:rPr>
                          </m:ctrlPr>
                        </m:fPr>
                        <m:num>
                          <m:r>
                            <a:rPr lang="en-US" sz="2200" b="0" i="1" smtClean="0">
                              <a:solidFill>
                                <a:srgbClr val="B3222A"/>
                              </a:solidFill>
                              <a:latin typeface="Cambria Math" panose="02040503050406030204" pitchFamily="18" charset="0"/>
                              <a:ea typeface="Arial"/>
                              <a:cs typeface="Arial"/>
                              <a:sym typeface="Arial"/>
                            </a:rPr>
                            <m:t>1</m:t>
                          </m:r>
                        </m:num>
                        <m:den>
                          <m:r>
                            <a:rPr lang="en-US" sz="2200" b="0" i="1" smtClean="0">
                              <a:solidFill>
                                <a:srgbClr val="B3222A"/>
                              </a:solidFill>
                              <a:latin typeface="Cambria Math" panose="02040503050406030204" pitchFamily="18" charset="0"/>
                              <a:ea typeface="Arial"/>
                              <a:cs typeface="Arial"/>
                              <a:sym typeface="Arial"/>
                            </a:rPr>
                            <m:t>1+</m:t>
                          </m:r>
                          <m:sSup>
                            <m:sSupPr>
                              <m:ctrlPr>
                                <a:rPr lang="en-US" sz="2200" b="0" i="1" smtClean="0">
                                  <a:solidFill>
                                    <a:srgbClr val="B3222A"/>
                                  </a:solidFill>
                                  <a:latin typeface="Cambria Math" panose="02040503050406030204" pitchFamily="18" charset="0"/>
                                  <a:ea typeface="Arial"/>
                                  <a:cs typeface="Arial"/>
                                  <a:sym typeface="Arial"/>
                                </a:rPr>
                              </m:ctrlPr>
                            </m:sSupPr>
                            <m:e>
                              <m:r>
                                <a:rPr lang="en-US" sz="2200" b="0" i="1" smtClean="0">
                                  <a:solidFill>
                                    <a:srgbClr val="B3222A"/>
                                  </a:solidFill>
                                  <a:latin typeface="Cambria Math" panose="02040503050406030204" pitchFamily="18" charset="0"/>
                                  <a:ea typeface="Arial"/>
                                  <a:cs typeface="Arial"/>
                                  <a:sym typeface="Arial"/>
                                </a:rPr>
                                <m:t>𝑒</m:t>
                              </m:r>
                            </m:e>
                            <m:sup>
                              <m:r>
                                <a:rPr lang="en-US" sz="2200" b="0" i="1" smtClean="0">
                                  <a:solidFill>
                                    <a:srgbClr val="B3222A"/>
                                  </a:solidFill>
                                  <a:latin typeface="Cambria Math" panose="02040503050406030204" pitchFamily="18" charset="0"/>
                                  <a:ea typeface="Arial"/>
                                  <a:cs typeface="Arial"/>
                                  <a:sym typeface="Arial"/>
                                </a:rPr>
                                <m:t>−</m:t>
                              </m:r>
                              <m:sSub>
                                <m:sSubPr>
                                  <m:ctrlPr>
                                    <a:rPr lang="en-US" sz="2200" b="0" i="1" smtClean="0">
                                      <a:solidFill>
                                        <a:srgbClr val="B3222A"/>
                                      </a:solidFill>
                                      <a:latin typeface="Cambria Math" panose="02040503050406030204" pitchFamily="18" charset="0"/>
                                      <a:ea typeface="Arial"/>
                                      <a:cs typeface="Arial"/>
                                      <a:sym typeface="Arial"/>
                                    </a:rPr>
                                  </m:ctrlPr>
                                </m:sSubPr>
                                <m:e>
                                  <m:r>
                                    <a:rPr lang="en-US" sz="2200" b="0" i="1" smtClean="0">
                                      <a:solidFill>
                                        <a:srgbClr val="B3222A"/>
                                      </a:solidFill>
                                      <a:latin typeface="Cambria Math" panose="02040503050406030204" pitchFamily="18" charset="0"/>
                                      <a:ea typeface="Arial"/>
                                      <a:cs typeface="Arial"/>
                                      <a:sym typeface="Arial"/>
                                    </a:rPr>
                                    <m:t>𝑑</m:t>
                                  </m:r>
                                </m:e>
                                <m:sub>
                                  <m:r>
                                    <a:rPr lang="en-US" sz="2200" b="0" i="1" smtClean="0">
                                      <a:solidFill>
                                        <a:srgbClr val="B3222A"/>
                                      </a:solidFill>
                                      <a:latin typeface="Cambria Math" panose="02040503050406030204" pitchFamily="18" charset="0"/>
                                      <a:ea typeface="Arial"/>
                                      <a:cs typeface="Arial"/>
                                      <a:sym typeface="Arial"/>
                                    </a:rPr>
                                    <m:t>𝑔𝑜𝑎𝑙</m:t>
                                  </m:r>
                                </m:sub>
                              </m:sSub>
                            </m:sup>
                          </m:sSup>
                        </m:den>
                      </m:f>
                      <m:r>
                        <a:rPr lang="en-US" sz="2200" b="0" i="1" smtClean="0">
                          <a:solidFill>
                            <a:srgbClr val="B3222A"/>
                          </a:solidFill>
                          <a:latin typeface="Cambria Math" panose="02040503050406030204" pitchFamily="18" charset="0"/>
                          <a:ea typeface="Arial"/>
                          <a:cs typeface="Arial"/>
                          <a:sym typeface="Arial"/>
                        </a:rPr>
                        <m:t>−</m:t>
                      </m:r>
                      <m:f>
                        <m:fPr>
                          <m:ctrlPr>
                            <a:rPr lang="en-US" sz="2200" b="0" i="1" smtClean="0">
                              <a:solidFill>
                                <a:srgbClr val="B3222A"/>
                              </a:solidFill>
                              <a:latin typeface="Cambria Math" panose="02040503050406030204" pitchFamily="18" charset="0"/>
                              <a:ea typeface="Arial"/>
                              <a:cs typeface="Arial"/>
                              <a:sym typeface="Arial"/>
                            </a:rPr>
                          </m:ctrlPr>
                        </m:fPr>
                        <m:num>
                          <m:r>
                            <a:rPr lang="en-US" sz="2200" b="0" i="1" smtClean="0">
                              <a:solidFill>
                                <a:srgbClr val="B3222A"/>
                              </a:solidFill>
                              <a:latin typeface="Cambria Math" panose="02040503050406030204" pitchFamily="18" charset="0"/>
                              <a:ea typeface="Arial"/>
                              <a:cs typeface="Arial"/>
                              <a:sym typeface="Arial"/>
                            </a:rPr>
                            <m:t>1</m:t>
                          </m:r>
                        </m:num>
                        <m:den>
                          <m:r>
                            <a:rPr lang="en-US" sz="2200" b="0" i="1" smtClean="0">
                              <a:solidFill>
                                <a:srgbClr val="B3222A"/>
                              </a:solidFill>
                              <a:latin typeface="Cambria Math" panose="02040503050406030204" pitchFamily="18" charset="0"/>
                              <a:ea typeface="Arial"/>
                              <a:cs typeface="Arial"/>
                              <a:sym typeface="Arial"/>
                            </a:rPr>
                            <m:t>2</m:t>
                          </m:r>
                        </m:den>
                      </m:f>
                      <m:r>
                        <a:rPr lang="en-US" sz="2200" b="0" i="0" smtClean="0">
                          <a:solidFill>
                            <a:srgbClr val="B3222A"/>
                          </a:solidFill>
                          <a:latin typeface="Cambria Math" panose="02040503050406030204" pitchFamily="18" charset="0"/>
                          <a:ea typeface="Arial"/>
                          <a:cs typeface="Arial"/>
                          <a:sym typeface="Arial"/>
                        </a:rPr>
                        <m:t>⇒</m:t>
                      </m:r>
                      <m:sSub>
                        <m:sSubPr>
                          <m:ctrlPr>
                            <a:rPr lang="en-US" sz="2200" b="0" i="0" smtClean="0">
                              <a:solidFill>
                                <a:srgbClr val="B3222A"/>
                              </a:solidFill>
                              <a:latin typeface="Cambria Math" panose="02040503050406030204" pitchFamily="18" charset="0"/>
                              <a:ea typeface="Arial"/>
                              <a:cs typeface="Arial"/>
                              <a:sym typeface="Arial"/>
                            </a:rPr>
                          </m:ctrlPr>
                        </m:sSubPr>
                        <m:e>
                          <m:r>
                            <m:rPr>
                              <m:sty m:val="p"/>
                            </m:rPr>
                            <a:rPr lang="en-US" sz="2200" b="0" i="0" smtClean="0">
                              <a:solidFill>
                                <a:srgbClr val="B3222A"/>
                              </a:solidFill>
                              <a:latin typeface="Cambria Math" panose="02040503050406030204" pitchFamily="18" charset="0"/>
                              <a:ea typeface="Arial"/>
                              <a:cs typeface="Arial"/>
                              <a:sym typeface="Arial"/>
                            </a:rPr>
                            <m:t>F</m:t>
                          </m:r>
                        </m:e>
                        <m:sub>
                          <m:r>
                            <a:rPr lang="en-US" sz="2200" b="0" i="1" smtClean="0">
                              <a:solidFill>
                                <a:srgbClr val="B3222A"/>
                              </a:solidFill>
                              <a:latin typeface="Cambria Math" panose="02040503050406030204" pitchFamily="18" charset="0"/>
                              <a:ea typeface="Arial"/>
                              <a:cs typeface="Arial"/>
                              <a:sym typeface="Arial"/>
                            </a:rPr>
                            <m:t>𝑟𝑒𝑝</m:t>
                          </m:r>
                        </m:sub>
                      </m:sSub>
                      <m:r>
                        <a:rPr lang="en-US" sz="2200" b="0" i="1" smtClean="0">
                          <a:solidFill>
                            <a:srgbClr val="B3222A"/>
                          </a:solidFill>
                          <a:latin typeface="Cambria Math" panose="02040503050406030204" pitchFamily="18" charset="0"/>
                          <a:ea typeface="Arial"/>
                          <a:cs typeface="Arial"/>
                          <a:sym typeface="Arial"/>
                        </a:rPr>
                        <m:t>→0</m:t>
                      </m:r>
                    </m:oMath>
                  </a14:m>
                  <a:endParaRPr lang="en-US" sz="2200">
                    <a:solidFill>
                      <a:srgbClr val="B3222A"/>
                    </a:solidFill>
                    <a:latin typeface="Arial"/>
                    <a:ea typeface="Arial"/>
                    <a:cs typeface="Arial"/>
                    <a:sym typeface="Arial"/>
                  </a:endParaRPr>
                </a:p>
              </p:txBody>
            </p:sp>
          </mc:Choice>
          <mc:Fallback xmlns="">
            <p:sp>
              <p:nvSpPr>
                <p:cNvPr id="75" name="TextBox 75"/>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5"/>
                  <a:stretch>
                    <a:fillRect/>
                  </a:stretch>
                </a:blipFill>
              </p:spPr>
              <p:txBody>
                <a:bodyPr/>
                <a:lstStyle/>
                <a:p>
                  <a:r>
                    <a:rPr lang="en-US">
                      <a:noFill/>
                    </a:rPr>
                    <a:t> </a:t>
                  </a:r>
                </a:p>
              </p:txBody>
            </p:sp>
          </mc:Fallback>
        </mc:AlternateContent>
      </p:grpSp>
      <p:sp>
        <p:nvSpPr>
          <p:cNvPr id="76" name="TextBox 76"/>
          <p:cNvSpPr txBox="1"/>
          <p:nvPr/>
        </p:nvSpPr>
        <p:spPr>
          <a:xfrm>
            <a:off x="8334756" y="3780663"/>
            <a:ext cx="8814816" cy="356997"/>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Áp sát đích, lực cản tự triệt tiêu → drone về đúng tâm bãi đáp, không bị dội ngược.</a:t>
            </a:r>
          </a:p>
        </p:txBody>
      </p:sp>
      <p:grpSp>
        <p:nvGrpSpPr>
          <p:cNvPr id="77" name="Group 77"/>
          <p:cNvGrpSpPr/>
          <p:nvPr/>
        </p:nvGrpSpPr>
        <p:grpSpPr>
          <a:xfrm>
            <a:off x="8016716" y="4313396"/>
            <a:ext cx="9450896" cy="1797367"/>
            <a:chOff x="0" y="0"/>
            <a:chExt cx="12601194" cy="2396490"/>
          </a:xfrm>
        </p:grpSpPr>
        <p:sp>
          <p:nvSpPr>
            <p:cNvPr id="78" name="Freeform 78"/>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79" name="Group 79"/>
          <p:cNvGrpSpPr/>
          <p:nvPr/>
        </p:nvGrpSpPr>
        <p:grpSpPr>
          <a:xfrm>
            <a:off x="8298180" y="4320540"/>
            <a:ext cx="960120" cy="68580"/>
            <a:chOff x="0" y="0"/>
            <a:chExt cx="1280160" cy="91440"/>
          </a:xfrm>
        </p:grpSpPr>
        <p:sp>
          <p:nvSpPr>
            <p:cNvPr id="80" name="Freeform 80"/>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81" name="Group 81"/>
          <p:cNvGrpSpPr/>
          <p:nvPr/>
        </p:nvGrpSpPr>
        <p:grpSpPr>
          <a:xfrm>
            <a:off x="8298180" y="4553712"/>
            <a:ext cx="2029968" cy="329184"/>
            <a:chOff x="0" y="0"/>
            <a:chExt cx="2706624" cy="438912"/>
          </a:xfrm>
        </p:grpSpPr>
        <p:sp>
          <p:nvSpPr>
            <p:cNvPr id="82" name="Freeform 82"/>
            <p:cNvSpPr/>
            <p:nvPr/>
          </p:nvSpPr>
          <p:spPr>
            <a:xfrm>
              <a:off x="0" y="0"/>
              <a:ext cx="2706624" cy="438912"/>
            </a:xfrm>
            <a:custGeom>
              <a:avLst/>
              <a:gdLst/>
              <a:ahLst/>
              <a:cxnLst/>
              <a:rect l="l" t="t" r="r" b="b"/>
              <a:pathLst>
                <a:path w="2706624" h="438912">
                  <a:moveTo>
                    <a:pt x="0" y="219456"/>
                  </a:moveTo>
                  <a:cubicBezTo>
                    <a:pt x="0" y="98298"/>
                    <a:pt x="98298" y="0"/>
                    <a:pt x="219456" y="0"/>
                  </a:cubicBezTo>
                  <a:lnTo>
                    <a:pt x="2487168" y="0"/>
                  </a:lnTo>
                  <a:cubicBezTo>
                    <a:pt x="2608326" y="0"/>
                    <a:pt x="2706624" y="98298"/>
                    <a:pt x="2706624" y="219456"/>
                  </a:cubicBezTo>
                  <a:cubicBezTo>
                    <a:pt x="2706624" y="340614"/>
                    <a:pt x="2608326" y="438912"/>
                    <a:pt x="2487168"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83" name="TextBox 83"/>
            <p:cNvSpPr txBox="1"/>
            <p:nvPr/>
          </p:nvSpPr>
          <p:spPr>
            <a:xfrm>
              <a:off x="0" y="-19050"/>
              <a:ext cx="2706624"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LOCAL MINIMA</a:t>
              </a:r>
            </a:p>
          </p:txBody>
        </p:sp>
      </p:grpSp>
      <p:grpSp>
        <p:nvGrpSpPr>
          <p:cNvPr id="84" name="Group 84"/>
          <p:cNvGrpSpPr/>
          <p:nvPr/>
        </p:nvGrpSpPr>
        <p:grpSpPr>
          <a:xfrm>
            <a:off x="10602468" y="4512564"/>
            <a:ext cx="6035040" cy="411480"/>
            <a:chOff x="0" y="0"/>
            <a:chExt cx="8046720" cy="548640"/>
          </a:xfrm>
        </p:grpSpPr>
        <p:sp>
          <p:nvSpPr>
            <p:cNvPr id="85" name="Freeform 85"/>
            <p:cNvSpPr/>
            <p:nvPr/>
          </p:nvSpPr>
          <p:spPr>
            <a:xfrm>
              <a:off x="0" y="0"/>
              <a:ext cx="8046720" cy="548640"/>
            </a:xfrm>
            <a:custGeom>
              <a:avLst/>
              <a:gdLst/>
              <a:ahLst/>
              <a:cxnLst/>
              <a:rect l="l" t="t" r="r" b="b"/>
              <a:pathLst>
                <a:path w="8046720" h="548640">
                  <a:moveTo>
                    <a:pt x="0" y="0"/>
                  </a:moveTo>
                  <a:lnTo>
                    <a:pt x="8046720" y="0"/>
                  </a:lnTo>
                  <a:lnTo>
                    <a:pt x="8046720" y="548640"/>
                  </a:lnTo>
                  <a:lnTo>
                    <a:pt x="0" y="548640"/>
                  </a:lnTo>
                  <a:close/>
                </a:path>
              </a:pathLst>
            </a:custGeom>
            <a:blipFill>
              <a:blip r:embed="rId4">
                <a:alphaModFix amt="0"/>
              </a:blip>
              <a:stretch>
                <a:fillRect t="-235780" b="-235780"/>
              </a:stretch>
            </a:blipFill>
          </p:spPr>
          <p:txBody>
            <a:bodyPr/>
            <a:lstStyle/>
            <a:p>
              <a:endParaRPr lang="en-US"/>
            </a:p>
          </p:txBody>
        </p:sp>
        <p:sp>
          <p:nvSpPr>
            <p:cNvPr id="86" name="TextBox 86"/>
            <p:cNvSpPr txBox="1"/>
            <p:nvPr/>
          </p:nvSpPr>
          <p:spPr>
            <a:xfrm>
              <a:off x="0" y="-28575"/>
              <a:ext cx="8046720"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Dynamic 3D Tangent Plane</a:t>
              </a:r>
            </a:p>
          </p:txBody>
        </p:sp>
      </p:grpSp>
      <p:grpSp>
        <p:nvGrpSpPr>
          <p:cNvPr id="87" name="Group 87"/>
          <p:cNvGrpSpPr/>
          <p:nvPr/>
        </p:nvGrpSpPr>
        <p:grpSpPr>
          <a:xfrm>
            <a:off x="8291036" y="5026628"/>
            <a:ext cx="8902256" cy="617792"/>
            <a:chOff x="0" y="0"/>
            <a:chExt cx="11869674" cy="823722"/>
          </a:xfrm>
        </p:grpSpPr>
        <p:sp>
          <p:nvSpPr>
            <p:cNvPr id="88" name="Freeform 88"/>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89" name="Group 89"/>
          <p:cNvGrpSpPr/>
          <p:nvPr/>
        </p:nvGrpSpPr>
        <p:grpSpPr>
          <a:xfrm>
            <a:off x="8407908" y="5033772"/>
            <a:ext cx="8668512" cy="603504"/>
            <a:chOff x="0" y="0"/>
            <a:chExt cx="11558016" cy="804672"/>
          </a:xfrm>
        </p:grpSpPr>
        <p:sp>
          <p:nvSpPr>
            <p:cNvPr id="90" name="Freeform 90"/>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91" name="TextBox 91"/>
                <p:cNvSpPr txBox="1"/>
                <p:nvPr/>
              </p:nvSpPr>
              <p:spPr>
                <a:xfrm>
                  <a:off x="0" y="-19050"/>
                  <a:ext cx="11558016" cy="823722"/>
                </a:xfrm>
                <a:prstGeom prst="rect">
                  <a:avLst/>
                </a:prstGeom>
              </p:spPr>
              <p:txBody>
                <a:bodyPr lIns="0" tIns="0" rIns="0" bIns="0" rtlCol="0" anchor="ctr"/>
                <a:lstStyle/>
                <a:p>
                  <a:pPr algn="l">
                    <a:lnSpc>
                      <a:spcPts val="2160"/>
                    </a:lnSpc>
                  </a:pPr>
                  <a14:m>
                    <m:oMath xmlns:m="http://schemas.openxmlformats.org/officeDocument/2006/math">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m:t>
                          </m:r>
                          <m:r>
                            <a:rPr lang="en-US" sz="2400" b="0" i="1" smtClean="0">
                              <a:solidFill>
                                <a:srgbClr val="B3222A"/>
                              </a:solidFill>
                              <a:latin typeface="Cambria Math" panose="02040503050406030204" pitchFamily="18" charset="0"/>
                              <a:ea typeface="Arial"/>
                              <a:cs typeface="Arial"/>
                              <a:sym typeface="Arial"/>
                            </a:rPr>
                            <m:t>𝐹</m:t>
                          </m:r>
                        </m:e>
                        <m:sub>
                          <m:r>
                            <a:rPr lang="en-US" sz="2400" b="0" i="1" smtClean="0">
                              <a:solidFill>
                                <a:srgbClr val="B3222A"/>
                              </a:solidFill>
                              <a:latin typeface="Cambria Math" panose="02040503050406030204" pitchFamily="18" charset="0"/>
                              <a:ea typeface="Arial"/>
                              <a:cs typeface="Arial"/>
                              <a:sym typeface="Arial"/>
                            </a:rPr>
                            <m:t>𝑡𝑜𝑡𝑎𝑙</m:t>
                          </m:r>
                        </m:sub>
                      </m:sSub>
                      <m:r>
                        <a:rPr lang="en-US" sz="2400" b="0" i="1" smtClean="0">
                          <a:solidFill>
                            <a:srgbClr val="B3222A"/>
                          </a:solidFill>
                          <a:latin typeface="Cambria Math" panose="02040503050406030204" pitchFamily="18" charset="0"/>
                          <a:ea typeface="Arial"/>
                          <a:cs typeface="Arial"/>
                          <a:sym typeface="Arial"/>
                        </a:rPr>
                        <m:t>|&lt;</m:t>
                      </m:r>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𝐹</m:t>
                          </m:r>
                        </m:e>
                        <m:sub>
                          <m:r>
                            <a:rPr lang="en-US" sz="2400" b="0" i="1" smtClean="0">
                              <a:solidFill>
                                <a:srgbClr val="B3222A"/>
                              </a:solidFill>
                              <a:latin typeface="Cambria Math" panose="02040503050406030204" pitchFamily="18" charset="0"/>
                              <a:ea typeface="Arial"/>
                              <a:cs typeface="Arial"/>
                              <a:sym typeface="Arial"/>
                            </a:rPr>
                            <m:t>𝑒𝑛𝑡𝑒𝑟</m:t>
                          </m:r>
                        </m:sub>
                      </m:sSub>
                    </m:oMath>
                  </a14:m>
                  <a:r>
                    <a:rPr lang="en-US" sz="2400">
                      <a:solidFill>
                        <a:srgbClr val="B3222A"/>
                      </a:solidFill>
                      <a:latin typeface="Arial"/>
                      <a:ea typeface="Arial"/>
                      <a:cs typeface="Arial"/>
                      <a:sym typeface="Arial"/>
                    </a:rPr>
                    <a:t>  →  </a:t>
                  </a:r>
                  <a:r>
                    <a:rPr lang="en-US" sz="2000">
                      <a:solidFill>
                        <a:srgbClr val="B3222A"/>
                      </a:solidFill>
                      <a:latin typeface="Arial"/>
                      <a:ea typeface="Arial"/>
                      <a:cs typeface="Arial"/>
                      <a:sym typeface="Arial"/>
                    </a:rPr>
                    <a:t>24 tia tiếp tuyến </a:t>
                  </a:r>
                  <a:r>
                    <a:rPr lang="en-US" sz="2400">
                      <a:solidFill>
                        <a:srgbClr val="B3222A"/>
                      </a:solidFill>
                      <a:latin typeface="Arial"/>
                      <a:ea typeface="Arial"/>
                      <a:cs typeface="Arial"/>
                      <a:sym typeface="Arial"/>
                    </a:rPr>
                    <a:t>· </a:t>
                  </a:r>
                  <a14:m>
                    <m:oMath xmlns:m="http://schemas.openxmlformats.org/officeDocument/2006/math">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𝑁</m:t>
                          </m:r>
                        </m:e>
                        <m:sub>
                          <m:r>
                            <a:rPr lang="en-US" sz="2400" b="0" i="1" smtClean="0">
                              <a:solidFill>
                                <a:srgbClr val="B3222A"/>
                              </a:solidFill>
                              <a:latin typeface="Cambria Math" panose="02040503050406030204" pitchFamily="18" charset="0"/>
                              <a:ea typeface="Arial"/>
                              <a:cs typeface="Arial"/>
                              <a:sym typeface="Arial"/>
                            </a:rPr>
                            <m:t>𝑝𝑟𝑒𝑑</m:t>
                          </m:r>
                        </m:sub>
                      </m:sSub>
                      <m:r>
                        <a:rPr lang="en-US" sz="2400" b="0" i="1" smtClean="0">
                          <a:solidFill>
                            <a:srgbClr val="B3222A"/>
                          </a:solidFill>
                          <a:latin typeface="Cambria Math" panose="02040503050406030204" pitchFamily="18" charset="0"/>
                          <a:ea typeface="Arial"/>
                          <a:cs typeface="Arial"/>
                          <a:sym typeface="Arial"/>
                        </a:rPr>
                        <m:t>=10</m:t>
                      </m:r>
                    </m:oMath>
                  </a14:m>
                  <a:endParaRPr lang="en-US" sz="2400">
                    <a:solidFill>
                      <a:srgbClr val="B3222A"/>
                    </a:solidFill>
                    <a:latin typeface="Arial"/>
                    <a:ea typeface="Arial"/>
                    <a:cs typeface="Arial"/>
                    <a:sym typeface="Arial"/>
                  </a:endParaRPr>
                </a:p>
              </p:txBody>
            </p:sp>
          </mc:Choice>
          <mc:Fallback xmlns="">
            <p:sp>
              <p:nvSpPr>
                <p:cNvPr id="91" name="TextBox 91"/>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6"/>
                  <a:stretch>
                    <a:fillRect l="-1617" t="-3922"/>
                  </a:stretch>
                </a:blipFill>
              </p:spPr>
              <p:txBody>
                <a:bodyPr/>
                <a:lstStyle/>
                <a:p>
                  <a:r>
                    <a:rPr lang="en-US">
                      <a:noFill/>
                    </a:rPr>
                    <a:t> </a:t>
                  </a:r>
                </a:p>
              </p:txBody>
            </p:sp>
          </mc:Fallback>
        </mc:AlternateContent>
      </p:grpSp>
      <p:sp>
        <p:nvSpPr>
          <p:cNvPr id="92" name="TextBox 92"/>
          <p:cNvSpPr txBox="1"/>
          <p:nvPr/>
        </p:nvSpPr>
        <p:spPr>
          <a:xfrm>
            <a:off x="8334756" y="5752983"/>
            <a:ext cx="8814816" cy="228717"/>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Schmitt trigger: vào 650N, thoát 700N. Chọn hướng thoáng nhất sau 10 bước dự báo.</a:t>
            </a:r>
          </a:p>
        </p:txBody>
      </p:sp>
      <p:grpSp>
        <p:nvGrpSpPr>
          <p:cNvPr id="93" name="Group 93"/>
          <p:cNvGrpSpPr/>
          <p:nvPr/>
        </p:nvGrpSpPr>
        <p:grpSpPr>
          <a:xfrm>
            <a:off x="8016716" y="6233636"/>
            <a:ext cx="9450896" cy="1797367"/>
            <a:chOff x="0" y="0"/>
            <a:chExt cx="12601194" cy="2396490"/>
          </a:xfrm>
        </p:grpSpPr>
        <p:sp>
          <p:nvSpPr>
            <p:cNvPr id="94" name="Freeform 94"/>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95" name="Group 95"/>
          <p:cNvGrpSpPr/>
          <p:nvPr/>
        </p:nvGrpSpPr>
        <p:grpSpPr>
          <a:xfrm>
            <a:off x="8298180" y="6240780"/>
            <a:ext cx="960120" cy="68580"/>
            <a:chOff x="0" y="0"/>
            <a:chExt cx="1280160" cy="91440"/>
          </a:xfrm>
        </p:grpSpPr>
        <p:sp>
          <p:nvSpPr>
            <p:cNvPr id="96" name="Freeform 96"/>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grpSp>
        <p:nvGrpSpPr>
          <p:cNvPr id="97" name="Group 97"/>
          <p:cNvGrpSpPr/>
          <p:nvPr/>
        </p:nvGrpSpPr>
        <p:grpSpPr>
          <a:xfrm>
            <a:off x="8298180" y="6473952"/>
            <a:ext cx="1659636" cy="329184"/>
            <a:chOff x="0" y="0"/>
            <a:chExt cx="2212848" cy="438912"/>
          </a:xfrm>
        </p:grpSpPr>
        <p:sp>
          <p:nvSpPr>
            <p:cNvPr id="98" name="Freeform 98"/>
            <p:cNvSpPr/>
            <p:nvPr/>
          </p:nvSpPr>
          <p:spPr>
            <a:xfrm>
              <a:off x="0" y="0"/>
              <a:ext cx="2212848" cy="438912"/>
            </a:xfrm>
            <a:custGeom>
              <a:avLst/>
              <a:gdLst/>
              <a:ahLst/>
              <a:cxnLst/>
              <a:rect l="l" t="t" r="r" b="b"/>
              <a:pathLst>
                <a:path w="2212848" h="438912">
                  <a:moveTo>
                    <a:pt x="0" y="219456"/>
                  </a:moveTo>
                  <a:cubicBezTo>
                    <a:pt x="0" y="98298"/>
                    <a:pt x="98298" y="0"/>
                    <a:pt x="219456" y="0"/>
                  </a:cubicBezTo>
                  <a:lnTo>
                    <a:pt x="1993392" y="0"/>
                  </a:lnTo>
                  <a:cubicBezTo>
                    <a:pt x="2114550" y="0"/>
                    <a:pt x="2212848" y="98298"/>
                    <a:pt x="2212848" y="219456"/>
                  </a:cubicBezTo>
                  <a:cubicBezTo>
                    <a:pt x="2212848" y="340614"/>
                    <a:pt x="2114550" y="438912"/>
                    <a:pt x="1993392" y="438912"/>
                  </a:cubicBezTo>
                  <a:lnTo>
                    <a:pt x="219456" y="438912"/>
                  </a:lnTo>
                  <a:cubicBezTo>
                    <a:pt x="98298" y="438912"/>
                    <a:pt x="0" y="340614"/>
                    <a:pt x="0" y="219456"/>
                  </a:cubicBezTo>
                  <a:close/>
                </a:path>
              </a:pathLst>
            </a:custGeom>
            <a:solidFill>
              <a:srgbClr val="595959"/>
            </a:solidFill>
          </p:spPr>
          <p:txBody>
            <a:bodyPr/>
            <a:lstStyle/>
            <a:p>
              <a:endParaRPr lang="en-US"/>
            </a:p>
          </p:txBody>
        </p:sp>
        <p:sp>
          <p:nvSpPr>
            <p:cNvPr id="99" name="TextBox 99"/>
            <p:cNvSpPr txBox="1"/>
            <p:nvPr/>
          </p:nvSpPr>
          <p:spPr>
            <a:xfrm>
              <a:off x="0" y="-19050"/>
              <a:ext cx="2212848"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SMOOTHING</a:t>
              </a:r>
            </a:p>
          </p:txBody>
        </p:sp>
      </p:grpSp>
      <p:grpSp>
        <p:nvGrpSpPr>
          <p:cNvPr id="100" name="Group 100"/>
          <p:cNvGrpSpPr/>
          <p:nvPr/>
        </p:nvGrpSpPr>
        <p:grpSpPr>
          <a:xfrm>
            <a:off x="10232136" y="6432804"/>
            <a:ext cx="6405372" cy="411480"/>
            <a:chOff x="0" y="0"/>
            <a:chExt cx="8540496" cy="548640"/>
          </a:xfrm>
        </p:grpSpPr>
        <p:sp>
          <p:nvSpPr>
            <p:cNvPr id="101" name="Freeform 101"/>
            <p:cNvSpPr/>
            <p:nvPr/>
          </p:nvSpPr>
          <p:spPr>
            <a:xfrm>
              <a:off x="0" y="0"/>
              <a:ext cx="8540496" cy="548640"/>
            </a:xfrm>
            <a:custGeom>
              <a:avLst/>
              <a:gdLst/>
              <a:ahLst/>
              <a:cxnLst/>
              <a:rect l="l" t="t" r="r" b="b"/>
              <a:pathLst>
                <a:path w="8540496" h="548640">
                  <a:moveTo>
                    <a:pt x="0" y="0"/>
                  </a:moveTo>
                  <a:lnTo>
                    <a:pt x="8540496" y="0"/>
                  </a:lnTo>
                  <a:lnTo>
                    <a:pt x="8540496" y="548640"/>
                  </a:lnTo>
                  <a:lnTo>
                    <a:pt x="0" y="548640"/>
                  </a:lnTo>
                  <a:close/>
                </a:path>
              </a:pathLst>
            </a:custGeom>
            <a:blipFill>
              <a:blip r:embed="rId4">
                <a:alphaModFix amt="0"/>
              </a:blip>
              <a:stretch>
                <a:fillRect t="-253317" b="-253317"/>
              </a:stretch>
            </a:blipFill>
          </p:spPr>
          <p:txBody>
            <a:bodyPr/>
            <a:lstStyle/>
            <a:p>
              <a:endParaRPr lang="en-US"/>
            </a:p>
          </p:txBody>
        </p:sp>
        <p:sp>
          <p:nvSpPr>
            <p:cNvPr id="102" name="TextBox 102"/>
            <p:cNvSpPr txBox="1"/>
            <p:nvPr/>
          </p:nvSpPr>
          <p:spPr>
            <a:xfrm>
              <a:off x="0" y="-28575"/>
              <a:ext cx="8540496"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Khử rung lắc hướng bay</a:t>
              </a:r>
            </a:p>
          </p:txBody>
        </p:sp>
      </p:grpSp>
      <p:grpSp>
        <p:nvGrpSpPr>
          <p:cNvPr id="103" name="Group 103"/>
          <p:cNvGrpSpPr/>
          <p:nvPr/>
        </p:nvGrpSpPr>
        <p:grpSpPr>
          <a:xfrm>
            <a:off x="8291036" y="6946868"/>
            <a:ext cx="8902256" cy="617792"/>
            <a:chOff x="0" y="0"/>
            <a:chExt cx="11869674" cy="823722"/>
          </a:xfrm>
        </p:grpSpPr>
        <p:sp>
          <p:nvSpPr>
            <p:cNvPr id="104" name="Freeform 104"/>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105" name="Group 105"/>
          <p:cNvGrpSpPr/>
          <p:nvPr/>
        </p:nvGrpSpPr>
        <p:grpSpPr>
          <a:xfrm>
            <a:off x="8407908" y="6972300"/>
            <a:ext cx="8668512" cy="603504"/>
            <a:chOff x="0" y="0"/>
            <a:chExt cx="11558016" cy="804672"/>
          </a:xfrm>
        </p:grpSpPr>
        <p:sp>
          <p:nvSpPr>
            <p:cNvPr id="106" name="Freeform 106"/>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107" name="TextBox 107"/>
                <p:cNvSpPr txBox="1"/>
                <p:nvPr/>
              </p:nvSpPr>
              <p:spPr>
                <a:xfrm>
                  <a:off x="0" y="-19050"/>
                  <a:ext cx="11558016" cy="823722"/>
                </a:xfrm>
                <a:prstGeom prst="rect">
                  <a:avLst/>
                </a:prstGeom>
              </p:spPr>
              <p:txBody>
                <a:bodyPr lIns="0" tIns="0" rIns="0" bIns="0" rtlCol="0" anchor="ctr"/>
                <a:lstStyle/>
                <a:p>
                  <a:pPr algn="l">
                    <a:lnSpc>
                      <a:spcPts val="2160"/>
                    </a:lnSpc>
                  </a:pPr>
                  <a14:m>
                    <m:oMath xmlns:m="http://schemas.openxmlformats.org/officeDocument/2006/math">
                      <m:r>
                        <a:rPr lang="en-US" sz="2000" b="0" i="1" smtClean="0">
                          <a:solidFill>
                            <a:srgbClr val="B3222A"/>
                          </a:solidFill>
                          <a:latin typeface="Cambria Math" panose="02040503050406030204" pitchFamily="18" charset="0"/>
                          <a:ea typeface="Arial"/>
                          <a:cs typeface="Arial"/>
                          <a:sym typeface="Arial"/>
                        </a:rPr>
                        <m:t>∆</m:t>
                      </m:r>
                      <m:r>
                        <a:rPr lang="en-US" sz="2000" b="0" i="1" smtClean="0">
                          <a:solidFill>
                            <a:srgbClr val="B3222A"/>
                          </a:solidFill>
                          <a:latin typeface="Cambria Math" panose="02040503050406030204" pitchFamily="18" charset="0"/>
                          <a:ea typeface="Arial"/>
                          <a:cs typeface="Arial"/>
                          <a:sym typeface="Arial"/>
                        </a:rPr>
                        <m:t>𝛼</m:t>
                      </m:r>
                      <m:r>
                        <a:rPr lang="en-US" sz="2000" b="0" i="1" smtClean="0">
                          <a:solidFill>
                            <a:srgbClr val="B3222A"/>
                          </a:solidFill>
                          <a:latin typeface="Cambria Math" panose="02040503050406030204" pitchFamily="18" charset="0"/>
                          <a:ea typeface="Arial"/>
                          <a:cs typeface="Arial"/>
                          <a:sym typeface="Arial"/>
                        </a:rPr>
                        <m:t>≤30° </m:t>
                      </m:r>
                      <m:d>
                        <m:dPr>
                          <m:begChr m:val="|"/>
                          <m:endChr m:val="|"/>
                          <m:ctrlPr>
                            <a:rPr lang="en-US" sz="2000" b="0" i="1" smtClean="0">
                              <a:solidFill>
                                <a:srgbClr val="B3222A"/>
                              </a:solidFill>
                              <a:latin typeface="Cambria Math" panose="02040503050406030204" pitchFamily="18" charset="0"/>
                              <a:ea typeface="Arial"/>
                              <a:cs typeface="Arial"/>
                              <a:sym typeface="Arial"/>
                            </a:rPr>
                          </m:ctrlPr>
                        </m:dPr>
                        <m:e>
                          <m:r>
                            <a:rPr lang="en-US" sz="2000" b="0" i="1" smtClean="0">
                              <a:solidFill>
                                <a:srgbClr val="B3222A"/>
                              </a:solidFill>
                              <a:latin typeface="Cambria Math" panose="02040503050406030204" pitchFamily="18" charset="0"/>
                              <a:ea typeface="Arial"/>
                              <a:cs typeface="Arial"/>
                              <a:sym typeface="Arial"/>
                            </a:rPr>
                            <m:t> 30°&lt;∆</m:t>
                          </m:r>
                          <m:r>
                            <a:rPr lang="en-US" sz="2000" b="0" i="1" smtClean="0">
                              <a:solidFill>
                                <a:srgbClr val="B3222A"/>
                              </a:solidFill>
                              <a:latin typeface="Cambria Math" panose="02040503050406030204" pitchFamily="18" charset="0"/>
                              <a:ea typeface="Arial"/>
                              <a:cs typeface="Arial"/>
                              <a:sym typeface="Arial"/>
                            </a:rPr>
                            <m:t>𝛼</m:t>
                          </m:r>
                          <m:r>
                            <a:rPr lang="en-US" sz="2000" b="0" i="1" smtClean="0">
                              <a:solidFill>
                                <a:srgbClr val="B3222A"/>
                              </a:solidFill>
                              <a:latin typeface="Cambria Math" panose="02040503050406030204" pitchFamily="18" charset="0"/>
                              <a:ea typeface="Arial"/>
                              <a:cs typeface="Arial"/>
                              <a:sym typeface="Arial"/>
                            </a:rPr>
                            <m:t>≤60° </m:t>
                          </m:r>
                        </m:e>
                      </m:d>
                      <m:r>
                        <a:rPr lang="en-US" sz="2000" b="0" i="0" smtClean="0">
                          <a:solidFill>
                            <a:srgbClr val="B3222A"/>
                          </a:solidFill>
                          <a:latin typeface="Cambria Math" panose="02040503050406030204" pitchFamily="18" charset="0"/>
                          <a:ea typeface="Arial"/>
                          <a:cs typeface="Arial"/>
                          <a:sym typeface="Arial"/>
                        </a:rPr>
                        <m:t> </m:t>
                      </m:r>
                      <m:r>
                        <a:rPr lang="en-US" sz="2000" b="0" i="1" smtClean="0">
                          <a:solidFill>
                            <a:srgbClr val="B3222A"/>
                          </a:solidFill>
                          <a:latin typeface="Cambria Math" panose="02040503050406030204" pitchFamily="18" charset="0"/>
                          <a:ea typeface="Arial"/>
                          <a:cs typeface="Arial"/>
                          <a:sym typeface="Arial"/>
                        </a:rPr>
                        <m:t>∆</m:t>
                      </m:r>
                      <m:r>
                        <a:rPr lang="en-US" sz="2000" b="0" i="1" smtClean="0">
                          <a:solidFill>
                            <a:srgbClr val="B3222A"/>
                          </a:solidFill>
                          <a:latin typeface="Cambria Math" panose="02040503050406030204" pitchFamily="18" charset="0"/>
                          <a:ea typeface="Arial"/>
                          <a:cs typeface="Arial"/>
                          <a:sym typeface="Arial"/>
                        </a:rPr>
                        <m:t>𝛼</m:t>
                      </m:r>
                      <m:r>
                        <a:rPr lang="en-US" sz="2000" b="0" i="1" smtClean="0">
                          <a:solidFill>
                            <a:srgbClr val="B3222A"/>
                          </a:solidFill>
                          <a:latin typeface="Cambria Math" panose="02040503050406030204" pitchFamily="18" charset="0"/>
                          <a:ea typeface="Arial"/>
                          <a:cs typeface="Arial"/>
                          <a:sym typeface="Arial"/>
                        </a:rPr>
                        <m:t>&gt;60°</m:t>
                      </m:r>
                    </m:oMath>
                  </a14:m>
                  <a:r>
                    <a:rPr lang="en-US" sz="2000">
                      <a:solidFill>
                        <a:srgbClr val="B3222A"/>
                      </a:solidFill>
                      <a:latin typeface="Arial"/>
                      <a:ea typeface="Arial"/>
                      <a:cs typeface="Arial"/>
                      <a:sym typeface="Arial"/>
                    </a:rPr>
                    <a:t>   ·   </a:t>
                  </a:r>
                  <a14:m>
                    <m:oMath xmlns:m="http://schemas.openxmlformats.org/officeDocument/2006/math">
                      <m:sSub>
                        <m:sSubPr>
                          <m:ctrlPr>
                            <a:rPr lang="en-US" sz="2000" b="0" i="1" smtClean="0">
                              <a:solidFill>
                                <a:srgbClr val="B3222A"/>
                              </a:solidFill>
                              <a:latin typeface="Cambria Math" panose="02040503050406030204" pitchFamily="18" charset="0"/>
                              <a:ea typeface="Arial"/>
                              <a:cs typeface="Arial"/>
                              <a:sym typeface="Arial"/>
                            </a:rPr>
                          </m:ctrlPr>
                        </m:sSubPr>
                        <m:e>
                          <m:r>
                            <a:rPr lang="en-US" sz="2000" b="0" i="1" smtClean="0">
                              <a:solidFill>
                                <a:srgbClr val="B3222A"/>
                              </a:solidFill>
                              <a:latin typeface="Cambria Math" panose="02040503050406030204" pitchFamily="18" charset="0"/>
                              <a:ea typeface="Arial"/>
                              <a:cs typeface="Arial"/>
                              <a:sym typeface="Arial"/>
                            </a:rPr>
                            <m:t>𝑣</m:t>
                          </m:r>
                        </m:e>
                        <m:sub>
                          <m:r>
                            <a:rPr lang="en-US" sz="2000" b="0" i="1" smtClean="0">
                              <a:solidFill>
                                <a:srgbClr val="B3222A"/>
                              </a:solidFill>
                              <a:latin typeface="Cambria Math" panose="02040503050406030204" pitchFamily="18" charset="0"/>
                              <a:ea typeface="Arial"/>
                              <a:cs typeface="Arial"/>
                              <a:sym typeface="Arial"/>
                            </a:rPr>
                            <m:t>𝑒𝑠𝑐𝑎𝑝𝑒</m:t>
                          </m:r>
                        </m:sub>
                      </m:sSub>
                      <m:r>
                        <a:rPr lang="en-US" sz="2000" b="0" i="1" smtClean="0">
                          <a:solidFill>
                            <a:srgbClr val="B3222A"/>
                          </a:solidFill>
                          <a:latin typeface="Cambria Math" panose="02040503050406030204" pitchFamily="18" charset="0"/>
                          <a:ea typeface="Arial"/>
                          <a:cs typeface="Arial"/>
                          <a:sym typeface="Arial"/>
                        </a:rPr>
                        <m:t>≥0.35.</m:t>
                      </m:r>
                      <m:sSub>
                        <m:sSubPr>
                          <m:ctrlPr>
                            <a:rPr lang="en-US" sz="2000" b="0" i="1" smtClean="0">
                              <a:solidFill>
                                <a:srgbClr val="B3222A"/>
                              </a:solidFill>
                              <a:latin typeface="Cambria Math" panose="02040503050406030204" pitchFamily="18" charset="0"/>
                              <a:ea typeface="Arial"/>
                              <a:cs typeface="Arial"/>
                              <a:sym typeface="Arial"/>
                            </a:rPr>
                          </m:ctrlPr>
                        </m:sSubPr>
                        <m:e>
                          <m:r>
                            <a:rPr lang="en-US" sz="2000" b="0" i="1" smtClean="0">
                              <a:solidFill>
                                <a:srgbClr val="B3222A"/>
                              </a:solidFill>
                              <a:latin typeface="Cambria Math" panose="02040503050406030204" pitchFamily="18" charset="0"/>
                              <a:ea typeface="Arial"/>
                              <a:cs typeface="Arial"/>
                              <a:sym typeface="Arial"/>
                            </a:rPr>
                            <m:t>𝑣</m:t>
                          </m:r>
                        </m:e>
                        <m:sub>
                          <m:r>
                            <a:rPr lang="en-US" sz="2000" b="0" i="1" smtClean="0">
                              <a:solidFill>
                                <a:srgbClr val="B3222A"/>
                              </a:solidFill>
                              <a:latin typeface="Cambria Math" panose="02040503050406030204" pitchFamily="18" charset="0"/>
                              <a:ea typeface="Arial"/>
                              <a:cs typeface="Arial"/>
                              <a:sym typeface="Arial"/>
                            </a:rPr>
                            <m:t>𝑚𝑎𝑥</m:t>
                          </m:r>
                        </m:sub>
                      </m:sSub>
                    </m:oMath>
                  </a14:m>
                  <a:endParaRPr lang="en-US" sz="2000">
                    <a:solidFill>
                      <a:srgbClr val="B3222A"/>
                    </a:solidFill>
                    <a:latin typeface="Arial"/>
                    <a:ea typeface="Arial"/>
                    <a:cs typeface="Arial"/>
                    <a:sym typeface="Arial"/>
                  </a:endParaRPr>
                </a:p>
              </p:txBody>
            </p:sp>
          </mc:Choice>
          <mc:Fallback xmlns="">
            <p:sp>
              <p:nvSpPr>
                <p:cNvPr id="107" name="TextBox 107"/>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7"/>
                  <a:stretch>
                    <a:fillRect l="-985"/>
                  </a:stretch>
                </a:blipFill>
              </p:spPr>
              <p:txBody>
                <a:bodyPr/>
                <a:lstStyle/>
                <a:p>
                  <a:r>
                    <a:rPr lang="en-US">
                      <a:noFill/>
                    </a:rPr>
                    <a:t> </a:t>
                  </a:r>
                </a:p>
              </p:txBody>
            </p:sp>
          </mc:Fallback>
        </mc:AlternateContent>
      </p:grpSp>
      <p:sp>
        <p:nvSpPr>
          <p:cNvPr id="108" name="TextBox 108"/>
          <p:cNvSpPr txBox="1"/>
          <p:nvPr/>
        </p:nvSpPr>
        <p:spPr>
          <a:xfrm>
            <a:off x="8334756" y="7682103"/>
            <a:ext cx="8814816" cy="356997"/>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Lọc hướng theo 3 phân đoạn góc; giữ vận tốc sàn khi thoát bẫy để không “chết đứng”.</a:t>
            </a:r>
          </a:p>
        </p:txBody>
      </p:sp>
      <p:grpSp>
        <p:nvGrpSpPr>
          <p:cNvPr id="109" name="Group 109"/>
          <p:cNvGrpSpPr/>
          <p:nvPr/>
        </p:nvGrpSpPr>
        <p:grpSpPr>
          <a:xfrm>
            <a:off x="8016716" y="8222456"/>
            <a:ext cx="3031808" cy="1193864"/>
            <a:chOff x="0" y="0"/>
            <a:chExt cx="4042410" cy="1591818"/>
          </a:xfrm>
        </p:grpSpPr>
        <p:sp>
          <p:nvSpPr>
            <p:cNvPr id="110" name="Freeform 110"/>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1" name="Group 111"/>
          <p:cNvGrpSpPr/>
          <p:nvPr/>
        </p:nvGrpSpPr>
        <p:grpSpPr>
          <a:xfrm>
            <a:off x="8023860" y="8394192"/>
            <a:ext cx="68580" cy="850392"/>
            <a:chOff x="0" y="0"/>
            <a:chExt cx="91440" cy="1133856"/>
          </a:xfrm>
        </p:grpSpPr>
        <p:sp>
          <p:nvSpPr>
            <p:cNvPr id="112" name="Freeform 112"/>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262626"/>
            </a:solidFill>
          </p:spPr>
          <p:txBody>
            <a:bodyPr/>
            <a:lstStyle/>
            <a:p>
              <a:endParaRPr lang="en-US"/>
            </a:p>
          </p:txBody>
        </p:sp>
      </p:grpSp>
      <p:grpSp>
        <p:nvGrpSpPr>
          <p:cNvPr id="113" name="Group 113"/>
          <p:cNvGrpSpPr/>
          <p:nvPr/>
        </p:nvGrpSpPr>
        <p:grpSpPr>
          <a:xfrm>
            <a:off x="8188452" y="8311896"/>
            <a:ext cx="2743200" cy="452438"/>
            <a:chOff x="0" y="0"/>
            <a:chExt cx="3657600" cy="603250"/>
          </a:xfrm>
        </p:grpSpPr>
        <p:sp>
          <p:nvSpPr>
            <p:cNvPr id="114" name="Freeform 114"/>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15" name="TextBox 115"/>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262626"/>
                  </a:solidFill>
                  <a:latin typeface="Arial Bold"/>
                  <a:ea typeface="Arial Bold"/>
                  <a:cs typeface="Arial Bold"/>
                  <a:sym typeface="Arial Bold"/>
                </a:rPr>
                <a:t>100%</a:t>
              </a:r>
            </a:p>
          </p:txBody>
        </p:sp>
      </p:grpSp>
      <p:sp>
        <p:nvSpPr>
          <p:cNvPr id="116" name="TextBox 116"/>
          <p:cNvSpPr txBox="1"/>
          <p:nvPr/>
        </p:nvSpPr>
        <p:spPr>
          <a:xfrm>
            <a:off x="8225028"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Thoát bẫy đối xứng (Simulink)</a:t>
            </a:r>
          </a:p>
        </p:txBody>
      </p:sp>
      <p:grpSp>
        <p:nvGrpSpPr>
          <p:cNvPr id="117" name="Group 117"/>
          <p:cNvGrpSpPr/>
          <p:nvPr/>
        </p:nvGrpSpPr>
        <p:grpSpPr>
          <a:xfrm>
            <a:off x="11226260" y="8222456"/>
            <a:ext cx="3031808" cy="1193864"/>
            <a:chOff x="0" y="0"/>
            <a:chExt cx="4042410" cy="1591818"/>
          </a:xfrm>
        </p:grpSpPr>
        <p:sp>
          <p:nvSpPr>
            <p:cNvPr id="118" name="Freeform 118"/>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9" name="Group 119"/>
          <p:cNvGrpSpPr/>
          <p:nvPr/>
        </p:nvGrpSpPr>
        <p:grpSpPr>
          <a:xfrm>
            <a:off x="11233404" y="8394192"/>
            <a:ext cx="68580" cy="850392"/>
            <a:chOff x="0" y="0"/>
            <a:chExt cx="91440" cy="1133856"/>
          </a:xfrm>
        </p:grpSpPr>
        <p:sp>
          <p:nvSpPr>
            <p:cNvPr id="120" name="Freeform 120"/>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DB3038"/>
            </a:solidFill>
          </p:spPr>
          <p:txBody>
            <a:bodyPr/>
            <a:lstStyle/>
            <a:p>
              <a:endParaRPr lang="en-US"/>
            </a:p>
          </p:txBody>
        </p:sp>
      </p:grpSp>
      <p:grpSp>
        <p:nvGrpSpPr>
          <p:cNvPr id="121" name="Group 121"/>
          <p:cNvGrpSpPr/>
          <p:nvPr/>
        </p:nvGrpSpPr>
        <p:grpSpPr>
          <a:xfrm>
            <a:off x="11397996" y="8311896"/>
            <a:ext cx="2743200" cy="452438"/>
            <a:chOff x="0" y="0"/>
            <a:chExt cx="3657600" cy="603250"/>
          </a:xfrm>
        </p:grpSpPr>
        <p:sp>
          <p:nvSpPr>
            <p:cNvPr id="122" name="Freeform 122"/>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23" name="TextBox 123"/>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DB3038"/>
                  </a:solidFill>
                  <a:latin typeface="Arial Bold"/>
                  <a:ea typeface="Arial Bold"/>
                  <a:cs typeface="Arial Bold"/>
                  <a:sym typeface="Arial Bold"/>
                </a:rPr>
                <a:t>&lt; 0.8 s</a:t>
              </a:r>
            </a:p>
          </p:txBody>
        </p:sp>
      </p:grpSp>
      <p:sp>
        <p:nvSpPr>
          <p:cNvPr id="124" name="TextBox 124"/>
          <p:cNvSpPr txBox="1"/>
          <p:nvPr/>
        </p:nvSpPr>
        <p:spPr>
          <a:xfrm>
            <a:off x="11434572"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Thời gian bứt phá</a:t>
            </a:r>
          </a:p>
        </p:txBody>
      </p:sp>
      <p:grpSp>
        <p:nvGrpSpPr>
          <p:cNvPr id="125" name="Group 125"/>
          <p:cNvGrpSpPr/>
          <p:nvPr/>
        </p:nvGrpSpPr>
        <p:grpSpPr>
          <a:xfrm>
            <a:off x="14435804" y="8222456"/>
            <a:ext cx="3031808" cy="1193864"/>
            <a:chOff x="0" y="0"/>
            <a:chExt cx="4042410" cy="1591818"/>
          </a:xfrm>
        </p:grpSpPr>
        <p:sp>
          <p:nvSpPr>
            <p:cNvPr id="126" name="Freeform 126"/>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27" name="Group 127"/>
          <p:cNvGrpSpPr/>
          <p:nvPr/>
        </p:nvGrpSpPr>
        <p:grpSpPr>
          <a:xfrm>
            <a:off x="14442948" y="8394192"/>
            <a:ext cx="68580" cy="850392"/>
            <a:chOff x="0" y="0"/>
            <a:chExt cx="91440" cy="1133856"/>
          </a:xfrm>
        </p:grpSpPr>
        <p:sp>
          <p:nvSpPr>
            <p:cNvPr id="128" name="Freeform 128"/>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595959"/>
            </a:solidFill>
          </p:spPr>
          <p:txBody>
            <a:bodyPr/>
            <a:lstStyle/>
            <a:p>
              <a:endParaRPr lang="en-US"/>
            </a:p>
          </p:txBody>
        </p:sp>
      </p:grpSp>
      <p:grpSp>
        <p:nvGrpSpPr>
          <p:cNvPr id="129" name="Group 129"/>
          <p:cNvGrpSpPr/>
          <p:nvPr/>
        </p:nvGrpSpPr>
        <p:grpSpPr>
          <a:xfrm>
            <a:off x="14607540" y="8311896"/>
            <a:ext cx="2743200" cy="452438"/>
            <a:chOff x="0" y="0"/>
            <a:chExt cx="3657600" cy="603250"/>
          </a:xfrm>
        </p:grpSpPr>
        <p:sp>
          <p:nvSpPr>
            <p:cNvPr id="130" name="Freeform 130"/>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31" name="TextBox 131"/>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595959"/>
                  </a:solidFill>
                  <a:latin typeface="Arial Bold"/>
                  <a:ea typeface="Arial Bold"/>
                  <a:cs typeface="Arial Bold"/>
                  <a:sym typeface="Arial Bold"/>
                </a:rPr>
                <a:t>≥ 0.85 m</a:t>
              </a:r>
            </a:p>
          </p:txBody>
        </p:sp>
      </p:grpSp>
      <mc:AlternateContent xmlns:mc="http://schemas.openxmlformats.org/markup-compatibility/2006" xmlns:a14="http://schemas.microsoft.com/office/drawing/2010/main">
        <mc:Choice Requires="a14">
          <p:sp>
            <p:nvSpPr>
              <p:cNvPr id="132" name="TextBox 132"/>
              <p:cNvSpPr txBox="1"/>
              <p:nvPr/>
            </p:nvSpPr>
            <p:spPr>
              <a:xfrm>
                <a:off x="14644116" y="8763572"/>
                <a:ext cx="2670048" cy="218008"/>
              </a:xfrm>
              <a:prstGeom prst="rect">
                <a:avLst/>
              </a:prstGeom>
            </p:spPr>
            <p:txBody>
              <a:bodyPr lIns="0" tIns="0" rIns="0" bIns="0" rtlCol="0" anchor="t">
                <a:spAutoFit/>
              </a:bodyPr>
              <a:lstStyle/>
              <a:p>
                <a:pPr algn="l">
                  <a:lnSpc>
                    <a:spcPts val="1709"/>
                  </a:lnSpc>
                </a:pPr>
                <a14:m>
                  <m:oMath xmlns:m="http://schemas.openxmlformats.org/officeDocument/2006/math">
                    <m:sSub>
                      <m:sSubPr>
                        <m:ctrlPr>
                          <a:rPr lang="en-US" sz="1425" b="0" i="1" smtClean="0">
                            <a:solidFill>
                              <a:srgbClr val="404040"/>
                            </a:solidFill>
                            <a:latin typeface="Cambria Math" panose="02040503050406030204" pitchFamily="18" charset="0"/>
                            <a:ea typeface="Arial"/>
                            <a:cs typeface="Arial"/>
                            <a:sym typeface="Arial"/>
                          </a:rPr>
                        </m:ctrlPr>
                      </m:sSubPr>
                      <m:e>
                        <m:r>
                          <a:rPr lang="en-US" sz="1425" b="0" i="1" smtClean="0">
                            <a:solidFill>
                              <a:srgbClr val="404040"/>
                            </a:solidFill>
                            <a:latin typeface="Cambria Math" panose="02040503050406030204" pitchFamily="18" charset="0"/>
                            <a:ea typeface="Arial"/>
                            <a:cs typeface="Arial"/>
                            <a:sym typeface="Arial"/>
                          </a:rPr>
                          <m:t>𝑑</m:t>
                        </m:r>
                      </m:e>
                      <m:sub>
                        <m:r>
                          <a:rPr lang="en-US" sz="1425" b="0" i="1" smtClean="0">
                            <a:solidFill>
                              <a:srgbClr val="404040"/>
                            </a:solidFill>
                            <a:latin typeface="Cambria Math" panose="02040503050406030204" pitchFamily="18" charset="0"/>
                            <a:ea typeface="Arial"/>
                            <a:cs typeface="Arial"/>
                            <a:sym typeface="Arial"/>
                          </a:rPr>
                          <m:t>𝑚𝑖𝑛</m:t>
                        </m:r>
                      </m:sub>
                    </m:sSub>
                  </m:oMath>
                </a14:m>
                <a:r>
                  <a:rPr lang="en-US" sz="1425">
                    <a:solidFill>
                      <a:srgbClr val="404040"/>
                    </a:solidFill>
                    <a:latin typeface="Arial"/>
                    <a:ea typeface="Arial"/>
                    <a:cs typeface="Arial"/>
                    <a:sym typeface="Arial"/>
                  </a:rPr>
                  <a:t> né trụ (SITL)</a:t>
                </a:r>
              </a:p>
            </p:txBody>
          </p:sp>
        </mc:Choice>
        <mc:Fallback xmlns="">
          <p:sp>
            <p:nvSpPr>
              <p:cNvPr id="132" name="TextBox 132"/>
              <p:cNvSpPr txBox="1">
                <a:spLocks noRot="1" noChangeAspect="1" noMove="1" noResize="1" noEditPoints="1" noAdjustHandles="1" noChangeArrowheads="1" noChangeShapeType="1" noTextEdit="1"/>
              </p:cNvSpPr>
              <p:nvPr/>
            </p:nvSpPr>
            <p:spPr>
              <a:xfrm>
                <a:off x="14644116" y="8763572"/>
                <a:ext cx="2670048" cy="218008"/>
              </a:xfrm>
              <a:prstGeom prst="rect">
                <a:avLst/>
              </a:prstGeom>
              <a:blipFill>
                <a:blip r:embed="rId8"/>
                <a:stretch>
                  <a:fillRect l="-2511" t="-28571" b="-54286"/>
                </a:stretch>
              </a:blipFill>
            </p:spPr>
            <p:txBody>
              <a:bodyPr/>
              <a:lstStyle/>
              <a:p>
                <a:r>
                  <a:rPr lang="en-US">
                    <a:noFill/>
                  </a:rPr>
                  <a:t> </a:t>
                </a:r>
              </a:p>
            </p:txBody>
          </p:sp>
        </mc:Fallback>
      </mc:AlternateContent>
      <p:sp>
        <p:nvSpPr>
          <p:cNvPr id="133" name="AutoShape 133"/>
          <p:cNvSpPr/>
          <p:nvPr/>
        </p:nvSpPr>
        <p:spPr>
          <a:xfrm flipV="1">
            <a:off x="4975019" y="7499024"/>
            <a:ext cx="1040774" cy="199411"/>
          </a:xfrm>
          <a:prstGeom prst="line">
            <a:avLst/>
          </a:prstGeom>
          <a:ln w="28575" cap="rnd">
            <a:solidFill>
              <a:srgbClr val="262626"/>
            </a:solidFill>
            <a:prstDash val="solid"/>
            <a:headEnd type="none" w="sm" len="sm"/>
            <a:tailEnd type="none" w="sm" len="sm"/>
          </a:ln>
        </p:spPr>
        <p:txBody>
          <a:bodyPr/>
          <a:lstStyle/>
          <a:p>
            <a:endParaRPr lang="en-US"/>
          </a:p>
        </p:txBody>
      </p:sp>
      <p:sp>
        <p:nvSpPr>
          <p:cNvPr id="134" name="AutoShape 134"/>
          <p:cNvSpPr/>
          <p:nvPr/>
        </p:nvSpPr>
        <p:spPr>
          <a:xfrm flipV="1">
            <a:off x="6006321" y="6057900"/>
            <a:ext cx="326851" cy="1446149"/>
          </a:xfrm>
          <a:prstGeom prst="line">
            <a:avLst/>
          </a:prstGeom>
          <a:ln w="28575" cap="rnd">
            <a:solidFill>
              <a:srgbClr val="262626"/>
            </a:solidFill>
            <a:prstDash val="solid"/>
            <a:headEnd type="none" w="sm" len="sm"/>
            <a:tailEnd type="none" w="sm" len="sm"/>
          </a:ln>
        </p:spPr>
        <p:txBody>
          <a:bodyPr/>
          <a:lstStyle/>
          <a:p>
            <a:endParaRPr lang="en-US"/>
          </a:p>
        </p:txBody>
      </p:sp>
      <p:sp>
        <p:nvSpPr>
          <p:cNvPr id="135" name="AutoShape 135"/>
          <p:cNvSpPr/>
          <p:nvPr/>
        </p:nvSpPr>
        <p:spPr>
          <a:xfrm>
            <a:off x="3708666" y="6331465"/>
            <a:ext cx="382313" cy="1167560"/>
          </a:xfrm>
          <a:prstGeom prst="line">
            <a:avLst/>
          </a:prstGeom>
          <a:ln w="28575" cap="rnd">
            <a:solidFill>
              <a:srgbClr val="262626"/>
            </a:solidFill>
            <a:prstDash val="solid"/>
            <a:headEnd type="none" w="sm" len="sm"/>
            <a:tailEnd type="none" w="sm" len="sm"/>
          </a:ln>
        </p:spPr>
        <p:txBody>
          <a:bodyPr/>
          <a:lstStyle/>
          <a:p>
            <a:endParaRPr lang="en-US"/>
          </a:p>
        </p:txBody>
      </p:sp>
      <p:grpSp>
        <p:nvGrpSpPr>
          <p:cNvPr id="136" name="Group 136"/>
          <p:cNvGrpSpPr/>
          <p:nvPr/>
        </p:nvGrpSpPr>
        <p:grpSpPr>
          <a:xfrm>
            <a:off x="2407181" y="4284309"/>
            <a:ext cx="456510" cy="456510"/>
            <a:chOff x="0" y="0"/>
            <a:chExt cx="804672" cy="804672"/>
          </a:xfrm>
        </p:grpSpPr>
        <p:sp>
          <p:nvSpPr>
            <p:cNvPr id="137" name="Freeform 137"/>
            <p:cNvSpPr/>
            <p:nvPr/>
          </p:nvSpPr>
          <p:spPr>
            <a:xfrm>
              <a:off x="0" y="0"/>
              <a:ext cx="804672" cy="804672"/>
            </a:xfrm>
            <a:custGeom>
              <a:avLst/>
              <a:gdLst/>
              <a:ahLst/>
              <a:cxnLst/>
              <a:rect l="l" t="t" r="r" b="b"/>
              <a:pathLst>
                <a:path w="804672" h="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595959"/>
            </a:solidFill>
          </p:spPr>
          <p:txBody>
            <a:bodyPr/>
            <a:lstStyle/>
            <a:p>
              <a:endParaRPr lang="en-US"/>
            </a:p>
          </p:txBody>
        </p:sp>
      </p:grpSp>
      <p:sp>
        <p:nvSpPr>
          <p:cNvPr id="138" name="TextBox 138"/>
          <p:cNvSpPr txBox="1"/>
          <p:nvPr/>
        </p:nvSpPr>
        <p:spPr>
          <a:xfrm>
            <a:off x="1751076" y="3992880"/>
            <a:ext cx="1847088" cy="247650"/>
          </a:xfrm>
          <a:prstGeom prst="rect">
            <a:avLst/>
          </a:prstGeom>
        </p:spPr>
        <p:txBody>
          <a:bodyPr lIns="0" tIns="0" rIns="0" bIns="0" rtlCol="0" anchor="t">
            <a:spAutoFit/>
          </a:bodyPr>
          <a:lstStyle/>
          <a:p>
            <a:pPr algn="ctr">
              <a:lnSpc>
                <a:spcPts val="1800"/>
              </a:lnSpc>
            </a:pPr>
            <a:r>
              <a:rPr lang="en-US" sz="1500" b="1">
                <a:solidFill>
                  <a:srgbClr val="595959"/>
                </a:solidFill>
                <a:latin typeface="Arial Bold"/>
                <a:ea typeface="Arial Bold"/>
                <a:cs typeface="Arial Bold"/>
                <a:sym typeface="Arial Bold"/>
              </a:rPr>
              <a:t>H-Pad</a:t>
            </a:r>
          </a:p>
        </p:txBody>
      </p:sp>
      <p:sp>
        <p:nvSpPr>
          <p:cNvPr id="139" name="TextBox 139"/>
          <p:cNvSpPr txBox="1"/>
          <p:nvPr/>
        </p:nvSpPr>
        <p:spPr>
          <a:xfrm>
            <a:off x="1489611" y="5381956"/>
            <a:ext cx="979961" cy="247650"/>
          </a:xfrm>
          <a:prstGeom prst="rect">
            <a:avLst/>
          </a:prstGeom>
        </p:spPr>
        <p:txBody>
          <a:bodyPr lIns="0" tIns="0" rIns="0" bIns="0" rtlCol="0" anchor="t">
            <a:spAutoFit/>
          </a:bodyPr>
          <a:lstStyle/>
          <a:p>
            <a:pPr algn="l">
              <a:lnSpc>
                <a:spcPts val="1800"/>
              </a:lnSpc>
            </a:pPr>
            <a:r>
              <a:rPr lang="en-US" sz="1500" b="1">
                <a:solidFill>
                  <a:srgbClr val="DB3038"/>
                </a:solidFill>
                <a:latin typeface="Arimo Bold"/>
                <a:ea typeface="Arimo Bold"/>
                <a:cs typeface="Arimo Bold"/>
                <a:sym typeface="Arimo Bold"/>
              </a:rPr>
              <a:t>✕ GNRON</a:t>
            </a:r>
          </a:p>
        </p:txBody>
      </p:sp>
      <p:sp>
        <p:nvSpPr>
          <p:cNvPr id="7" name="Slide Number Placeholder 6">
            <a:extLst>
              <a:ext uri="{FF2B5EF4-FFF2-40B4-BE49-F238E27FC236}">
                <a16:creationId xmlns:a16="http://schemas.microsoft.com/office/drawing/2014/main" id="{C7A15646-FDF9-5E6A-C597-D6A3602517F8}"/>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10" name="TextBox 20">
            <a:extLst>
              <a:ext uri="{FF2B5EF4-FFF2-40B4-BE49-F238E27FC236}">
                <a16:creationId xmlns:a16="http://schemas.microsoft.com/office/drawing/2014/main" id="{EB1E87AF-9C4D-8679-DF69-167B5310A9FC}"/>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1349387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5" name="Group 5"/>
          <p:cNvGrpSpPr/>
          <p:nvPr/>
        </p:nvGrpSpPr>
        <p:grpSpPr>
          <a:xfrm>
            <a:off x="2851" y="9748546"/>
            <a:ext cx="15704172" cy="107156"/>
            <a:chOff x="0" y="0"/>
            <a:chExt cx="20938896" cy="142875"/>
          </a:xfrm>
        </p:grpSpPr>
        <p:sp>
          <p:nvSpPr>
            <p:cNvPr id="6" name="Freeform 6"/>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7" name="Group 7"/>
          <p:cNvGrpSpPr/>
          <p:nvPr/>
        </p:nvGrpSpPr>
        <p:grpSpPr>
          <a:xfrm>
            <a:off x="15951708" y="9553885"/>
            <a:ext cx="1988172" cy="688105"/>
            <a:chOff x="0" y="0"/>
            <a:chExt cx="2650896" cy="917473"/>
          </a:xfrm>
        </p:grpSpPr>
        <p:sp>
          <p:nvSpPr>
            <p:cNvPr id="8" name="Freeform 8"/>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11" name="Group 11"/>
          <p:cNvGrpSpPr/>
          <p:nvPr/>
        </p:nvGrpSpPr>
        <p:grpSpPr>
          <a:xfrm>
            <a:off x="-19050" y="-38100"/>
            <a:ext cx="18326100" cy="1371324"/>
            <a:chOff x="0" y="0"/>
            <a:chExt cx="24434800" cy="1828432"/>
          </a:xfrm>
        </p:grpSpPr>
        <p:sp>
          <p:nvSpPr>
            <p:cNvPr id="12" name="Freeform 12"/>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13" name="Group 13"/>
          <p:cNvGrpSpPr/>
          <p:nvPr/>
        </p:nvGrpSpPr>
        <p:grpSpPr>
          <a:xfrm>
            <a:off x="29594" y="0"/>
            <a:ext cx="9465469" cy="1112891"/>
            <a:chOff x="0" y="0"/>
            <a:chExt cx="12620625" cy="1483855"/>
          </a:xfrm>
        </p:grpSpPr>
        <p:sp>
          <p:nvSpPr>
            <p:cNvPr id="14" name="Freeform 14"/>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18" name="Group 18"/>
          <p:cNvGrpSpPr/>
          <p:nvPr/>
        </p:nvGrpSpPr>
        <p:grpSpPr>
          <a:xfrm>
            <a:off x="29594" y="0"/>
            <a:ext cx="1612373" cy="1112891"/>
            <a:chOff x="0" y="0"/>
            <a:chExt cx="2149831" cy="1483855"/>
          </a:xfrm>
        </p:grpSpPr>
        <p:sp>
          <p:nvSpPr>
            <p:cNvPr id="19" name="Freeform 19"/>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20" name="TextBox 20"/>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21" name="Group 21"/>
          <p:cNvGrpSpPr/>
          <p:nvPr/>
        </p:nvGrpSpPr>
        <p:grpSpPr>
          <a:xfrm>
            <a:off x="457200" y="1402690"/>
            <a:ext cx="17439932" cy="698041"/>
            <a:chOff x="0" y="0"/>
            <a:chExt cx="23253243" cy="930721"/>
          </a:xfrm>
        </p:grpSpPr>
        <p:sp>
          <p:nvSpPr>
            <p:cNvPr id="22" name="Freeform 22"/>
            <p:cNvSpPr/>
            <p:nvPr/>
          </p:nvSpPr>
          <p:spPr>
            <a:xfrm>
              <a:off x="0" y="0"/>
              <a:ext cx="23253192" cy="930683"/>
            </a:xfrm>
            <a:custGeom>
              <a:avLst/>
              <a:gdLst/>
              <a:ahLst/>
              <a:cxnLst/>
              <a:rect l="l" t="t" r="r" b="b"/>
              <a:pathLst>
                <a:path w="23253192" h="930683">
                  <a:moveTo>
                    <a:pt x="0" y="0"/>
                  </a:moveTo>
                  <a:lnTo>
                    <a:pt x="23253192" y="0"/>
                  </a:lnTo>
                  <a:lnTo>
                    <a:pt x="23253192" y="930683"/>
                  </a:lnTo>
                  <a:lnTo>
                    <a:pt x="0" y="930683"/>
                  </a:lnTo>
                  <a:close/>
                </a:path>
              </a:pathLst>
            </a:custGeom>
            <a:solidFill>
              <a:srgbClr val="F2F2F2">
                <a:alpha val="63922"/>
              </a:srgbClr>
            </a:solidFill>
          </p:spPr>
          <p:txBody>
            <a:bodyPr/>
            <a:lstStyle/>
            <a:p>
              <a:endParaRPr lang="en-US"/>
            </a:p>
          </p:txBody>
        </p:sp>
        <p:sp>
          <p:nvSpPr>
            <p:cNvPr id="23" name="TextBox 23"/>
            <p:cNvSpPr txBox="1"/>
            <p:nvPr/>
          </p:nvSpPr>
          <p:spPr>
            <a:xfrm>
              <a:off x="0" y="-19050"/>
              <a:ext cx="23253243" cy="949771"/>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GIÁM SÁT AN TOÀN: DUAL-COVARIANCE GATING </a:t>
              </a:r>
            </a:p>
          </p:txBody>
        </p:sp>
      </p:grpSp>
      <p:grpSp>
        <p:nvGrpSpPr>
          <p:cNvPr id="25" name="Group 25"/>
          <p:cNvGrpSpPr/>
          <p:nvPr/>
        </p:nvGrpSpPr>
        <p:grpSpPr>
          <a:xfrm>
            <a:off x="815816" y="2393156"/>
            <a:ext cx="6872288" cy="7009447"/>
            <a:chOff x="0" y="0"/>
            <a:chExt cx="9163050" cy="9345930"/>
          </a:xfrm>
        </p:grpSpPr>
        <p:sp>
          <p:nvSpPr>
            <p:cNvPr id="26" name="Freeform 26"/>
            <p:cNvSpPr/>
            <p:nvPr/>
          </p:nvSpPr>
          <p:spPr>
            <a:xfrm>
              <a:off x="0" y="0"/>
              <a:ext cx="9163050" cy="9345930"/>
            </a:xfrm>
            <a:custGeom>
              <a:avLst/>
              <a:gdLst/>
              <a:ahLst/>
              <a:cxnLst/>
              <a:rect l="l" t="t" r="r" b="b"/>
              <a:pathLst>
                <a:path w="9163050" h="9345930">
                  <a:moveTo>
                    <a:pt x="0" y="219964"/>
                  </a:moveTo>
                  <a:cubicBezTo>
                    <a:pt x="0" y="98425"/>
                    <a:pt x="98425" y="0"/>
                    <a:pt x="219964" y="0"/>
                  </a:cubicBezTo>
                  <a:lnTo>
                    <a:pt x="8943086" y="0"/>
                  </a:lnTo>
                  <a:cubicBezTo>
                    <a:pt x="9064498" y="0"/>
                    <a:pt x="9163050" y="98425"/>
                    <a:pt x="9163050" y="219964"/>
                  </a:cubicBezTo>
                  <a:lnTo>
                    <a:pt x="9163050" y="9125966"/>
                  </a:lnTo>
                  <a:cubicBezTo>
                    <a:pt x="9163050" y="9247378"/>
                    <a:pt x="9064625" y="9345930"/>
                    <a:pt x="8943086" y="9345930"/>
                  </a:cubicBezTo>
                  <a:lnTo>
                    <a:pt x="219964" y="9345930"/>
                  </a:lnTo>
                  <a:cubicBezTo>
                    <a:pt x="98425" y="9345930"/>
                    <a:pt x="0" y="9247505"/>
                    <a:pt x="0" y="912596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27" name="Group 27"/>
          <p:cNvGrpSpPr/>
          <p:nvPr/>
        </p:nvGrpSpPr>
        <p:grpSpPr>
          <a:xfrm>
            <a:off x="1097280" y="2400300"/>
            <a:ext cx="960120" cy="68580"/>
            <a:chOff x="0" y="0"/>
            <a:chExt cx="1280160" cy="91440"/>
          </a:xfrm>
        </p:grpSpPr>
        <p:sp>
          <p:nvSpPr>
            <p:cNvPr id="28" name="Freeform 28"/>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sp>
        <p:nvSpPr>
          <p:cNvPr id="29" name="AutoShape 29"/>
          <p:cNvSpPr/>
          <p:nvPr/>
        </p:nvSpPr>
        <p:spPr>
          <a:xfrm rot="-7207800" flipV="1">
            <a:off x="-394887" y="6004738"/>
            <a:ext cx="6193151" cy="7042"/>
          </a:xfrm>
          <a:prstGeom prst="line">
            <a:avLst/>
          </a:prstGeom>
          <a:ln w="19050" cap="rnd">
            <a:solidFill>
              <a:srgbClr val="DB3038"/>
            </a:solidFill>
            <a:prstDash val="solid"/>
            <a:headEnd type="none" w="sm" len="sm"/>
            <a:tailEnd type="none" w="sm" len="sm"/>
          </a:ln>
        </p:spPr>
        <p:txBody>
          <a:bodyPr/>
          <a:lstStyle/>
          <a:p>
            <a:endParaRPr lang="en-US"/>
          </a:p>
        </p:txBody>
      </p:sp>
      <p:sp>
        <p:nvSpPr>
          <p:cNvPr id="30" name="AutoShape 30"/>
          <p:cNvSpPr/>
          <p:nvPr/>
        </p:nvSpPr>
        <p:spPr>
          <a:xfrm rot="-3592200">
            <a:off x="2681802" y="6025515"/>
            <a:ext cx="6228969" cy="0"/>
          </a:xfrm>
          <a:prstGeom prst="line">
            <a:avLst/>
          </a:prstGeom>
          <a:ln w="19050" cap="rnd">
            <a:solidFill>
              <a:srgbClr val="DB3038"/>
            </a:solidFill>
            <a:prstDash val="solid"/>
            <a:headEnd type="none" w="sm" len="sm"/>
            <a:tailEnd type="none" w="sm" len="sm"/>
          </a:ln>
        </p:spPr>
        <p:txBody>
          <a:bodyPr/>
          <a:lstStyle/>
          <a:p>
            <a:endParaRPr lang="en-US"/>
          </a:p>
        </p:txBody>
      </p:sp>
      <p:sp>
        <p:nvSpPr>
          <p:cNvPr id="31" name="AutoShape 31"/>
          <p:cNvSpPr/>
          <p:nvPr/>
        </p:nvSpPr>
        <p:spPr>
          <a:xfrm rot="-5387820">
            <a:off x="1567796" y="6030278"/>
            <a:ext cx="5368328" cy="0"/>
          </a:xfrm>
          <a:prstGeom prst="line">
            <a:avLst/>
          </a:prstGeom>
          <a:ln w="9525" cap="rnd">
            <a:solidFill>
              <a:srgbClr val="D9D9D9"/>
            </a:solidFill>
            <a:prstDash val="solid"/>
            <a:headEnd type="none" w="sm" len="sm"/>
            <a:tailEnd type="none" w="sm" len="sm"/>
          </a:ln>
        </p:spPr>
        <p:txBody>
          <a:bodyPr/>
          <a:lstStyle/>
          <a:p>
            <a:endParaRPr lang="en-US"/>
          </a:p>
        </p:txBody>
      </p:sp>
      <p:grpSp>
        <p:nvGrpSpPr>
          <p:cNvPr id="32" name="Group 32"/>
          <p:cNvGrpSpPr/>
          <p:nvPr/>
        </p:nvGrpSpPr>
        <p:grpSpPr>
          <a:xfrm>
            <a:off x="1090136" y="2598896"/>
            <a:ext cx="3168967" cy="398336"/>
            <a:chOff x="0" y="0"/>
            <a:chExt cx="4225290" cy="531114"/>
          </a:xfrm>
        </p:grpSpPr>
        <p:sp>
          <p:nvSpPr>
            <p:cNvPr id="33" name="Freeform 33"/>
            <p:cNvSpPr/>
            <p:nvPr/>
          </p:nvSpPr>
          <p:spPr>
            <a:xfrm>
              <a:off x="0" y="0"/>
              <a:ext cx="4225290" cy="531114"/>
            </a:xfrm>
            <a:custGeom>
              <a:avLst/>
              <a:gdLst/>
              <a:ahLst/>
              <a:cxnLst/>
              <a:rect l="l" t="t" r="r" b="b"/>
              <a:pathLst>
                <a:path w="4225290" h="531114">
                  <a:moveTo>
                    <a:pt x="0" y="265557"/>
                  </a:moveTo>
                  <a:cubicBezTo>
                    <a:pt x="0" y="118872"/>
                    <a:pt x="118872" y="0"/>
                    <a:pt x="265557" y="0"/>
                  </a:cubicBezTo>
                  <a:lnTo>
                    <a:pt x="3959733" y="0"/>
                  </a:lnTo>
                  <a:cubicBezTo>
                    <a:pt x="4106418" y="0"/>
                    <a:pt x="4225290" y="118872"/>
                    <a:pt x="4225290" y="265557"/>
                  </a:cubicBezTo>
                  <a:cubicBezTo>
                    <a:pt x="4225290" y="412242"/>
                    <a:pt x="4106418" y="531114"/>
                    <a:pt x="3959733" y="531114"/>
                  </a:cubicBezTo>
                  <a:lnTo>
                    <a:pt x="265557" y="531114"/>
                  </a:lnTo>
                  <a:cubicBezTo>
                    <a:pt x="118872" y="531114"/>
                    <a:pt x="0" y="412242"/>
                    <a:pt x="0" y="265557"/>
                  </a:cubicBezTo>
                  <a:close/>
                </a:path>
              </a:pathLst>
            </a:custGeom>
            <a:blipFill>
              <a:blip r:embed="rId4">
                <a:alphaModFix amt="0"/>
              </a:blip>
              <a:stretch>
                <a:fillRect t="-105013" b="-105013"/>
              </a:stretch>
            </a:blipFill>
            <a:ln w="14288" cap="sq">
              <a:solidFill>
                <a:srgbClr val="DB3038"/>
              </a:solidFill>
              <a:prstDash val="solid"/>
              <a:miter/>
            </a:ln>
          </p:spPr>
          <p:txBody>
            <a:bodyPr/>
            <a:lstStyle/>
            <a:p>
              <a:endParaRPr lang="en-US"/>
            </a:p>
          </p:txBody>
        </p:sp>
        <p:sp>
          <p:nvSpPr>
            <p:cNvPr id="34" name="TextBox 34"/>
            <p:cNvSpPr txBox="1"/>
            <p:nvPr/>
          </p:nvSpPr>
          <p:spPr>
            <a:xfrm>
              <a:off x="0" y="-19050"/>
              <a:ext cx="4225290" cy="550164"/>
            </a:xfrm>
            <a:prstGeom prst="rect">
              <a:avLst/>
            </a:prstGeom>
          </p:spPr>
          <p:txBody>
            <a:bodyPr lIns="50800" tIns="50800" rIns="50800" bIns="50800" rtlCol="0" anchor="ctr"/>
            <a:lstStyle/>
            <a:p>
              <a:pPr algn="ctr">
                <a:lnSpc>
                  <a:spcPts val="1709"/>
                </a:lnSpc>
              </a:pPr>
              <a:r>
                <a:rPr lang="en-US" sz="1425" b="1">
                  <a:solidFill>
                    <a:srgbClr val="DB3038"/>
                  </a:solidFill>
                  <a:latin typeface="Arial Bold"/>
                  <a:ea typeface="Arial Bold"/>
                  <a:cs typeface="Arial Bold"/>
                  <a:sym typeface="Arial Bold"/>
                </a:rPr>
                <a:t>PHỄU NÓN AN TOÀN</a:t>
              </a:r>
            </a:p>
          </p:txBody>
        </p:sp>
      </p:grpSp>
      <p:grpSp>
        <p:nvGrpSpPr>
          <p:cNvPr id="35" name="Group 35"/>
          <p:cNvGrpSpPr/>
          <p:nvPr/>
        </p:nvGrpSpPr>
        <p:grpSpPr>
          <a:xfrm>
            <a:off x="4232910" y="4301490"/>
            <a:ext cx="2072668" cy="1342930"/>
            <a:chOff x="0" y="0"/>
            <a:chExt cx="2428240" cy="1330960"/>
          </a:xfrm>
        </p:grpSpPr>
        <p:sp>
          <p:nvSpPr>
            <p:cNvPr id="36" name="Freeform 36"/>
            <p:cNvSpPr/>
            <p:nvPr/>
          </p:nvSpPr>
          <p:spPr>
            <a:xfrm>
              <a:off x="0" y="0"/>
              <a:ext cx="2428240" cy="1330960"/>
            </a:xfrm>
            <a:custGeom>
              <a:avLst/>
              <a:gdLst/>
              <a:ahLst/>
              <a:cxnLst/>
              <a:rect l="l" t="t" r="r" b="b"/>
              <a:pathLst>
                <a:path w="2428240" h="1330960">
                  <a:moveTo>
                    <a:pt x="0" y="665480"/>
                  </a:moveTo>
                  <a:cubicBezTo>
                    <a:pt x="0" y="297942"/>
                    <a:pt x="543560" y="0"/>
                    <a:pt x="1214120" y="0"/>
                  </a:cubicBezTo>
                  <a:cubicBezTo>
                    <a:pt x="1884680" y="0"/>
                    <a:pt x="2428240" y="297942"/>
                    <a:pt x="2428240" y="665480"/>
                  </a:cubicBezTo>
                  <a:cubicBezTo>
                    <a:pt x="2428240" y="1033018"/>
                    <a:pt x="1884680" y="1330960"/>
                    <a:pt x="1214120" y="1330960"/>
                  </a:cubicBezTo>
                  <a:cubicBezTo>
                    <a:pt x="543560" y="1330960"/>
                    <a:pt x="0" y="1033018"/>
                    <a:pt x="0" y="665480"/>
                  </a:cubicBezTo>
                  <a:close/>
                </a:path>
              </a:pathLst>
            </a:custGeom>
            <a:blipFill>
              <a:blip r:embed="rId4">
                <a:alphaModFix amt="0"/>
              </a:blip>
              <a:stretch>
                <a:fillRect l="-20325" r="-20325"/>
              </a:stretch>
            </a:blipFill>
            <a:ln w="38100" cap="sq">
              <a:solidFill>
                <a:srgbClr val="595959"/>
              </a:solidFill>
              <a:prstDash val="solid"/>
              <a:miter/>
            </a:ln>
          </p:spPr>
          <p:txBody>
            <a:bodyPr/>
            <a:lstStyle/>
            <a:p>
              <a:endParaRPr lang="en-US"/>
            </a:p>
          </p:txBody>
        </p:sp>
      </p:grpSp>
      <p:grpSp>
        <p:nvGrpSpPr>
          <p:cNvPr id="37" name="Group 37"/>
          <p:cNvGrpSpPr/>
          <p:nvPr/>
        </p:nvGrpSpPr>
        <p:grpSpPr>
          <a:xfrm>
            <a:off x="5200664" y="4917431"/>
            <a:ext cx="137160" cy="137160"/>
            <a:chOff x="0" y="0"/>
            <a:chExt cx="182880" cy="182880"/>
          </a:xfrm>
        </p:grpSpPr>
        <p:sp>
          <p:nvSpPr>
            <p:cNvPr id="38" name="Freeform 38"/>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62626"/>
            </a:solidFill>
          </p:spPr>
          <p:txBody>
            <a:bodyPr/>
            <a:lstStyle/>
            <a:p>
              <a:endParaRPr lang="en-US"/>
            </a:p>
          </p:txBody>
        </p:sp>
      </p:grpSp>
      <p:grpSp>
        <p:nvGrpSpPr>
          <p:cNvPr id="39" name="Group 39"/>
          <p:cNvGrpSpPr/>
          <p:nvPr/>
        </p:nvGrpSpPr>
        <p:grpSpPr>
          <a:xfrm>
            <a:off x="4251960" y="7180081"/>
            <a:ext cx="723900" cy="394716"/>
            <a:chOff x="0" y="0"/>
            <a:chExt cx="965200" cy="526288"/>
          </a:xfrm>
        </p:grpSpPr>
        <p:sp>
          <p:nvSpPr>
            <p:cNvPr id="40" name="Freeform 40"/>
            <p:cNvSpPr/>
            <p:nvPr/>
          </p:nvSpPr>
          <p:spPr>
            <a:xfrm>
              <a:off x="0" y="0"/>
              <a:ext cx="965200" cy="526288"/>
            </a:xfrm>
            <a:custGeom>
              <a:avLst/>
              <a:gdLst/>
              <a:ahLst/>
              <a:cxnLst/>
              <a:rect l="l" t="t" r="r" b="b"/>
              <a:pathLst>
                <a:path w="965200" h="526288">
                  <a:moveTo>
                    <a:pt x="0" y="263144"/>
                  </a:moveTo>
                  <a:cubicBezTo>
                    <a:pt x="0" y="117856"/>
                    <a:pt x="216027" y="0"/>
                    <a:pt x="482600" y="0"/>
                  </a:cubicBezTo>
                  <a:cubicBezTo>
                    <a:pt x="749173" y="0"/>
                    <a:pt x="965200" y="117856"/>
                    <a:pt x="965200" y="263144"/>
                  </a:cubicBezTo>
                  <a:cubicBezTo>
                    <a:pt x="965200" y="408432"/>
                    <a:pt x="749173" y="526288"/>
                    <a:pt x="482600" y="526288"/>
                  </a:cubicBezTo>
                  <a:cubicBezTo>
                    <a:pt x="216027" y="526288"/>
                    <a:pt x="0" y="408432"/>
                    <a:pt x="0" y="263144"/>
                  </a:cubicBezTo>
                  <a:close/>
                </a:path>
              </a:pathLst>
            </a:custGeom>
            <a:blipFill>
              <a:blip r:embed="rId4">
                <a:alphaModFix amt="0"/>
              </a:blip>
              <a:stretch>
                <a:fillRect l="-19959" r="-19959"/>
              </a:stretch>
            </a:blipFill>
            <a:ln w="38100" cap="sq">
              <a:solidFill>
                <a:srgbClr val="2E7D32"/>
              </a:solidFill>
              <a:prstDash val="solid"/>
              <a:miter/>
            </a:ln>
          </p:spPr>
          <p:txBody>
            <a:bodyPr/>
            <a:lstStyle/>
            <a:p>
              <a:endParaRPr lang="en-US"/>
            </a:p>
          </p:txBody>
        </p:sp>
      </p:grpSp>
      <p:grpSp>
        <p:nvGrpSpPr>
          <p:cNvPr id="41" name="Group 41"/>
          <p:cNvGrpSpPr/>
          <p:nvPr/>
        </p:nvGrpSpPr>
        <p:grpSpPr>
          <a:xfrm>
            <a:off x="4557048" y="7308859"/>
            <a:ext cx="137160" cy="137160"/>
            <a:chOff x="0" y="0"/>
            <a:chExt cx="182880" cy="182880"/>
          </a:xfrm>
        </p:grpSpPr>
        <p:sp>
          <p:nvSpPr>
            <p:cNvPr id="42" name="Freeform 42"/>
            <p:cNvSpPr/>
            <p:nvPr/>
          </p:nvSpPr>
          <p:spPr>
            <a:xfrm>
              <a:off x="0" y="0"/>
              <a:ext cx="182880" cy="182880"/>
            </a:xfrm>
            <a:custGeom>
              <a:avLst/>
              <a:gdLst/>
              <a:ahLst/>
              <a:cxnLst/>
              <a:rect l="l" t="t" r="r" b="b"/>
              <a:pathLst>
                <a:path w="182880" h="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62626"/>
            </a:solidFill>
          </p:spPr>
          <p:txBody>
            <a:bodyPr/>
            <a:lstStyle/>
            <a:p>
              <a:endParaRPr lang="en-US"/>
            </a:p>
          </p:txBody>
        </p:sp>
      </p:grpSp>
      <p:sp>
        <p:nvSpPr>
          <p:cNvPr id="43" name="TextBox 43"/>
          <p:cNvSpPr txBox="1"/>
          <p:nvPr/>
        </p:nvSpPr>
        <p:spPr>
          <a:xfrm>
            <a:off x="5923332" y="3870770"/>
            <a:ext cx="1435608" cy="436017"/>
          </a:xfrm>
          <a:prstGeom prst="rect">
            <a:avLst/>
          </a:prstGeom>
        </p:spPr>
        <p:txBody>
          <a:bodyPr lIns="0" tIns="0" rIns="0" bIns="0" rtlCol="0" anchor="t">
            <a:spAutoFit/>
          </a:bodyPr>
          <a:lstStyle/>
          <a:p>
            <a:pPr algn="l">
              <a:lnSpc>
                <a:spcPts val="1709"/>
              </a:lnSpc>
            </a:pPr>
            <a:r>
              <a:rPr lang="en-US" sz="1425">
                <a:solidFill>
                  <a:srgbClr val="009A46"/>
                </a:solidFill>
                <a:latin typeface="Arial"/>
                <a:ea typeface="Arial"/>
                <a:cs typeface="Arial"/>
                <a:sym typeface="Arial"/>
              </a:rPr>
              <a:t>2σ lớn</a:t>
            </a:r>
          </a:p>
          <a:p>
            <a:pPr algn="l">
              <a:lnSpc>
                <a:spcPts val="1709"/>
              </a:lnSpc>
            </a:pPr>
            <a:r>
              <a:rPr lang="en-US" sz="1425">
                <a:solidFill>
                  <a:srgbClr val="009A46"/>
                </a:solidFill>
                <a:latin typeface="Arial"/>
                <a:ea typeface="Arial"/>
                <a:cs typeface="Arial"/>
                <a:sym typeface="Arial"/>
              </a:rPr>
              <a:t>(bay cao)</a:t>
            </a:r>
          </a:p>
        </p:txBody>
      </p:sp>
      <p:sp>
        <p:nvSpPr>
          <p:cNvPr id="44" name="TextBox 44"/>
          <p:cNvSpPr txBox="1"/>
          <p:nvPr/>
        </p:nvSpPr>
        <p:spPr>
          <a:xfrm>
            <a:off x="5127045" y="7276233"/>
            <a:ext cx="1984248" cy="393954"/>
          </a:xfrm>
          <a:prstGeom prst="rect">
            <a:avLst/>
          </a:prstGeom>
        </p:spPr>
        <p:txBody>
          <a:bodyPr lIns="0" tIns="0" rIns="0" bIns="0" rtlCol="0" anchor="t">
            <a:spAutoFit/>
          </a:bodyPr>
          <a:lstStyle/>
          <a:p>
            <a:pPr algn="l">
              <a:lnSpc>
                <a:spcPts val="1709"/>
              </a:lnSpc>
            </a:pPr>
            <a:r>
              <a:rPr lang="en-US" sz="1425">
                <a:solidFill>
                  <a:srgbClr val="2E7D32"/>
                </a:solidFill>
                <a:latin typeface="Arial"/>
                <a:ea typeface="Arial"/>
                <a:cs typeface="Arial"/>
                <a:sym typeface="Arial"/>
              </a:rPr>
              <a:t>2σ co hẹp ∝ 1/z</a:t>
            </a:r>
          </a:p>
        </p:txBody>
      </p:sp>
      <p:grpSp>
        <p:nvGrpSpPr>
          <p:cNvPr id="45" name="Group 45"/>
          <p:cNvGrpSpPr/>
          <p:nvPr/>
        </p:nvGrpSpPr>
        <p:grpSpPr>
          <a:xfrm>
            <a:off x="3703320" y="8709660"/>
            <a:ext cx="1097280" cy="137160"/>
            <a:chOff x="0" y="0"/>
            <a:chExt cx="1463040" cy="182880"/>
          </a:xfrm>
        </p:grpSpPr>
        <p:sp>
          <p:nvSpPr>
            <p:cNvPr id="46" name="Freeform 46"/>
            <p:cNvSpPr/>
            <p:nvPr/>
          </p:nvSpPr>
          <p:spPr>
            <a:xfrm>
              <a:off x="0" y="0"/>
              <a:ext cx="1463040" cy="182880"/>
            </a:xfrm>
            <a:custGeom>
              <a:avLst/>
              <a:gdLst/>
              <a:ahLst/>
              <a:cxnLst/>
              <a:rect l="l" t="t" r="r" b="b"/>
              <a:pathLst>
                <a:path w="1463040" h="182880">
                  <a:moveTo>
                    <a:pt x="0" y="0"/>
                  </a:moveTo>
                  <a:lnTo>
                    <a:pt x="1463040" y="0"/>
                  </a:lnTo>
                  <a:lnTo>
                    <a:pt x="1463040" y="182880"/>
                  </a:lnTo>
                  <a:lnTo>
                    <a:pt x="0" y="182880"/>
                  </a:lnTo>
                  <a:close/>
                </a:path>
              </a:pathLst>
            </a:custGeom>
            <a:solidFill>
              <a:srgbClr val="262626"/>
            </a:solidFill>
          </p:spPr>
          <p:txBody>
            <a:bodyPr/>
            <a:lstStyle/>
            <a:p>
              <a:endParaRPr lang="en-US"/>
            </a:p>
          </p:txBody>
        </p:sp>
      </p:grpSp>
      <p:grpSp>
        <p:nvGrpSpPr>
          <p:cNvPr id="47" name="Group 47"/>
          <p:cNvGrpSpPr/>
          <p:nvPr/>
        </p:nvGrpSpPr>
        <p:grpSpPr>
          <a:xfrm>
            <a:off x="8016716" y="2393156"/>
            <a:ext cx="9450896" cy="1797367"/>
            <a:chOff x="0" y="0"/>
            <a:chExt cx="12601194" cy="2396490"/>
          </a:xfrm>
        </p:grpSpPr>
        <p:sp>
          <p:nvSpPr>
            <p:cNvPr id="48" name="Freeform 48"/>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49" name="Group 49"/>
          <p:cNvGrpSpPr/>
          <p:nvPr/>
        </p:nvGrpSpPr>
        <p:grpSpPr>
          <a:xfrm>
            <a:off x="8298180" y="2400300"/>
            <a:ext cx="960120" cy="68580"/>
            <a:chOff x="0" y="0"/>
            <a:chExt cx="1280160" cy="91440"/>
          </a:xfrm>
        </p:grpSpPr>
        <p:sp>
          <p:nvSpPr>
            <p:cNvPr id="50" name="Freeform 50"/>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grpSp>
        <p:nvGrpSpPr>
          <p:cNvPr id="51" name="Group 51"/>
          <p:cNvGrpSpPr/>
          <p:nvPr/>
        </p:nvGrpSpPr>
        <p:grpSpPr>
          <a:xfrm>
            <a:off x="8298180" y="2633472"/>
            <a:ext cx="1289304" cy="329184"/>
            <a:chOff x="0" y="0"/>
            <a:chExt cx="1719072" cy="438912"/>
          </a:xfrm>
        </p:grpSpPr>
        <p:sp>
          <p:nvSpPr>
            <p:cNvPr id="52" name="Freeform 52"/>
            <p:cNvSpPr/>
            <p:nvPr/>
          </p:nvSpPr>
          <p:spPr>
            <a:xfrm>
              <a:off x="0" y="0"/>
              <a:ext cx="1719072" cy="438912"/>
            </a:xfrm>
            <a:custGeom>
              <a:avLst/>
              <a:gdLst/>
              <a:ahLst/>
              <a:cxnLst/>
              <a:rect l="l" t="t" r="r" b="b"/>
              <a:pathLst>
                <a:path w="1719072" h="438912">
                  <a:moveTo>
                    <a:pt x="0" y="219456"/>
                  </a:moveTo>
                  <a:cubicBezTo>
                    <a:pt x="0" y="98298"/>
                    <a:pt x="98298" y="0"/>
                    <a:pt x="219456" y="0"/>
                  </a:cubicBezTo>
                  <a:lnTo>
                    <a:pt x="1499616" y="0"/>
                  </a:lnTo>
                  <a:cubicBezTo>
                    <a:pt x="1620774" y="0"/>
                    <a:pt x="1719072" y="98298"/>
                    <a:pt x="1719072" y="219456"/>
                  </a:cubicBezTo>
                  <a:cubicBezTo>
                    <a:pt x="1719072" y="340614"/>
                    <a:pt x="1620774" y="438912"/>
                    <a:pt x="1499616" y="438912"/>
                  </a:cubicBezTo>
                  <a:lnTo>
                    <a:pt x="219456" y="438912"/>
                  </a:lnTo>
                  <a:cubicBezTo>
                    <a:pt x="98298" y="438912"/>
                    <a:pt x="0" y="340614"/>
                    <a:pt x="0" y="219456"/>
                  </a:cubicBezTo>
                  <a:close/>
                </a:path>
              </a:pathLst>
            </a:custGeom>
            <a:solidFill>
              <a:srgbClr val="595959"/>
            </a:solidFill>
          </p:spPr>
          <p:txBody>
            <a:bodyPr/>
            <a:lstStyle/>
            <a:p>
              <a:endParaRPr lang="en-US"/>
            </a:p>
          </p:txBody>
        </p:sp>
        <p:sp>
          <p:nvSpPr>
            <p:cNvPr id="53" name="TextBox 53"/>
            <p:cNvSpPr txBox="1"/>
            <p:nvPr/>
          </p:nvSpPr>
          <p:spPr>
            <a:xfrm>
              <a:off x="0" y="-19050"/>
              <a:ext cx="1719072"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FUSION</a:t>
              </a:r>
            </a:p>
          </p:txBody>
        </p:sp>
      </p:grpSp>
      <p:grpSp>
        <p:nvGrpSpPr>
          <p:cNvPr id="54" name="Group 54"/>
          <p:cNvGrpSpPr/>
          <p:nvPr/>
        </p:nvGrpSpPr>
        <p:grpSpPr>
          <a:xfrm>
            <a:off x="9861804" y="2592324"/>
            <a:ext cx="6775704" cy="411480"/>
            <a:chOff x="0" y="0"/>
            <a:chExt cx="9034272" cy="548640"/>
          </a:xfrm>
        </p:grpSpPr>
        <p:sp>
          <p:nvSpPr>
            <p:cNvPr id="55" name="Freeform 55"/>
            <p:cNvSpPr/>
            <p:nvPr/>
          </p:nvSpPr>
          <p:spPr>
            <a:xfrm>
              <a:off x="0" y="0"/>
              <a:ext cx="9034272" cy="548640"/>
            </a:xfrm>
            <a:custGeom>
              <a:avLst/>
              <a:gdLst/>
              <a:ahLst/>
              <a:cxnLst/>
              <a:rect l="l" t="t" r="r" b="b"/>
              <a:pathLst>
                <a:path w="9034272" h="548640">
                  <a:moveTo>
                    <a:pt x="0" y="0"/>
                  </a:moveTo>
                  <a:lnTo>
                    <a:pt x="9034272" y="0"/>
                  </a:lnTo>
                  <a:lnTo>
                    <a:pt x="9034272" y="548640"/>
                  </a:lnTo>
                  <a:lnTo>
                    <a:pt x="0" y="548640"/>
                  </a:lnTo>
                  <a:close/>
                </a:path>
              </a:pathLst>
            </a:custGeom>
            <a:blipFill>
              <a:blip r:embed="rId4">
                <a:alphaModFix amt="0"/>
              </a:blip>
              <a:stretch>
                <a:fillRect t="-270853" b="-270853"/>
              </a:stretch>
            </a:blipFill>
          </p:spPr>
          <p:txBody>
            <a:bodyPr/>
            <a:lstStyle/>
            <a:p>
              <a:endParaRPr lang="en-US"/>
            </a:p>
          </p:txBody>
        </p:sp>
        <p:sp>
          <p:nvSpPr>
            <p:cNvPr id="56" name="TextBox 56"/>
            <p:cNvSpPr txBox="1"/>
            <p:nvPr/>
          </p:nvSpPr>
          <p:spPr>
            <a:xfrm>
              <a:off x="0" y="-28575"/>
              <a:ext cx="9034272"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Dung hợp sai số tương đối</a:t>
              </a:r>
            </a:p>
          </p:txBody>
        </p:sp>
      </p:grpSp>
      <p:grpSp>
        <p:nvGrpSpPr>
          <p:cNvPr id="57" name="Group 57"/>
          <p:cNvGrpSpPr/>
          <p:nvPr/>
        </p:nvGrpSpPr>
        <p:grpSpPr>
          <a:xfrm>
            <a:off x="8291036" y="3106388"/>
            <a:ext cx="8902256" cy="617792"/>
            <a:chOff x="0" y="0"/>
            <a:chExt cx="11869674" cy="823722"/>
          </a:xfrm>
        </p:grpSpPr>
        <p:sp>
          <p:nvSpPr>
            <p:cNvPr id="58" name="Freeform 58"/>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59" name="Group 59"/>
          <p:cNvGrpSpPr/>
          <p:nvPr/>
        </p:nvGrpSpPr>
        <p:grpSpPr>
          <a:xfrm>
            <a:off x="8407908" y="3113532"/>
            <a:ext cx="8668512" cy="603504"/>
            <a:chOff x="0" y="0"/>
            <a:chExt cx="11558016" cy="804672"/>
          </a:xfrm>
        </p:grpSpPr>
        <p:sp>
          <p:nvSpPr>
            <p:cNvPr id="60" name="Freeform 60"/>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61" name="TextBox 61"/>
                <p:cNvSpPr txBox="1"/>
                <p:nvPr/>
              </p:nvSpPr>
              <p:spPr>
                <a:xfrm>
                  <a:off x="0" y="-19050"/>
                  <a:ext cx="11558016" cy="823722"/>
                </a:xfrm>
                <a:prstGeom prst="rect">
                  <a:avLst/>
                </a:prstGeom>
              </p:spPr>
              <p:txBody>
                <a:bodyPr lIns="0" tIns="0" rIns="0" bIns="0" rtlCol="0" anchor="ctr"/>
                <a:lstStyle/>
                <a:p>
                  <a:pPr algn="l">
                    <a:lnSpc>
                      <a:spcPts val="2340"/>
                    </a:lnSpc>
                  </a:pPr>
                  <a14:m>
                    <m:oMathPara xmlns:m="http://schemas.openxmlformats.org/officeDocument/2006/math">
                      <m:oMath>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𝑃</m:t>
                            </m:r>
                          </m:e>
                          <m:sub>
                            <m:r>
                              <a:rPr lang="en-US" sz="2400" b="0" i="1" smtClean="0">
                                <a:solidFill>
                                  <a:srgbClr val="B3222A"/>
                                </a:solidFill>
                                <a:latin typeface="Cambria Math" panose="02040503050406030204" pitchFamily="18" charset="0"/>
                                <a:ea typeface="Arial"/>
                                <a:cs typeface="Arial"/>
                                <a:sym typeface="Arial"/>
                              </a:rPr>
                              <m:t>𝑟𝑒𝑙</m:t>
                            </m:r>
                          </m:sub>
                        </m:sSub>
                        <m:r>
                          <a:rPr lang="en-US" sz="2400" b="0" i="1" smtClean="0">
                            <a:solidFill>
                              <a:srgbClr val="B3222A"/>
                            </a:solidFill>
                            <a:latin typeface="Cambria Math" panose="02040503050406030204" pitchFamily="18" charset="0"/>
                            <a:ea typeface="Arial"/>
                            <a:cs typeface="Arial"/>
                            <a:sym typeface="Arial"/>
                          </a:rPr>
                          <m:t>=</m:t>
                        </m:r>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𝑃</m:t>
                            </m:r>
                          </m:e>
                          <m:sub>
                            <m:r>
                              <a:rPr lang="en-US" sz="2400" b="0" i="1" smtClean="0">
                                <a:solidFill>
                                  <a:srgbClr val="B3222A"/>
                                </a:solidFill>
                                <a:latin typeface="Cambria Math" panose="02040503050406030204" pitchFamily="18" charset="0"/>
                                <a:ea typeface="Arial"/>
                                <a:cs typeface="Arial"/>
                                <a:sym typeface="Arial"/>
                              </a:rPr>
                              <m:t>𝑡𝑎𝑟𝑔𝑒𝑡𝑃𝑜𝑠</m:t>
                            </m:r>
                          </m:sub>
                        </m:sSub>
                        <m:r>
                          <a:rPr lang="en-US" sz="2400" b="0" i="1" smtClean="0">
                            <a:solidFill>
                              <a:srgbClr val="B3222A"/>
                            </a:solidFill>
                            <a:latin typeface="Cambria Math" panose="02040503050406030204" pitchFamily="18" charset="0"/>
                            <a:ea typeface="Arial"/>
                            <a:cs typeface="Arial"/>
                            <a:sym typeface="Arial"/>
                          </a:rPr>
                          <m:t>+</m:t>
                        </m:r>
                        <m:sSub>
                          <m:sSubPr>
                            <m:ctrlPr>
                              <a:rPr lang="en-US" sz="2400" b="0" i="1" smtClean="0">
                                <a:solidFill>
                                  <a:srgbClr val="B3222A"/>
                                </a:solidFill>
                                <a:latin typeface="Cambria Math" panose="02040503050406030204" pitchFamily="18" charset="0"/>
                                <a:ea typeface="Arial"/>
                                <a:cs typeface="Arial"/>
                                <a:sym typeface="Arial"/>
                              </a:rPr>
                            </m:ctrlPr>
                          </m:sSubPr>
                          <m:e>
                            <m:r>
                              <a:rPr lang="en-US" sz="2400" b="0" i="1" smtClean="0">
                                <a:solidFill>
                                  <a:srgbClr val="B3222A"/>
                                </a:solidFill>
                                <a:latin typeface="Cambria Math" panose="02040503050406030204" pitchFamily="18" charset="0"/>
                                <a:ea typeface="Arial"/>
                                <a:cs typeface="Arial"/>
                                <a:sym typeface="Arial"/>
                              </a:rPr>
                              <m:t>𝑃</m:t>
                            </m:r>
                          </m:e>
                          <m:sub>
                            <m:r>
                              <a:rPr lang="en-US" sz="2400" b="0" i="1" smtClean="0">
                                <a:solidFill>
                                  <a:srgbClr val="B3222A"/>
                                </a:solidFill>
                                <a:latin typeface="Cambria Math" panose="02040503050406030204" pitchFamily="18" charset="0"/>
                                <a:ea typeface="Arial"/>
                                <a:cs typeface="Arial"/>
                                <a:sym typeface="Arial"/>
                              </a:rPr>
                              <m:t>𝑑𝑟𝑜𝑛𝑒𝑃𝑜𝑠</m:t>
                            </m:r>
                          </m:sub>
                        </m:sSub>
                      </m:oMath>
                    </m:oMathPara>
                  </a14:m>
                  <a:endParaRPr lang="en-US" sz="2400">
                    <a:solidFill>
                      <a:srgbClr val="B3222A"/>
                    </a:solidFill>
                    <a:latin typeface="Arial"/>
                    <a:ea typeface="Arial"/>
                    <a:cs typeface="Arial"/>
                    <a:sym typeface="Arial"/>
                  </a:endParaRPr>
                </a:p>
              </p:txBody>
            </p:sp>
          </mc:Choice>
          <mc:Fallback xmlns="">
            <p:sp>
              <p:nvSpPr>
                <p:cNvPr id="61" name="TextBox 61"/>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5"/>
                  <a:stretch>
                    <a:fillRect/>
                  </a:stretch>
                </a:blipFill>
              </p:spPr>
              <p:txBody>
                <a:bodyPr/>
                <a:lstStyle/>
                <a:p>
                  <a:r>
                    <a:rPr lang="en-US">
                      <a:noFill/>
                    </a:rPr>
                    <a:t> </a:t>
                  </a:r>
                </a:p>
              </p:txBody>
            </p:sp>
          </mc:Fallback>
        </mc:AlternateContent>
      </p:grpSp>
      <p:sp>
        <p:nvSpPr>
          <p:cNvPr id="62" name="TextBox 62"/>
          <p:cNvSpPr txBox="1"/>
          <p:nvPr/>
        </p:nvSpPr>
        <p:spPr>
          <a:xfrm>
            <a:off x="8334756" y="3780663"/>
            <a:ext cx="8814816" cy="356997"/>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Gộp bất định của Target EKF (camera) và EKF2 của PX4 (odometry drone).</a:t>
            </a:r>
          </a:p>
        </p:txBody>
      </p:sp>
      <p:grpSp>
        <p:nvGrpSpPr>
          <p:cNvPr id="63" name="Group 63"/>
          <p:cNvGrpSpPr/>
          <p:nvPr/>
        </p:nvGrpSpPr>
        <p:grpSpPr>
          <a:xfrm>
            <a:off x="8016716" y="4313396"/>
            <a:ext cx="9450896" cy="1797367"/>
            <a:chOff x="0" y="0"/>
            <a:chExt cx="12601194" cy="2396490"/>
          </a:xfrm>
        </p:grpSpPr>
        <p:sp>
          <p:nvSpPr>
            <p:cNvPr id="64" name="Freeform 64"/>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65" name="Group 65"/>
          <p:cNvGrpSpPr/>
          <p:nvPr/>
        </p:nvGrpSpPr>
        <p:grpSpPr>
          <a:xfrm>
            <a:off x="8298180" y="4320540"/>
            <a:ext cx="960120" cy="68580"/>
            <a:chOff x="0" y="0"/>
            <a:chExt cx="1280160" cy="91440"/>
          </a:xfrm>
        </p:grpSpPr>
        <p:sp>
          <p:nvSpPr>
            <p:cNvPr id="66" name="Freeform 66"/>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67" name="Group 67"/>
          <p:cNvGrpSpPr/>
          <p:nvPr/>
        </p:nvGrpSpPr>
        <p:grpSpPr>
          <a:xfrm>
            <a:off x="8298180" y="4553712"/>
            <a:ext cx="1783080" cy="329184"/>
            <a:chOff x="0" y="0"/>
            <a:chExt cx="2377440" cy="438912"/>
          </a:xfrm>
        </p:grpSpPr>
        <p:sp>
          <p:nvSpPr>
            <p:cNvPr id="68" name="Freeform 68"/>
            <p:cNvSpPr/>
            <p:nvPr/>
          </p:nvSpPr>
          <p:spPr>
            <a:xfrm>
              <a:off x="0" y="0"/>
              <a:ext cx="2377440" cy="438912"/>
            </a:xfrm>
            <a:custGeom>
              <a:avLst/>
              <a:gdLst/>
              <a:ahLst/>
              <a:cxnLst/>
              <a:rect l="l" t="t" r="r" b="b"/>
              <a:pathLst>
                <a:path w="2377440" h="438912">
                  <a:moveTo>
                    <a:pt x="0" y="219456"/>
                  </a:moveTo>
                  <a:cubicBezTo>
                    <a:pt x="0" y="98298"/>
                    <a:pt x="98298" y="0"/>
                    <a:pt x="219456" y="0"/>
                  </a:cubicBezTo>
                  <a:lnTo>
                    <a:pt x="2157984" y="0"/>
                  </a:lnTo>
                  <a:cubicBezTo>
                    <a:pt x="2279142" y="0"/>
                    <a:pt x="2377440" y="98298"/>
                    <a:pt x="2377440" y="219456"/>
                  </a:cubicBezTo>
                  <a:cubicBezTo>
                    <a:pt x="2377440" y="340614"/>
                    <a:pt x="2279142" y="438912"/>
                    <a:pt x="2157984"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69" name="TextBox 69"/>
            <p:cNvSpPr txBox="1"/>
            <p:nvPr/>
          </p:nvSpPr>
          <p:spPr>
            <a:xfrm>
              <a:off x="0" y="-19050"/>
              <a:ext cx="2377440"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WORST-CASE</a:t>
              </a:r>
            </a:p>
          </p:txBody>
        </p:sp>
      </p:grpSp>
      <p:grpSp>
        <p:nvGrpSpPr>
          <p:cNvPr id="70" name="Group 70"/>
          <p:cNvGrpSpPr/>
          <p:nvPr/>
        </p:nvGrpSpPr>
        <p:grpSpPr>
          <a:xfrm>
            <a:off x="10355580" y="4512564"/>
            <a:ext cx="6281928" cy="411480"/>
            <a:chOff x="0" y="0"/>
            <a:chExt cx="8375904" cy="548640"/>
          </a:xfrm>
        </p:grpSpPr>
        <p:sp>
          <p:nvSpPr>
            <p:cNvPr id="71" name="Freeform 71"/>
            <p:cNvSpPr/>
            <p:nvPr/>
          </p:nvSpPr>
          <p:spPr>
            <a:xfrm>
              <a:off x="0" y="0"/>
              <a:ext cx="8375904" cy="548640"/>
            </a:xfrm>
            <a:custGeom>
              <a:avLst/>
              <a:gdLst/>
              <a:ahLst/>
              <a:cxnLst/>
              <a:rect l="l" t="t" r="r" b="b"/>
              <a:pathLst>
                <a:path w="8375904" h="548640">
                  <a:moveTo>
                    <a:pt x="0" y="0"/>
                  </a:moveTo>
                  <a:lnTo>
                    <a:pt x="8375904" y="0"/>
                  </a:lnTo>
                  <a:lnTo>
                    <a:pt x="8375904" y="548640"/>
                  </a:lnTo>
                  <a:lnTo>
                    <a:pt x="0" y="548640"/>
                  </a:lnTo>
                  <a:close/>
                </a:path>
              </a:pathLst>
            </a:custGeom>
            <a:blipFill>
              <a:blip r:embed="rId4">
                <a:alphaModFix amt="0"/>
              </a:blip>
              <a:stretch>
                <a:fillRect t="-247471" b="-247471"/>
              </a:stretch>
            </a:blipFill>
          </p:spPr>
          <p:txBody>
            <a:bodyPr/>
            <a:lstStyle/>
            <a:p>
              <a:endParaRPr lang="en-US"/>
            </a:p>
          </p:txBody>
        </p:sp>
        <p:sp>
          <p:nvSpPr>
            <p:cNvPr id="72" name="TextBox 72"/>
            <p:cNvSpPr txBox="1"/>
            <p:nvPr/>
          </p:nvSpPr>
          <p:spPr>
            <a:xfrm>
              <a:off x="0" y="-28575"/>
              <a:ext cx="8375904"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Bán kính tin cậy theo trị riêng lớn nhất</a:t>
              </a:r>
            </a:p>
          </p:txBody>
        </p:sp>
      </p:grpSp>
      <p:grpSp>
        <p:nvGrpSpPr>
          <p:cNvPr id="73" name="Group 73"/>
          <p:cNvGrpSpPr/>
          <p:nvPr/>
        </p:nvGrpSpPr>
        <p:grpSpPr>
          <a:xfrm>
            <a:off x="8291036" y="5026628"/>
            <a:ext cx="8902256" cy="617792"/>
            <a:chOff x="0" y="0"/>
            <a:chExt cx="11869674" cy="823722"/>
          </a:xfrm>
        </p:grpSpPr>
        <p:sp>
          <p:nvSpPr>
            <p:cNvPr id="74" name="Freeform 74"/>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75" name="Group 75"/>
          <p:cNvGrpSpPr/>
          <p:nvPr/>
        </p:nvGrpSpPr>
        <p:grpSpPr>
          <a:xfrm>
            <a:off x="8407908" y="5067300"/>
            <a:ext cx="8668512" cy="603504"/>
            <a:chOff x="0" y="0"/>
            <a:chExt cx="11558016" cy="804672"/>
          </a:xfrm>
        </p:grpSpPr>
        <p:sp>
          <p:nvSpPr>
            <p:cNvPr id="76" name="Freeform 76"/>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77" name="TextBox 77"/>
                <p:cNvSpPr txBox="1"/>
                <p:nvPr/>
              </p:nvSpPr>
              <p:spPr>
                <a:xfrm>
                  <a:off x="0" y="-19050"/>
                  <a:ext cx="11558016" cy="823722"/>
                </a:xfrm>
                <a:prstGeom prst="rect">
                  <a:avLst/>
                </a:prstGeom>
              </p:spPr>
              <p:txBody>
                <a:bodyPr lIns="0" tIns="0" rIns="0" bIns="0" rtlCol="0" anchor="ctr"/>
                <a:lstStyle/>
                <a:p>
                  <a:pPr algn="l">
                    <a:lnSpc>
                      <a:spcPts val="2340"/>
                    </a:lnSpc>
                  </a:pPr>
                  <a14:m>
                    <m:oMathPara xmlns:m="http://schemas.openxmlformats.org/officeDocument/2006/math">
                      <m:oMath>
                        <m:sSub>
                          <m:sSubPr>
                            <m:ctrlPr>
                              <a:rPr lang="en-US" sz="1950" b="0" i="1" smtClean="0">
                                <a:solidFill>
                                  <a:srgbClr val="B3222A"/>
                                </a:solidFill>
                                <a:latin typeface="Cambria Math" panose="02040503050406030204" pitchFamily="18" charset="0"/>
                                <a:ea typeface="Arial"/>
                                <a:cs typeface="Arial"/>
                                <a:sym typeface="Arial"/>
                              </a:rPr>
                            </m:ctrlPr>
                          </m:sSubPr>
                          <m:e>
                            <m:r>
                              <a:rPr lang="en-US" sz="1950" b="0" i="1" smtClean="0">
                                <a:solidFill>
                                  <a:srgbClr val="B3222A"/>
                                </a:solidFill>
                                <a:latin typeface="Cambria Math" panose="02040503050406030204" pitchFamily="18" charset="0"/>
                                <a:ea typeface="Arial"/>
                                <a:cs typeface="Arial"/>
                                <a:sym typeface="Arial"/>
                              </a:rPr>
                              <m:t>𝑅</m:t>
                            </m:r>
                          </m:e>
                          <m:sub>
                            <m:r>
                              <a:rPr lang="en-US" sz="1950" b="0" i="1" smtClean="0">
                                <a:solidFill>
                                  <a:srgbClr val="B3222A"/>
                                </a:solidFill>
                                <a:latin typeface="Cambria Math" panose="02040503050406030204" pitchFamily="18" charset="0"/>
                                <a:ea typeface="Arial"/>
                                <a:cs typeface="Arial"/>
                                <a:sym typeface="Arial"/>
                              </a:rPr>
                              <m:t>2</m:t>
                            </m:r>
                            <m:r>
                              <a:rPr lang="en-US" sz="1950" b="0" i="1" smtClean="0">
                                <a:solidFill>
                                  <a:srgbClr val="B3222A"/>
                                </a:solidFill>
                                <a:latin typeface="Cambria Math" panose="02040503050406030204" pitchFamily="18" charset="0"/>
                                <a:ea typeface="Arial"/>
                                <a:cs typeface="Arial"/>
                                <a:sym typeface="Arial"/>
                              </a:rPr>
                              <m:t>𝜎</m:t>
                            </m:r>
                          </m:sub>
                        </m:sSub>
                        <m:r>
                          <a:rPr lang="en-US" sz="1950" b="0" i="1" smtClean="0">
                            <a:solidFill>
                              <a:srgbClr val="B3222A"/>
                            </a:solidFill>
                            <a:latin typeface="Cambria Math" panose="02040503050406030204" pitchFamily="18" charset="0"/>
                            <a:ea typeface="Arial"/>
                            <a:cs typeface="Arial"/>
                            <a:sym typeface="Arial"/>
                          </a:rPr>
                          <m:t>=2</m:t>
                        </m:r>
                        <m:rad>
                          <m:radPr>
                            <m:degHide m:val="on"/>
                            <m:ctrlPr>
                              <a:rPr lang="en-US" sz="1950" b="0" i="1" smtClean="0">
                                <a:solidFill>
                                  <a:srgbClr val="B3222A"/>
                                </a:solidFill>
                                <a:latin typeface="Cambria Math" panose="02040503050406030204" pitchFamily="18" charset="0"/>
                                <a:cs typeface="Arial"/>
                                <a:sym typeface="Arial"/>
                              </a:rPr>
                            </m:ctrlPr>
                          </m:radPr>
                          <m:deg/>
                          <m:e>
                            <m:sSub>
                              <m:sSubPr>
                                <m:ctrlPr>
                                  <a:rPr lang="en-US" sz="1950" b="0" i="1" smtClean="0">
                                    <a:solidFill>
                                      <a:srgbClr val="B3222A"/>
                                    </a:solidFill>
                                    <a:latin typeface="Cambria Math" panose="02040503050406030204" pitchFamily="18" charset="0"/>
                                    <a:cs typeface="Arial"/>
                                    <a:sym typeface="Arial"/>
                                  </a:rPr>
                                </m:ctrlPr>
                              </m:sSubPr>
                              <m:e>
                                <m:r>
                                  <a:rPr lang="en-US" sz="1950" b="0" i="1" smtClean="0">
                                    <a:solidFill>
                                      <a:srgbClr val="B3222A"/>
                                    </a:solidFill>
                                    <a:latin typeface="Cambria Math" panose="02040503050406030204" pitchFamily="18" charset="0"/>
                                    <a:cs typeface="Arial"/>
                                    <a:sym typeface="Arial"/>
                                  </a:rPr>
                                  <m:t>𝜆</m:t>
                                </m:r>
                              </m:e>
                              <m:sub>
                                <m:r>
                                  <m:rPr>
                                    <m:sty m:val="p"/>
                                  </m:rPr>
                                  <a:rPr lang="en-US" sz="1950" b="0" i="0" smtClean="0">
                                    <a:solidFill>
                                      <a:srgbClr val="B3222A"/>
                                    </a:solidFill>
                                    <a:latin typeface="Cambria Math" panose="02040503050406030204" pitchFamily="18" charset="0"/>
                                    <a:cs typeface="Arial"/>
                                    <a:sym typeface="Arial"/>
                                  </a:rPr>
                                  <m:t>max</m:t>
                                </m:r>
                                <m:r>
                                  <a:rPr lang="en-US" sz="1950" b="0" i="1" smtClean="0">
                                    <a:solidFill>
                                      <a:srgbClr val="B3222A"/>
                                    </a:solidFill>
                                    <a:latin typeface="Cambria Math" panose="02040503050406030204" pitchFamily="18" charset="0"/>
                                    <a:cs typeface="Arial"/>
                                    <a:sym typeface="Arial"/>
                                  </a:rPr>
                                  <m:t>⁡(</m:t>
                                </m:r>
                                <m:sSub>
                                  <m:sSubPr>
                                    <m:ctrlPr>
                                      <a:rPr lang="en-US" sz="1950" b="0" i="1" smtClean="0">
                                        <a:solidFill>
                                          <a:srgbClr val="B3222A"/>
                                        </a:solidFill>
                                        <a:latin typeface="Cambria Math" panose="02040503050406030204" pitchFamily="18" charset="0"/>
                                        <a:cs typeface="Arial"/>
                                        <a:sym typeface="Arial"/>
                                      </a:rPr>
                                    </m:ctrlPr>
                                  </m:sSubPr>
                                  <m:e>
                                    <m:r>
                                      <a:rPr lang="en-US" sz="1950" b="0" i="1" smtClean="0">
                                        <a:solidFill>
                                          <a:srgbClr val="B3222A"/>
                                        </a:solidFill>
                                        <a:latin typeface="Cambria Math" panose="02040503050406030204" pitchFamily="18" charset="0"/>
                                        <a:cs typeface="Arial"/>
                                        <a:sym typeface="Arial"/>
                                      </a:rPr>
                                      <m:t>𝑃</m:t>
                                    </m:r>
                                  </m:e>
                                  <m:sub>
                                    <m:r>
                                      <a:rPr lang="en-US" sz="1950" b="0" i="1" smtClean="0">
                                        <a:solidFill>
                                          <a:srgbClr val="B3222A"/>
                                        </a:solidFill>
                                        <a:latin typeface="Cambria Math" panose="02040503050406030204" pitchFamily="18" charset="0"/>
                                        <a:cs typeface="Arial"/>
                                        <a:sym typeface="Arial"/>
                                      </a:rPr>
                                      <m:t>𝑟𝑒𝑙</m:t>
                                    </m:r>
                                  </m:sub>
                                </m:sSub>
                                <m:r>
                                  <a:rPr lang="en-US" sz="1950" b="0" i="1" smtClean="0">
                                    <a:solidFill>
                                      <a:srgbClr val="B3222A"/>
                                    </a:solidFill>
                                    <a:latin typeface="Cambria Math" panose="02040503050406030204" pitchFamily="18" charset="0"/>
                                    <a:cs typeface="Arial"/>
                                    <a:sym typeface="Arial"/>
                                  </a:rPr>
                                  <m:t>,</m:t>
                                </m:r>
                                <m:r>
                                  <a:rPr lang="en-US" sz="1950" b="0" i="1" smtClean="0">
                                    <a:solidFill>
                                      <a:srgbClr val="B3222A"/>
                                    </a:solidFill>
                                    <a:latin typeface="Cambria Math" panose="02040503050406030204" pitchFamily="18" charset="0"/>
                                    <a:cs typeface="Arial"/>
                                    <a:sym typeface="Arial"/>
                                  </a:rPr>
                                  <m:t>𝑥𝑦</m:t>
                                </m:r>
                                <m:r>
                                  <a:rPr lang="en-US" sz="1950" b="0" i="1" smtClean="0">
                                    <a:solidFill>
                                      <a:srgbClr val="B3222A"/>
                                    </a:solidFill>
                                    <a:latin typeface="Cambria Math" panose="02040503050406030204" pitchFamily="18" charset="0"/>
                                    <a:cs typeface="Arial"/>
                                    <a:sym typeface="Arial"/>
                                  </a:rPr>
                                  <m:t>)</m:t>
                                </m:r>
                              </m:sub>
                            </m:sSub>
                          </m:e>
                        </m:rad>
                      </m:oMath>
                    </m:oMathPara>
                  </a14:m>
                  <a:endParaRPr lang="en-US" sz="1950">
                    <a:solidFill>
                      <a:srgbClr val="B3222A"/>
                    </a:solidFill>
                    <a:latin typeface="Arial"/>
                    <a:ea typeface="Arial"/>
                    <a:cs typeface="Arial"/>
                    <a:sym typeface="Arial"/>
                  </a:endParaRPr>
                </a:p>
              </p:txBody>
            </p:sp>
          </mc:Choice>
          <mc:Fallback xmlns="">
            <p:sp>
              <p:nvSpPr>
                <p:cNvPr id="77" name="TextBox 77"/>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6"/>
                  <a:stretch>
                    <a:fillRect t="-3960"/>
                  </a:stretch>
                </a:blipFill>
              </p:spPr>
              <p:txBody>
                <a:bodyPr/>
                <a:lstStyle/>
                <a:p>
                  <a:r>
                    <a:rPr lang="en-US">
                      <a:noFill/>
                    </a:rPr>
                    <a:t> </a:t>
                  </a:r>
                </a:p>
              </p:txBody>
            </p:sp>
          </mc:Fallback>
        </mc:AlternateContent>
      </p:grpSp>
      <p:sp>
        <p:nvSpPr>
          <p:cNvPr id="78" name="TextBox 78"/>
          <p:cNvSpPr txBox="1"/>
          <p:nvPr/>
        </p:nvSpPr>
        <p:spPr>
          <a:xfrm>
            <a:off x="8334756" y="5700903"/>
            <a:ext cx="8814816" cy="356997"/>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Lấy phương rủi ro cao nhất của elip sai số → độ tin cậy ≈ 95.4% cho vị trí chạm đất.</a:t>
            </a:r>
          </a:p>
        </p:txBody>
      </p:sp>
      <p:grpSp>
        <p:nvGrpSpPr>
          <p:cNvPr id="79" name="Group 79"/>
          <p:cNvGrpSpPr/>
          <p:nvPr/>
        </p:nvGrpSpPr>
        <p:grpSpPr>
          <a:xfrm>
            <a:off x="8016716" y="6233636"/>
            <a:ext cx="9450896" cy="1797367"/>
            <a:chOff x="0" y="0"/>
            <a:chExt cx="12601194" cy="2396490"/>
          </a:xfrm>
        </p:grpSpPr>
        <p:sp>
          <p:nvSpPr>
            <p:cNvPr id="80" name="Freeform 80"/>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81" name="Group 81"/>
          <p:cNvGrpSpPr/>
          <p:nvPr/>
        </p:nvGrpSpPr>
        <p:grpSpPr>
          <a:xfrm>
            <a:off x="8298180" y="6240780"/>
            <a:ext cx="960120" cy="68580"/>
            <a:chOff x="0" y="0"/>
            <a:chExt cx="1280160" cy="91440"/>
          </a:xfrm>
        </p:grpSpPr>
        <p:sp>
          <p:nvSpPr>
            <p:cNvPr id="82" name="Freeform 82"/>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grpSp>
        <p:nvGrpSpPr>
          <p:cNvPr id="83" name="Group 83"/>
          <p:cNvGrpSpPr/>
          <p:nvPr/>
        </p:nvGrpSpPr>
        <p:grpSpPr>
          <a:xfrm>
            <a:off x="8298180" y="6473952"/>
            <a:ext cx="1042416" cy="329184"/>
            <a:chOff x="0" y="0"/>
            <a:chExt cx="1389888" cy="438912"/>
          </a:xfrm>
        </p:grpSpPr>
        <p:sp>
          <p:nvSpPr>
            <p:cNvPr id="84" name="Freeform 84"/>
            <p:cNvSpPr/>
            <p:nvPr/>
          </p:nvSpPr>
          <p:spPr>
            <a:xfrm>
              <a:off x="0" y="0"/>
              <a:ext cx="1389888" cy="438912"/>
            </a:xfrm>
            <a:custGeom>
              <a:avLst/>
              <a:gdLst/>
              <a:ahLst/>
              <a:cxnLst/>
              <a:rect l="l" t="t" r="r" b="b"/>
              <a:pathLst>
                <a:path w="1389888" h="438912">
                  <a:moveTo>
                    <a:pt x="0" y="219456"/>
                  </a:moveTo>
                  <a:cubicBezTo>
                    <a:pt x="0" y="98298"/>
                    <a:pt x="98298" y="0"/>
                    <a:pt x="219456" y="0"/>
                  </a:cubicBezTo>
                  <a:lnTo>
                    <a:pt x="1170432" y="0"/>
                  </a:lnTo>
                  <a:cubicBezTo>
                    <a:pt x="1291590" y="0"/>
                    <a:pt x="1389888" y="98298"/>
                    <a:pt x="1389888" y="219456"/>
                  </a:cubicBezTo>
                  <a:cubicBezTo>
                    <a:pt x="1389888" y="340614"/>
                    <a:pt x="1291590" y="438912"/>
                    <a:pt x="1170432" y="438912"/>
                  </a:cubicBezTo>
                  <a:lnTo>
                    <a:pt x="219456" y="438912"/>
                  </a:lnTo>
                  <a:cubicBezTo>
                    <a:pt x="98298" y="438912"/>
                    <a:pt x="0" y="340614"/>
                    <a:pt x="0" y="219456"/>
                  </a:cubicBezTo>
                  <a:close/>
                </a:path>
              </a:pathLst>
            </a:custGeom>
            <a:solidFill>
              <a:srgbClr val="2E7D32"/>
            </a:solidFill>
          </p:spPr>
          <p:txBody>
            <a:bodyPr/>
            <a:lstStyle/>
            <a:p>
              <a:endParaRPr lang="en-US"/>
            </a:p>
          </p:txBody>
        </p:sp>
        <p:sp>
          <p:nvSpPr>
            <p:cNvPr id="85" name="TextBox 85"/>
            <p:cNvSpPr txBox="1"/>
            <p:nvPr/>
          </p:nvSpPr>
          <p:spPr>
            <a:xfrm>
              <a:off x="0" y="-19050"/>
              <a:ext cx="1389888"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GATE</a:t>
              </a:r>
            </a:p>
          </p:txBody>
        </p:sp>
      </p:grpSp>
      <p:grpSp>
        <p:nvGrpSpPr>
          <p:cNvPr id="86" name="Group 86"/>
          <p:cNvGrpSpPr/>
          <p:nvPr/>
        </p:nvGrpSpPr>
        <p:grpSpPr>
          <a:xfrm>
            <a:off x="9614916" y="6432804"/>
            <a:ext cx="7022592" cy="411480"/>
            <a:chOff x="0" y="0"/>
            <a:chExt cx="9363456" cy="548640"/>
          </a:xfrm>
        </p:grpSpPr>
        <p:sp>
          <p:nvSpPr>
            <p:cNvPr id="87" name="Freeform 87"/>
            <p:cNvSpPr/>
            <p:nvPr/>
          </p:nvSpPr>
          <p:spPr>
            <a:xfrm>
              <a:off x="0" y="0"/>
              <a:ext cx="9363456" cy="548640"/>
            </a:xfrm>
            <a:custGeom>
              <a:avLst/>
              <a:gdLst/>
              <a:ahLst/>
              <a:cxnLst/>
              <a:rect l="l" t="t" r="r" b="b"/>
              <a:pathLst>
                <a:path w="9363456" h="548640">
                  <a:moveTo>
                    <a:pt x="0" y="0"/>
                  </a:moveTo>
                  <a:lnTo>
                    <a:pt x="9363456" y="0"/>
                  </a:lnTo>
                  <a:lnTo>
                    <a:pt x="9363456" y="548640"/>
                  </a:lnTo>
                  <a:lnTo>
                    <a:pt x="0" y="548640"/>
                  </a:lnTo>
                  <a:close/>
                </a:path>
              </a:pathLst>
            </a:custGeom>
            <a:blipFill>
              <a:blip r:embed="rId4">
                <a:alphaModFix amt="0"/>
              </a:blip>
              <a:stretch>
                <a:fillRect t="-282544" b="-282544"/>
              </a:stretch>
            </a:blipFill>
          </p:spPr>
          <p:txBody>
            <a:bodyPr/>
            <a:lstStyle/>
            <a:p>
              <a:endParaRPr lang="en-US"/>
            </a:p>
          </p:txBody>
        </p:sp>
        <p:sp>
          <p:nvSpPr>
            <p:cNvPr id="88" name="TextBox 88"/>
            <p:cNvSpPr txBox="1"/>
            <p:nvPr/>
          </p:nvSpPr>
          <p:spPr>
            <a:xfrm>
              <a:off x="0" y="-28575"/>
              <a:ext cx="9363456"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Điều kiện cấp phép hạ cánh</a:t>
              </a:r>
            </a:p>
          </p:txBody>
        </p:sp>
      </p:grpSp>
      <p:grpSp>
        <p:nvGrpSpPr>
          <p:cNvPr id="89" name="Group 89"/>
          <p:cNvGrpSpPr/>
          <p:nvPr/>
        </p:nvGrpSpPr>
        <p:grpSpPr>
          <a:xfrm>
            <a:off x="8291036" y="6946868"/>
            <a:ext cx="8902256" cy="617792"/>
            <a:chOff x="0" y="0"/>
            <a:chExt cx="11869674" cy="823722"/>
          </a:xfrm>
        </p:grpSpPr>
        <p:sp>
          <p:nvSpPr>
            <p:cNvPr id="90" name="Freeform 90"/>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91" name="Group 91"/>
          <p:cNvGrpSpPr/>
          <p:nvPr/>
        </p:nvGrpSpPr>
        <p:grpSpPr>
          <a:xfrm>
            <a:off x="8407908" y="7048500"/>
            <a:ext cx="8668512" cy="603504"/>
            <a:chOff x="0" y="0"/>
            <a:chExt cx="11558016" cy="804672"/>
          </a:xfrm>
        </p:grpSpPr>
        <p:sp>
          <p:nvSpPr>
            <p:cNvPr id="92" name="Freeform 92"/>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93" name="TextBox 93"/>
                <p:cNvSpPr txBox="1"/>
                <p:nvPr/>
              </p:nvSpPr>
              <p:spPr>
                <a:xfrm>
                  <a:off x="0" y="-28575"/>
                  <a:ext cx="11558016" cy="833247"/>
                </a:xfrm>
                <a:prstGeom prst="rect">
                  <a:avLst/>
                </a:prstGeom>
              </p:spPr>
              <p:txBody>
                <a:bodyPr lIns="0" tIns="0" rIns="0" bIns="0" rtlCol="0" anchor="ctr"/>
                <a:lstStyle/>
                <a:p>
                  <a:pPr algn="l">
                    <a:lnSpc>
                      <a:spcPts val="2250"/>
                    </a:lnSpc>
                  </a:pPr>
                  <a14:m>
                    <m:oMathPara xmlns:m="http://schemas.openxmlformats.org/officeDocument/2006/math">
                      <m:oMath>
                        <m:r>
                          <a:rPr lang="en-US" sz="1875" b="0" i="1" smtClean="0">
                            <a:solidFill>
                              <a:srgbClr val="B3222A"/>
                            </a:solidFill>
                            <a:latin typeface="Cambria Math" panose="02040503050406030204" pitchFamily="18" charset="0"/>
                            <a:ea typeface="Arial"/>
                            <a:cs typeface="Arial"/>
                            <a:sym typeface="Arial"/>
                          </a:rPr>
                          <m:t>2</m:t>
                        </m:r>
                        <m:r>
                          <a:rPr lang="en-US" sz="1875" b="0" i="1" smtClean="0">
                            <a:solidFill>
                              <a:srgbClr val="B3222A"/>
                            </a:solidFill>
                            <a:latin typeface="Cambria Math" panose="02040503050406030204" pitchFamily="18" charset="0"/>
                            <a:ea typeface="Arial"/>
                            <a:cs typeface="Arial"/>
                            <a:sym typeface="Arial"/>
                          </a:rPr>
                          <m:t>𝜎</m:t>
                        </m:r>
                        <m:r>
                          <a:rPr lang="en-US" sz="1875" b="0" i="1" smtClean="0">
                            <a:solidFill>
                              <a:srgbClr val="B3222A"/>
                            </a:solidFill>
                            <a:latin typeface="Cambria Math" panose="02040503050406030204" pitchFamily="18" charset="0"/>
                            <a:ea typeface="Arial"/>
                            <a:cs typeface="Arial"/>
                            <a:sym typeface="Arial"/>
                          </a:rPr>
                          <m:t>≤</m:t>
                        </m:r>
                        <m:r>
                          <a:rPr lang="en-US" sz="1875" b="0" i="1" smtClean="0">
                            <a:solidFill>
                              <a:srgbClr val="B3222A"/>
                            </a:solidFill>
                            <a:latin typeface="Cambria Math" panose="02040503050406030204" pitchFamily="18" charset="0"/>
                            <a:ea typeface="Arial"/>
                            <a:cs typeface="Arial"/>
                            <a:sym typeface="Arial"/>
                          </a:rPr>
                          <m:t>𝑠𝑎𝑓𝑒𝐷𝑖𝑠𝑡</m:t>
                        </m:r>
                        <m:r>
                          <a:rPr lang="en-US" sz="1875" b="0" i="1" smtClean="0">
                            <a:solidFill>
                              <a:srgbClr val="B3222A"/>
                            </a:solidFill>
                            <a:latin typeface="Cambria Math" panose="02040503050406030204" pitchFamily="18" charset="0"/>
                            <a:ea typeface="Arial"/>
                            <a:cs typeface="Arial"/>
                            <a:sym typeface="Arial"/>
                          </a:rPr>
                          <m:t> &amp; </m:t>
                        </m:r>
                        <m:sSub>
                          <m:sSubPr>
                            <m:ctrlPr>
                              <a:rPr lang="en-US" sz="1875" b="0" i="1" smtClean="0">
                                <a:solidFill>
                                  <a:srgbClr val="B3222A"/>
                                </a:solidFill>
                                <a:latin typeface="Cambria Math" panose="02040503050406030204" pitchFamily="18" charset="0"/>
                                <a:ea typeface="Arial"/>
                                <a:cs typeface="Arial"/>
                                <a:sym typeface="Arial"/>
                              </a:rPr>
                            </m:ctrlPr>
                          </m:sSubPr>
                          <m:e>
                            <m:r>
                              <a:rPr lang="en-US" sz="1875" b="0" i="1" smtClean="0">
                                <a:solidFill>
                                  <a:srgbClr val="B3222A"/>
                                </a:solidFill>
                                <a:latin typeface="Cambria Math" panose="02040503050406030204" pitchFamily="18" charset="0"/>
                                <a:ea typeface="Arial"/>
                                <a:cs typeface="Arial"/>
                                <a:sym typeface="Arial"/>
                              </a:rPr>
                              <m:t>𝜃</m:t>
                            </m:r>
                          </m:e>
                          <m:sub>
                            <m:r>
                              <a:rPr lang="en-US" sz="1875" b="0" i="1" smtClean="0">
                                <a:solidFill>
                                  <a:srgbClr val="B3222A"/>
                                </a:solidFill>
                                <a:latin typeface="Cambria Math" panose="02040503050406030204" pitchFamily="18" charset="0"/>
                                <a:ea typeface="Arial"/>
                                <a:cs typeface="Arial"/>
                                <a:sym typeface="Arial"/>
                              </a:rPr>
                              <m:t>𝑐𝑜𝑛𝑒</m:t>
                            </m:r>
                          </m:sub>
                        </m:sSub>
                        <m:r>
                          <a:rPr lang="en-US" sz="1875" b="0" i="1" smtClean="0">
                            <a:solidFill>
                              <a:srgbClr val="B3222A"/>
                            </a:solidFill>
                            <a:latin typeface="Cambria Math" panose="02040503050406030204" pitchFamily="18" charset="0"/>
                            <a:ea typeface="Arial"/>
                            <a:cs typeface="Arial"/>
                            <a:sym typeface="Arial"/>
                          </a:rPr>
                          <m:t>=</m:t>
                        </m:r>
                        <m:func>
                          <m:funcPr>
                            <m:ctrlPr>
                              <a:rPr lang="en-US" sz="1875" b="0" i="0" smtClean="0">
                                <a:solidFill>
                                  <a:srgbClr val="B3222A"/>
                                </a:solidFill>
                                <a:latin typeface="Cambria Math" panose="02040503050406030204" pitchFamily="18" charset="0"/>
                                <a:ea typeface="Arial"/>
                                <a:cs typeface="Arial"/>
                                <a:sym typeface="Arial"/>
                              </a:rPr>
                            </m:ctrlPr>
                          </m:funcPr>
                          <m:fName>
                            <m:r>
                              <m:rPr>
                                <m:sty m:val="p"/>
                              </m:rPr>
                              <a:rPr lang="en-US" sz="1875" b="0" i="0" smtClean="0">
                                <a:solidFill>
                                  <a:srgbClr val="B3222A"/>
                                </a:solidFill>
                                <a:latin typeface="Cambria Math" panose="02040503050406030204" pitchFamily="18" charset="0"/>
                                <a:ea typeface="Arial"/>
                                <a:cs typeface="Arial"/>
                                <a:sym typeface="Arial"/>
                              </a:rPr>
                              <m:t>arctan</m:t>
                            </m:r>
                          </m:fName>
                          <m:e>
                            <m:d>
                              <m:dPr>
                                <m:ctrlPr>
                                  <a:rPr lang="en-US" sz="1875" b="0" i="1" smtClean="0">
                                    <a:solidFill>
                                      <a:srgbClr val="B3222A"/>
                                    </a:solidFill>
                                    <a:latin typeface="Cambria Math" panose="02040503050406030204" pitchFamily="18" charset="0"/>
                                    <a:ea typeface="Arial"/>
                                    <a:cs typeface="Arial"/>
                                    <a:sym typeface="Arial"/>
                                  </a:rPr>
                                </m:ctrlPr>
                              </m:dPr>
                              <m:e>
                                <m:f>
                                  <m:fPr>
                                    <m:ctrlPr>
                                      <a:rPr lang="en-US" sz="1875" b="0" i="1" smtClean="0">
                                        <a:solidFill>
                                          <a:srgbClr val="B3222A"/>
                                        </a:solidFill>
                                        <a:latin typeface="Cambria Math" panose="02040503050406030204" pitchFamily="18" charset="0"/>
                                        <a:ea typeface="Arial"/>
                                        <a:cs typeface="Arial"/>
                                        <a:sym typeface="Arial"/>
                                      </a:rPr>
                                    </m:ctrlPr>
                                  </m:fPr>
                                  <m:num>
                                    <m:sSub>
                                      <m:sSubPr>
                                        <m:ctrlPr>
                                          <a:rPr lang="en-US" sz="1875" b="0" i="1" smtClean="0">
                                            <a:solidFill>
                                              <a:srgbClr val="B3222A"/>
                                            </a:solidFill>
                                            <a:latin typeface="Cambria Math" panose="02040503050406030204" pitchFamily="18" charset="0"/>
                                            <a:ea typeface="Arial"/>
                                            <a:cs typeface="Arial"/>
                                            <a:sym typeface="Arial"/>
                                          </a:rPr>
                                        </m:ctrlPr>
                                      </m:sSubPr>
                                      <m:e>
                                        <m:r>
                                          <a:rPr lang="en-US" sz="1875" b="0" i="1" smtClean="0">
                                            <a:solidFill>
                                              <a:srgbClr val="B3222A"/>
                                            </a:solidFill>
                                            <a:latin typeface="Cambria Math" panose="02040503050406030204" pitchFamily="18" charset="0"/>
                                            <a:ea typeface="Arial"/>
                                            <a:cs typeface="Arial"/>
                                            <a:sym typeface="Arial"/>
                                          </a:rPr>
                                          <m:t>𝑅</m:t>
                                        </m:r>
                                      </m:e>
                                      <m:sub>
                                        <m:r>
                                          <a:rPr lang="en-US" sz="1875" b="0" i="1" smtClean="0">
                                            <a:solidFill>
                                              <a:srgbClr val="B3222A"/>
                                            </a:solidFill>
                                            <a:latin typeface="Cambria Math" panose="02040503050406030204" pitchFamily="18" charset="0"/>
                                            <a:ea typeface="Arial"/>
                                            <a:cs typeface="Arial"/>
                                            <a:sym typeface="Arial"/>
                                          </a:rPr>
                                          <m:t>𝑥𝑦</m:t>
                                        </m:r>
                                      </m:sub>
                                    </m:sSub>
                                  </m:num>
                                  <m:den>
                                    <m:r>
                                      <a:rPr lang="en-US" sz="1875" b="0" i="1" smtClean="0">
                                        <a:solidFill>
                                          <a:srgbClr val="B3222A"/>
                                        </a:solidFill>
                                        <a:latin typeface="Cambria Math" panose="02040503050406030204" pitchFamily="18" charset="0"/>
                                        <a:ea typeface="Arial"/>
                                        <a:cs typeface="Arial"/>
                                        <a:sym typeface="Arial"/>
                                      </a:rPr>
                                      <m:t>∆</m:t>
                                    </m:r>
                                    <m:r>
                                      <a:rPr lang="en-US" sz="1875" b="0" i="1" smtClean="0">
                                        <a:solidFill>
                                          <a:srgbClr val="B3222A"/>
                                        </a:solidFill>
                                        <a:latin typeface="Cambria Math" panose="02040503050406030204" pitchFamily="18" charset="0"/>
                                        <a:ea typeface="Arial"/>
                                        <a:cs typeface="Arial"/>
                                        <a:sym typeface="Arial"/>
                                      </a:rPr>
                                      <m:t>𝑧</m:t>
                                    </m:r>
                                  </m:den>
                                </m:f>
                              </m:e>
                            </m:d>
                          </m:e>
                        </m:func>
                        <m:r>
                          <a:rPr lang="en-US" sz="1875" b="0" i="1" smtClean="0">
                            <a:solidFill>
                              <a:srgbClr val="B3222A"/>
                            </a:solidFill>
                            <a:latin typeface="Cambria Math" panose="02040503050406030204" pitchFamily="18" charset="0"/>
                            <a:ea typeface="Arial"/>
                            <a:cs typeface="Arial"/>
                            <a:sym typeface="Arial"/>
                          </a:rPr>
                          <m:t>≤</m:t>
                        </m:r>
                        <m:r>
                          <a:rPr lang="en-US" sz="1875" b="0" i="1" smtClean="0">
                            <a:solidFill>
                              <a:srgbClr val="B3222A"/>
                            </a:solidFill>
                            <a:latin typeface="Cambria Math" panose="02040503050406030204" pitchFamily="18" charset="0"/>
                            <a:ea typeface="Arial"/>
                            <a:cs typeface="Arial"/>
                            <a:sym typeface="Arial"/>
                          </a:rPr>
                          <m:t>𝑠𝑎𝑓𝑒𝐴𝑛𝑔𝑙𝑒</m:t>
                        </m:r>
                      </m:oMath>
                    </m:oMathPara>
                  </a14:m>
                  <a:endParaRPr lang="en-US" sz="1875">
                    <a:solidFill>
                      <a:srgbClr val="B3222A"/>
                    </a:solidFill>
                    <a:latin typeface="Arial"/>
                    <a:ea typeface="Arial"/>
                    <a:cs typeface="Arial"/>
                    <a:sym typeface="Arial"/>
                  </a:endParaRPr>
                </a:p>
              </p:txBody>
            </p:sp>
          </mc:Choice>
          <mc:Fallback xmlns="">
            <p:sp>
              <p:nvSpPr>
                <p:cNvPr id="93" name="TextBox 93"/>
                <p:cNvSpPr txBox="1">
                  <a:spLocks noRot="1" noChangeAspect="1" noMove="1" noResize="1" noEditPoints="1" noAdjustHandles="1" noChangeArrowheads="1" noChangeShapeType="1" noTextEdit="1"/>
                </p:cNvSpPr>
                <p:nvPr/>
              </p:nvSpPr>
              <p:spPr>
                <a:xfrm>
                  <a:off x="0" y="-28575"/>
                  <a:ext cx="11558016" cy="833247"/>
                </a:xfrm>
                <a:prstGeom prst="rect">
                  <a:avLst/>
                </a:prstGeom>
                <a:blipFill>
                  <a:blip r:embed="rId7"/>
                  <a:stretch>
                    <a:fillRect t="-1176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4" name="TextBox 94"/>
              <p:cNvSpPr txBox="1"/>
              <p:nvPr/>
            </p:nvSpPr>
            <p:spPr>
              <a:xfrm>
                <a:off x="8334756" y="7621143"/>
                <a:ext cx="8814816" cy="228717"/>
              </a:xfrm>
              <a:prstGeom prst="rect">
                <a:avLst/>
              </a:prstGeom>
            </p:spPr>
            <p:txBody>
              <a:bodyPr lIns="0" tIns="0" rIns="0" bIns="0" rtlCol="0" anchor="t">
                <a:spAutoFit/>
              </a:bodyPr>
              <a:lstStyle/>
              <a:p>
                <a:pPr algn="l">
                  <a:lnSpc>
                    <a:spcPts val="1889"/>
                  </a:lnSpc>
                </a:pPr>
                <a14:m>
                  <m:oMath xmlns:m="http://schemas.openxmlformats.org/officeDocument/2006/math">
                    <m:sSub>
                      <m:sSubPr>
                        <m:ctrlPr>
                          <a:rPr lang="en-US" sz="1575" b="0" i="1" smtClean="0">
                            <a:solidFill>
                              <a:srgbClr val="404040"/>
                            </a:solidFill>
                            <a:latin typeface="Cambria Math" panose="02040503050406030204" pitchFamily="18" charset="0"/>
                            <a:ea typeface="Arial"/>
                            <a:cs typeface="Arial"/>
                            <a:sym typeface="Arial"/>
                          </a:rPr>
                        </m:ctrlPr>
                      </m:sSubPr>
                      <m:e>
                        <m:r>
                          <a:rPr lang="en-US" sz="1575" b="0" i="1" smtClean="0">
                            <a:solidFill>
                              <a:srgbClr val="404040"/>
                            </a:solidFill>
                            <a:latin typeface="Cambria Math" panose="02040503050406030204" pitchFamily="18" charset="0"/>
                            <a:ea typeface="Arial"/>
                            <a:cs typeface="Arial"/>
                            <a:sym typeface="Arial"/>
                          </a:rPr>
                          <m:t>𝑅</m:t>
                        </m:r>
                      </m:e>
                      <m:sub>
                        <m:r>
                          <a:rPr lang="en-US" sz="1575" b="0" i="1" smtClean="0">
                            <a:solidFill>
                              <a:srgbClr val="404040"/>
                            </a:solidFill>
                            <a:latin typeface="Cambria Math" panose="02040503050406030204" pitchFamily="18" charset="0"/>
                            <a:ea typeface="Arial"/>
                            <a:cs typeface="Arial"/>
                            <a:sym typeface="Arial"/>
                          </a:rPr>
                          <m:t>𝑠𝑤𝑖𝑡𝑐ℎ</m:t>
                        </m:r>
                      </m:sub>
                    </m:sSub>
                    <m:r>
                      <a:rPr lang="en-US" sz="1575" b="0" i="1" smtClean="0">
                        <a:solidFill>
                          <a:srgbClr val="404040"/>
                        </a:solidFill>
                        <a:latin typeface="Cambria Math" panose="02040503050406030204" pitchFamily="18" charset="0"/>
                        <a:ea typeface="Arial"/>
                        <a:cs typeface="Arial"/>
                        <a:sym typeface="Arial"/>
                      </a:rPr>
                      <m:t>=</m:t>
                    </m:r>
                    <m:r>
                      <a:rPr lang="en-US" sz="1575" b="0" i="1" smtClean="0">
                        <a:solidFill>
                          <a:srgbClr val="404040"/>
                        </a:solidFill>
                        <a:latin typeface="Cambria Math" panose="02040503050406030204" pitchFamily="18" charset="0"/>
                        <a:ea typeface="Arial"/>
                        <a:cs typeface="Arial"/>
                        <a:sym typeface="Arial"/>
                      </a:rPr>
                      <m:t>𝑐𝑙𝑎𝑚𝑝</m:t>
                    </m:r>
                    <m:d>
                      <m:dPr>
                        <m:ctrlPr>
                          <a:rPr lang="en-US" sz="1575" b="0" i="1" smtClean="0">
                            <a:solidFill>
                              <a:srgbClr val="404040"/>
                            </a:solidFill>
                            <a:latin typeface="Cambria Math" panose="02040503050406030204" pitchFamily="18" charset="0"/>
                            <a:ea typeface="Arial"/>
                            <a:cs typeface="Arial"/>
                            <a:sym typeface="Arial"/>
                          </a:rPr>
                        </m:ctrlPr>
                      </m:dPr>
                      <m:e>
                        <m:r>
                          <a:rPr lang="en-US" sz="1575" b="0" i="1" smtClean="0">
                            <a:solidFill>
                              <a:srgbClr val="404040"/>
                            </a:solidFill>
                            <a:latin typeface="Cambria Math" panose="02040503050406030204" pitchFamily="18" charset="0"/>
                            <a:ea typeface="Arial"/>
                            <a:cs typeface="Arial"/>
                            <a:sym typeface="Arial"/>
                          </a:rPr>
                          <m:t>5+2.2</m:t>
                        </m:r>
                        <m:r>
                          <a:rPr lang="en-US" sz="1575" b="0" i="1" smtClean="0">
                            <a:solidFill>
                              <a:srgbClr val="404040"/>
                            </a:solidFill>
                            <a:latin typeface="Cambria Math" panose="02040503050406030204" pitchFamily="18" charset="0"/>
                            <a:ea typeface="Arial"/>
                            <a:cs typeface="Arial"/>
                            <a:sym typeface="Arial"/>
                          </a:rPr>
                          <m:t>𝜎</m:t>
                        </m:r>
                        <m:r>
                          <a:rPr lang="en-US" sz="1575" b="0" i="1" smtClean="0">
                            <a:solidFill>
                              <a:srgbClr val="404040"/>
                            </a:solidFill>
                            <a:latin typeface="Cambria Math" panose="02040503050406030204" pitchFamily="18" charset="0"/>
                            <a:ea typeface="Arial"/>
                            <a:cs typeface="Arial"/>
                            <a:sym typeface="Arial"/>
                          </a:rPr>
                          <m:t>,4.5,10</m:t>
                        </m:r>
                      </m:e>
                    </m:d>
                    <m:r>
                      <a:rPr lang="en-US" sz="1575" b="0" i="1" smtClean="0">
                        <a:solidFill>
                          <a:srgbClr val="404040"/>
                        </a:solidFill>
                        <a:latin typeface="Cambria Math" panose="02040503050406030204" pitchFamily="18" charset="0"/>
                        <a:ea typeface="Arial"/>
                        <a:cs typeface="Arial"/>
                        <a:sym typeface="Arial"/>
                      </a:rPr>
                      <m:t> </m:t>
                    </m:r>
                    <m:r>
                      <a:rPr lang="en-US" sz="1575" b="0" i="1" smtClean="0">
                        <a:solidFill>
                          <a:srgbClr val="404040"/>
                        </a:solidFill>
                        <a:latin typeface="Cambria Math" panose="02040503050406030204" pitchFamily="18" charset="0"/>
                        <a:ea typeface="Arial"/>
                        <a:cs typeface="Arial"/>
                        <a:sym typeface="Arial"/>
                      </a:rPr>
                      <m:t>𝑚</m:t>
                    </m:r>
                  </m:oMath>
                </a14:m>
                <a:r>
                  <a:rPr lang="en-US" sz="1575">
                    <a:solidFill>
                      <a:srgbClr val="404040"/>
                    </a:solidFill>
                    <a:latin typeface="Arial"/>
                    <a:ea typeface="Arial"/>
                    <a:cs typeface="Arial"/>
                    <a:sym typeface="Arial"/>
                  </a:rPr>
                  <a:t> — Bán kính chuyển dốc trượt thích ứng.</a:t>
                </a:r>
              </a:p>
            </p:txBody>
          </p:sp>
        </mc:Choice>
        <mc:Fallback xmlns="">
          <p:sp>
            <p:nvSpPr>
              <p:cNvPr id="94" name="TextBox 94"/>
              <p:cNvSpPr txBox="1">
                <a:spLocks noRot="1" noChangeAspect="1" noMove="1" noResize="1" noEditPoints="1" noAdjustHandles="1" noChangeArrowheads="1" noChangeShapeType="1" noTextEdit="1"/>
              </p:cNvSpPr>
              <p:nvPr/>
            </p:nvSpPr>
            <p:spPr>
              <a:xfrm>
                <a:off x="8334756" y="7621143"/>
                <a:ext cx="8814816" cy="228717"/>
              </a:xfrm>
              <a:prstGeom prst="rect">
                <a:avLst/>
              </a:prstGeom>
              <a:blipFill>
                <a:blip r:embed="rId8"/>
                <a:stretch>
                  <a:fillRect l="-761" t="-31579" b="-55263"/>
                </a:stretch>
              </a:blipFill>
            </p:spPr>
            <p:txBody>
              <a:bodyPr/>
              <a:lstStyle/>
              <a:p>
                <a:r>
                  <a:rPr lang="en-US">
                    <a:noFill/>
                  </a:rPr>
                  <a:t> </a:t>
                </a:r>
              </a:p>
            </p:txBody>
          </p:sp>
        </mc:Fallback>
      </mc:AlternateContent>
      <p:grpSp>
        <p:nvGrpSpPr>
          <p:cNvPr id="95" name="Group 95"/>
          <p:cNvGrpSpPr/>
          <p:nvPr/>
        </p:nvGrpSpPr>
        <p:grpSpPr>
          <a:xfrm>
            <a:off x="8016716" y="8222456"/>
            <a:ext cx="3031808" cy="1193864"/>
            <a:chOff x="0" y="0"/>
            <a:chExt cx="4042410" cy="1591818"/>
          </a:xfrm>
        </p:grpSpPr>
        <p:sp>
          <p:nvSpPr>
            <p:cNvPr id="96" name="Freeform 96"/>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97" name="Group 97"/>
          <p:cNvGrpSpPr/>
          <p:nvPr/>
        </p:nvGrpSpPr>
        <p:grpSpPr>
          <a:xfrm>
            <a:off x="8023860" y="8394192"/>
            <a:ext cx="68580" cy="850392"/>
            <a:chOff x="0" y="0"/>
            <a:chExt cx="91440" cy="1133856"/>
          </a:xfrm>
        </p:grpSpPr>
        <p:sp>
          <p:nvSpPr>
            <p:cNvPr id="98" name="Freeform 98"/>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595959"/>
            </a:solidFill>
          </p:spPr>
          <p:txBody>
            <a:bodyPr/>
            <a:lstStyle/>
            <a:p>
              <a:endParaRPr lang="en-US"/>
            </a:p>
          </p:txBody>
        </p:sp>
      </p:grpSp>
      <p:grpSp>
        <p:nvGrpSpPr>
          <p:cNvPr id="99" name="Group 99"/>
          <p:cNvGrpSpPr/>
          <p:nvPr/>
        </p:nvGrpSpPr>
        <p:grpSpPr>
          <a:xfrm>
            <a:off x="8188452" y="8311896"/>
            <a:ext cx="2743200" cy="452438"/>
            <a:chOff x="0" y="0"/>
            <a:chExt cx="3657600" cy="603250"/>
          </a:xfrm>
        </p:grpSpPr>
        <p:sp>
          <p:nvSpPr>
            <p:cNvPr id="100" name="Freeform 100"/>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01" name="TextBox 101"/>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595959"/>
                  </a:solidFill>
                  <a:latin typeface="Arial Bold"/>
                  <a:ea typeface="Arial Bold"/>
                  <a:cs typeface="Arial Bold"/>
                  <a:sym typeface="Arial Bold"/>
                </a:rPr>
                <a:t>safeDist</a:t>
              </a:r>
            </a:p>
          </p:txBody>
        </p:sp>
      </p:grpSp>
      <mc:AlternateContent xmlns:mc="http://schemas.openxmlformats.org/markup-compatibility/2006" xmlns:a14="http://schemas.microsoft.com/office/drawing/2010/main">
        <mc:Choice Requires="a14">
          <p:sp>
            <p:nvSpPr>
              <p:cNvPr id="102" name="TextBox 102"/>
              <p:cNvSpPr txBox="1"/>
              <p:nvPr/>
            </p:nvSpPr>
            <p:spPr>
              <a:xfrm>
                <a:off x="8225028"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Ngưỡng </a:t>
                </a:r>
                <a14:m>
                  <m:oMath xmlns:m="http://schemas.openxmlformats.org/officeDocument/2006/math">
                    <m:r>
                      <a:rPr lang="en-US" sz="1425" b="0" i="1" smtClean="0">
                        <a:solidFill>
                          <a:srgbClr val="404040"/>
                        </a:solidFill>
                        <a:latin typeface="Cambria Math" panose="02040503050406030204" pitchFamily="18" charset="0"/>
                        <a:ea typeface="Arial"/>
                        <a:cs typeface="Arial"/>
                        <a:sym typeface="Arial"/>
                      </a:rPr>
                      <m:t>2</m:t>
                    </m:r>
                    <m:r>
                      <a:rPr lang="en-US" sz="1425" b="0" i="1" smtClean="0">
                        <a:solidFill>
                          <a:srgbClr val="404040"/>
                        </a:solidFill>
                        <a:latin typeface="Cambria Math" panose="02040503050406030204" pitchFamily="18" charset="0"/>
                        <a:ea typeface="Arial"/>
                        <a:cs typeface="Arial"/>
                        <a:sym typeface="Arial"/>
                      </a:rPr>
                      <m:t>𝜎</m:t>
                    </m:r>
                  </m:oMath>
                </a14:m>
                <a:r>
                  <a:rPr lang="en-US" sz="1425">
                    <a:solidFill>
                      <a:srgbClr val="404040"/>
                    </a:solidFill>
                    <a:latin typeface="Arial"/>
                    <a:ea typeface="Arial"/>
                    <a:cs typeface="Arial"/>
                    <a:sym typeface="Arial"/>
                  </a:rPr>
                  <a:t> vào Glide</a:t>
                </a:r>
              </a:p>
            </p:txBody>
          </p:sp>
        </mc:Choice>
        <mc:Fallback xmlns="">
          <p:sp>
            <p:nvSpPr>
              <p:cNvPr id="102" name="TextBox 102"/>
              <p:cNvSpPr txBox="1">
                <a:spLocks noRot="1" noChangeAspect="1" noMove="1" noResize="1" noEditPoints="1" noAdjustHandles="1" noChangeArrowheads="1" noChangeShapeType="1" noTextEdit="1"/>
              </p:cNvSpPr>
              <p:nvPr/>
            </p:nvSpPr>
            <p:spPr>
              <a:xfrm>
                <a:off x="8225028" y="8763572"/>
                <a:ext cx="2670048" cy="218008"/>
              </a:xfrm>
              <a:prstGeom prst="rect">
                <a:avLst/>
              </a:prstGeom>
              <a:blipFill>
                <a:blip r:embed="rId9"/>
                <a:stretch>
                  <a:fillRect l="-4110" t="-28571" b="-54286"/>
                </a:stretch>
              </a:blipFill>
            </p:spPr>
            <p:txBody>
              <a:bodyPr/>
              <a:lstStyle/>
              <a:p>
                <a:r>
                  <a:rPr lang="en-US">
                    <a:noFill/>
                  </a:rPr>
                  <a:t> </a:t>
                </a:r>
              </a:p>
            </p:txBody>
          </p:sp>
        </mc:Fallback>
      </mc:AlternateContent>
      <p:grpSp>
        <p:nvGrpSpPr>
          <p:cNvPr id="103" name="Group 103"/>
          <p:cNvGrpSpPr/>
          <p:nvPr/>
        </p:nvGrpSpPr>
        <p:grpSpPr>
          <a:xfrm>
            <a:off x="11226260" y="8222456"/>
            <a:ext cx="3031808" cy="1193864"/>
            <a:chOff x="0" y="0"/>
            <a:chExt cx="4042410" cy="1591818"/>
          </a:xfrm>
        </p:grpSpPr>
        <p:sp>
          <p:nvSpPr>
            <p:cNvPr id="104" name="Freeform 104"/>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05" name="Group 105"/>
          <p:cNvGrpSpPr/>
          <p:nvPr/>
        </p:nvGrpSpPr>
        <p:grpSpPr>
          <a:xfrm>
            <a:off x="11233404" y="8394192"/>
            <a:ext cx="68580" cy="850392"/>
            <a:chOff x="0" y="0"/>
            <a:chExt cx="91440" cy="1133856"/>
          </a:xfrm>
        </p:grpSpPr>
        <p:sp>
          <p:nvSpPr>
            <p:cNvPr id="106" name="Freeform 106"/>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DB3038"/>
            </a:solidFill>
          </p:spPr>
          <p:txBody>
            <a:bodyPr/>
            <a:lstStyle/>
            <a:p>
              <a:endParaRPr lang="en-US"/>
            </a:p>
          </p:txBody>
        </p:sp>
      </p:grpSp>
      <p:grpSp>
        <p:nvGrpSpPr>
          <p:cNvPr id="107" name="Group 107"/>
          <p:cNvGrpSpPr/>
          <p:nvPr/>
        </p:nvGrpSpPr>
        <p:grpSpPr>
          <a:xfrm>
            <a:off x="11397996" y="8311896"/>
            <a:ext cx="2743200" cy="452438"/>
            <a:chOff x="0" y="0"/>
            <a:chExt cx="3657600" cy="603250"/>
          </a:xfrm>
        </p:grpSpPr>
        <p:sp>
          <p:nvSpPr>
            <p:cNvPr id="108" name="Freeform 108"/>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09" name="TextBox 109"/>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DB3038"/>
                  </a:solidFill>
                  <a:latin typeface="Arial Bold"/>
                  <a:ea typeface="Arial Bold"/>
                  <a:cs typeface="Arial Bold"/>
                  <a:sym typeface="Arial Bold"/>
                </a:rPr>
                <a:t>safeAngle</a:t>
              </a:r>
            </a:p>
          </p:txBody>
        </p:sp>
      </p:grpSp>
      <p:sp>
        <p:nvSpPr>
          <p:cNvPr id="110" name="TextBox 110"/>
          <p:cNvSpPr txBox="1"/>
          <p:nvPr/>
        </p:nvSpPr>
        <p:spPr>
          <a:xfrm>
            <a:off x="11434572"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Góc phễu nón an toàn</a:t>
            </a:r>
          </a:p>
        </p:txBody>
      </p:sp>
      <p:grpSp>
        <p:nvGrpSpPr>
          <p:cNvPr id="111" name="Group 111"/>
          <p:cNvGrpSpPr/>
          <p:nvPr/>
        </p:nvGrpSpPr>
        <p:grpSpPr>
          <a:xfrm>
            <a:off x="14435804" y="8222456"/>
            <a:ext cx="3031808" cy="1193864"/>
            <a:chOff x="0" y="0"/>
            <a:chExt cx="4042410" cy="1591818"/>
          </a:xfrm>
        </p:grpSpPr>
        <p:sp>
          <p:nvSpPr>
            <p:cNvPr id="112" name="Freeform 112"/>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3" name="Group 113"/>
          <p:cNvGrpSpPr/>
          <p:nvPr/>
        </p:nvGrpSpPr>
        <p:grpSpPr>
          <a:xfrm>
            <a:off x="14442948" y="8394192"/>
            <a:ext cx="68580" cy="850392"/>
            <a:chOff x="0" y="0"/>
            <a:chExt cx="91440" cy="1133856"/>
          </a:xfrm>
        </p:grpSpPr>
        <p:sp>
          <p:nvSpPr>
            <p:cNvPr id="114" name="Freeform 114"/>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2E7D32"/>
            </a:solidFill>
          </p:spPr>
          <p:txBody>
            <a:bodyPr/>
            <a:lstStyle/>
            <a:p>
              <a:endParaRPr lang="en-US"/>
            </a:p>
          </p:txBody>
        </p:sp>
      </p:grpSp>
      <p:grpSp>
        <p:nvGrpSpPr>
          <p:cNvPr id="115" name="Group 115"/>
          <p:cNvGrpSpPr/>
          <p:nvPr/>
        </p:nvGrpSpPr>
        <p:grpSpPr>
          <a:xfrm>
            <a:off x="14607540" y="8311896"/>
            <a:ext cx="2743200" cy="452438"/>
            <a:chOff x="0" y="0"/>
            <a:chExt cx="3657600" cy="603250"/>
          </a:xfrm>
        </p:grpSpPr>
        <p:sp>
          <p:nvSpPr>
            <p:cNvPr id="116" name="Freeform 116"/>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17" name="TextBox 117"/>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2E7D32"/>
                  </a:solidFill>
                  <a:latin typeface="Arial Bold"/>
                  <a:ea typeface="Arial Bold"/>
                  <a:cs typeface="Arial Bold"/>
                  <a:sym typeface="Arial Bold"/>
                </a:rPr>
                <a:t>4.5–10 m</a:t>
              </a:r>
            </a:p>
          </p:txBody>
        </p:sp>
      </p:grpSp>
      <mc:AlternateContent xmlns:mc="http://schemas.openxmlformats.org/markup-compatibility/2006" xmlns:a14="http://schemas.microsoft.com/office/drawing/2010/main">
        <mc:Choice Requires="a14">
          <p:sp>
            <p:nvSpPr>
              <p:cNvPr id="118" name="TextBox 118"/>
              <p:cNvSpPr txBox="1"/>
              <p:nvPr/>
            </p:nvSpPr>
            <p:spPr>
              <a:xfrm>
                <a:off x="14644116" y="8763572"/>
                <a:ext cx="2670048" cy="218008"/>
              </a:xfrm>
              <a:prstGeom prst="rect">
                <a:avLst/>
              </a:prstGeom>
            </p:spPr>
            <p:txBody>
              <a:bodyPr lIns="0" tIns="0" rIns="0" bIns="0" rtlCol="0" anchor="t">
                <a:spAutoFit/>
              </a:bodyPr>
              <a:lstStyle/>
              <a:p>
                <a:pPr algn="l">
                  <a:lnSpc>
                    <a:spcPts val="1709"/>
                  </a:lnSpc>
                </a:pPr>
                <a14:m>
                  <m:oMath xmlns:m="http://schemas.openxmlformats.org/officeDocument/2006/math">
                    <m:sSub>
                      <m:sSubPr>
                        <m:ctrlPr>
                          <a:rPr lang="en-US" sz="1425" b="0" i="1" smtClean="0">
                            <a:solidFill>
                              <a:srgbClr val="404040"/>
                            </a:solidFill>
                            <a:latin typeface="Cambria Math" panose="02040503050406030204" pitchFamily="18" charset="0"/>
                            <a:ea typeface="Arial"/>
                            <a:cs typeface="Arial"/>
                            <a:sym typeface="Arial"/>
                          </a:rPr>
                        </m:ctrlPr>
                      </m:sSubPr>
                      <m:e>
                        <m:r>
                          <a:rPr lang="en-US" sz="1425" b="0" i="1" smtClean="0">
                            <a:solidFill>
                              <a:srgbClr val="404040"/>
                            </a:solidFill>
                            <a:latin typeface="Cambria Math" panose="02040503050406030204" pitchFamily="18" charset="0"/>
                            <a:ea typeface="Arial"/>
                            <a:cs typeface="Arial"/>
                            <a:sym typeface="Arial"/>
                          </a:rPr>
                          <m:t>𝑅</m:t>
                        </m:r>
                      </m:e>
                      <m:sub>
                        <m:r>
                          <a:rPr lang="en-US" sz="1425" b="0" i="1" smtClean="0">
                            <a:solidFill>
                              <a:srgbClr val="404040"/>
                            </a:solidFill>
                            <a:latin typeface="Cambria Math" panose="02040503050406030204" pitchFamily="18" charset="0"/>
                            <a:ea typeface="Arial"/>
                            <a:cs typeface="Arial"/>
                            <a:sym typeface="Arial"/>
                          </a:rPr>
                          <m:t>𝑠𝑤𝑖𝑡𝑐ℎ</m:t>
                        </m:r>
                        <m:r>
                          <a:rPr lang="en-US" sz="1425" b="0" i="1" smtClean="0">
                            <a:solidFill>
                              <a:srgbClr val="404040"/>
                            </a:solidFill>
                            <a:latin typeface="Cambria Math" panose="02040503050406030204" pitchFamily="18" charset="0"/>
                            <a:ea typeface="Arial"/>
                            <a:cs typeface="Arial"/>
                            <a:sym typeface="Arial"/>
                          </a:rPr>
                          <m:t> </m:t>
                        </m:r>
                      </m:sub>
                    </m:sSub>
                  </m:oMath>
                </a14:m>
                <a:r>
                  <a:rPr lang="en-US" sz="1425">
                    <a:solidFill>
                      <a:srgbClr val="404040"/>
                    </a:solidFill>
                    <a:latin typeface="Arial"/>
                    <a:ea typeface="Arial"/>
                    <a:cs typeface="Arial"/>
                    <a:sym typeface="Arial"/>
                  </a:rPr>
                  <a:t> thích ứng</a:t>
                </a:r>
              </a:p>
            </p:txBody>
          </p:sp>
        </mc:Choice>
        <mc:Fallback xmlns="">
          <p:sp>
            <p:nvSpPr>
              <p:cNvPr id="118" name="TextBox 118"/>
              <p:cNvSpPr txBox="1">
                <a:spLocks noRot="1" noChangeAspect="1" noMove="1" noResize="1" noEditPoints="1" noAdjustHandles="1" noChangeArrowheads="1" noChangeShapeType="1" noTextEdit="1"/>
              </p:cNvSpPr>
              <p:nvPr/>
            </p:nvSpPr>
            <p:spPr>
              <a:xfrm>
                <a:off x="14644116" y="8763572"/>
                <a:ext cx="2670048" cy="218008"/>
              </a:xfrm>
              <a:prstGeom prst="rect">
                <a:avLst/>
              </a:prstGeom>
              <a:blipFill>
                <a:blip r:embed="rId10"/>
                <a:stretch>
                  <a:fillRect l="-2283" t="-28571" b="-54286"/>
                </a:stretch>
              </a:blipFill>
            </p:spPr>
            <p:txBody>
              <a:bodyPr/>
              <a:lstStyle/>
              <a:p>
                <a:r>
                  <a:rPr lang="en-US">
                    <a:noFill/>
                  </a:rPr>
                  <a:t> </a:t>
                </a:r>
              </a:p>
            </p:txBody>
          </p:sp>
        </mc:Fallback>
      </mc:AlternateContent>
      <p:grpSp>
        <p:nvGrpSpPr>
          <p:cNvPr id="119" name="Group 119"/>
          <p:cNvGrpSpPr/>
          <p:nvPr/>
        </p:nvGrpSpPr>
        <p:grpSpPr>
          <a:xfrm>
            <a:off x="3845127" y="8623887"/>
            <a:ext cx="775603" cy="308705"/>
            <a:chOff x="0" y="0"/>
            <a:chExt cx="1811600" cy="721053"/>
          </a:xfrm>
        </p:grpSpPr>
        <p:sp>
          <p:nvSpPr>
            <p:cNvPr id="120" name="Freeform 120"/>
            <p:cNvSpPr/>
            <p:nvPr/>
          </p:nvSpPr>
          <p:spPr>
            <a:xfrm>
              <a:off x="0" y="0"/>
              <a:ext cx="1811600" cy="721053"/>
            </a:xfrm>
            <a:custGeom>
              <a:avLst/>
              <a:gdLst/>
              <a:ahLst/>
              <a:cxnLst/>
              <a:rect l="l" t="t" r="r" b="b"/>
              <a:pathLst>
                <a:path w="1811600" h="721053">
                  <a:moveTo>
                    <a:pt x="0" y="360526"/>
                  </a:moveTo>
                  <a:cubicBezTo>
                    <a:pt x="0" y="161411"/>
                    <a:pt x="405525" y="0"/>
                    <a:pt x="905800" y="0"/>
                  </a:cubicBezTo>
                  <a:cubicBezTo>
                    <a:pt x="1406074" y="0"/>
                    <a:pt x="1811600" y="161411"/>
                    <a:pt x="1811600" y="360526"/>
                  </a:cubicBezTo>
                  <a:cubicBezTo>
                    <a:pt x="1811600" y="559641"/>
                    <a:pt x="1406074" y="721053"/>
                    <a:pt x="905800" y="721053"/>
                  </a:cubicBezTo>
                  <a:cubicBezTo>
                    <a:pt x="405525" y="721053"/>
                    <a:pt x="0" y="559641"/>
                    <a:pt x="0" y="360526"/>
                  </a:cubicBezTo>
                  <a:close/>
                </a:path>
              </a:pathLst>
            </a:custGeom>
            <a:blipFill>
              <a:blip r:embed="rId4">
                <a:alphaModFix amt="0"/>
              </a:blip>
              <a:stretch>
                <a:fillRect l="-27243" r="-61282" b="-84585"/>
              </a:stretch>
            </a:blipFill>
            <a:ln w="38100" cap="sq">
              <a:solidFill>
                <a:srgbClr val="DB3038"/>
              </a:solid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543FF4CC-DA54-9489-940E-3D3632E7CC01}"/>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24" name="TextBox 20">
            <a:extLst>
              <a:ext uri="{FF2B5EF4-FFF2-40B4-BE49-F238E27FC236}">
                <a16:creationId xmlns:a16="http://schemas.microsoft.com/office/drawing/2014/main" id="{120DE20E-E5C7-0D9F-F891-199E76388BF3}"/>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2423777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5" name="Group 5"/>
          <p:cNvGrpSpPr/>
          <p:nvPr/>
        </p:nvGrpSpPr>
        <p:grpSpPr>
          <a:xfrm>
            <a:off x="0" y="9724800"/>
            <a:ext cx="15704172" cy="107156"/>
            <a:chOff x="0" y="0"/>
            <a:chExt cx="20938896" cy="142875"/>
          </a:xfrm>
        </p:grpSpPr>
        <p:sp>
          <p:nvSpPr>
            <p:cNvPr id="6" name="Freeform 6"/>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7" name="Group 7"/>
          <p:cNvGrpSpPr/>
          <p:nvPr/>
        </p:nvGrpSpPr>
        <p:grpSpPr>
          <a:xfrm>
            <a:off x="16002000" y="9484595"/>
            <a:ext cx="1988172" cy="688105"/>
            <a:chOff x="0" y="0"/>
            <a:chExt cx="2650896" cy="917473"/>
          </a:xfrm>
        </p:grpSpPr>
        <p:sp>
          <p:nvSpPr>
            <p:cNvPr id="8" name="Freeform 8"/>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11" name="Group 11"/>
          <p:cNvGrpSpPr/>
          <p:nvPr/>
        </p:nvGrpSpPr>
        <p:grpSpPr>
          <a:xfrm>
            <a:off x="-19050" y="-38100"/>
            <a:ext cx="18326100" cy="1371324"/>
            <a:chOff x="0" y="0"/>
            <a:chExt cx="24434800" cy="1828432"/>
          </a:xfrm>
        </p:grpSpPr>
        <p:sp>
          <p:nvSpPr>
            <p:cNvPr id="12" name="Freeform 12"/>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13" name="Group 13"/>
          <p:cNvGrpSpPr/>
          <p:nvPr/>
        </p:nvGrpSpPr>
        <p:grpSpPr>
          <a:xfrm>
            <a:off x="29594" y="0"/>
            <a:ext cx="9465469" cy="1112891"/>
            <a:chOff x="0" y="0"/>
            <a:chExt cx="12620625" cy="1483855"/>
          </a:xfrm>
        </p:grpSpPr>
        <p:sp>
          <p:nvSpPr>
            <p:cNvPr id="14" name="Freeform 14"/>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17" name="TextBox 17"/>
          <p:cNvSpPr txBox="1"/>
          <p:nvPr/>
        </p:nvSpPr>
        <p:spPr>
          <a:xfrm>
            <a:off x="1799377" y="-293909"/>
            <a:ext cx="7109765" cy="1146835"/>
          </a:xfrm>
          <a:prstGeom prst="rect">
            <a:avLst/>
          </a:prstGeom>
        </p:spPr>
        <p:txBody>
          <a:bodyPr lIns="0" tIns="0" rIns="0" bIns="0" rtlCol="0" anchor="ctr"/>
          <a:lstStyle/>
          <a:p>
            <a:pPr>
              <a:lnSpc>
                <a:spcPts val="2812"/>
              </a:lnSpc>
            </a:pPr>
            <a:endParaRPr lang="en-US" sz="3600" b="1">
              <a:solidFill>
                <a:srgbClr val="FFFFFF"/>
              </a:solidFill>
              <a:latin typeface="Calibri (MS) Bold"/>
              <a:ea typeface="Calibri (MS) Bold"/>
              <a:cs typeface="Calibri (MS) Bold"/>
              <a:sym typeface="Calibri (MS) Bold"/>
            </a:endParaRPr>
          </a:p>
        </p:txBody>
      </p:sp>
      <p:grpSp>
        <p:nvGrpSpPr>
          <p:cNvPr id="18" name="Group 18"/>
          <p:cNvGrpSpPr/>
          <p:nvPr/>
        </p:nvGrpSpPr>
        <p:grpSpPr>
          <a:xfrm>
            <a:off x="29594" y="0"/>
            <a:ext cx="1612373" cy="1112891"/>
            <a:chOff x="0" y="0"/>
            <a:chExt cx="2149831" cy="1483855"/>
          </a:xfrm>
        </p:grpSpPr>
        <p:sp>
          <p:nvSpPr>
            <p:cNvPr id="19" name="Freeform 19"/>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20" name="TextBox 20"/>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21" name="Group 21"/>
          <p:cNvGrpSpPr/>
          <p:nvPr/>
        </p:nvGrpSpPr>
        <p:grpSpPr>
          <a:xfrm>
            <a:off x="457200" y="1402690"/>
            <a:ext cx="17439932" cy="692496"/>
            <a:chOff x="0" y="0"/>
            <a:chExt cx="23253243" cy="923328"/>
          </a:xfrm>
        </p:grpSpPr>
        <p:sp>
          <p:nvSpPr>
            <p:cNvPr id="22" name="Freeform 2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23" name="TextBox 2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ĐỊNH VỊ TƯƠNG ĐỐI: MARKER-RELATIVE GIẢM THIỂU SAI SỐ GPS</a:t>
              </a:r>
            </a:p>
          </p:txBody>
        </p:sp>
      </p:grpSp>
      <p:grpSp>
        <p:nvGrpSpPr>
          <p:cNvPr id="25" name="Group 25"/>
          <p:cNvGrpSpPr/>
          <p:nvPr/>
        </p:nvGrpSpPr>
        <p:grpSpPr>
          <a:xfrm>
            <a:off x="815816" y="2393156"/>
            <a:ext cx="6872288" cy="7009447"/>
            <a:chOff x="0" y="0"/>
            <a:chExt cx="9163050" cy="9345930"/>
          </a:xfrm>
        </p:grpSpPr>
        <p:sp>
          <p:nvSpPr>
            <p:cNvPr id="26" name="Freeform 26"/>
            <p:cNvSpPr/>
            <p:nvPr/>
          </p:nvSpPr>
          <p:spPr>
            <a:xfrm>
              <a:off x="0" y="0"/>
              <a:ext cx="9163050" cy="9345930"/>
            </a:xfrm>
            <a:custGeom>
              <a:avLst/>
              <a:gdLst/>
              <a:ahLst/>
              <a:cxnLst/>
              <a:rect l="l" t="t" r="r" b="b"/>
              <a:pathLst>
                <a:path w="9163050" h="9345930">
                  <a:moveTo>
                    <a:pt x="0" y="219964"/>
                  </a:moveTo>
                  <a:cubicBezTo>
                    <a:pt x="0" y="98425"/>
                    <a:pt x="98425" y="0"/>
                    <a:pt x="219964" y="0"/>
                  </a:cubicBezTo>
                  <a:lnTo>
                    <a:pt x="8943086" y="0"/>
                  </a:lnTo>
                  <a:cubicBezTo>
                    <a:pt x="9064498" y="0"/>
                    <a:pt x="9163050" y="98425"/>
                    <a:pt x="9163050" y="219964"/>
                  </a:cubicBezTo>
                  <a:lnTo>
                    <a:pt x="9163050" y="9125966"/>
                  </a:lnTo>
                  <a:cubicBezTo>
                    <a:pt x="9163050" y="9247378"/>
                    <a:pt x="9064625" y="9345930"/>
                    <a:pt x="8943086" y="9345930"/>
                  </a:cubicBezTo>
                  <a:lnTo>
                    <a:pt x="219964" y="9345930"/>
                  </a:lnTo>
                  <a:cubicBezTo>
                    <a:pt x="98425" y="9345930"/>
                    <a:pt x="0" y="9247505"/>
                    <a:pt x="0" y="912596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27" name="Group 27"/>
          <p:cNvGrpSpPr/>
          <p:nvPr/>
        </p:nvGrpSpPr>
        <p:grpSpPr>
          <a:xfrm>
            <a:off x="1097280" y="2400300"/>
            <a:ext cx="960120" cy="68580"/>
            <a:chOff x="0" y="0"/>
            <a:chExt cx="1280160" cy="91440"/>
          </a:xfrm>
        </p:grpSpPr>
        <p:sp>
          <p:nvSpPr>
            <p:cNvPr id="28" name="Freeform 28"/>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29" name="Group 29"/>
          <p:cNvGrpSpPr/>
          <p:nvPr/>
        </p:nvGrpSpPr>
        <p:grpSpPr>
          <a:xfrm>
            <a:off x="1090136" y="2598896"/>
            <a:ext cx="3717608" cy="398336"/>
            <a:chOff x="0" y="0"/>
            <a:chExt cx="4956810" cy="531114"/>
          </a:xfrm>
        </p:grpSpPr>
        <p:sp>
          <p:nvSpPr>
            <p:cNvPr id="30" name="Freeform 30"/>
            <p:cNvSpPr/>
            <p:nvPr/>
          </p:nvSpPr>
          <p:spPr>
            <a:xfrm>
              <a:off x="0" y="0"/>
              <a:ext cx="4956810" cy="531114"/>
            </a:xfrm>
            <a:custGeom>
              <a:avLst/>
              <a:gdLst/>
              <a:ahLst/>
              <a:cxnLst/>
              <a:rect l="l" t="t" r="r" b="b"/>
              <a:pathLst>
                <a:path w="4956810" h="531114">
                  <a:moveTo>
                    <a:pt x="0" y="265557"/>
                  </a:moveTo>
                  <a:cubicBezTo>
                    <a:pt x="0" y="118872"/>
                    <a:pt x="118872" y="0"/>
                    <a:pt x="265557" y="0"/>
                  </a:cubicBezTo>
                  <a:lnTo>
                    <a:pt x="4691253" y="0"/>
                  </a:lnTo>
                  <a:cubicBezTo>
                    <a:pt x="4837938" y="0"/>
                    <a:pt x="4956810" y="118872"/>
                    <a:pt x="4956810" y="265557"/>
                  </a:cubicBezTo>
                  <a:cubicBezTo>
                    <a:pt x="4956810" y="412242"/>
                    <a:pt x="4837938" y="531114"/>
                    <a:pt x="4691253" y="531114"/>
                  </a:cubicBezTo>
                  <a:lnTo>
                    <a:pt x="265557" y="531114"/>
                  </a:lnTo>
                  <a:cubicBezTo>
                    <a:pt x="118872" y="531114"/>
                    <a:pt x="0" y="412242"/>
                    <a:pt x="0" y="265557"/>
                  </a:cubicBezTo>
                  <a:close/>
                </a:path>
              </a:pathLst>
            </a:custGeom>
            <a:blipFill>
              <a:blip r:embed="rId4">
                <a:alphaModFix amt="0"/>
              </a:blip>
              <a:stretch>
                <a:fillRect t="-131851" b="-131851"/>
              </a:stretch>
            </a:blipFill>
            <a:ln w="14288" cap="sq">
              <a:solidFill>
                <a:srgbClr val="DB3038"/>
              </a:solidFill>
              <a:prstDash val="solid"/>
              <a:miter/>
            </a:ln>
          </p:spPr>
          <p:txBody>
            <a:bodyPr/>
            <a:lstStyle/>
            <a:p>
              <a:endParaRPr lang="en-US"/>
            </a:p>
          </p:txBody>
        </p:sp>
        <p:sp>
          <p:nvSpPr>
            <p:cNvPr id="31" name="TextBox 31"/>
            <p:cNvSpPr txBox="1"/>
            <p:nvPr/>
          </p:nvSpPr>
          <p:spPr>
            <a:xfrm>
              <a:off x="0" y="-19050"/>
              <a:ext cx="4956810" cy="550164"/>
            </a:xfrm>
            <a:prstGeom prst="rect">
              <a:avLst/>
            </a:prstGeom>
          </p:spPr>
          <p:txBody>
            <a:bodyPr lIns="50800" tIns="50800" rIns="50800" bIns="50800" rtlCol="0" anchor="ctr"/>
            <a:lstStyle/>
            <a:p>
              <a:pPr algn="ctr">
                <a:lnSpc>
                  <a:spcPts val="1709"/>
                </a:lnSpc>
              </a:pPr>
              <a:r>
                <a:rPr lang="en-US" sz="1425" b="1">
                  <a:solidFill>
                    <a:srgbClr val="DB3038"/>
                  </a:solidFill>
                  <a:latin typeface="Arial Bold"/>
                  <a:ea typeface="Arial Bold"/>
                  <a:cs typeface="Arial Bold"/>
                  <a:sym typeface="Arial Bold"/>
                </a:rPr>
                <a:t>HÌNH HỌC TIA NHÌN &amp; ĐỘ CAO</a:t>
              </a:r>
            </a:p>
          </p:txBody>
        </p:sp>
      </p:grpSp>
      <p:sp>
        <p:nvSpPr>
          <p:cNvPr id="32" name="AutoShape 32"/>
          <p:cNvSpPr/>
          <p:nvPr/>
        </p:nvSpPr>
        <p:spPr>
          <a:xfrm rot="15840">
            <a:off x="1151544" y="8014335"/>
            <a:ext cx="6200842" cy="0"/>
          </a:xfrm>
          <a:prstGeom prst="line">
            <a:avLst/>
          </a:prstGeom>
          <a:ln w="19050" cap="rnd">
            <a:solidFill>
              <a:srgbClr val="D9D9D9"/>
            </a:solidFill>
            <a:prstDash val="solid"/>
            <a:headEnd type="none" w="sm" len="sm"/>
            <a:tailEnd type="none" w="sm" len="sm"/>
          </a:ln>
        </p:spPr>
        <p:txBody>
          <a:bodyPr/>
          <a:lstStyle/>
          <a:p>
            <a:endParaRPr lang="en-US"/>
          </a:p>
        </p:txBody>
      </p:sp>
      <p:grpSp>
        <p:nvGrpSpPr>
          <p:cNvPr id="33" name="Group 33"/>
          <p:cNvGrpSpPr/>
          <p:nvPr/>
        </p:nvGrpSpPr>
        <p:grpSpPr>
          <a:xfrm>
            <a:off x="4663440" y="7968996"/>
            <a:ext cx="1234440" cy="137160"/>
            <a:chOff x="0" y="0"/>
            <a:chExt cx="1645920" cy="182880"/>
          </a:xfrm>
        </p:grpSpPr>
        <p:sp>
          <p:nvSpPr>
            <p:cNvPr id="34" name="Freeform 34"/>
            <p:cNvSpPr/>
            <p:nvPr/>
          </p:nvSpPr>
          <p:spPr>
            <a:xfrm>
              <a:off x="0" y="0"/>
              <a:ext cx="1645920" cy="182880"/>
            </a:xfrm>
            <a:custGeom>
              <a:avLst/>
              <a:gdLst/>
              <a:ahLst/>
              <a:cxnLst/>
              <a:rect l="l" t="t" r="r" b="b"/>
              <a:pathLst>
                <a:path w="1645920" h="182880">
                  <a:moveTo>
                    <a:pt x="0" y="0"/>
                  </a:moveTo>
                  <a:lnTo>
                    <a:pt x="1645920" y="0"/>
                  </a:lnTo>
                  <a:lnTo>
                    <a:pt x="1645920" y="182880"/>
                  </a:lnTo>
                  <a:lnTo>
                    <a:pt x="0" y="182880"/>
                  </a:lnTo>
                  <a:close/>
                </a:path>
              </a:pathLst>
            </a:custGeom>
            <a:solidFill>
              <a:srgbClr val="262626"/>
            </a:solidFill>
          </p:spPr>
          <p:txBody>
            <a:bodyPr/>
            <a:lstStyle/>
            <a:p>
              <a:endParaRPr lang="en-US"/>
            </a:p>
          </p:txBody>
        </p:sp>
      </p:grpSp>
      <p:sp>
        <p:nvSpPr>
          <p:cNvPr id="35" name="TextBox 35"/>
          <p:cNvSpPr txBox="1"/>
          <p:nvPr/>
        </p:nvSpPr>
        <p:spPr>
          <a:xfrm>
            <a:off x="4494276" y="8187690"/>
            <a:ext cx="1572768" cy="393954"/>
          </a:xfrm>
          <a:prstGeom prst="rect">
            <a:avLst/>
          </a:prstGeom>
        </p:spPr>
        <p:txBody>
          <a:bodyPr lIns="0" tIns="0" rIns="0" bIns="0" rtlCol="0" anchor="t">
            <a:spAutoFit/>
          </a:bodyPr>
          <a:lstStyle/>
          <a:p>
            <a:pPr algn="ctr">
              <a:lnSpc>
                <a:spcPts val="1709"/>
              </a:lnSpc>
            </a:pPr>
            <a:r>
              <a:rPr lang="en-US" sz="1425" b="1">
                <a:solidFill>
                  <a:srgbClr val="595959"/>
                </a:solidFill>
                <a:latin typeface="Arial Bold"/>
                <a:ea typeface="Arial Bold"/>
                <a:cs typeface="Arial Bold"/>
                <a:sym typeface="Arial Bold"/>
              </a:rPr>
              <a:t>H-Pad (0, 0, 0)</a:t>
            </a:r>
          </a:p>
        </p:txBody>
      </p:sp>
      <p:sp>
        <p:nvSpPr>
          <p:cNvPr id="36" name="AutoShape 36"/>
          <p:cNvSpPr/>
          <p:nvPr/>
        </p:nvSpPr>
        <p:spPr>
          <a:xfrm rot="2700000">
            <a:off x="1722720" y="3693795"/>
            <a:ext cx="1217990" cy="0"/>
          </a:xfrm>
          <a:prstGeom prst="line">
            <a:avLst/>
          </a:prstGeom>
          <a:ln w="19050" cap="rnd">
            <a:solidFill>
              <a:srgbClr val="7F7F7F"/>
            </a:solidFill>
            <a:prstDash val="solid"/>
            <a:headEnd type="none" w="sm" len="sm"/>
            <a:tailEnd type="none" w="sm" len="sm"/>
          </a:ln>
        </p:spPr>
        <p:txBody>
          <a:bodyPr/>
          <a:lstStyle/>
          <a:p>
            <a:endParaRPr lang="en-US"/>
          </a:p>
        </p:txBody>
      </p:sp>
      <p:sp>
        <p:nvSpPr>
          <p:cNvPr id="37" name="AutoShape 37"/>
          <p:cNvSpPr/>
          <p:nvPr/>
        </p:nvSpPr>
        <p:spPr>
          <a:xfrm rot="-2700000">
            <a:off x="1722720" y="3693795"/>
            <a:ext cx="1217990" cy="0"/>
          </a:xfrm>
          <a:prstGeom prst="line">
            <a:avLst/>
          </a:prstGeom>
          <a:ln w="19050" cap="rnd">
            <a:solidFill>
              <a:srgbClr val="7F7F7F"/>
            </a:solidFill>
            <a:prstDash val="solid"/>
            <a:headEnd type="none" w="sm" len="sm"/>
            <a:tailEnd type="none" w="sm" len="sm"/>
          </a:ln>
        </p:spPr>
        <p:txBody>
          <a:bodyPr/>
          <a:lstStyle/>
          <a:p>
            <a:endParaRPr lang="en-US"/>
          </a:p>
        </p:txBody>
      </p:sp>
      <p:grpSp>
        <p:nvGrpSpPr>
          <p:cNvPr id="38" name="Group 38"/>
          <p:cNvGrpSpPr/>
          <p:nvPr/>
        </p:nvGrpSpPr>
        <p:grpSpPr>
          <a:xfrm>
            <a:off x="1721472" y="3093072"/>
            <a:ext cx="390677" cy="390677"/>
            <a:chOff x="0" y="0"/>
            <a:chExt cx="520903" cy="520903"/>
          </a:xfrm>
        </p:grpSpPr>
        <p:sp>
          <p:nvSpPr>
            <p:cNvPr id="39" name="Freeform 39"/>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0" name="Group 40"/>
          <p:cNvGrpSpPr/>
          <p:nvPr/>
        </p:nvGrpSpPr>
        <p:grpSpPr>
          <a:xfrm>
            <a:off x="2551290" y="3093072"/>
            <a:ext cx="390677" cy="390677"/>
            <a:chOff x="0" y="0"/>
            <a:chExt cx="520903" cy="520903"/>
          </a:xfrm>
        </p:grpSpPr>
        <p:sp>
          <p:nvSpPr>
            <p:cNvPr id="41" name="Freeform 41"/>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2" name="Group 42"/>
          <p:cNvGrpSpPr/>
          <p:nvPr/>
        </p:nvGrpSpPr>
        <p:grpSpPr>
          <a:xfrm>
            <a:off x="1721472" y="3922890"/>
            <a:ext cx="390677" cy="390677"/>
            <a:chOff x="0" y="0"/>
            <a:chExt cx="520903" cy="520903"/>
          </a:xfrm>
        </p:grpSpPr>
        <p:sp>
          <p:nvSpPr>
            <p:cNvPr id="43" name="Freeform 43"/>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4" name="Group 44"/>
          <p:cNvGrpSpPr/>
          <p:nvPr/>
        </p:nvGrpSpPr>
        <p:grpSpPr>
          <a:xfrm>
            <a:off x="2551290" y="3922890"/>
            <a:ext cx="390677" cy="390677"/>
            <a:chOff x="0" y="0"/>
            <a:chExt cx="520903" cy="520903"/>
          </a:xfrm>
        </p:grpSpPr>
        <p:sp>
          <p:nvSpPr>
            <p:cNvPr id="45" name="Freeform 45"/>
            <p:cNvSpPr/>
            <p:nvPr/>
          </p:nvSpPr>
          <p:spPr>
            <a:xfrm>
              <a:off x="0" y="0"/>
              <a:ext cx="520954" cy="520954"/>
            </a:xfrm>
            <a:custGeom>
              <a:avLst/>
              <a:gdLst/>
              <a:ahLst/>
              <a:cxnLst/>
              <a:rect l="l" t="t" r="r" b="b"/>
              <a:pathLst>
                <a:path w="520954" h="520954">
                  <a:moveTo>
                    <a:pt x="0" y="260477"/>
                  </a:moveTo>
                  <a:cubicBezTo>
                    <a:pt x="0" y="116586"/>
                    <a:pt x="116586" y="0"/>
                    <a:pt x="260477" y="0"/>
                  </a:cubicBezTo>
                  <a:cubicBezTo>
                    <a:pt x="404368" y="0"/>
                    <a:pt x="520954" y="116586"/>
                    <a:pt x="520954" y="260477"/>
                  </a:cubicBezTo>
                  <a:cubicBezTo>
                    <a:pt x="520954" y="404368"/>
                    <a:pt x="404241" y="520954"/>
                    <a:pt x="260477" y="520954"/>
                  </a:cubicBezTo>
                  <a:cubicBezTo>
                    <a:pt x="116713" y="520954"/>
                    <a:pt x="0" y="404241"/>
                    <a:pt x="0" y="260477"/>
                  </a:cubicBezTo>
                  <a:close/>
                </a:path>
              </a:pathLst>
            </a:custGeom>
            <a:solidFill>
              <a:srgbClr val="FFFFFF"/>
            </a:solidFill>
            <a:ln w="28575" cap="sq">
              <a:solidFill>
                <a:srgbClr val="DB3038"/>
              </a:solidFill>
              <a:prstDash val="solid"/>
              <a:miter/>
            </a:ln>
          </p:spPr>
          <p:txBody>
            <a:bodyPr/>
            <a:lstStyle/>
            <a:p>
              <a:endParaRPr lang="en-US"/>
            </a:p>
          </p:txBody>
        </p:sp>
      </p:grpSp>
      <p:grpSp>
        <p:nvGrpSpPr>
          <p:cNvPr id="46" name="Group 46"/>
          <p:cNvGrpSpPr/>
          <p:nvPr/>
        </p:nvGrpSpPr>
        <p:grpSpPr>
          <a:xfrm>
            <a:off x="2203475" y="3575075"/>
            <a:ext cx="256489" cy="256489"/>
            <a:chOff x="0" y="0"/>
            <a:chExt cx="341986" cy="341986"/>
          </a:xfrm>
        </p:grpSpPr>
        <p:sp>
          <p:nvSpPr>
            <p:cNvPr id="47" name="Freeform 47"/>
            <p:cNvSpPr/>
            <p:nvPr/>
          </p:nvSpPr>
          <p:spPr>
            <a:xfrm>
              <a:off x="0" y="0"/>
              <a:ext cx="342011" cy="342011"/>
            </a:xfrm>
            <a:custGeom>
              <a:avLst/>
              <a:gdLst/>
              <a:ahLst/>
              <a:cxnLst/>
              <a:rect l="l" t="t" r="r" b="b"/>
              <a:pathLst>
                <a:path w="342011" h="342011">
                  <a:moveTo>
                    <a:pt x="0" y="109728"/>
                  </a:moveTo>
                  <a:cubicBezTo>
                    <a:pt x="0" y="49149"/>
                    <a:pt x="49149" y="0"/>
                    <a:pt x="109728" y="0"/>
                  </a:cubicBezTo>
                  <a:lnTo>
                    <a:pt x="232283" y="0"/>
                  </a:lnTo>
                  <a:cubicBezTo>
                    <a:pt x="292862" y="0"/>
                    <a:pt x="342011" y="49149"/>
                    <a:pt x="342011" y="109728"/>
                  </a:cubicBezTo>
                  <a:lnTo>
                    <a:pt x="342011" y="232283"/>
                  </a:lnTo>
                  <a:cubicBezTo>
                    <a:pt x="342011" y="292862"/>
                    <a:pt x="292862" y="342011"/>
                    <a:pt x="232283" y="342011"/>
                  </a:cubicBezTo>
                  <a:lnTo>
                    <a:pt x="109728" y="342011"/>
                  </a:lnTo>
                  <a:cubicBezTo>
                    <a:pt x="49149" y="342011"/>
                    <a:pt x="0" y="292862"/>
                    <a:pt x="0" y="232283"/>
                  </a:cubicBezTo>
                  <a:close/>
                </a:path>
              </a:pathLst>
            </a:custGeom>
            <a:solidFill>
              <a:srgbClr val="DB3038"/>
            </a:solidFill>
          </p:spPr>
          <p:txBody>
            <a:bodyPr/>
            <a:lstStyle/>
            <a:p>
              <a:endParaRPr lang="en-US"/>
            </a:p>
          </p:txBody>
        </p:sp>
      </p:grpSp>
      <mc:AlternateContent xmlns:mc="http://schemas.openxmlformats.org/markup-compatibility/2006" xmlns:a14="http://schemas.microsoft.com/office/drawing/2010/main">
        <mc:Choice Requires="a14">
          <p:sp>
            <p:nvSpPr>
              <p:cNvPr id="48" name="TextBox 48"/>
              <p:cNvSpPr txBox="1"/>
              <p:nvPr/>
            </p:nvSpPr>
            <p:spPr>
              <a:xfrm>
                <a:off x="3095692" y="3125067"/>
                <a:ext cx="2258568" cy="230832"/>
              </a:xfrm>
              <a:prstGeom prst="rect">
                <a:avLst/>
              </a:prstGeom>
            </p:spPr>
            <p:txBody>
              <a:bodyPr lIns="0" tIns="0" rIns="0" bIns="0" rtlCol="0" anchor="t">
                <a:spAutoFit/>
              </a:bodyPr>
              <a:lstStyle/>
              <a:p>
                <a:pPr algn="l">
                  <a:lnSpc>
                    <a:spcPts val="1800"/>
                  </a:lnSpc>
                </a:pPr>
                <a:r>
                  <a:rPr lang="en-US" sz="1500" b="1">
                    <a:solidFill>
                      <a:srgbClr val="262626"/>
                    </a:solidFill>
                    <a:latin typeface="Arial Bold"/>
                    <a:ea typeface="Arial Bold"/>
                    <a:cs typeface="Arial Bold"/>
                    <a:sym typeface="Arial Bold"/>
                  </a:rPr>
                  <a:t>Drone </a:t>
                </a:r>
                <a14:m>
                  <m:oMath xmlns:m="http://schemas.openxmlformats.org/officeDocument/2006/math">
                    <m:sSub>
                      <m:sSubPr>
                        <m:ctrlPr>
                          <a:rPr lang="en-US" sz="1500" b="1" i="1" smtClean="0">
                            <a:solidFill>
                              <a:srgbClr val="262626"/>
                            </a:solidFill>
                            <a:latin typeface="Cambria Math" panose="02040503050406030204" pitchFamily="18" charset="0"/>
                            <a:ea typeface="Arial Bold"/>
                            <a:cs typeface="Arial Bold"/>
                            <a:sym typeface="Arial Bold"/>
                          </a:rPr>
                        </m:ctrlPr>
                      </m:sSubPr>
                      <m:e>
                        <m:r>
                          <a:rPr lang="en-US" sz="1500" b="1" i="1" smtClean="0">
                            <a:solidFill>
                              <a:srgbClr val="262626"/>
                            </a:solidFill>
                            <a:latin typeface="Cambria Math" panose="02040503050406030204" pitchFamily="18" charset="0"/>
                            <a:ea typeface="Arial Bold"/>
                            <a:cs typeface="Arial Bold"/>
                            <a:sym typeface="Arial Bold"/>
                          </a:rPr>
                          <m:t>(</m:t>
                        </m:r>
                        <m:r>
                          <a:rPr lang="en-US" sz="1500" b="1" i="1" smtClean="0">
                            <a:solidFill>
                              <a:srgbClr val="262626"/>
                            </a:solidFill>
                            <a:latin typeface="Cambria Math" panose="02040503050406030204" pitchFamily="18" charset="0"/>
                            <a:ea typeface="Arial Bold"/>
                            <a:cs typeface="Arial Bold"/>
                            <a:sym typeface="Arial Bold"/>
                          </a:rPr>
                          <m:t>𝒙</m:t>
                        </m:r>
                      </m:e>
                      <m:sub>
                        <m:r>
                          <a:rPr lang="en-US" sz="1500" b="1" i="1" smtClean="0">
                            <a:solidFill>
                              <a:srgbClr val="262626"/>
                            </a:solidFill>
                            <a:latin typeface="Cambria Math" panose="02040503050406030204" pitchFamily="18" charset="0"/>
                            <a:ea typeface="Arial Bold"/>
                            <a:cs typeface="Arial Bold"/>
                            <a:sym typeface="Arial Bold"/>
                          </a:rPr>
                          <m:t>𝒅</m:t>
                        </m:r>
                      </m:sub>
                    </m:sSub>
                    <m:r>
                      <a:rPr lang="en-US" sz="1500" b="1" i="1" smtClean="0">
                        <a:solidFill>
                          <a:srgbClr val="262626"/>
                        </a:solidFill>
                        <a:latin typeface="Cambria Math" panose="02040503050406030204" pitchFamily="18" charset="0"/>
                        <a:ea typeface="Arial Bold"/>
                        <a:cs typeface="Arial Bold"/>
                        <a:sym typeface="Arial Bold"/>
                      </a:rPr>
                      <m:t>, </m:t>
                    </m:r>
                    <m:sSub>
                      <m:sSubPr>
                        <m:ctrlPr>
                          <a:rPr lang="en-US" sz="1500" b="1" i="1" smtClean="0">
                            <a:solidFill>
                              <a:srgbClr val="262626"/>
                            </a:solidFill>
                            <a:latin typeface="Cambria Math" panose="02040503050406030204" pitchFamily="18" charset="0"/>
                            <a:ea typeface="Arial Bold"/>
                            <a:cs typeface="Arial Bold"/>
                            <a:sym typeface="Arial Bold"/>
                          </a:rPr>
                        </m:ctrlPr>
                      </m:sSubPr>
                      <m:e>
                        <m:r>
                          <a:rPr lang="en-US" sz="1500" b="1" i="1" smtClean="0">
                            <a:solidFill>
                              <a:srgbClr val="262626"/>
                            </a:solidFill>
                            <a:latin typeface="Cambria Math" panose="02040503050406030204" pitchFamily="18" charset="0"/>
                            <a:ea typeface="Arial Bold"/>
                            <a:cs typeface="Arial Bold"/>
                            <a:sym typeface="Arial Bold"/>
                          </a:rPr>
                          <m:t>𝒚</m:t>
                        </m:r>
                      </m:e>
                      <m:sub>
                        <m:r>
                          <a:rPr lang="en-US" sz="1500" b="1" i="1" smtClean="0">
                            <a:solidFill>
                              <a:srgbClr val="262626"/>
                            </a:solidFill>
                            <a:latin typeface="Cambria Math" panose="02040503050406030204" pitchFamily="18" charset="0"/>
                            <a:ea typeface="Arial Bold"/>
                            <a:cs typeface="Arial Bold"/>
                            <a:sym typeface="Arial Bold"/>
                          </a:rPr>
                          <m:t>𝒅</m:t>
                        </m:r>
                      </m:sub>
                    </m:sSub>
                    <m:r>
                      <a:rPr lang="en-US" sz="1500" b="1" i="1" smtClean="0">
                        <a:solidFill>
                          <a:srgbClr val="262626"/>
                        </a:solidFill>
                        <a:latin typeface="Cambria Math" panose="02040503050406030204" pitchFamily="18" charset="0"/>
                        <a:ea typeface="Arial Bold"/>
                        <a:cs typeface="Arial Bold"/>
                        <a:sym typeface="Arial Bold"/>
                      </a:rPr>
                      <m:t>,</m:t>
                    </m:r>
                    <m:r>
                      <a:rPr lang="en-US" sz="1500" b="1" i="1" smtClean="0">
                        <a:solidFill>
                          <a:srgbClr val="262626"/>
                        </a:solidFill>
                        <a:latin typeface="Cambria Math" panose="02040503050406030204" pitchFamily="18" charset="0"/>
                        <a:ea typeface="Arial Bold"/>
                        <a:cs typeface="Arial Bold"/>
                        <a:sym typeface="Arial Bold"/>
                      </a:rPr>
                      <m:t>𝒉</m:t>
                    </m:r>
                    <m:r>
                      <a:rPr lang="en-US" sz="1500" b="1" i="1" smtClean="0">
                        <a:solidFill>
                          <a:srgbClr val="262626"/>
                        </a:solidFill>
                        <a:latin typeface="Cambria Math" panose="02040503050406030204" pitchFamily="18" charset="0"/>
                        <a:ea typeface="Arial Bold"/>
                        <a:cs typeface="Arial Bold"/>
                        <a:sym typeface="Arial Bold"/>
                      </a:rPr>
                      <m:t>)</m:t>
                    </m:r>
                  </m:oMath>
                </a14:m>
                <a:endParaRPr lang="en-US" sz="1500" b="1">
                  <a:solidFill>
                    <a:srgbClr val="262626"/>
                  </a:solidFill>
                  <a:latin typeface="Arial Bold"/>
                  <a:ea typeface="Arial Bold"/>
                  <a:cs typeface="Arial Bold"/>
                  <a:sym typeface="Arial Bold"/>
                </a:endParaRPr>
              </a:p>
            </p:txBody>
          </p:sp>
        </mc:Choice>
        <mc:Fallback xmlns="">
          <p:sp>
            <p:nvSpPr>
              <p:cNvPr id="48" name="TextBox 48"/>
              <p:cNvSpPr txBox="1">
                <a:spLocks noRot="1" noChangeAspect="1" noMove="1" noResize="1" noEditPoints="1" noAdjustHandles="1" noChangeArrowheads="1" noChangeShapeType="1" noTextEdit="1"/>
              </p:cNvSpPr>
              <p:nvPr/>
            </p:nvSpPr>
            <p:spPr>
              <a:xfrm>
                <a:off x="3095692" y="3125067"/>
                <a:ext cx="2258568" cy="230832"/>
              </a:xfrm>
              <a:prstGeom prst="rect">
                <a:avLst/>
              </a:prstGeom>
              <a:blipFill>
                <a:blip r:embed="rId5"/>
                <a:stretch>
                  <a:fillRect l="-5135" t="-26316" b="-47368"/>
                </a:stretch>
              </a:blipFill>
            </p:spPr>
            <p:txBody>
              <a:bodyPr/>
              <a:lstStyle/>
              <a:p>
                <a:r>
                  <a:rPr lang="en-US">
                    <a:noFill/>
                  </a:rPr>
                  <a:t> </a:t>
                </a:r>
              </a:p>
            </p:txBody>
          </p:sp>
        </mc:Fallback>
      </mc:AlternateContent>
      <p:sp>
        <p:nvSpPr>
          <p:cNvPr id="49" name="AutoShape 49"/>
          <p:cNvSpPr/>
          <p:nvPr/>
        </p:nvSpPr>
        <p:spPr>
          <a:xfrm rot="5377440">
            <a:off x="157115" y="5854065"/>
            <a:ext cx="4349210" cy="0"/>
          </a:xfrm>
          <a:prstGeom prst="line">
            <a:avLst/>
          </a:prstGeom>
          <a:ln w="19050" cap="rnd">
            <a:solidFill>
              <a:srgbClr val="7F7F7F"/>
            </a:solidFill>
            <a:prstDash val="solid"/>
            <a:headEnd type="none" w="sm" len="sm"/>
            <a:tailEnd type="none" w="sm" len="sm"/>
          </a:ln>
        </p:spPr>
        <p:txBody>
          <a:bodyPr/>
          <a:lstStyle/>
          <a:p>
            <a:endParaRPr lang="en-US"/>
          </a:p>
        </p:txBody>
      </p:sp>
      <mc:AlternateContent xmlns:mc="http://schemas.openxmlformats.org/markup-compatibility/2006" xmlns:a14="http://schemas.microsoft.com/office/drawing/2010/main">
        <mc:Choice Requires="a14">
          <p:sp>
            <p:nvSpPr>
              <p:cNvPr id="50" name="TextBox 50"/>
              <p:cNvSpPr txBox="1"/>
              <p:nvPr/>
            </p:nvSpPr>
            <p:spPr>
              <a:xfrm>
                <a:off x="1613916" y="5554218"/>
                <a:ext cx="612648" cy="294953"/>
              </a:xfrm>
              <a:prstGeom prst="rect">
                <a:avLst/>
              </a:prstGeom>
            </p:spPr>
            <p:txBody>
              <a:bodyPr lIns="0" tIns="0" rIns="0" bIns="0" rtlCol="0" anchor="t">
                <a:spAutoFit/>
              </a:bodyPr>
              <a:lstStyle/>
              <a:p>
                <a:pPr algn="ctr">
                  <a:lnSpc>
                    <a:spcPts val="2340"/>
                  </a:lnSpc>
                </a:pPr>
                <a14:m>
                  <m:oMathPara xmlns:m="http://schemas.openxmlformats.org/officeDocument/2006/math">
                    <m:oMath>
                      <m:r>
                        <a:rPr lang="en-US" sz="1950" b="1" i="1" smtClean="0">
                          <a:solidFill>
                            <a:srgbClr val="7F7F7F"/>
                          </a:solidFill>
                          <a:latin typeface="Cambria Math" panose="02040503050406030204" pitchFamily="18" charset="0"/>
                          <a:ea typeface="Arial Bold"/>
                          <a:cs typeface="Arial Bold"/>
                          <a:sym typeface="Arial Bold"/>
                        </a:rPr>
                        <m:t>𝒉</m:t>
                      </m:r>
                    </m:oMath>
                  </m:oMathPara>
                </a14:m>
                <a:endParaRPr lang="en-US" sz="1950" b="1">
                  <a:solidFill>
                    <a:srgbClr val="7F7F7F"/>
                  </a:solidFill>
                  <a:latin typeface="Arial Bold"/>
                  <a:ea typeface="Arial Bold"/>
                  <a:cs typeface="Arial Bold"/>
                  <a:sym typeface="Arial Bold"/>
                </a:endParaRPr>
              </a:p>
            </p:txBody>
          </p:sp>
        </mc:Choice>
        <mc:Fallback xmlns="">
          <p:sp>
            <p:nvSpPr>
              <p:cNvPr id="50" name="TextBox 50"/>
              <p:cNvSpPr txBox="1">
                <a:spLocks noRot="1" noChangeAspect="1" noMove="1" noResize="1" noEditPoints="1" noAdjustHandles="1" noChangeArrowheads="1" noChangeShapeType="1" noTextEdit="1"/>
              </p:cNvSpPr>
              <p:nvPr/>
            </p:nvSpPr>
            <p:spPr>
              <a:xfrm>
                <a:off x="1613916" y="5554218"/>
                <a:ext cx="612648" cy="294953"/>
              </a:xfrm>
              <a:prstGeom prst="rect">
                <a:avLst/>
              </a:prstGeom>
              <a:blipFill>
                <a:blip r:embed="rId6"/>
                <a:stretch>
                  <a:fillRect b="-122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1"/>
              <p:cNvSpPr txBox="1"/>
              <p:nvPr/>
            </p:nvSpPr>
            <p:spPr>
              <a:xfrm>
                <a:off x="924163" y="5947886"/>
                <a:ext cx="1435608" cy="197105"/>
              </a:xfrm>
              <a:prstGeom prst="rect">
                <a:avLst/>
              </a:prstGeom>
            </p:spPr>
            <p:txBody>
              <a:bodyPr lIns="0" tIns="0" rIns="0" bIns="0" rtlCol="0" anchor="t">
                <a:spAutoFit/>
              </a:bodyPr>
              <a:lstStyle/>
              <a:p>
                <a:pPr algn="ctr">
                  <a:lnSpc>
                    <a:spcPts val="1530"/>
                  </a:lnSpc>
                </a:pPr>
                <a14:m>
                  <m:oMathPara xmlns:m="http://schemas.openxmlformats.org/officeDocument/2006/math">
                    <m:oMath>
                      <m:r>
                        <a:rPr lang="en-US" sz="1275" b="0" i="1" smtClean="0">
                          <a:solidFill>
                            <a:srgbClr val="7F7F7F"/>
                          </a:solidFill>
                          <a:latin typeface="Cambria Math" panose="02040503050406030204" pitchFamily="18" charset="0"/>
                          <a:ea typeface="Arial"/>
                          <a:cs typeface="Arial"/>
                          <a:sym typeface="Arial"/>
                        </a:rPr>
                        <m:t>ℎ</m:t>
                      </m:r>
                      <m:r>
                        <a:rPr lang="en-US" sz="1275" b="0" i="1" smtClean="0">
                          <a:solidFill>
                            <a:srgbClr val="7F7F7F"/>
                          </a:solidFill>
                          <a:latin typeface="Cambria Math" panose="02040503050406030204" pitchFamily="18" charset="0"/>
                          <a:ea typeface="Arial"/>
                          <a:cs typeface="Arial"/>
                          <a:sym typeface="Arial"/>
                        </a:rPr>
                        <m:t>=|</m:t>
                      </m:r>
                      <m:sSub>
                        <m:sSubPr>
                          <m:ctrlPr>
                            <a:rPr lang="en-US" sz="1275" b="0" i="1" smtClean="0">
                              <a:solidFill>
                                <a:srgbClr val="7F7F7F"/>
                              </a:solidFill>
                              <a:latin typeface="Cambria Math" panose="02040503050406030204" pitchFamily="18" charset="0"/>
                              <a:ea typeface="Arial"/>
                              <a:cs typeface="Arial"/>
                              <a:sym typeface="Arial"/>
                            </a:rPr>
                          </m:ctrlPr>
                        </m:sSubPr>
                        <m:e>
                          <m:r>
                            <a:rPr lang="en-US" sz="1275" b="0" i="1" smtClean="0">
                              <a:solidFill>
                                <a:srgbClr val="7F7F7F"/>
                              </a:solidFill>
                              <a:latin typeface="Cambria Math" panose="02040503050406030204" pitchFamily="18" charset="0"/>
                              <a:ea typeface="Arial"/>
                              <a:cs typeface="Arial"/>
                              <a:sym typeface="Arial"/>
                            </a:rPr>
                            <m:t>𝑧</m:t>
                          </m:r>
                        </m:e>
                        <m:sub>
                          <m:r>
                            <a:rPr lang="en-US" sz="1275" b="0" i="1" smtClean="0">
                              <a:solidFill>
                                <a:srgbClr val="7F7F7F"/>
                              </a:solidFill>
                              <a:latin typeface="Cambria Math" panose="02040503050406030204" pitchFamily="18" charset="0"/>
                              <a:ea typeface="Arial"/>
                              <a:cs typeface="Arial"/>
                              <a:sym typeface="Arial"/>
                            </a:rPr>
                            <m:t>𝑑</m:t>
                          </m:r>
                        </m:sub>
                      </m:sSub>
                      <m:r>
                        <a:rPr lang="en-US" sz="1275" b="0" i="1" smtClean="0">
                          <a:solidFill>
                            <a:srgbClr val="7F7F7F"/>
                          </a:solidFill>
                          <a:latin typeface="Cambria Math" panose="02040503050406030204" pitchFamily="18" charset="0"/>
                          <a:ea typeface="Arial"/>
                          <a:cs typeface="Arial"/>
                          <a:sym typeface="Arial"/>
                        </a:rPr>
                        <m:t>−</m:t>
                      </m:r>
                      <m:sSub>
                        <m:sSubPr>
                          <m:ctrlPr>
                            <a:rPr lang="en-US" sz="1275" b="0" i="1" smtClean="0">
                              <a:solidFill>
                                <a:srgbClr val="7F7F7F"/>
                              </a:solidFill>
                              <a:latin typeface="Cambria Math" panose="02040503050406030204" pitchFamily="18" charset="0"/>
                              <a:ea typeface="Arial"/>
                              <a:cs typeface="Arial"/>
                              <a:sym typeface="Arial"/>
                            </a:rPr>
                          </m:ctrlPr>
                        </m:sSubPr>
                        <m:e>
                          <m:r>
                            <a:rPr lang="en-US" sz="1275" b="0" i="1" smtClean="0">
                              <a:solidFill>
                                <a:srgbClr val="7F7F7F"/>
                              </a:solidFill>
                              <a:latin typeface="Cambria Math" panose="02040503050406030204" pitchFamily="18" charset="0"/>
                              <a:ea typeface="Arial"/>
                              <a:cs typeface="Arial"/>
                              <a:sym typeface="Arial"/>
                            </a:rPr>
                            <m:t>𝑧</m:t>
                          </m:r>
                        </m:e>
                        <m:sub>
                          <m:r>
                            <a:rPr lang="en-US" sz="1275" b="0" i="1" smtClean="0">
                              <a:solidFill>
                                <a:srgbClr val="7F7F7F"/>
                              </a:solidFill>
                              <a:latin typeface="Cambria Math" panose="02040503050406030204" pitchFamily="18" charset="0"/>
                              <a:ea typeface="Arial"/>
                              <a:cs typeface="Arial"/>
                              <a:sym typeface="Arial"/>
                            </a:rPr>
                            <m:t>𝑝𝑎𝑑</m:t>
                          </m:r>
                        </m:sub>
                      </m:sSub>
                      <m:r>
                        <a:rPr lang="en-US" sz="1275" b="0" i="1" smtClean="0">
                          <a:solidFill>
                            <a:srgbClr val="7F7F7F"/>
                          </a:solidFill>
                          <a:latin typeface="Cambria Math" panose="02040503050406030204" pitchFamily="18" charset="0"/>
                          <a:ea typeface="Arial"/>
                          <a:cs typeface="Arial"/>
                          <a:sym typeface="Arial"/>
                        </a:rPr>
                        <m:t>|</m:t>
                      </m:r>
                    </m:oMath>
                  </m:oMathPara>
                </a14:m>
                <a:endParaRPr lang="en-US" sz="1275">
                  <a:solidFill>
                    <a:srgbClr val="7F7F7F"/>
                  </a:solidFill>
                  <a:latin typeface="Arial"/>
                  <a:ea typeface="Arial"/>
                  <a:cs typeface="Arial"/>
                  <a:sym typeface="Arial"/>
                </a:endParaRPr>
              </a:p>
            </p:txBody>
          </p:sp>
        </mc:Choice>
        <mc:Fallback xmlns="">
          <p:sp>
            <p:nvSpPr>
              <p:cNvPr id="51" name="TextBox 51"/>
              <p:cNvSpPr txBox="1">
                <a:spLocks noRot="1" noChangeAspect="1" noMove="1" noResize="1" noEditPoints="1" noAdjustHandles="1" noChangeArrowheads="1" noChangeShapeType="1" noTextEdit="1"/>
              </p:cNvSpPr>
              <p:nvPr/>
            </p:nvSpPr>
            <p:spPr>
              <a:xfrm>
                <a:off x="924163" y="5947886"/>
                <a:ext cx="1435608" cy="197105"/>
              </a:xfrm>
              <a:prstGeom prst="rect">
                <a:avLst/>
              </a:prstGeom>
              <a:blipFill>
                <a:blip r:embed="rId7"/>
                <a:stretch>
                  <a:fillRect t="-9375" b="-31250"/>
                </a:stretch>
              </a:blipFill>
            </p:spPr>
            <p:txBody>
              <a:bodyPr/>
              <a:lstStyle/>
              <a:p>
                <a:r>
                  <a:rPr lang="en-US">
                    <a:noFill/>
                  </a:rPr>
                  <a:t> </a:t>
                </a:r>
              </a:p>
            </p:txBody>
          </p:sp>
        </mc:Fallback>
      </mc:AlternateContent>
      <p:sp>
        <p:nvSpPr>
          <p:cNvPr id="52" name="AutoShape 52"/>
          <p:cNvSpPr/>
          <p:nvPr/>
        </p:nvSpPr>
        <p:spPr>
          <a:xfrm rot="3333000">
            <a:off x="1157592" y="5879787"/>
            <a:ext cx="5297195" cy="0"/>
          </a:xfrm>
          <a:prstGeom prst="line">
            <a:avLst/>
          </a:prstGeom>
          <a:ln w="28575" cap="rnd">
            <a:solidFill>
              <a:srgbClr val="DB3038"/>
            </a:solidFill>
            <a:prstDash val="solid"/>
            <a:headEnd type="none" w="sm" len="sm"/>
            <a:tailEnd type="triangle" w="lg" len="med"/>
          </a:ln>
        </p:spPr>
        <p:txBody>
          <a:bodyPr/>
          <a:lstStyle/>
          <a:p>
            <a:endParaRPr lang="en-US"/>
          </a:p>
        </p:txBody>
      </p:sp>
      <mc:AlternateContent xmlns:mc="http://schemas.openxmlformats.org/markup-compatibility/2006" xmlns:a14="http://schemas.microsoft.com/office/drawing/2010/main">
        <mc:Choice Requires="a14">
          <p:sp>
            <p:nvSpPr>
              <p:cNvPr id="53" name="TextBox 53"/>
              <p:cNvSpPr txBox="1"/>
              <p:nvPr/>
            </p:nvSpPr>
            <p:spPr>
              <a:xfrm>
                <a:off x="3296412" y="4818126"/>
                <a:ext cx="2395728" cy="240515"/>
              </a:xfrm>
              <a:prstGeom prst="rect">
                <a:avLst/>
              </a:prstGeom>
            </p:spPr>
            <p:txBody>
              <a:bodyPr lIns="0" tIns="0" rIns="0" bIns="0" rtlCol="0" anchor="t">
                <a:spAutoFit/>
              </a:bodyPr>
              <a:lstStyle/>
              <a:p>
                <a:pPr algn="l">
                  <a:lnSpc>
                    <a:spcPts val="1980"/>
                  </a:lnSpc>
                </a:pPr>
                <a:r>
                  <a:rPr lang="en-US" sz="1650" b="1">
                    <a:solidFill>
                      <a:srgbClr val="DB3038"/>
                    </a:solidFill>
                    <a:latin typeface="Arial Bold"/>
                    <a:ea typeface="Arial Bold"/>
                    <a:cs typeface="Arial Bold"/>
                    <a:sym typeface="Arial Bold"/>
                  </a:rPr>
                  <a:t>Tia nhìn </a:t>
                </a:r>
                <a14:m>
                  <m:oMath xmlns:m="http://schemas.openxmlformats.org/officeDocument/2006/math">
                    <m:sSub>
                      <m:sSubPr>
                        <m:ctrlPr>
                          <a:rPr lang="en-US" sz="1650" b="1" i="1" smtClean="0">
                            <a:solidFill>
                              <a:srgbClr val="DB3038"/>
                            </a:solidFill>
                            <a:latin typeface="Cambria Math" panose="02040503050406030204" pitchFamily="18" charset="0"/>
                            <a:ea typeface="Arial Bold"/>
                            <a:cs typeface="Arial Bold"/>
                            <a:sym typeface="Arial Bold"/>
                          </a:rPr>
                        </m:ctrlPr>
                      </m:sSubPr>
                      <m:e>
                        <m:r>
                          <a:rPr lang="en-US" sz="1650" b="1" i="1" smtClean="0">
                            <a:solidFill>
                              <a:srgbClr val="DB3038"/>
                            </a:solidFill>
                            <a:latin typeface="Cambria Math" panose="02040503050406030204" pitchFamily="18" charset="0"/>
                            <a:ea typeface="Arial Bold"/>
                            <a:cs typeface="Arial Bold"/>
                            <a:sym typeface="Arial Bold"/>
                          </a:rPr>
                          <m:t>𝒖</m:t>
                        </m:r>
                      </m:e>
                      <m:sub>
                        <m:r>
                          <a:rPr lang="en-US" sz="1650" b="1" i="1" smtClean="0">
                            <a:solidFill>
                              <a:srgbClr val="DB3038"/>
                            </a:solidFill>
                            <a:latin typeface="Cambria Math" panose="02040503050406030204" pitchFamily="18" charset="0"/>
                            <a:ea typeface="Arial Bold"/>
                            <a:cs typeface="Arial Bold"/>
                            <a:sym typeface="Arial Bold"/>
                          </a:rPr>
                          <m:t>𝒏</m:t>
                        </m:r>
                      </m:sub>
                    </m:sSub>
                  </m:oMath>
                </a14:m>
                <a:endParaRPr lang="en-US" sz="1650" b="1">
                  <a:solidFill>
                    <a:srgbClr val="DB3038"/>
                  </a:solidFill>
                  <a:latin typeface="Arial Bold"/>
                  <a:ea typeface="Arial Bold"/>
                  <a:cs typeface="Arial Bold"/>
                  <a:sym typeface="Arial Bold"/>
                </a:endParaRPr>
              </a:p>
            </p:txBody>
          </p:sp>
        </mc:Choice>
        <mc:Fallback xmlns="">
          <p:sp>
            <p:nvSpPr>
              <p:cNvPr id="53" name="TextBox 53"/>
              <p:cNvSpPr txBox="1">
                <a:spLocks noRot="1" noChangeAspect="1" noMove="1" noResize="1" noEditPoints="1" noAdjustHandles="1" noChangeArrowheads="1" noChangeShapeType="1" noTextEdit="1"/>
              </p:cNvSpPr>
              <p:nvPr/>
            </p:nvSpPr>
            <p:spPr>
              <a:xfrm>
                <a:off x="3296412" y="4818126"/>
                <a:ext cx="2395728" cy="240515"/>
              </a:xfrm>
              <a:prstGeom prst="rect">
                <a:avLst/>
              </a:prstGeom>
              <a:blipFill>
                <a:blip r:embed="rId8"/>
                <a:stretch>
                  <a:fillRect l="-5344" t="-30000" b="-50000"/>
                </a:stretch>
              </a:blipFill>
            </p:spPr>
            <p:txBody>
              <a:bodyPr/>
              <a:lstStyle/>
              <a:p>
                <a:r>
                  <a:rPr lang="en-US">
                    <a:noFill/>
                  </a:rPr>
                  <a:t> </a:t>
                </a:r>
              </a:p>
            </p:txBody>
          </p:sp>
        </mc:Fallback>
      </mc:AlternateContent>
      <p:grpSp>
        <p:nvGrpSpPr>
          <p:cNvPr id="54" name="Group 54"/>
          <p:cNvGrpSpPr/>
          <p:nvPr/>
        </p:nvGrpSpPr>
        <p:grpSpPr>
          <a:xfrm>
            <a:off x="4157948" y="5589182"/>
            <a:ext cx="2620328" cy="685889"/>
            <a:chOff x="0" y="0"/>
            <a:chExt cx="3493770" cy="567690"/>
          </a:xfrm>
        </p:grpSpPr>
        <p:sp>
          <p:nvSpPr>
            <p:cNvPr id="55" name="Freeform 55"/>
            <p:cNvSpPr/>
            <p:nvPr/>
          </p:nvSpPr>
          <p:spPr>
            <a:xfrm>
              <a:off x="0" y="0"/>
              <a:ext cx="3493770" cy="567690"/>
            </a:xfrm>
            <a:custGeom>
              <a:avLst/>
              <a:gdLst/>
              <a:ahLst/>
              <a:cxnLst/>
              <a:rect l="l" t="t" r="r" b="b"/>
              <a:pathLst>
                <a:path w="3493770" h="567690">
                  <a:moveTo>
                    <a:pt x="0" y="283845"/>
                  </a:moveTo>
                  <a:cubicBezTo>
                    <a:pt x="0" y="127127"/>
                    <a:pt x="127127" y="0"/>
                    <a:pt x="283845" y="0"/>
                  </a:cubicBezTo>
                  <a:lnTo>
                    <a:pt x="3209925" y="0"/>
                  </a:lnTo>
                  <a:cubicBezTo>
                    <a:pt x="3366643" y="0"/>
                    <a:pt x="3493770" y="127127"/>
                    <a:pt x="3493770" y="283845"/>
                  </a:cubicBezTo>
                  <a:cubicBezTo>
                    <a:pt x="3493770" y="440563"/>
                    <a:pt x="3366643" y="567690"/>
                    <a:pt x="3209925" y="567690"/>
                  </a:cubicBezTo>
                  <a:lnTo>
                    <a:pt x="283845" y="567690"/>
                  </a:lnTo>
                  <a:cubicBezTo>
                    <a:pt x="127127" y="567690"/>
                    <a:pt x="0" y="440563"/>
                    <a:pt x="0" y="283845"/>
                  </a:cubicBezTo>
                  <a:close/>
                </a:path>
              </a:pathLst>
            </a:custGeom>
            <a:solidFill>
              <a:srgbClr val="FFFFFF"/>
            </a:solidFill>
            <a:ln w="14288" cap="sq">
              <a:solidFill>
                <a:srgbClr val="DB3038"/>
              </a:solidFill>
              <a:prstDash val="solid"/>
              <a:miter/>
            </a:ln>
          </p:spPr>
          <p:txBody>
            <a:bodyPr/>
            <a:lstStyle/>
            <a:p>
              <a:endParaRPr lang="en-US"/>
            </a:p>
          </p:txBody>
        </p:sp>
        <mc:AlternateContent xmlns:mc="http://schemas.openxmlformats.org/markup-compatibility/2006" xmlns:a14="http://schemas.microsoft.com/office/drawing/2010/main">
          <mc:Choice Requires="a14">
            <p:sp>
              <p:nvSpPr>
                <p:cNvPr id="56" name="TextBox 56"/>
                <p:cNvSpPr txBox="1"/>
                <p:nvPr/>
              </p:nvSpPr>
              <p:spPr>
                <a:xfrm>
                  <a:off x="0" y="-9525"/>
                  <a:ext cx="3493770" cy="577215"/>
                </a:xfrm>
                <a:prstGeom prst="rect">
                  <a:avLst/>
                </a:prstGeom>
              </p:spPr>
              <p:txBody>
                <a:bodyPr lIns="50800" tIns="50800" rIns="50800" bIns="50800" rtlCol="0" anchor="ctr"/>
                <a:lstStyle/>
                <a:p>
                  <a:pPr algn="ctr">
                    <a:lnSpc>
                      <a:spcPts val="1889"/>
                    </a:lnSpc>
                  </a:pPr>
                  <a14:m>
                    <m:oMathPara xmlns:m="http://schemas.openxmlformats.org/officeDocument/2006/math">
                      <m:oMath>
                        <m:r>
                          <a:rPr lang="en-US" sz="1575" b="1" i="1" smtClean="0">
                            <a:solidFill>
                              <a:srgbClr val="B3222A"/>
                            </a:solidFill>
                            <a:latin typeface="Cambria Math" panose="02040503050406030204" pitchFamily="18" charset="0"/>
                            <a:ea typeface="Arial Bold"/>
                            <a:cs typeface="Arial Bold"/>
                            <a:sym typeface="Arial Bold"/>
                          </a:rPr>
                          <m:t>𝝆</m:t>
                        </m:r>
                        <m:r>
                          <a:rPr lang="en-US" sz="1575" b="1" i="1" smtClean="0">
                            <a:solidFill>
                              <a:srgbClr val="B3222A"/>
                            </a:solidFill>
                            <a:latin typeface="Cambria Math" panose="02040503050406030204" pitchFamily="18" charset="0"/>
                            <a:ea typeface="Arial Bold"/>
                            <a:cs typeface="Arial Bold"/>
                            <a:sym typeface="Arial Bold"/>
                          </a:rPr>
                          <m:t>=</m:t>
                        </m:r>
                        <m:f>
                          <m:fPr>
                            <m:ctrlPr>
                              <a:rPr lang="en-US" sz="1575" b="1" i="1" smtClean="0">
                                <a:solidFill>
                                  <a:srgbClr val="B3222A"/>
                                </a:solidFill>
                                <a:latin typeface="Cambria Math" panose="02040503050406030204" pitchFamily="18" charset="0"/>
                                <a:ea typeface="Arial Bold"/>
                                <a:cs typeface="Arial Bold"/>
                                <a:sym typeface="Arial Bold"/>
                              </a:rPr>
                            </m:ctrlPr>
                          </m:fPr>
                          <m:num>
                            <m:r>
                              <a:rPr lang="en-US" sz="1575" b="1" i="1" smtClean="0">
                                <a:solidFill>
                                  <a:srgbClr val="B3222A"/>
                                </a:solidFill>
                                <a:latin typeface="Cambria Math" panose="02040503050406030204" pitchFamily="18" charset="0"/>
                                <a:ea typeface="Arial Bold"/>
                                <a:cs typeface="Arial Bold"/>
                                <a:sym typeface="Arial Bold"/>
                              </a:rPr>
                              <m:t>𝒉</m:t>
                            </m:r>
                          </m:num>
                          <m:den>
                            <m:sSub>
                              <m:sSubPr>
                                <m:ctrlPr>
                                  <a:rPr lang="en-US" sz="1575" b="1" i="1" smtClean="0">
                                    <a:solidFill>
                                      <a:srgbClr val="B3222A"/>
                                    </a:solidFill>
                                    <a:latin typeface="Cambria Math" panose="02040503050406030204" pitchFamily="18" charset="0"/>
                                    <a:ea typeface="Arial Bold"/>
                                    <a:cs typeface="Arial Bold"/>
                                    <a:sym typeface="Arial Bold"/>
                                  </a:rPr>
                                </m:ctrlPr>
                              </m:sSubPr>
                              <m:e>
                                <m:r>
                                  <a:rPr lang="en-US" sz="1575" b="1" i="1" smtClean="0">
                                    <a:solidFill>
                                      <a:srgbClr val="B3222A"/>
                                    </a:solidFill>
                                    <a:latin typeface="Cambria Math" panose="02040503050406030204" pitchFamily="18" charset="0"/>
                                    <a:ea typeface="Arial Bold"/>
                                    <a:cs typeface="Arial Bold"/>
                                    <a:sym typeface="Arial Bold"/>
                                  </a:rPr>
                                  <m:t>|</m:t>
                                </m:r>
                                <m:r>
                                  <a:rPr lang="en-US" sz="1575" b="1" i="1" smtClean="0">
                                    <a:solidFill>
                                      <a:srgbClr val="B3222A"/>
                                    </a:solidFill>
                                    <a:latin typeface="Cambria Math" panose="02040503050406030204" pitchFamily="18" charset="0"/>
                                    <a:ea typeface="Arial Bold"/>
                                    <a:cs typeface="Arial Bold"/>
                                    <a:sym typeface="Arial Bold"/>
                                  </a:rPr>
                                  <m:t>𝒖</m:t>
                                </m:r>
                              </m:e>
                              <m:sub>
                                <m:r>
                                  <a:rPr lang="en-US" sz="1575" b="1" i="1" smtClean="0">
                                    <a:solidFill>
                                      <a:srgbClr val="B3222A"/>
                                    </a:solidFill>
                                    <a:latin typeface="Cambria Math" panose="02040503050406030204" pitchFamily="18" charset="0"/>
                                    <a:ea typeface="Arial Bold"/>
                                    <a:cs typeface="Arial Bold"/>
                                    <a:sym typeface="Arial Bold"/>
                                  </a:rPr>
                                  <m:t>𝒏𝒛</m:t>
                                </m:r>
                              </m:sub>
                            </m:sSub>
                            <m:r>
                              <a:rPr lang="en-US" sz="1575" b="1" i="1" smtClean="0">
                                <a:solidFill>
                                  <a:srgbClr val="B3222A"/>
                                </a:solidFill>
                                <a:latin typeface="Cambria Math" panose="02040503050406030204" pitchFamily="18" charset="0"/>
                                <a:ea typeface="Arial Bold"/>
                                <a:cs typeface="Arial Bold"/>
                                <a:sym typeface="Arial Bold"/>
                              </a:rPr>
                              <m:t>|</m:t>
                            </m:r>
                          </m:den>
                        </m:f>
                      </m:oMath>
                    </m:oMathPara>
                  </a14:m>
                  <a:endParaRPr lang="en-US" sz="1575" b="1">
                    <a:solidFill>
                      <a:srgbClr val="B3222A"/>
                    </a:solidFill>
                    <a:latin typeface="Arial Bold"/>
                    <a:ea typeface="Arial Bold"/>
                    <a:cs typeface="Arial Bold"/>
                    <a:sym typeface="Arial Bold"/>
                  </a:endParaRPr>
                </a:p>
              </p:txBody>
            </p:sp>
          </mc:Choice>
          <mc:Fallback xmlns="">
            <p:sp>
              <p:nvSpPr>
                <p:cNvPr id="56" name="TextBox 56"/>
                <p:cNvSpPr txBox="1">
                  <a:spLocks noRot="1" noChangeAspect="1" noMove="1" noResize="1" noEditPoints="1" noAdjustHandles="1" noChangeArrowheads="1" noChangeShapeType="1" noTextEdit="1"/>
                </p:cNvSpPr>
                <p:nvPr/>
              </p:nvSpPr>
              <p:spPr>
                <a:xfrm>
                  <a:off x="0" y="-9525"/>
                  <a:ext cx="3493770" cy="577215"/>
                </a:xfrm>
                <a:prstGeom prst="rect">
                  <a:avLst/>
                </a:prstGeom>
                <a:blipFill>
                  <a:blip r:embed="rId9"/>
                  <a:stretch>
                    <a:fillRect/>
                  </a:stretch>
                </a:blipFill>
              </p:spPr>
              <p:txBody>
                <a:bodyPr/>
                <a:lstStyle/>
                <a:p>
                  <a:r>
                    <a:rPr lang="en-US">
                      <a:noFill/>
                    </a:rPr>
                    <a:t> </a:t>
                  </a:r>
                </a:p>
              </p:txBody>
            </p:sp>
          </mc:Fallback>
        </mc:AlternateContent>
      </p:grpSp>
      <p:grpSp>
        <p:nvGrpSpPr>
          <p:cNvPr id="57" name="Group 57"/>
          <p:cNvGrpSpPr/>
          <p:nvPr/>
        </p:nvGrpSpPr>
        <p:grpSpPr>
          <a:xfrm>
            <a:off x="1090136" y="8496776"/>
            <a:ext cx="6323647" cy="727520"/>
            <a:chOff x="0" y="0"/>
            <a:chExt cx="8431530" cy="970026"/>
          </a:xfrm>
        </p:grpSpPr>
        <p:sp>
          <p:nvSpPr>
            <p:cNvPr id="58" name="Freeform 58"/>
            <p:cNvSpPr/>
            <p:nvPr/>
          </p:nvSpPr>
          <p:spPr>
            <a:xfrm>
              <a:off x="0" y="0"/>
              <a:ext cx="8431530" cy="970026"/>
            </a:xfrm>
            <a:custGeom>
              <a:avLst/>
              <a:gdLst/>
              <a:ahLst/>
              <a:cxnLst/>
              <a:rect l="l" t="t" r="r" b="b"/>
              <a:pathLst>
                <a:path w="8431530" h="970026">
                  <a:moveTo>
                    <a:pt x="0" y="149225"/>
                  </a:moveTo>
                  <a:cubicBezTo>
                    <a:pt x="0" y="66802"/>
                    <a:pt x="66802" y="0"/>
                    <a:pt x="149225" y="0"/>
                  </a:cubicBezTo>
                  <a:lnTo>
                    <a:pt x="8282305" y="0"/>
                  </a:lnTo>
                  <a:cubicBezTo>
                    <a:pt x="8364728" y="0"/>
                    <a:pt x="8431530" y="66802"/>
                    <a:pt x="8431530" y="149225"/>
                  </a:cubicBezTo>
                  <a:lnTo>
                    <a:pt x="8431530" y="820801"/>
                  </a:lnTo>
                  <a:cubicBezTo>
                    <a:pt x="8431530" y="903224"/>
                    <a:pt x="8364728" y="970026"/>
                    <a:pt x="8282305" y="970026"/>
                  </a:cubicBezTo>
                  <a:lnTo>
                    <a:pt x="149225" y="970026"/>
                  </a:lnTo>
                  <a:cubicBezTo>
                    <a:pt x="66802" y="970026"/>
                    <a:pt x="0" y="903224"/>
                    <a:pt x="0" y="820801"/>
                  </a:cubicBezTo>
                  <a:close/>
                </a:path>
              </a:pathLst>
            </a:custGeom>
            <a:solidFill>
              <a:srgbClr val="FFFFFF"/>
            </a:solidFill>
            <a:ln w="14288" cap="sq">
              <a:solidFill>
                <a:srgbClr val="D9D9D9"/>
              </a:solidFill>
              <a:prstDash val="solid"/>
              <a:miter/>
            </a:ln>
          </p:spPr>
          <p:txBody>
            <a:bodyPr/>
            <a:lstStyle/>
            <a:p>
              <a:endParaRPr lang="en-US"/>
            </a:p>
          </p:txBody>
        </p:sp>
      </p:grpSp>
      <mc:AlternateContent xmlns:mc="http://schemas.openxmlformats.org/markup-compatibility/2006" xmlns:a14="http://schemas.microsoft.com/office/drawing/2010/main">
        <mc:Choice Requires="a14">
          <p:sp>
            <p:nvSpPr>
              <p:cNvPr id="59" name="TextBox 59"/>
              <p:cNvSpPr txBox="1"/>
              <p:nvPr/>
            </p:nvSpPr>
            <p:spPr>
              <a:xfrm>
                <a:off x="1243584" y="8530590"/>
                <a:ext cx="6016752" cy="436017"/>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Nguyên lý: Bỏ qua cự ly PnP z_c dễ nhiễu; chỉ lấy vector góc tia nhìn </a:t>
                </a:r>
                <a14:m>
                  <m:oMath xmlns:m="http://schemas.openxmlformats.org/officeDocument/2006/math">
                    <m:sSub>
                      <m:sSubPr>
                        <m:ctrlPr>
                          <a:rPr lang="en-US" sz="1425" b="0" i="1" smtClean="0">
                            <a:solidFill>
                              <a:srgbClr val="404040"/>
                            </a:solidFill>
                            <a:latin typeface="Cambria Math" panose="02040503050406030204" pitchFamily="18" charset="0"/>
                            <a:ea typeface="Arial"/>
                            <a:cs typeface="Arial"/>
                            <a:sym typeface="Arial"/>
                          </a:rPr>
                        </m:ctrlPr>
                      </m:sSubPr>
                      <m:e>
                        <m:r>
                          <a:rPr lang="en-US" sz="1425" b="0" i="1" smtClean="0">
                            <a:solidFill>
                              <a:srgbClr val="404040"/>
                            </a:solidFill>
                            <a:latin typeface="Cambria Math" panose="02040503050406030204" pitchFamily="18" charset="0"/>
                            <a:ea typeface="Arial"/>
                            <a:cs typeface="Arial"/>
                            <a:sym typeface="Arial"/>
                          </a:rPr>
                          <m:t>𝑢</m:t>
                        </m:r>
                      </m:e>
                      <m:sub>
                        <m:r>
                          <a:rPr lang="en-US" sz="1425" b="0" i="1" smtClean="0">
                            <a:solidFill>
                              <a:srgbClr val="404040"/>
                            </a:solidFill>
                            <a:latin typeface="Cambria Math" panose="02040503050406030204" pitchFamily="18" charset="0"/>
                            <a:ea typeface="Arial"/>
                            <a:cs typeface="Arial"/>
                            <a:sym typeface="Arial"/>
                          </a:rPr>
                          <m:t>𝑛</m:t>
                        </m:r>
                      </m:sub>
                    </m:sSub>
                  </m:oMath>
                </a14:m>
                <a:r>
                  <a:rPr lang="en-US" sz="1425">
                    <a:solidFill>
                      <a:srgbClr val="404040"/>
                    </a:solidFill>
                    <a:latin typeface="Arial"/>
                    <a:ea typeface="Arial"/>
                    <a:cs typeface="Arial"/>
                    <a:sym typeface="Arial"/>
                  </a:rPr>
                  <a:t> giao với mặt phẳng độ cao </a:t>
                </a:r>
                <a14:m>
                  <m:oMath xmlns:m="http://schemas.openxmlformats.org/officeDocument/2006/math">
                    <m:r>
                      <a:rPr lang="en-US" sz="1425" b="0" i="1" smtClean="0">
                        <a:solidFill>
                          <a:srgbClr val="404040"/>
                        </a:solidFill>
                        <a:latin typeface="Cambria Math" panose="02040503050406030204" pitchFamily="18" charset="0"/>
                        <a:ea typeface="Arial"/>
                        <a:cs typeface="Arial"/>
                        <a:sym typeface="Arial"/>
                      </a:rPr>
                      <m:t>ℎ</m:t>
                    </m:r>
                  </m:oMath>
                </a14:m>
                <a:r>
                  <a:rPr lang="en-US" sz="1425">
                    <a:solidFill>
                      <a:srgbClr val="404040"/>
                    </a:solidFill>
                    <a:latin typeface="Arial"/>
                    <a:ea typeface="Arial"/>
                    <a:cs typeface="Arial"/>
                    <a:sym typeface="Arial"/>
                  </a:rPr>
                  <a:t>.</a:t>
                </a:r>
              </a:p>
            </p:txBody>
          </p:sp>
        </mc:Choice>
        <mc:Fallback xmlns="">
          <p:sp>
            <p:nvSpPr>
              <p:cNvPr id="59" name="TextBox 59"/>
              <p:cNvSpPr txBox="1">
                <a:spLocks noRot="1" noChangeAspect="1" noMove="1" noResize="1" noEditPoints="1" noAdjustHandles="1" noChangeArrowheads="1" noChangeShapeType="1" noTextEdit="1"/>
              </p:cNvSpPr>
              <p:nvPr/>
            </p:nvSpPr>
            <p:spPr>
              <a:xfrm>
                <a:off x="1243584" y="8530590"/>
                <a:ext cx="6016752" cy="436017"/>
              </a:xfrm>
              <a:prstGeom prst="rect">
                <a:avLst/>
              </a:prstGeom>
              <a:blipFill>
                <a:blip r:embed="rId10"/>
                <a:stretch>
                  <a:fillRect l="-1824" t="-12500" b="-25000"/>
                </a:stretch>
              </a:blipFill>
            </p:spPr>
            <p:txBody>
              <a:bodyPr/>
              <a:lstStyle/>
              <a:p>
                <a:r>
                  <a:rPr lang="en-US">
                    <a:noFill/>
                  </a:rPr>
                  <a:t> </a:t>
                </a:r>
              </a:p>
            </p:txBody>
          </p:sp>
        </mc:Fallback>
      </mc:AlternateContent>
      <p:grpSp>
        <p:nvGrpSpPr>
          <p:cNvPr id="60" name="Group 60"/>
          <p:cNvGrpSpPr/>
          <p:nvPr/>
        </p:nvGrpSpPr>
        <p:grpSpPr>
          <a:xfrm>
            <a:off x="8016716" y="2393156"/>
            <a:ext cx="9450896" cy="1797367"/>
            <a:chOff x="0" y="0"/>
            <a:chExt cx="12601194" cy="2396490"/>
          </a:xfrm>
        </p:grpSpPr>
        <p:sp>
          <p:nvSpPr>
            <p:cNvPr id="61" name="Freeform 61"/>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62" name="Group 62"/>
          <p:cNvGrpSpPr/>
          <p:nvPr/>
        </p:nvGrpSpPr>
        <p:grpSpPr>
          <a:xfrm>
            <a:off x="8298180" y="2400300"/>
            <a:ext cx="960120" cy="68580"/>
            <a:chOff x="0" y="0"/>
            <a:chExt cx="1280160" cy="91440"/>
          </a:xfrm>
        </p:grpSpPr>
        <p:sp>
          <p:nvSpPr>
            <p:cNvPr id="63" name="Freeform 63"/>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595959"/>
            </a:solidFill>
          </p:spPr>
          <p:txBody>
            <a:bodyPr/>
            <a:lstStyle/>
            <a:p>
              <a:endParaRPr lang="en-US"/>
            </a:p>
          </p:txBody>
        </p:sp>
      </p:grpSp>
      <p:grpSp>
        <p:nvGrpSpPr>
          <p:cNvPr id="64" name="Group 64"/>
          <p:cNvGrpSpPr/>
          <p:nvPr/>
        </p:nvGrpSpPr>
        <p:grpSpPr>
          <a:xfrm>
            <a:off x="8298180" y="2633472"/>
            <a:ext cx="1412748" cy="329184"/>
            <a:chOff x="0" y="0"/>
            <a:chExt cx="1883664" cy="438912"/>
          </a:xfrm>
        </p:grpSpPr>
        <p:sp>
          <p:nvSpPr>
            <p:cNvPr id="65" name="Freeform 65"/>
            <p:cNvSpPr/>
            <p:nvPr/>
          </p:nvSpPr>
          <p:spPr>
            <a:xfrm>
              <a:off x="0" y="0"/>
              <a:ext cx="1883664" cy="438912"/>
            </a:xfrm>
            <a:custGeom>
              <a:avLst/>
              <a:gdLst/>
              <a:ahLst/>
              <a:cxnLst/>
              <a:rect l="l" t="t" r="r" b="b"/>
              <a:pathLst>
                <a:path w="1883664" h="438912">
                  <a:moveTo>
                    <a:pt x="0" y="219456"/>
                  </a:moveTo>
                  <a:cubicBezTo>
                    <a:pt x="0" y="98298"/>
                    <a:pt x="98298" y="0"/>
                    <a:pt x="219456" y="0"/>
                  </a:cubicBezTo>
                  <a:lnTo>
                    <a:pt x="1664208" y="0"/>
                  </a:lnTo>
                  <a:cubicBezTo>
                    <a:pt x="1785366" y="0"/>
                    <a:pt x="1883664" y="98298"/>
                    <a:pt x="1883664" y="219456"/>
                  </a:cubicBezTo>
                  <a:cubicBezTo>
                    <a:pt x="1883664" y="340614"/>
                    <a:pt x="1785366" y="438912"/>
                    <a:pt x="1664208" y="438912"/>
                  </a:cubicBezTo>
                  <a:lnTo>
                    <a:pt x="219456" y="438912"/>
                  </a:lnTo>
                  <a:cubicBezTo>
                    <a:pt x="98298" y="438912"/>
                    <a:pt x="0" y="340614"/>
                    <a:pt x="0" y="219456"/>
                  </a:cubicBezTo>
                  <a:close/>
                </a:path>
              </a:pathLst>
            </a:custGeom>
            <a:solidFill>
              <a:srgbClr val="595959"/>
            </a:solidFill>
          </p:spPr>
          <p:txBody>
            <a:bodyPr/>
            <a:lstStyle/>
            <a:p>
              <a:endParaRPr lang="en-US"/>
            </a:p>
          </p:txBody>
        </p:sp>
        <p:sp>
          <p:nvSpPr>
            <p:cNvPr id="66" name="TextBox 66"/>
            <p:cNvSpPr txBox="1"/>
            <p:nvPr/>
          </p:nvSpPr>
          <p:spPr>
            <a:xfrm>
              <a:off x="0" y="-19050"/>
              <a:ext cx="1883664"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PROBLEM</a:t>
              </a:r>
            </a:p>
          </p:txBody>
        </p:sp>
      </p:grpSp>
      <p:grpSp>
        <p:nvGrpSpPr>
          <p:cNvPr id="67" name="Group 67"/>
          <p:cNvGrpSpPr/>
          <p:nvPr/>
        </p:nvGrpSpPr>
        <p:grpSpPr>
          <a:xfrm>
            <a:off x="9985248" y="2592324"/>
            <a:ext cx="6652260" cy="411480"/>
            <a:chOff x="0" y="0"/>
            <a:chExt cx="8869680" cy="548640"/>
          </a:xfrm>
        </p:grpSpPr>
        <p:sp>
          <p:nvSpPr>
            <p:cNvPr id="68" name="Freeform 68"/>
            <p:cNvSpPr/>
            <p:nvPr/>
          </p:nvSpPr>
          <p:spPr>
            <a:xfrm>
              <a:off x="0" y="0"/>
              <a:ext cx="8869680" cy="548640"/>
            </a:xfrm>
            <a:custGeom>
              <a:avLst/>
              <a:gdLst/>
              <a:ahLst/>
              <a:cxnLst/>
              <a:rect l="l" t="t" r="r" b="b"/>
              <a:pathLst>
                <a:path w="8869680" h="548640">
                  <a:moveTo>
                    <a:pt x="0" y="0"/>
                  </a:moveTo>
                  <a:lnTo>
                    <a:pt x="8869680" y="0"/>
                  </a:lnTo>
                  <a:lnTo>
                    <a:pt x="8869680" y="548640"/>
                  </a:lnTo>
                  <a:lnTo>
                    <a:pt x="0" y="548640"/>
                  </a:lnTo>
                  <a:close/>
                </a:path>
              </a:pathLst>
            </a:custGeom>
            <a:blipFill>
              <a:blip r:embed="rId4">
                <a:alphaModFix amt="0"/>
              </a:blip>
              <a:stretch>
                <a:fillRect t="-265008" b="-265008"/>
              </a:stretch>
            </a:blipFill>
          </p:spPr>
          <p:txBody>
            <a:bodyPr/>
            <a:lstStyle/>
            <a:p>
              <a:endParaRPr lang="en-US"/>
            </a:p>
          </p:txBody>
        </p:sp>
        <p:sp>
          <p:nvSpPr>
            <p:cNvPr id="69" name="TextBox 69"/>
            <p:cNvSpPr txBox="1"/>
            <p:nvPr/>
          </p:nvSpPr>
          <p:spPr>
            <a:xfrm>
              <a:off x="0" y="-28575"/>
              <a:ext cx="8869680"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Sai số GPS toàn cầu</a:t>
              </a:r>
            </a:p>
          </p:txBody>
        </p:sp>
      </p:grpSp>
      <p:grpSp>
        <p:nvGrpSpPr>
          <p:cNvPr id="70" name="Group 70"/>
          <p:cNvGrpSpPr/>
          <p:nvPr/>
        </p:nvGrpSpPr>
        <p:grpSpPr>
          <a:xfrm>
            <a:off x="8291036" y="3106388"/>
            <a:ext cx="8902256" cy="617792"/>
            <a:chOff x="0" y="0"/>
            <a:chExt cx="11869674" cy="823722"/>
          </a:xfrm>
        </p:grpSpPr>
        <p:sp>
          <p:nvSpPr>
            <p:cNvPr id="71" name="Freeform 71"/>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72" name="Group 72"/>
          <p:cNvGrpSpPr/>
          <p:nvPr/>
        </p:nvGrpSpPr>
        <p:grpSpPr>
          <a:xfrm>
            <a:off x="8407908" y="3113532"/>
            <a:ext cx="8668512" cy="603504"/>
            <a:chOff x="0" y="0"/>
            <a:chExt cx="11558016" cy="804672"/>
          </a:xfrm>
        </p:grpSpPr>
        <p:sp>
          <p:nvSpPr>
            <p:cNvPr id="73" name="Freeform 73"/>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74" name="TextBox 74"/>
                <p:cNvSpPr txBox="1"/>
                <p:nvPr/>
              </p:nvSpPr>
              <p:spPr>
                <a:xfrm>
                  <a:off x="0" y="-19050"/>
                  <a:ext cx="11558016" cy="823722"/>
                </a:xfrm>
                <a:prstGeom prst="rect">
                  <a:avLst/>
                </a:prstGeom>
              </p:spPr>
              <p:txBody>
                <a:bodyPr lIns="0" tIns="0" rIns="0" bIns="0" rtlCol="0" anchor="ctr"/>
                <a:lstStyle/>
                <a:p>
                  <a:pPr algn="l">
                    <a:lnSpc>
                      <a:spcPts val="2340"/>
                    </a:lnSpc>
                  </a:pPr>
                  <a14:m>
                    <m:oMath xmlns:m="http://schemas.openxmlformats.org/officeDocument/2006/math">
                      <m:sSub>
                        <m:sSubPr>
                          <m:ctrlPr>
                            <a:rPr lang="en-US" sz="1950" b="0" i="1" smtClean="0">
                              <a:solidFill>
                                <a:srgbClr val="B3222A"/>
                              </a:solidFill>
                              <a:latin typeface="Cambria Math" panose="02040503050406030204" pitchFamily="18" charset="0"/>
                              <a:ea typeface="Arial"/>
                              <a:cs typeface="Arial"/>
                              <a:sym typeface="Arial"/>
                            </a:rPr>
                          </m:ctrlPr>
                        </m:sSubPr>
                        <m:e>
                          <m:r>
                            <a:rPr lang="en-US" sz="1950" b="0" i="1" smtClean="0">
                              <a:solidFill>
                                <a:srgbClr val="B3222A"/>
                              </a:solidFill>
                              <a:latin typeface="Cambria Math" panose="02040503050406030204" pitchFamily="18" charset="0"/>
                              <a:ea typeface="Arial"/>
                              <a:cs typeface="Arial"/>
                              <a:sym typeface="Arial"/>
                            </a:rPr>
                            <m:t>𝑒</m:t>
                          </m:r>
                        </m:e>
                        <m:sub>
                          <m:r>
                            <a:rPr lang="en-US" sz="1950" b="0" i="1" smtClean="0">
                              <a:solidFill>
                                <a:srgbClr val="B3222A"/>
                              </a:solidFill>
                              <a:latin typeface="Cambria Math" panose="02040503050406030204" pitchFamily="18" charset="0"/>
                              <a:ea typeface="Arial"/>
                              <a:cs typeface="Arial"/>
                              <a:sym typeface="Arial"/>
                            </a:rPr>
                            <m:t>𝑝ℎ</m:t>
                          </m:r>
                        </m:sub>
                      </m:sSub>
                      <m:r>
                        <a:rPr lang="en-US" sz="1950" b="0" i="1" smtClean="0">
                          <a:solidFill>
                            <a:srgbClr val="B3222A"/>
                          </a:solidFill>
                          <a:latin typeface="Cambria Math" panose="02040503050406030204" pitchFamily="18" charset="0"/>
                          <a:ea typeface="Arial"/>
                          <a:cs typeface="Arial"/>
                          <a:sym typeface="Arial"/>
                        </a:rPr>
                        <m:t>≈0.5−1.5</m:t>
                      </m:r>
                      <m:r>
                        <a:rPr lang="en-US" sz="1950" b="0" i="1" smtClean="0">
                          <a:solidFill>
                            <a:srgbClr val="B3222A"/>
                          </a:solidFill>
                          <a:latin typeface="Cambria Math" panose="02040503050406030204" pitchFamily="18" charset="0"/>
                          <a:ea typeface="Arial"/>
                          <a:cs typeface="Arial"/>
                          <a:sym typeface="Arial"/>
                        </a:rPr>
                        <m:t>𝑚</m:t>
                      </m:r>
                      <m:r>
                        <a:rPr lang="en-US" sz="1950" b="0" i="0" smtClean="0">
                          <a:solidFill>
                            <a:srgbClr val="B3222A"/>
                          </a:solidFill>
                          <a:latin typeface="Cambria Math" panose="02040503050406030204" pitchFamily="18" charset="0"/>
                          <a:ea typeface="Arial"/>
                          <a:cs typeface="Arial"/>
                          <a:sym typeface="Arial"/>
                        </a:rPr>
                        <m:t>&gt;</m:t>
                      </m:r>
                      <m:sSub>
                        <m:sSubPr>
                          <m:ctrlPr>
                            <a:rPr lang="en-US" sz="1950" b="0" i="0" smtClean="0">
                              <a:solidFill>
                                <a:srgbClr val="B3222A"/>
                              </a:solidFill>
                              <a:latin typeface="Cambria Math" panose="02040503050406030204" pitchFamily="18" charset="0"/>
                              <a:ea typeface="Arial"/>
                              <a:cs typeface="Arial"/>
                              <a:sym typeface="Arial"/>
                            </a:rPr>
                          </m:ctrlPr>
                        </m:sSubPr>
                        <m:e>
                          <m:r>
                            <m:rPr>
                              <m:sty m:val="p"/>
                            </m:rPr>
                            <a:rPr lang="en-US" sz="1950" b="0" i="0" smtClean="0">
                              <a:solidFill>
                                <a:srgbClr val="B3222A"/>
                              </a:solidFill>
                              <a:latin typeface="Cambria Math" panose="02040503050406030204" pitchFamily="18" charset="0"/>
                              <a:ea typeface="Arial"/>
                              <a:cs typeface="Arial"/>
                              <a:sym typeface="Arial"/>
                            </a:rPr>
                            <m:t>R</m:t>
                          </m:r>
                        </m:e>
                        <m:sub>
                          <m:r>
                            <a:rPr lang="en-US" sz="1950" b="0" i="1" smtClean="0">
                              <a:solidFill>
                                <a:srgbClr val="B3222A"/>
                              </a:solidFill>
                              <a:latin typeface="Cambria Math" panose="02040503050406030204" pitchFamily="18" charset="0"/>
                              <a:ea typeface="Arial"/>
                              <a:cs typeface="Arial"/>
                              <a:sym typeface="Arial"/>
                            </a:rPr>
                            <m:t>𝑝𝑎𝑑</m:t>
                          </m:r>
                        </m:sub>
                      </m:sSub>
                    </m:oMath>
                  </a14:m>
                  <a:r>
                    <a:rPr lang="en-US" sz="1950">
                      <a:solidFill>
                        <a:srgbClr val="B3222A"/>
                      </a:solidFill>
                      <a:latin typeface="Arial"/>
                      <a:ea typeface="Arial"/>
                      <a:cs typeface="Arial"/>
                      <a:sym typeface="Arial"/>
                    </a:rPr>
                    <a:t>  ⇒  Không thể dùng Global Frame</a:t>
                  </a:r>
                </a:p>
              </p:txBody>
            </p:sp>
          </mc:Choice>
          <mc:Fallback xmlns="">
            <p:sp>
              <p:nvSpPr>
                <p:cNvPr id="74" name="TextBox 74"/>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11"/>
                  <a:stretch>
                    <a:fillRect l="-70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5" name="TextBox 75"/>
              <p:cNvSpPr txBox="1"/>
              <p:nvPr/>
            </p:nvSpPr>
            <p:spPr>
              <a:xfrm>
                <a:off x="8334756" y="3848100"/>
                <a:ext cx="8814816" cy="249235"/>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Sai số GPS dân sự lớn hơn bãi đáp; gán tâm H-Pad làm gốc quy chiếu cục bộ </a:t>
                </a:r>
                <a14:m>
                  <m:oMath xmlns:m="http://schemas.openxmlformats.org/officeDocument/2006/math">
                    <m:sSub>
                      <m:sSubPr>
                        <m:ctrlPr>
                          <a:rPr lang="en-US" sz="1575" b="0" i="1" smtClean="0">
                            <a:solidFill>
                              <a:srgbClr val="404040"/>
                            </a:solidFill>
                            <a:latin typeface="Cambria Math" panose="02040503050406030204" pitchFamily="18" charset="0"/>
                            <a:ea typeface="Arial"/>
                            <a:cs typeface="Arial"/>
                            <a:sym typeface="Arial"/>
                          </a:rPr>
                        </m:ctrlPr>
                      </m:sSubPr>
                      <m:e>
                        <m:r>
                          <a:rPr lang="en-US" sz="1575" b="0" i="1" smtClean="0">
                            <a:solidFill>
                              <a:srgbClr val="404040"/>
                            </a:solidFill>
                            <a:latin typeface="Cambria Math" panose="02040503050406030204" pitchFamily="18" charset="0"/>
                            <a:ea typeface="Arial"/>
                            <a:cs typeface="Arial"/>
                            <a:sym typeface="Arial"/>
                          </a:rPr>
                          <m:t>𝐹</m:t>
                        </m:r>
                      </m:e>
                      <m:sub>
                        <m:r>
                          <a:rPr lang="en-US" sz="1575" b="0" i="1" smtClean="0">
                            <a:solidFill>
                              <a:srgbClr val="404040"/>
                            </a:solidFill>
                            <a:latin typeface="Cambria Math" panose="02040503050406030204" pitchFamily="18" charset="0"/>
                            <a:ea typeface="Arial"/>
                            <a:cs typeface="Arial"/>
                            <a:sym typeface="Arial"/>
                          </a:rPr>
                          <m:t>𝑝𝑎𝑑</m:t>
                        </m:r>
                      </m:sub>
                    </m:sSub>
                    <m:r>
                      <a:rPr lang="en-US" sz="1575" b="0" i="1" smtClean="0">
                        <a:solidFill>
                          <a:srgbClr val="404040"/>
                        </a:solidFill>
                        <a:latin typeface="Cambria Math" panose="02040503050406030204" pitchFamily="18" charset="0"/>
                        <a:ea typeface="Arial"/>
                        <a:cs typeface="Arial"/>
                        <a:sym typeface="Arial"/>
                      </a:rPr>
                      <m:t>=</m:t>
                    </m:r>
                    <m:sSup>
                      <m:sSupPr>
                        <m:ctrlPr>
                          <a:rPr lang="en-US" sz="1575" b="0" i="1" smtClean="0">
                            <a:solidFill>
                              <a:srgbClr val="404040"/>
                            </a:solidFill>
                            <a:latin typeface="Cambria Math" panose="02040503050406030204" pitchFamily="18" charset="0"/>
                            <a:ea typeface="Arial"/>
                            <a:cs typeface="Arial"/>
                            <a:sym typeface="Arial"/>
                          </a:rPr>
                        </m:ctrlPr>
                      </m:sSupPr>
                      <m:e>
                        <m:d>
                          <m:dPr>
                            <m:begChr m:val="["/>
                            <m:endChr m:val="]"/>
                            <m:ctrlPr>
                              <a:rPr lang="en-US" sz="1575" b="0" i="1" smtClean="0">
                                <a:solidFill>
                                  <a:srgbClr val="404040"/>
                                </a:solidFill>
                                <a:latin typeface="Cambria Math" panose="02040503050406030204" pitchFamily="18" charset="0"/>
                                <a:ea typeface="Arial"/>
                                <a:cs typeface="Arial"/>
                                <a:sym typeface="Arial"/>
                              </a:rPr>
                            </m:ctrlPr>
                          </m:dPr>
                          <m:e>
                            <m:r>
                              <a:rPr lang="en-US" sz="1575" b="0" i="1" smtClean="0">
                                <a:solidFill>
                                  <a:srgbClr val="404040"/>
                                </a:solidFill>
                                <a:latin typeface="Cambria Math" panose="02040503050406030204" pitchFamily="18" charset="0"/>
                                <a:ea typeface="Arial"/>
                                <a:cs typeface="Arial"/>
                                <a:sym typeface="Arial"/>
                              </a:rPr>
                              <m:t>0, 0, 0</m:t>
                            </m:r>
                          </m:e>
                        </m:d>
                      </m:e>
                      <m:sup>
                        <m:r>
                          <a:rPr lang="en-US" sz="1575" b="0" i="1" smtClean="0">
                            <a:solidFill>
                              <a:srgbClr val="404040"/>
                            </a:solidFill>
                            <a:latin typeface="Cambria Math" panose="02040503050406030204" pitchFamily="18" charset="0"/>
                            <a:ea typeface="Arial"/>
                            <a:cs typeface="Arial"/>
                            <a:sym typeface="Arial"/>
                          </a:rPr>
                          <m:t>𝑇</m:t>
                        </m:r>
                      </m:sup>
                    </m:sSup>
                  </m:oMath>
                </a14:m>
                <a:r>
                  <a:rPr lang="en-US" sz="1575">
                    <a:solidFill>
                      <a:srgbClr val="404040"/>
                    </a:solidFill>
                    <a:latin typeface="Arial"/>
                    <a:ea typeface="Arial"/>
                    <a:cs typeface="Arial"/>
                    <a:sym typeface="Arial"/>
                  </a:rPr>
                  <a:t>.</a:t>
                </a:r>
              </a:p>
            </p:txBody>
          </p:sp>
        </mc:Choice>
        <mc:Fallback xmlns="">
          <p:sp>
            <p:nvSpPr>
              <p:cNvPr id="75" name="TextBox 75"/>
              <p:cNvSpPr txBox="1">
                <a:spLocks noRot="1" noChangeAspect="1" noMove="1" noResize="1" noEditPoints="1" noAdjustHandles="1" noChangeArrowheads="1" noChangeShapeType="1" noTextEdit="1"/>
              </p:cNvSpPr>
              <p:nvPr/>
            </p:nvSpPr>
            <p:spPr>
              <a:xfrm>
                <a:off x="8334756" y="3848100"/>
                <a:ext cx="8814816" cy="249235"/>
              </a:xfrm>
              <a:prstGeom prst="rect">
                <a:avLst/>
              </a:prstGeom>
              <a:blipFill>
                <a:blip r:embed="rId12"/>
                <a:stretch>
                  <a:fillRect l="-1383" t="-31707" b="-41463"/>
                </a:stretch>
              </a:blipFill>
            </p:spPr>
            <p:txBody>
              <a:bodyPr/>
              <a:lstStyle/>
              <a:p>
                <a:r>
                  <a:rPr lang="en-US">
                    <a:noFill/>
                  </a:rPr>
                  <a:t> </a:t>
                </a:r>
              </a:p>
            </p:txBody>
          </p:sp>
        </mc:Fallback>
      </mc:AlternateContent>
      <p:grpSp>
        <p:nvGrpSpPr>
          <p:cNvPr id="76" name="Group 76"/>
          <p:cNvGrpSpPr/>
          <p:nvPr/>
        </p:nvGrpSpPr>
        <p:grpSpPr>
          <a:xfrm>
            <a:off x="8016716" y="4313396"/>
            <a:ext cx="9450896" cy="1797367"/>
            <a:chOff x="0" y="0"/>
            <a:chExt cx="12601194" cy="2396490"/>
          </a:xfrm>
        </p:grpSpPr>
        <p:sp>
          <p:nvSpPr>
            <p:cNvPr id="77" name="Freeform 77"/>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78" name="Group 78"/>
          <p:cNvGrpSpPr/>
          <p:nvPr/>
        </p:nvGrpSpPr>
        <p:grpSpPr>
          <a:xfrm>
            <a:off x="8298180" y="4320540"/>
            <a:ext cx="960120" cy="68580"/>
            <a:chOff x="0" y="0"/>
            <a:chExt cx="1280160" cy="91440"/>
          </a:xfrm>
        </p:grpSpPr>
        <p:sp>
          <p:nvSpPr>
            <p:cNvPr id="79" name="Freeform 79"/>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80" name="Group 80"/>
          <p:cNvGrpSpPr/>
          <p:nvPr/>
        </p:nvGrpSpPr>
        <p:grpSpPr>
          <a:xfrm>
            <a:off x="8298180" y="4553712"/>
            <a:ext cx="1289304" cy="329184"/>
            <a:chOff x="0" y="0"/>
            <a:chExt cx="1719072" cy="438912"/>
          </a:xfrm>
        </p:grpSpPr>
        <p:sp>
          <p:nvSpPr>
            <p:cNvPr id="81" name="Freeform 81"/>
            <p:cNvSpPr/>
            <p:nvPr/>
          </p:nvSpPr>
          <p:spPr>
            <a:xfrm>
              <a:off x="0" y="0"/>
              <a:ext cx="1719072" cy="438912"/>
            </a:xfrm>
            <a:custGeom>
              <a:avLst/>
              <a:gdLst/>
              <a:ahLst/>
              <a:cxnLst/>
              <a:rect l="l" t="t" r="r" b="b"/>
              <a:pathLst>
                <a:path w="1719072" h="438912">
                  <a:moveTo>
                    <a:pt x="0" y="219456"/>
                  </a:moveTo>
                  <a:cubicBezTo>
                    <a:pt x="0" y="98298"/>
                    <a:pt x="98298" y="0"/>
                    <a:pt x="219456" y="0"/>
                  </a:cubicBezTo>
                  <a:lnTo>
                    <a:pt x="1499616" y="0"/>
                  </a:lnTo>
                  <a:cubicBezTo>
                    <a:pt x="1620774" y="0"/>
                    <a:pt x="1719072" y="98298"/>
                    <a:pt x="1719072" y="219456"/>
                  </a:cubicBezTo>
                  <a:cubicBezTo>
                    <a:pt x="1719072" y="340614"/>
                    <a:pt x="1620774" y="438912"/>
                    <a:pt x="1499616"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82" name="TextBox 82"/>
            <p:cNvSpPr txBox="1"/>
            <p:nvPr/>
          </p:nvSpPr>
          <p:spPr>
            <a:xfrm>
              <a:off x="0" y="-19050"/>
              <a:ext cx="1719072"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FUSION</a:t>
              </a:r>
            </a:p>
          </p:txBody>
        </p:sp>
      </p:grpSp>
      <p:grpSp>
        <p:nvGrpSpPr>
          <p:cNvPr id="83" name="Group 83"/>
          <p:cNvGrpSpPr/>
          <p:nvPr/>
        </p:nvGrpSpPr>
        <p:grpSpPr>
          <a:xfrm>
            <a:off x="9861804" y="4512564"/>
            <a:ext cx="6775704" cy="411480"/>
            <a:chOff x="0" y="0"/>
            <a:chExt cx="9034272" cy="548640"/>
          </a:xfrm>
        </p:grpSpPr>
        <p:sp>
          <p:nvSpPr>
            <p:cNvPr id="84" name="Freeform 84"/>
            <p:cNvSpPr/>
            <p:nvPr/>
          </p:nvSpPr>
          <p:spPr>
            <a:xfrm>
              <a:off x="0" y="0"/>
              <a:ext cx="9034272" cy="548640"/>
            </a:xfrm>
            <a:custGeom>
              <a:avLst/>
              <a:gdLst/>
              <a:ahLst/>
              <a:cxnLst/>
              <a:rect l="l" t="t" r="r" b="b"/>
              <a:pathLst>
                <a:path w="9034272" h="548640">
                  <a:moveTo>
                    <a:pt x="0" y="0"/>
                  </a:moveTo>
                  <a:lnTo>
                    <a:pt x="9034272" y="0"/>
                  </a:lnTo>
                  <a:lnTo>
                    <a:pt x="9034272" y="548640"/>
                  </a:lnTo>
                  <a:lnTo>
                    <a:pt x="0" y="548640"/>
                  </a:lnTo>
                  <a:close/>
                </a:path>
              </a:pathLst>
            </a:custGeom>
            <a:blipFill>
              <a:blip r:embed="rId4">
                <a:alphaModFix amt="0"/>
              </a:blip>
              <a:stretch>
                <a:fillRect t="-270853" b="-270853"/>
              </a:stretch>
            </a:blipFill>
          </p:spPr>
          <p:txBody>
            <a:bodyPr/>
            <a:lstStyle/>
            <a:p>
              <a:endParaRPr lang="en-US"/>
            </a:p>
          </p:txBody>
        </p:sp>
        <p:sp>
          <p:nvSpPr>
            <p:cNvPr id="85" name="TextBox 85"/>
            <p:cNvSpPr txBox="1"/>
            <p:nvPr/>
          </p:nvSpPr>
          <p:spPr>
            <a:xfrm>
              <a:off x="0" y="-28575"/>
              <a:ext cx="9034272"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Giao cắt tia nhìn &amp; Mặt phẳng độ cao</a:t>
              </a:r>
            </a:p>
          </p:txBody>
        </p:sp>
      </p:grpSp>
      <p:grpSp>
        <p:nvGrpSpPr>
          <p:cNvPr id="86" name="Group 86"/>
          <p:cNvGrpSpPr/>
          <p:nvPr/>
        </p:nvGrpSpPr>
        <p:grpSpPr>
          <a:xfrm>
            <a:off x="8291036" y="5026628"/>
            <a:ext cx="8902256" cy="617792"/>
            <a:chOff x="0" y="0"/>
            <a:chExt cx="11869674" cy="823722"/>
          </a:xfrm>
        </p:grpSpPr>
        <p:sp>
          <p:nvSpPr>
            <p:cNvPr id="87" name="Freeform 87"/>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88" name="Group 88"/>
          <p:cNvGrpSpPr/>
          <p:nvPr/>
        </p:nvGrpSpPr>
        <p:grpSpPr>
          <a:xfrm>
            <a:off x="8407908" y="5067300"/>
            <a:ext cx="8668512" cy="646176"/>
            <a:chOff x="0" y="-56895"/>
            <a:chExt cx="11558016" cy="861567"/>
          </a:xfrm>
        </p:grpSpPr>
        <p:sp>
          <p:nvSpPr>
            <p:cNvPr id="89" name="Freeform 89"/>
            <p:cNvSpPr/>
            <p:nvPr/>
          </p:nvSpPr>
          <p:spPr>
            <a:xfrm>
              <a:off x="0" y="-56895"/>
              <a:ext cx="11558016" cy="804671"/>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90" name="TextBox 90"/>
                <p:cNvSpPr txBox="1"/>
                <p:nvPr/>
              </p:nvSpPr>
              <p:spPr>
                <a:xfrm>
                  <a:off x="0" y="-19050"/>
                  <a:ext cx="11558016" cy="823722"/>
                </a:xfrm>
                <a:prstGeom prst="rect">
                  <a:avLst/>
                </a:prstGeom>
              </p:spPr>
              <p:txBody>
                <a:bodyPr lIns="0" tIns="0" rIns="0" bIns="0" rtlCol="0" anchor="ctr"/>
                <a:lstStyle/>
                <a:p>
                  <a:pPr algn="l">
                    <a:lnSpc>
                      <a:spcPts val="2160"/>
                    </a:lnSpc>
                  </a:pPr>
                  <a14:m>
                    <m:oMathPara xmlns:m="http://schemas.openxmlformats.org/officeDocument/2006/math">
                      <m:oMath>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𝑟</m:t>
                            </m:r>
                          </m:e>
                          <m:sub>
                            <m:r>
                              <a:rPr lang="en-US" sz="1800" b="0" i="1" smtClean="0">
                                <a:solidFill>
                                  <a:srgbClr val="B3222A"/>
                                </a:solidFill>
                                <a:latin typeface="Cambria Math" panose="02040503050406030204" pitchFamily="18" charset="0"/>
                                <a:ea typeface="Arial"/>
                                <a:cs typeface="Arial"/>
                                <a:sym typeface="Arial"/>
                              </a:rPr>
                              <m:t>𝑒𝑙</m:t>
                            </m:r>
                          </m:sub>
                        </m:sSub>
                        <m:r>
                          <a:rPr lang="en-US" sz="1800" b="0" i="1" smtClean="0">
                            <a:solidFill>
                              <a:srgbClr val="B3222A"/>
                            </a:solidFill>
                            <a:latin typeface="Cambria Math" panose="02040503050406030204" pitchFamily="18" charset="0"/>
                            <a:ea typeface="Arial"/>
                            <a:cs typeface="Arial"/>
                            <a:sym typeface="Arial"/>
                          </a:rPr>
                          <m:t>=</m:t>
                        </m:r>
                        <m:d>
                          <m:dPr>
                            <m:ctrlPr>
                              <a:rPr lang="en-US" sz="1800" b="0" i="1" smtClean="0">
                                <a:solidFill>
                                  <a:srgbClr val="B3222A"/>
                                </a:solidFill>
                                <a:latin typeface="Cambria Math" panose="02040503050406030204" pitchFamily="18" charset="0"/>
                                <a:ea typeface="Arial"/>
                                <a:cs typeface="Arial"/>
                                <a:sym typeface="Arial"/>
                              </a:rPr>
                            </m:ctrlPr>
                          </m:dPr>
                          <m:e>
                            <m:f>
                              <m:fPr>
                                <m:ctrlPr>
                                  <a:rPr lang="en-US" sz="1800" b="0" i="1" smtClean="0">
                                    <a:solidFill>
                                      <a:srgbClr val="B3222A"/>
                                    </a:solidFill>
                                    <a:latin typeface="Cambria Math" panose="02040503050406030204" pitchFamily="18" charset="0"/>
                                    <a:ea typeface="Arial"/>
                                    <a:cs typeface="Arial"/>
                                    <a:sym typeface="Arial"/>
                                  </a:rPr>
                                </m:ctrlPr>
                              </m:fPr>
                              <m:num>
                                <m:r>
                                  <a:rPr lang="en-US" sz="1800" b="0" i="1" smtClean="0">
                                    <a:solidFill>
                                      <a:srgbClr val="B3222A"/>
                                    </a:solidFill>
                                    <a:latin typeface="Cambria Math" panose="02040503050406030204" pitchFamily="18" charset="0"/>
                                    <a:ea typeface="Arial"/>
                                    <a:cs typeface="Arial"/>
                                    <a:sym typeface="Arial"/>
                                  </a:rPr>
                                  <m:t>ℎ</m:t>
                                </m:r>
                              </m:num>
                              <m:den>
                                <m:d>
                                  <m:dPr>
                                    <m:begChr m:val="|"/>
                                    <m:endChr m:val="|"/>
                                    <m:ctrlPr>
                                      <a:rPr lang="en-US" sz="1800" b="0" i="1" smtClean="0">
                                        <a:solidFill>
                                          <a:srgbClr val="B3222A"/>
                                        </a:solidFill>
                                        <a:latin typeface="Cambria Math" panose="02040503050406030204" pitchFamily="18" charset="0"/>
                                        <a:ea typeface="Arial"/>
                                        <a:cs typeface="Arial"/>
                                        <a:sym typeface="Arial"/>
                                      </a:rPr>
                                    </m:ctrlPr>
                                  </m:dPr>
                                  <m:e>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𝑢</m:t>
                                        </m:r>
                                      </m:e>
                                      <m:sub>
                                        <m:r>
                                          <a:rPr lang="en-US" sz="1800" b="0" i="1" smtClean="0">
                                            <a:solidFill>
                                              <a:srgbClr val="B3222A"/>
                                            </a:solidFill>
                                            <a:latin typeface="Cambria Math" panose="02040503050406030204" pitchFamily="18" charset="0"/>
                                            <a:ea typeface="Arial"/>
                                            <a:cs typeface="Arial"/>
                                            <a:sym typeface="Arial"/>
                                          </a:rPr>
                                          <m:t>𝑛𝑧</m:t>
                                        </m:r>
                                      </m:sub>
                                    </m:sSub>
                                  </m:e>
                                </m:d>
                              </m:den>
                            </m:f>
                          </m:e>
                        </m:d>
                        <m:r>
                          <a:rPr lang="en-US" sz="1800" b="0" i="1" smtClean="0">
                            <a:solidFill>
                              <a:srgbClr val="B3222A"/>
                            </a:solidFill>
                            <a:latin typeface="Cambria Math" panose="02040503050406030204" pitchFamily="18" charset="0"/>
                            <a:ea typeface="Arial"/>
                            <a:cs typeface="Arial"/>
                            <a:sym typeface="Arial"/>
                          </a:rPr>
                          <m:t>.</m:t>
                        </m:r>
                        <m:sSub>
                          <m:sSubPr>
                            <m:ctrlPr>
                              <a:rPr lang="en-US" sz="1800" b="0" i="1" smtClean="0">
                                <a:solidFill>
                                  <a:srgbClr val="B3222A"/>
                                </a:solidFill>
                                <a:latin typeface="Cambria Math" panose="02040503050406030204" pitchFamily="18" charset="0"/>
                                <a:ea typeface="Arial"/>
                                <a:cs typeface="Arial"/>
                                <a:sym typeface="Arial"/>
                              </a:rPr>
                            </m:ctrlPr>
                          </m:sSubPr>
                          <m:e>
                            <m:r>
                              <a:rPr lang="en-US" sz="1800" b="0" i="1" smtClean="0">
                                <a:solidFill>
                                  <a:srgbClr val="B3222A"/>
                                </a:solidFill>
                                <a:latin typeface="Cambria Math" panose="02040503050406030204" pitchFamily="18" charset="0"/>
                                <a:ea typeface="Arial"/>
                                <a:cs typeface="Arial"/>
                                <a:sym typeface="Arial"/>
                              </a:rPr>
                              <m:t>𝑢</m:t>
                            </m:r>
                          </m:e>
                          <m:sub>
                            <m:r>
                              <a:rPr lang="en-US" sz="1800" b="0" i="1" smtClean="0">
                                <a:solidFill>
                                  <a:srgbClr val="B3222A"/>
                                </a:solidFill>
                                <a:latin typeface="Cambria Math" panose="02040503050406030204" pitchFamily="18" charset="0"/>
                                <a:ea typeface="Arial"/>
                                <a:cs typeface="Arial"/>
                                <a:sym typeface="Arial"/>
                              </a:rPr>
                              <m:t>𝑛</m:t>
                            </m:r>
                          </m:sub>
                        </m:sSub>
                        <m:r>
                          <a:rPr lang="en-US" sz="1800" b="0" i="1" smtClean="0">
                            <a:solidFill>
                              <a:srgbClr val="B3222A"/>
                            </a:solidFill>
                            <a:latin typeface="Cambria Math" panose="02040503050406030204" pitchFamily="18" charset="0"/>
                            <a:ea typeface="Arial"/>
                            <a:cs typeface="Arial"/>
                            <a:sym typeface="Arial"/>
                          </a:rPr>
                          <m:t>+</m:t>
                        </m:r>
                        <m:sSubSup>
                          <m:sSubSupPr>
                            <m:ctrlPr>
                              <a:rPr lang="en-US" sz="1800" b="0" i="1" smtClean="0">
                                <a:solidFill>
                                  <a:srgbClr val="B3222A"/>
                                </a:solidFill>
                                <a:latin typeface="Cambria Math" panose="02040503050406030204" pitchFamily="18" charset="0"/>
                                <a:ea typeface="Arial"/>
                                <a:cs typeface="Arial"/>
                                <a:sym typeface="Arial"/>
                              </a:rPr>
                            </m:ctrlPr>
                          </m:sSubSupPr>
                          <m:e>
                            <m:r>
                              <a:rPr lang="en-US" sz="1800" b="0" i="1" smtClean="0">
                                <a:solidFill>
                                  <a:srgbClr val="B3222A"/>
                                </a:solidFill>
                                <a:latin typeface="Cambria Math" panose="02040503050406030204" pitchFamily="18" charset="0"/>
                                <a:ea typeface="Arial"/>
                                <a:cs typeface="Arial"/>
                                <a:sym typeface="Arial"/>
                              </a:rPr>
                              <m:t>𝑅</m:t>
                            </m:r>
                          </m:e>
                          <m:sub>
                            <m:r>
                              <a:rPr lang="en-US" sz="1800" b="0" i="1" smtClean="0">
                                <a:solidFill>
                                  <a:srgbClr val="B3222A"/>
                                </a:solidFill>
                                <a:latin typeface="Cambria Math" panose="02040503050406030204" pitchFamily="18" charset="0"/>
                                <a:ea typeface="Arial"/>
                                <a:cs typeface="Arial"/>
                                <a:sym typeface="Arial"/>
                              </a:rPr>
                              <m:t>𝑏</m:t>
                            </m:r>
                          </m:sub>
                          <m:sup>
                            <m:r>
                              <a:rPr lang="en-US" sz="1800" b="0" i="1" smtClean="0">
                                <a:solidFill>
                                  <a:srgbClr val="B3222A"/>
                                </a:solidFill>
                                <a:latin typeface="Cambria Math" panose="02040503050406030204" pitchFamily="18" charset="0"/>
                                <a:ea typeface="Arial"/>
                                <a:cs typeface="Arial"/>
                                <a:sym typeface="Arial"/>
                              </a:rPr>
                              <m:t>𝑛</m:t>
                            </m:r>
                          </m:sup>
                        </m:sSubSup>
                        <m:r>
                          <a:rPr lang="en-US" sz="1800" b="0" i="1" smtClean="0">
                            <a:solidFill>
                              <a:srgbClr val="B3222A"/>
                            </a:solidFill>
                            <a:latin typeface="Cambria Math" panose="02040503050406030204" pitchFamily="18" charset="0"/>
                            <a:ea typeface="Arial"/>
                            <a:cs typeface="Arial"/>
                            <a:sym typeface="Arial"/>
                          </a:rPr>
                          <m:t>.</m:t>
                        </m:r>
                        <m:sSubSup>
                          <m:sSubSupPr>
                            <m:ctrlPr>
                              <a:rPr lang="en-US" sz="1800" b="0" i="1" smtClean="0">
                                <a:solidFill>
                                  <a:srgbClr val="B3222A"/>
                                </a:solidFill>
                                <a:latin typeface="Cambria Math" panose="02040503050406030204" pitchFamily="18" charset="0"/>
                                <a:ea typeface="Arial"/>
                                <a:cs typeface="Arial"/>
                                <a:sym typeface="Arial"/>
                              </a:rPr>
                            </m:ctrlPr>
                          </m:sSubSupPr>
                          <m:e>
                            <m:r>
                              <a:rPr lang="en-US" sz="1800" b="0" i="1" smtClean="0">
                                <a:solidFill>
                                  <a:srgbClr val="B3222A"/>
                                </a:solidFill>
                                <a:latin typeface="Cambria Math" panose="02040503050406030204" pitchFamily="18" charset="0"/>
                                <a:ea typeface="Arial"/>
                                <a:cs typeface="Arial"/>
                                <a:sym typeface="Arial"/>
                              </a:rPr>
                              <m:t>𝑝</m:t>
                            </m:r>
                          </m:e>
                          <m:sub>
                            <m:r>
                              <a:rPr lang="en-US" sz="1800" b="0" i="1" smtClean="0">
                                <a:solidFill>
                                  <a:srgbClr val="B3222A"/>
                                </a:solidFill>
                                <a:latin typeface="Cambria Math" panose="02040503050406030204" pitchFamily="18" charset="0"/>
                                <a:ea typeface="Arial"/>
                                <a:cs typeface="Arial"/>
                                <a:sym typeface="Arial"/>
                              </a:rPr>
                              <m:t>𝑐𝑎𝑚</m:t>
                            </m:r>
                          </m:sub>
                          <m:sup>
                            <m:r>
                              <a:rPr lang="en-US" sz="1800" b="0" i="1" smtClean="0">
                                <a:solidFill>
                                  <a:srgbClr val="B3222A"/>
                                </a:solidFill>
                                <a:latin typeface="Cambria Math" panose="02040503050406030204" pitchFamily="18" charset="0"/>
                                <a:ea typeface="Arial"/>
                                <a:cs typeface="Arial"/>
                                <a:sym typeface="Arial"/>
                              </a:rPr>
                              <m:t>𝑏</m:t>
                            </m:r>
                          </m:sup>
                        </m:sSubSup>
                      </m:oMath>
                    </m:oMathPara>
                  </a14:m>
                  <a:endParaRPr lang="en-US" sz="1800">
                    <a:solidFill>
                      <a:srgbClr val="B3222A"/>
                    </a:solidFill>
                    <a:latin typeface="Arial"/>
                    <a:ea typeface="Arial"/>
                    <a:cs typeface="Arial"/>
                    <a:sym typeface="Arial"/>
                  </a:endParaRPr>
                </a:p>
              </p:txBody>
            </p:sp>
          </mc:Choice>
          <mc:Fallback xmlns="">
            <p:sp>
              <p:nvSpPr>
                <p:cNvPr id="90" name="TextBox 90"/>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13"/>
                  <a:stretch>
                    <a:fillRect t="-1287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1" name="TextBox 91"/>
              <p:cNvSpPr txBox="1"/>
              <p:nvPr/>
            </p:nvSpPr>
            <p:spPr>
              <a:xfrm>
                <a:off x="8334756" y="5700903"/>
                <a:ext cx="8814816" cy="243656"/>
              </a:xfrm>
              <a:prstGeom prst="rect">
                <a:avLst/>
              </a:prstGeom>
            </p:spPr>
            <p:txBody>
              <a:bodyPr lIns="0" tIns="0" rIns="0" bIns="0" rtlCol="0" anchor="t">
                <a:spAutoFit/>
              </a:bodyPr>
              <a:lstStyle/>
              <a:p>
                <a:pPr algn="l">
                  <a:lnSpc>
                    <a:spcPts val="1889"/>
                  </a:lnSpc>
                </a:pPr>
                <a14:m>
                  <m:oMath xmlns:m="http://schemas.openxmlformats.org/officeDocument/2006/math">
                    <m:sSub>
                      <m:sSubPr>
                        <m:ctrlPr>
                          <a:rPr lang="en-US" sz="1575" b="0" i="1" smtClean="0">
                            <a:solidFill>
                              <a:srgbClr val="404040"/>
                            </a:solidFill>
                            <a:latin typeface="Cambria Math" panose="02040503050406030204" pitchFamily="18" charset="0"/>
                            <a:ea typeface="Arial"/>
                            <a:cs typeface="Arial"/>
                            <a:sym typeface="Arial"/>
                          </a:rPr>
                        </m:ctrlPr>
                      </m:sSubPr>
                      <m:e>
                        <m:r>
                          <a:rPr lang="en-US" sz="1575" b="0" i="1" smtClean="0">
                            <a:solidFill>
                              <a:srgbClr val="404040"/>
                            </a:solidFill>
                            <a:latin typeface="Cambria Math" panose="02040503050406030204" pitchFamily="18" charset="0"/>
                            <a:ea typeface="Arial"/>
                            <a:cs typeface="Arial"/>
                            <a:sym typeface="Arial"/>
                          </a:rPr>
                          <m:t>𝑢</m:t>
                        </m:r>
                      </m:e>
                      <m:sub>
                        <m:r>
                          <a:rPr lang="en-US" sz="1575" b="0" i="1" smtClean="0">
                            <a:solidFill>
                              <a:srgbClr val="404040"/>
                            </a:solidFill>
                            <a:latin typeface="Cambria Math" panose="02040503050406030204" pitchFamily="18" charset="0"/>
                            <a:ea typeface="Arial"/>
                            <a:cs typeface="Arial"/>
                            <a:sym typeface="Arial"/>
                          </a:rPr>
                          <m:t>𝑛</m:t>
                        </m:r>
                      </m:sub>
                    </m:sSub>
                  </m:oMath>
                </a14:m>
                <a:r>
                  <a:rPr lang="en-US" sz="1575">
                    <a:solidFill>
                      <a:srgbClr val="404040"/>
                    </a:solidFill>
                    <a:latin typeface="Arial"/>
                    <a:ea typeface="Arial"/>
                    <a:cs typeface="Arial"/>
                    <a:sym typeface="Arial"/>
                  </a:rPr>
                  <a:t> là vector tia nhìn quay sang hệ ENU; </a:t>
                </a:r>
                <a14:m>
                  <m:oMath xmlns:m="http://schemas.openxmlformats.org/officeDocument/2006/math">
                    <m:r>
                      <a:rPr lang="en-US" sz="1575" b="0" i="1" smtClean="0">
                        <a:solidFill>
                          <a:srgbClr val="404040"/>
                        </a:solidFill>
                        <a:latin typeface="Cambria Math" panose="02040503050406030204" pitchFamily="18" charset="0"/>
                        <a:ea typeface="Arial"/>
                        <a:cs typeface="Arial"/>
                        <a:sym typeface="Arial"/>
                      </a:rPr>
                      <m:t>ℎ</m:t>
                    </m:r>
                  </m:oMath>
                </a14:m>
                <a:r>
                  <a:rPr lang="en-US" sz="1575">
                    <a:solidFill>
                      <a:srgbClr val="404040"/>
                    </a:solidFill>
                    <a:latin typeface="Arial"/>
                    <a:ea typeface="Arial"/>
                    <a:cs typeface="Arial"/>
                    <a:sym typeface="Arial"/>
                  </a:rPr>
                  <a:t> từ EKF; </a:t>
                </a:r>
                <a14:m>
                  <m:oMath xmlns:m="http://schemas.openxmlformats.org/officeDocument/2006/math">
                    <m:sSubSup>
                      <m:sSubSupPr>
                        <m:ctrlPr>
                          <a:rPr lang="en-US" sz="1575" b="0" i="1" smtClean="0">
                            <a:solidFill>
                              <a:srgbClr val="404040"/>
                            </a:solidFill>
                            <a:latin typeface="Cambria Math" panose="02040503050406030204" pitchFamily="18" charset="0"/>
                            <a:ea typeface="Arial"/>
                            <a:cs typeface="Arial"/>
                            <a:sym typeface="Arial"/>
                          </a:rPr>
                        </m:ctrlPr>
                      </m:sSubSupPr>
                      <m:e>
                        <m:r>
                          <a:rPr lang="en-US" sz="1575" b="0" i="1" smtClean="0">
                            <a:solidFill>
                              <a:srgbClr val="404040"/>
                            </a:solidFill>
                            <a:latin typeface="Cambria Math" panose="02040503050406030204" pitchFamily="18" charset="0"/>
                            <a:ea typeface="Arial"/>
                            <a:cs typeface="Arial"/>
                            <a:sym typeface="Arial"/>
                          </a:rPr>
                          <m:t>𝑝</m:t>
                        </m:r>
                      </m:e>
                      <m:sub>
                        <m:r>
                          <a:rPr lang="en-US" sz="1575" b="0" i="1" smtClean="0">
                            <a:solidFill>
                              <a:srgbClr val="404040"/>
                            </a:solidFill>
                            <a:latin typeface="Cambria Math" panose="02040503050406030204" pitchFamily="18" charset="0"/>
                            <a:ea typeface="Arial"/>
                            <a:cs typeface="Arial"/>
                            <a:sym typeface="Arial"/>
                          </a:rPr>
                          <m:t>𝑐𝑎𝑚</m:t>
                        </m:r>
                        <m:r>
                          <a:rPr lang="en-US" sz="1575" b="0" i="1" smtClean="0">
                            <a:solidFill>
                              <a:srgbClr val="404040"/>
                            </a:solidFill>
                            <a:latin typeface="Cambria Math" panose="02040503050406030204" pitchFamily="18" charset="0"/>
                            <a:ea typeface="Arial"/>
                            <a:cs typeface="Arial"/>
                            <a:sym typeface="Arial"/>
                          </a:rPr>
                          <m:t> </m:t>
                        </m:r>
                      </m:sub>
                      <m:sup>
                        <m:r>
                          <a:rPr lang="en-US" sz="1575" b="0" i="1" smtClean="0">
                            <a:solidFill>
                              <a:srgbClr val="404040"/>
                            </a:solidFill>
                            <a:latin typeface="Cambria Math" panose="02040503050406030204" pitchFamily="18" charset="0"/>
                            <a:ea typeface="Arial"/>
                            <a:cs typeface="Arial"/>
                            <a:sym typeface="Arial"/>
                          </a:rPr>
                          <m:t>𝑏</m:t>
                        </m:r>
                      </m:sup>
                    </m:sSubSup>
                  </m:oMath>
                </a14:m>
                <a:r>
                  <a:rPr lang="en-US" sz="1575">
                    <a:solidFill>
                      <a:srgbClr val="404040"/>
                    </a:solidFill>
                    <a:latin typeface="Arial"/>
                    <a:ea typeface="Arial"/>
                    <a:cs typeface="Arial"/>
                    <a:sym typeface="Arial"/>
                  </a:rPr>
                  <a:t> là bù cánh tay đòn camera.</a:t>
                </a:r>
              </a:p>
            </p:txBody>
          </p:sp>
        </mc:Choice>
        <mc:Fallback xmlns="">
          <p:sp>
            <p:nvSpPr>
              <p:cNvPr id="91" name="TextBox 91"/>
              <p:cNvSpPr txBox="1">
                <a:spLocks noRot="1" noChangeAspect="1" noMove="1" noResize="1" noEditPoints="1" noAdjustHandles="1" noChangeArrowheads="1" noChangeShapeType="1" noTextEdit="1"/>
              </p:cNvSpPr>
              <p:nvPr/>
            </p:nvSpPr>
            <p:spPr>
              <a:xfrm>
                <a:off x="8334756" y="5700903"/>
                <a:ext cx="8814816" cy="243656"/>
              </a:xfrm>
              <a:prstGeom prst="rect">
                <a:avLst/>
              </a:prstGeom>
              <a:blipFill>
                <a:blip r:embed="rId14"/>
                <a:stretch>
                  <a:fillRect l="-553" t="-25000" b="-52500"/>
                </a:stretch>
              </a:blipFill>
            </p:spPr>
            <p:txBody>
              <a:bodyPr/>
              <a:lstStyle/>
              <a:p>
                <a:r>
                  <a:rPr lang="en-US">
                    <a:noFill/>
                  </a:rPr>
                  <a:t> </a:t>
                </a:r>
              </a:p>
            </p:txBody>
          </p:sp>
        </mc:Fallback>
      </mc:AlternateContent>
      <p:grpSp>
        <p:nvGrpSpPr>
          <p:cNvPr id="92" name="Group 92"/>
          <p:cNvGrpSpPr/>
          <p:nvPr/>
        </p:nvGrpSpPr>
        <p:grpSpPr>
          <a:xfrm>
            <a:off x="8016716" y="6233636"/>
            <a:ext cx="9450896" cy="1797367"/>
            <a:chOff x="0" y="0"/>
            <a:chExt cx="12601194" cy="2396490"/>
          </a:xfrm>
        </p:grpSpPr>
        <p:sp>
          <p:nvSpPr>
            <p:cNvPr id="93" name="Freeform 93"/>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94" name="Group 94"/>
          <p:cNvGrpSpPr/>
          <p:nvPr/>
        </p:nvGrpSpPr>
        <p:grpSpPr>
          <a:xfrm>
            <a:off x="8298180" y="6240780"/>
            <a:ext cx="960120" cy="68580"/>
            <a:chOff x="0" y="0"/>
            <a:chExt cx="1280160" cy="91440"/>
          </a:xfrm>
        </p:grpSpPr>
        <p:sp>
          <p:nvSpPr>
            <p:cNvPr id="95" name="Freeform 95"/>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2E7D32"/>
            </a:solidFill>
          </p:spPr>
          <p:txBody>
            <a:bodyPr/>
            <a:lstStyle/>
            <a:p>
              <a:endParaRPr lang="en-US"/>
            </a:p>
          </p:txBody>
        </p:sp>
      </p:grpSp>
      <p:grpSp>
        <p:nvGrpSpPr>
          <p:cNvPr id="96" name="Group 96"/>
          <p:cNvGrpSpPr/>
          <p:nvPr/>
        </p:nvGrpSpPr>
        <p:grpSpPr>
          <a:xfrm>
            <a:off x="8298180" y="6473952"/>
            <a:ext cx="1906524" cy="329184"/>
            <a:chOff x="0" y="0"/>
            <a:chExt cx="2542032" cy="438912"/>
          </a:xfrm>
        </p:grpSpPr>
        <p:sp>
          <p:nvSpPr>
            <p:cNvPr id="97" name="Freeform 97"/>
            <p:cNvSpPr/>
            <p:nvPr/>
          </p:nvSpPr>
          <p:spPr>
            <a:xfrm>
              <a:off x="0" y="0"/>
              <a:ext cx="2542032" cy="438912"/>
            </a:xfrm>
            <a:custGeom>
              <a:avLst/>
              <a:gdLst/>
              <a:ahLst/>
              <a:cxnLst/>
              <a:rect l="l" t="t" r="r" b="b"/>
              <a:pathLst>
                <a:path w="2542032" h="438912">
                  <a:moveTo>
                    <a:pt x="0" y="219456"/>
                  </a:moveTo>
                  <a:cubicBezTo>
                    <a:pt x="0" y="98298"/>
                    <a:pt x="98298" y="0"/>
                    <a:pt x="219456" y="0"/>
                  </a:cubicBezTo>
                  <a:lnTo>
                    <a:pt x="2322576" y="0"/>
                  </a:lnTo>
                  <a:cubicBezTo>
                    <a:pt x="2443734" y="0"/>
                    <a:pt x="2542032" y="98298"/>
                    <a:pt x="2542032" y="219456"/>
                  </a:cubicBezTo>
                  <a:cubicBezTo>
                    <a:pt x="2542032" y="340614"/>
                    <a:pt x="2443734" y="438912"/>
                    <a:pt x="2322576" y="438912"/>
                  </a:cubicBezTo>
                  <a:lnTo>
                    <a:pt x="219456" y="438912"/>
                  </a:lnTo>
                  <a:cubicBezTo>
                    <a:pt x="98298" y="438912"/>
                    <a:pt x="0" y="340614"/>
                    <a:pt x="0" y="219456"/>
                  </a:cubicBezTo>
                  <a:close/>
                </a:path>
              </a:pathLst>
            </a:custGeom>
            <a:solidFill>
              <a:srgbClr val="2E7D32"/>
            </a:solidFill>
          </p:spPr>
          <p:txBody>
            <a:bodyPr/>
            <a:lstStyle/>
            <a:p>
              <a:endParaRPr lang="en-US"/>
            </a:p>
          </p:txBody>
        </p:sp>
        <p:sp>
          <p:nvSpPr>
            <p:cNvPr id="98" name="TextBox 98"/>
            <p:cNvSpPr txBox="1"/>
            <p:nvPr/>
          </p:nvSpPr>
          <p:spPr>
            <a:xfrm>
              <a:off x="0" y="-19050"/>
              <a:ext cx="2542032"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PROPAGATION</a:t>
              </a:r>
            </a:p>
          </p:txBody>
        </p:sp>
      </p:grpSp>
      <p:grpSp>
        <p:nvGrpSpPr>
          <p:cNvPr id="99" name="Group 99"/>
          <p:cNvGrpSpPr/>
          <p:nvPr/>
        </p:nvGrpSpPr>
        <p:grpSpPr>
          <a:xfrm>
            <a:off x="10479024" y="6432804"/>
            <a:ext cx="6158484" cy="411480"/>
            <a:chOff x="0" y="0"/>
            <a:chExt cx="8211312" cy="548640"/>
          </a:xfrm>
        </p:grpSpPr>
        <p:sp>
          <p:nvSpPr>
            <p:cNvPr id="100" name="Freeform 100"/>
            <p:cNvSpPr/>
            <p:nvPr/>
          </p:nvSpPr>
          <p:spPr>
            <a:xfrm>
              <a:off x="0" y="0"/>
              <a:ext cx="8211312" cy="548640"/>
            </a:xfrm>
            <a:custGeom>
              <a:avLst/>
              <a:gdLst/>
              <a:ahLst/>
              <a:cxnLst/>
              <a:rect l="l" t="t" r="r" b="b"/>
              <a:pathLst>
                <a:path w="8211312" h="548640">
                  <a:moveTo>
                    <a:pt x="0" y="0"/>
                  </a:moveTo>
                  <a:lnTo>
                    <a:pt x="8211312" y="0"/>
                  </a:lnTo>
                  <a:lnTo>
                    <a:pt x="8211312" y="548640"/>
                  </a:lnTo>
                  <a:lnTo>
                    <a:pt x="0" y="548640"/>
                  </a:lnTo>
                  <a:close/>
                </a:path>
              </a:pathLst>
            </a:custGeom>
            <a:blipFill>
              <a:blip r:embed="rId4">
                <a:alphaModFix amt="0"/>
              </a:blip>
              <a:stretch>
                <a:fillRect t="-241626" b="-241626"/>
              </a:stretch>
            </a:blipFill>
          </p:spPr>
          <p:txBody>
            <a:bodyPr/>
            <a:lstStyle/>
            <a:p>
              <a:endParaRPr lang="en-US"/>
            </a:p>
          </p:txBody>
        </p:sp>
        <p:sp>
          <p:nvSpPr>
            <p:cNvPr id="101" name="TextBox 101"/>
            <p:cNvSpPr txBox="1"/>
            <p:nvPr/>
          </p:nvSpPr>
          <p:spPr>
            <a:xfrm>
              <a:off x="0" y="-28575"/>
              <a:ext cx="8211312"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Lan truyền sai số Gauss bậc 1 (Triệt tiêu GPS)</a:t>
              </a:r>
            </a:p>
          </p:txBody>
        </p:sp>
      </p:grpSp>
      <p:grpSp>
        <p:nvGrpSpPr>
          <p:cNvPr id="102" name="Group 102"/>
          <p:cNvGrpSpPr/>
          <p:nvPr/>
        </p:nvGrpSpPr>
        <p:grpSpPr>
          <a:xfrm>
            <a:off x="8291036" y="6946868"/>
            <a:ext cx="8902256" cy="617792"/>
            <a:chOff x="0" y="0"/>
            <a:chExt cx="11869674" cy="823722"/>
          </a:xfrm>
        </p:grpSpPr>
        <p:sp>
          <p:nvSpPr>
            <p:cNvPr id="103" name="Freeform 103"/>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104" name="Group 104"/>
          <p:cNvGrpSpPr/>
          <p:nvPr/>
        </p:nvGrpSpPr>
        <p:grpSpPr>
          <a:xfrm>
            <a:off x="8407908" y="6954012"/>
            <a:ext cx="8668512" cy="603504"/>
            <a:chOff x="0" y="0"/>
            <a:chExt cx="11558016" cy="804672"/>
          </a:xfrm>
        </p:grpSpPr>
        <p:sp>
          <p:nvSpPr>
            <p:cNvPr id="105" name="Freeform 105"/>
            <p:cNvSpPr/>
            <p:nvPr/>
          </p:nvSpPr>
          <p:spPr>
            <a:xfrm>
              <a:off x="0" y="0"/>
              <a:ext cx="11558016" cy="804672"/>
            </a:xfrm>
            <a:custGeom>
              <a:avLst/>
              <a:gdLst/>
              <a:ahLst/>
              <a:cxnLst/>
              <a:rect l="l" t="t" r="r" b="b"/>
              <a:pathLst>
                <a:path w="11558016" h="804672">
                  <a:moveTo>
                    <a:pt x="0" y="0"/>
                  </a:moveTo>
                  <a:lnTo>
                    <a:pt x="11558016" y="0"/>
                  </a:lnTo>
                  <a:lnTo>
                    <a:pt x="11558016" y="804672"/>
                  </a:lnTo>
                  <a:lnTo>
                    <a:pt x="0" y="804672"/>
                  </a:lnTo>
                  <a:close/>
                </a:path>
              </a:pathLst>
            </a:custGeom>
            <a:blipFill>
              <a:blip r:embed="rId4">
                <a:alphaModFix amt="0"/>
              </a:blip>
              <a:stretch>
                <a:fillRect t="-229876" b="-229876"/>
              </a:stretch>
            </a:blipFill>
          </p:spPr>
          <p:txBody>
            <a:bodyPr/>
            <a:lstStyle/>
            <a:p>
              <a:endParaRPr lang="en-US"/>
            </a:p>
          </p:txBody>
        </p:sp>
        <mc:AlternateContent xmlns:mc="http://schemas.openxmlformats.org/markup-compatibility/2006" xmlns:a14="http://schemas.microsoft.com/office/drawing/2010/main">
          <mc:Choice Requires="a14">
            <p:sp>
              <p:nvSpPr>
                <p:cNvPr id="106" name="TextBox 106"/>
                <p:cNvSpPr txBox="1"/>
                <p:nvPr/>
              </p:nvSpPr>
              <p:spPr>
                <a:xfrm>
                  <a:off x="0" y="-19050"/>
                  <a:ext cx="11558016" cy="823722"/>
                </a:xfrm>
                <a:prstGeom prst="rect">
                  <a:avLst/>
                </a:prstGeom>
              </p:spPr>
              <p:txBody>
                <a:bodyPr lIns="0" tIns="0" rIns="0" bIns="0" rtlCol="0" anchor="ctr"/>
                <a:lstStyle/>
                <a:p>
                  <a:pPr>
                    <a:lnSpc>
                      <a:spcPts val="1980"/>
                    </a:lnSpc>
                  </a:pPr>
                  <a14:m>
                    <m:oMathPara xmlns:m="http://schemas.openxmlformats.org/officeDocument/2006/math">
                      <m:oMath>
                        <m:sSubSup>
                          <m:sSubSupPr>
                            <m:ctrlPr>
                              <a:rPr lang="en-US" sz="2000" b="0" i="1" smtClean="0">
                                <a:solidFill>
                                  <a:srgbClr val="B3222A"/>
                                </a:solidFill>
                                <a:latin typeface="Cambria Math" panose="02040503050406030204" pitchFamily="18" charset="0"/>
                                <a:ea typeface="Arial"/>
                                <a:cs typeface="Arial"/>
                                <a:sym typeface="Arial"/>
                              </a:rPr>
                            </m:ctrlPr>
                          </m:sSubSupPr>
                          <m:e>
                            <m:r>
                              <a:rPr lang="en-US" sz="2000" b="0" i="1" smtClean="0">
                                <a:solidFill>
                                  <a:srgbClr val="B3222A"/>
                                </a:solidFill>
                                <a:latin typeface="Cambria Math" panose="02040503050406030204" pitchFamily="18" charset="0"/>
                                <a:ea typeface="Arial"/>
                                <a:cs typeface="Arial"/>
                                <a:sym typeface="Arial"/>
                              </a:rPr>
                              <m:t>𝑃</m:t>
                            </m:r>
                          </m:e>
                          <m:sub>
                            <m:r>
                              <a:rPr lang="en-US" sz="2000" b="0" i="1" smtClean="0">
                                <a:solidFill>
                                  <a:srgbClr val="B3222A"/>
                                </a:solidFill>
                                <a:latin typeface="Cambria Math" panose="02040503050406030204" pitchFamily="18" charset="0"/>
                                <a:ea typeface="Arial"/>
                                <a:cs typeface="Arial"/>
                                <a:sym typeface="Arial"/>
                              </a:rPr>
                              <m:t>𝑟𝑒𝑙</m:t>
                            </m:r>
                          </m:sub>
                          <m:sup>
                            <m:r>
                              <a:rPr lang="en-US" sz="2000" b="0" i="1" smtClean="0">
                                <a:solidFill>
                                  <a:srgbClr val="B3222A"/>
                                </a:solidFill>
                                <a:latin typeface="Cambria Math" panose="02040503050406030204" pitchFamily="18" charset="0"/>
                                <a:ea typeface="Arial"/>
                                <a:cs typeface="Arial"/>
                                <a:sym typeface="Arial"/>
                              </a:rPr>
                              <m:t>𝑀𝑅</m:t>
                            </m:r>
                          </m:sup>
                        </m:sSubSup>
                        <m:r>
                          <a:rPr lang="en-US" sz="2000" b="0" i="1" smtClean="0">
                            <a:solidFill>
                              <a:srgbClr val="B3222A"/>
                            </a:solidFill>
                            <a:latin typeface="Cambria Math" panose="02040503050406030204" pitchFamily="18" charset="0"/>
                            <a:ea typeface="Arial"/>
                            <a:cs typeface="Arial"/>
                            <a:sym typeface="Arial"/>
                          </a:rPr>
                          <m:t>=</m:t>
                        </m:r>
                        <m:sSub>
                          <m:sSubPr>
                            <m:ctrlPr>
                              <a:rPr lang="en-US" sz="2000" b="0" i="1" smtClean="0">
                                <a:solidFill>
                                  <a:srgbClr val="B3222A"/>
                                </a:solidFill>
                                <a:latin typeface="Cambria Math" panose="02040503050406030204" pitchFamily="18" charset="0"/>
                                <a:ea typeface="Arial"/>
                                <a:cs typeface="Arial"/>
                                <a:sym typeface="Arial"/>
                              </a:rPr>
                            </m:ctrlPr>
                          </m:sSubPr>
                          <m:e>
                            <m:r>
                              <a:rPr lang="en-US" sz="2000" b="0" i="1" smtClean="0">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𝑣𝑖𝑠</m:t>
                            </m:r>
                          </m:sub>
                        </m:sSub>
                        <m:r>
                          <a:rPr lang="en-US" sz="2000" b="0" i="1" smtClean="0">
                            <a:solidFill>
                              <a:srgbClr val="B3222A"/>
                            </a:solidFill>
                            <a:latin typeface="Cambria Math" panose="02040503050406030204" pitchFamily="18" charset="0"/>
                            <a:ea typeface="Arial"/>
                            <a:cs typeface="Arial"/>
                            <a:sym typeface="Arial"/>
                          </a:rPr>
                          <m:t>.</m:t>
                        </m:r>
                        <m:sSub>
                          <m:sSubPr>
                            <m:ctrlPr>
                              <a:rPr lang="en-US" sz="2000" b="0" i="1" smtClean="0">
                                <a:solidFill>
                                  <a:srgbClr val="B3222A"/>
                                </a:solidFill>
                                <a:latin typeface="Cambria Math" panose="02040503050406030204" pitchFamily="18" charset="0"/>
                                <a:ea typeface="Arial"/>
                                <a:cs typeface="Arial"/>
                                <a:sym typeface="Arial"/>
                              </a:rPr>
                            </m:ctrlPr>
                          </m:sSubPr>
                          <m:e>
                            <m:r>
                              <a:rPr lang="en-US" sz="2000" b="0" i="1" smtClean="0">
                                <a:solidFill>
                                  <a:srgbClr val="B3222A"/>
                                </a:solidFill>
                                <a:latin typeface="Cambria Math" panose="02040503050406030204" pitchFamily="18" charset="0"/>
                                <a:ea typeface="Arial"/>
                                <a:cs typeface="Arial"/>
                                <a:sym typeface="Arial"/>
                              </a:rPr>
                              <m:t>𝑅</m:t>
                            </m:r>
                          </m:e>
                          <m:sub>
                            <m:r>
                              <a:rPr lang="en-US" sz="2000" b="0" i="1" smtClean="0">
                                <a:solidFill>
                                  <a:srgbClr val="B3222A"/>
                                </a:solidFill>
                                <a:latin typeface="Cambria Math" panose="02040503050406030204" pitchFamily="18" charset="0"/>
                                <a:ea typeface="Arial"/>
                                <a:cs typeface="Arial"/>
                                <a:sym typeface="Arial"/>
                              </a:rPr>
                              <m:t>𝑣𝑖𝑠</m:t>
                            </m:r>
                          </m:sub>
                        </m:sSub>
                        <m:r>
                          <a:rPr lang="en-US" sz="2000" b="0" i="1" smtClean="0">
                            <a:solidFill>
                              <a:srgbClr val="B3222A"/>
                            </a:solidFill>
                            <a:latin typeface="Cambria Math" panose="02040503050406030204" pitchFamily="18" charset="0"/>
                            <a:ea typeface="Arial"/>
                            <a:cs typeface="Arial"/>
                            <a:sym typeface="Arial"/>
                          </a:rPr>
                          <m:t>.</m:t>
                        </m:r>
                        <m:sSubSup>
                          <m:sSubSupPr>
                            <m:ctrlPr>
                              <a:rPr lang="en-US" sz="2000" b="0" i="1" smtClean="0">
                                <a:solidFill>
                                  <a:srgbClr val="B3222A"/>
                                </a:solidFill>
                                <a:latin typeface="Cambria Math" panose="02040503050406030204" pitchFamily="18" charset="0"/>
                                <a:ea typeface="Arial"/>
                                <a:cs typeface="Arial"/>
                                <a:sym typeface="Arial"/>
                              </a:rPr>
                            </m:ctrlPr>
                          </m:sSubSupPr>
                          <m:e>
                            <m:r>
                              <a:rPr lang="en-US" sz="2000" b="0" i="1" smtClean="0">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𝑣𝑖𝑠</m:t>
                            </m:r>
                          </m:sub>
                          <m:sup>
                            <m:r>
                              <a:rPr lang="en-US" sz="2000" b="0" i="1" smtClean="0">
                                <a:solidFill>
                                  <a:srgbClr val="B3222A"/>
                                </a:solidFill>
                                <a:latin typeface="Cambria Math" panose="02040503050406030204" pitchFamily="18" charset="0"/>
                                <a:ea typeface="Arial"/>
                                <a:cs typeface="Arial"/>
                                <a:sym typeface="Arial"/>
                              </a:rPr>
                              <m:t>𝑇</m:t>
                            </m:r>
                          </m:sup>
                        </m:sSubSup>
                        <m:r>
                          <a:rPr lang="en-US" sz="2000" b="0" i="1" smtClean="0">
                            <a:solidFill>
                              <a:srgbClr val="B3222A"/>
                            </a:solidFill>
                            <a:latin typeface="Cambria Math" panose="02040503050406030204" pitchFamily="18" charset="0"/>
                            <a:ea typeface="Arial"/>
                            <a:cs typeface="Arial"/>
                            <a:sym typeface="Arial"/>
                          </a:rPr>
                          <m:t>+</m:t>
                        </m:r>
                        <m:sSub>
                          <m:sSubPr>
                            <m:ctrlPr>
                              <a:rPr lang="en-US" sz="2000" i="1">
                                <a:solidFill>
                                  <a:srgbClr val="B3222A"/>
                                </a:solidFill>
                                <a:latin typeface="Cambria Math" panose="02040503050406030204" pitchFamily="18" charset="0"/>
                                <a:ea typeface="Arial"/>
                                <a:cs typeface="Arial"/>
                                <a:sym typeface="Arial"/>
                              </a:rPr>
                            </m:ctrlPr>
                          </m:sSubPr>
                          <m:e>
                            <m:r>
                              <a:rPr lang="en-US" sz="2000" i="1">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𝑎𝑡𝑡</m:t>
                            </m:r>
                          </m:sub>
                        </m:sSub>
                        <m:r>
                          <a:rPr lang="en-US" sz="2000" i="1">
                            <a:solidFill>
                              <a:srgbClr val="B3222A"/>
                            </a:solidFill>
                            <a:latin typeface="Cambria Math" panose="02040503050406030204" pitchFamily="18" charset="0"/>
                            <a:ea typeface="Arial"/>
                            <a:cs typeface="Arial"/>
                            <a:sym typeface="Arial"/>
                          </a:rPr>
                          <m:t>.</m:t>
                        </m:r>
                        <m:sSub>
                          <m:sSubPr>
                            <m:ctrlPr>
                              <a:rPr lang="en-US" sz="2000" b="0" i="1" smtClean="0">
                                <a:solidFill>
                                  <a:srgbClr val="B3222A"/>
                                </a:solidFill>
                                <a:latin typeface="Cambria Math" panose="02040503050406030204" pitchFamily="18" charset="0"/>
                                <a:ea typeface="Arial"/>
                                <a:cs typeface="Arial"/>
                                <a:sym typeface="Arial"/>
                              </a:rPr>
                            </m:ctrlPr>
                          </m:sSubPr>
                          <m:e>
                            <m:r>
                              <a:rPr lang="en-US" sz="2000" b="0" i="1" smtClean="0">
                                <a:solidFill>
                                  <a:srgbClr val="B3222A"/>
                                </a:solidFill>
                                <a:latin typeface="Cambria Math" panose="02040503050406030204" pitchFamily="18" charset="0"/>
                                <a:ea typeface="Arial"/>
                                <a:cs typeface="Arial"/>
                                <a:sym typeface="Arial"/>
                              </a:rPr>
                              <m:t>𝑃</m:t>
                            </m:r>
                          </m:e>
                          <m:sub>
                            <m:r>
                              <a:rPr lang="en-US" sz="2000" b="0" i="1" smtClean="0">
                                <a:solidFill>
                                  <a:srgbClr val="B3222A"/>
                                </a:solidFill>
                                <a:latin typeface="Cambria Math" panose="02040503050406030204" pitchFamily="18" charset="0"/>
                                <a:ea typeface="Arial"/>
                                <a:cs typeface="Arial"/>
                                <a:sym typeface="Arial"/>
                              </a:rPr>
                              <m:t>𝑎𝑡𝑡</m:t>
                            </m:r>
                          </m:sub>
                        </m:sSub>
                        <m:r>
                          <a:rPr lang="en-US" sz="2000" i="1">
                            <a:solidFill>
                              <a:srgbClr val="B3222A"/>
                            </a:solidFill>
                            <a:latin typeface="Cambria Math" panose="02040503050406030204" pitchFamily="18" charset="0"/>
                            <a:ea typeface="Arial"/>
                            <a:cs typeface="Arial"/>
                            <a:sym typeface="Arial"/>
                          </a:rPr>
                          <m:t>.</m:t>
                        </m:r>
                        <m:sSubSup>
                          <m:sSubSupPr>
                            <m:ctrlPr>
                              <a:rPr lang="en-US" sz="2000" i="1">
                                <a:solidFill>
                                  <a:srgbClr val="B3222A"/>
                                </a:solidFill>
                                <a:latin typeface="Cambria Math" panose="02040503050406030204" pitchFamily="18" charset="0"/>
                                <a:ea typeface="Arial"/>
                                <a:cs typeface="Arial"/>
                                <a:sym typeface="Arial"/>
                              </a:rPr>
                            </m:ctrlPr>
                          </m:sSubSupPr>
                          <m:e>
                            <m:r>
                              <a:rPr lang="en-US" sz="2000" i="1">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𝑎𝑡𝑡</m:t>
                            </m:r>
                          </m:sub>
                          <m:sup>
                            <m:r>
                              <a:rPr lang="en-US" sz="2000" i="1">
                                <a:solidFill>
                                  <a:srgbClr val="B3222A"/>
                                </a:solidFill>
                                <a:latin typeface="Cambria Math" panose="02040503050406030204" pitchFamily="18" charset="0"/>
                                <a:ea typeface="Arial"/>
                                <a:cs typeface="Arial"/>
                                <a:sym typeface="Arial"/>
                              </a:rPr>
                              <m:t>𝑇</m:t>
                            </m:r>
                          </m:sup>
                        </m:sSubSup>
                        <m:r>
                          <a:rPr lang="en-US" sz="2000" b="0" i="1" smtClean="0">
                            <a:solidFill>
                              <a:srgbClr val="B3222A"/>
                            </a:solidFill>
                            <a:latin typeface="Cambria Math" panose="02040503050406030204" pitchFamily="18" charset="0"/>
                            <a:ea typeface="Arial"/>
                            <a:cs typeface="Arial"/>
                            <a:sym typeface="Arial"/>
                          </a:rPr>
                          <m:t>+</m:t>
                        </m:r>
                        <m:sSub>
                          <m:sSubPr>
                            <m:ctrlPr>
                              <a:rPr lang="en-US" sz="2000" i="1">
                                <a:solidFill>
                                  <a:srgbClr val="B3222A"/>
                                </a:solidFill>
                                <a:latin typeface="Cambria Math" panose="02040503050406030204" pitchFamily="18" charset="0"/>
                                <a:ea typeface="Arial"/>
                                <a:cs typeface="Arial"/>
                                <a:sym typeface="Arial"/>
                              </a:rPr>
                            </m:ctrlPr>
                          </m:sSubPr>
                          <m:e>
                            <m:r>
                              <a:rPr lang="en-US" sz="2000" i="1">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𝑎𝑙𝑡</m:t>
                            </m:r>
                          </m:sub>
                        </m:sSub>
                        <m:r>
                          <a:rPr lang="en-US" sz="2000" i="1">
                            <a:solidFill>
                              <a:srgbClr val="B3222A"/>
                            </a:solidFill>
                            <a:latin typeface="Cambria Math" panose="02040503050406030204" pitchFamily="18" charset="0"/>
                            <a:ea typeface="Arial"/>
                            <a:cs typeface="Arial"/>
                            <a:sym typeface="Arial"/>
                          </a:rPr>
                          <m:t>.</m:t>
                        </m:r>
                        <m:r>
                          <a:rPr lang="en-US" sz="2000" b="0" i="1" smtClean="0">
                            <a:solidFill>
                              <a:srgbClr val="B3222A"/>
                            </a:solidFill>
                            <a:latin typeface="Cambria Math" panose="02040503050406030204" pitchFamily="18" charset="0"/>
                            <a:ea typeface="Arial"/>
                            <a:cs typeface="Arial"/>
                            <a:sym typeface="Arial"/>
                          </a:rPr>
                          <m:t>  </m:t>
                        </m:r>
                        <m:sSubSup>
                          <m:sSubSupPr>
                            <m:ctrlPr>
                              <a:rPr lang="en-US" sz="2000" b="0" i="1" smtClean="0">
                                <a:solidFill>
                                  <a:srgbClr val="B3222A"/>
                                </a:solidFill>
                                <a:latin typeface="Cambria Math" panose="02040503050406030204" pitchFamily="18" charset="0"/>
                                <a:ea typeface="Arial"/>
                                <a:cs typeface="Arial"/>
                                <a:sym typeface="Arial"/>
                              </a:rPr>
                            </m:ctrlPr>
                          </m:sSubSupPr>
                          <m:e>
                            <m:r>
                              <a:rPr lang="en-US" sz="2000" b="0" i="1" smtClean="0">
                                <a:solidFill>
                                  <a:srgbClr val="B3222A"/>
                                </a:solidFill>
                                <a:latin typeface="Cambria Math" panose="02040503050406030204" pitchFamily="18" charset="0"/>
                                <a:ea typeface="Arial"/>
                                <a:cs typeface="Arial"/>
                                <a:sym typeface="Arial"/>
                              </a:rPr>
                              <m:t>𝜎</m:t>
                            </m:r>
                          </m:e>
                          <m:sub>
                            <m:r>
                              <a:rPr lang="en-US" sz="2000" b="0" i="1" smtClean="0">
                                <a:solidFill>
                                  <a:srgbClr val="B3222A"/>
                                </a:solidFill>
                                <a:latin typeface="Cambria Math" panose="02040503050406030204" pitchFamily="18" charset="0"/>
                                <a:ea typeface="Arial"/>
                                <a:cs typeface="Arial"/>
                                <a:sym typeface="Arial"/>
                              </a:rPr>
                              <m:t>ℎ</m:t>
                            </m:r>
                          </m:sub>
                          <m:sup>
                            <m:r>
                              <a:rPr lang="en-US" sz="2000" b="0" i="1" smtClean="0">
                                <a:solidFill>
                                  <a:srgbClr val="B3222A"/>
                                </a:solidFill>
                                <a:latin typeface="Cambria Math" panose="02040503050406030204" pitchFamily="18" charset="0"/>
                                <a:ea typeface="Arial"/>
                                <a:cs typeface="Arial"/>
                                <a:sym typeface="Arial"/>
                              </a:rPr>
                              <m:t>2</m:t>
                            </m:r>
                          </m:sup>
                        </m:sSubSup>
                        <m:r>
                          <a:rPr lang="en-US" sz="2000" i="1">
                            <a:solidFill>
                              <a:srgbClr val="B3222A"/>
                            </a:solidFill>
                            <a:latin typeface="Cambria Math" panose="02040503050406030204" pitchFamily="18" charset="0"/>
                            <a:ea typeface="Arial"/>
                            <a:cs typeface="Arial"/>
                            <a:sym typeface="Arial"/>
                          </a:rPr>
                          <m:t>.</m:t>
                        </m:r>
                        <m:sSubSup>
                          <m:sSubSupPr>
                            <m:ctrlPr>
                              <a:rPr lang="en-US" sz="2000" i="1">
                                <a:solidFill>
                                  <a:srgbClr val="B3222A"/>
                                </a:solidFill>
                                <a:latin typeface="Cambria Math" panose="02040503050406030204" pitchFamily="18" charset="0"/>
                                <a:ea typeface="Arial"/>
                                <a:cs typeface="Arial"/>
                                <a:sym typeface="Arial"/>
                              </a:rPr>
                            </m:ctrlPr>
                          </m:sSubSupPr>
                          <m:e>
                            <m:r>
                              <a:rPr lang="en-US" sz="2000" i="1">
                                <a:solidFill>
                                  <a:srgbClr val="B3222A"/>
                                </a:solidFill>
                                <a:latin typeface="Cambria Math" panose="02040503050406030204" pitchFamily="18" charset="0"/>
                                <a:ea typeface="Arial"/>
                                <a:cs typeface="Arial"/>
                                <a:sym typeface="Arial"/>
                              </a:rPr>
                              <m:t>𝐽</m:t>
                            </m:r>
                          </m:e>
                          <m:sub>
                            <m:r>
                              <a:rPr lang="en-US" sz="2000" b="0" i="1" smtClean="0">
                                <a:solidFill>
                                  <a:srgbClr val="B3222A"/>
                                </a:solidFill>
                                <a:latin typeface="Cambria Math" panose="02040503050406030204" pitchFamily="18" charset="0"/>
                                <a:ea typeface="Arial"/>
                                <a:cs typeface="Arial"/>
                                <a:sym typeface="Arial"/>
                              </a:rPr>
                              <m:t>𝑎𝑙𝑡</m:t>
                            </m:r>
                          </m:sub>
                          <m:sup>
                            <m:r>
                              <a:rPr lang="en-US" sz="2000" i="1">
                                <a:solidFill>
                                  <a:srgbClr val="B3222A"/>
                                </a:solidFill>
                                <a:latin typeface="Cambria Math" panose="02040503050406030204" pitchFamily="18" charset="0"/>
                                <a:ea typeface="Arial"/>
                                <a:cs typeface="Arial"/>
                                <a:sym typeface="Arial"/>
                              </a:rPr>
                              <m:t>𝑇</m:t>
                            </m:r>
                          </m:sup>
                        </m:sSubSup>
                      </m:oMath>
                    </m:oMathPara>
                  </a14:m>
                  <a:endParaRPr lang="en-US" sz="2000">
                    <a:solidFill>
                      <a:srgbClr val="B3222A"/>
                    </a:solidFill>
                    <a:latin typeface="Arial"/>
                    <a:ea typeface="Arial"/>
                    <a:cs typeface="Arial"/>
                    <a:sym typeface="Arial"/>
                  </a:endParaRPr>
                </a:p>
              </p:txBody>
            </p:sp>
          </mc:Choice>
          <mc:Fallback xmlns="">
            <p:sp>
              <p:nvSpPr>
                <p:cNvPr id="106" name="TextBox 106"/>
                <p:cNvSpPr txBox="1">
                  <a:spLocks noRot="1" noChangeAspect="1" noMove="1" noResize="1" noEditPoints="1" noAdjustHandles="1" noChangeArrowheads="1" noChangeShapeType="1" noTextEdit="1"/>
                </p:cNvSpPr>
                <p:nvPr/>
              </p:nvSpPr>
              <p:spPr>
                <a:xfrm>
                  <a:off x="0" y="-19050"/>
                  <a:ext cx="11558016" cy="823722"/>
                </a:xfrm>
                <a:prstGeom prst="rect">
                  <a:avLst/>
                </a:prstGeom>
                <a:blipFill>
                  <a:blip r:embed="rId1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7" name="TextBox 107"/>
              <p:cNvSpPr txBox="1"/>
              <p:nvPr/>
            </p:nvSpPr>
            <p:spPr>
              <a:xfrm>
                <a:off x="8334756" y="7621143"/>
                <a:ext cx="8814816" cy="247953"/>
              </a:xfrm>
              <a:prstGeom prst="rect">
                <a:avLst/>
              </a:prstGeom>
            </p:spPr>
            <p:txBody>
              <a:bodyPr lIns="0" tIns="0" rIns="0" bIns="0" rtlCol="0" anchor="t">
                <a:spAutoFit/>
              </a:bodyPr>
              <a:lstStyle/>
              <a:p>
                <a:pPr algn="l">
                  <a:lnSpc>
                    <a:spcPts val="1889"/>
                  </a:lnSpc>
                </a:pPr>
                <a:r>
                  <a:rPr lang="en-US" sz="1575">
                    <a:solidFill>
                      <a:srgbClr val="404040"/>
                    </a:solidFill>
                    <a:latin typeface="Arial"/>
                    <a:ea typeface="Arial"/>
                    <a:cs typeface="Arial"/>
                    <a:sym typeface="Arial"/>
                  </a:rPr>
                  <a:t>Giảm thiểu </a:t>
                </a:r>
                <a14:m>
                  <m:oMath xmlns:m="http://schemas.openxmlformats.org/officeDocument/2006/math">
                    <m:sSub>
                      <m:sSubPr>
                        <m:ctrlPr>
                          <a:rPr lang="en-US" sz="1575" b="0" i="1" smtClean="0">
                            <a:solidFill>
                              <a:srgbClr val="404040"/>
                            </a:solidFill>
                            <a:latin typeface="Cambria Math" panose="02040503050406030204" pitchFamily="18" charset="0"/>
                            <a:ea typeface="Arial"/>
                            <a:cs typeface="Arial"/>
                            <a:sym typeface="Arial"/>
                          </a:rPr>
                        </m:ctrlPr>
                      </m:sSubPr>
                      <m:e>
                        <m:r>
                          <a:rPr lang="en-US" sz="1575" b="0" i="1" smtClean="0">
                            <a:solidFill>
                              <a:srgbClr val="404040"/>
                            </a:solidFill>
                            <a:latin typeface="Cambria Math" panose="02040503050406030204" pitchFamily="18" charset="0"/>
                            <a:ea typeface="Arial"/>
                            <a:cs typeface="Arial"/>
                            <a:sym typeface="Arial"/>
                          </a:rPr>
                          <m:t>𝑒</m:t>
                        </m:r>
                      </m:e>
                      <m:sub>
                        <m:r>
                          <a:rPr lang="en-US" sz="1575" b="0" i="1" smtClean="0">
                            <a:solidFill>
                              <a:srgbClr val="404040"/>
                            </a:solidFill>
                            <a:latin typeface="Cambria Math" panose="02040503050406030204" pitchFamily="18" charset="0"/>
                            <a:ea typeface="Arial"/>
                            <a:cs typeface="Arial"/>
                            <a:sym typeface="Arial"/>
                          </a:rPr>
                          <m:t>𝑝ℎ</m:t>
                        </m:r>
                      </m:sub>
                    </m:sSub>
                  </m:oMath>
                </a14:m>
                <a:r>
                  <a:rPr lang="en-US" sz="1575">
                    <a:solidFill>
                      <a:srgbClr val="404040"/>
                    </a:solidFill>
                    <a:latin typeface="Arial"/>
                    <a:ea typeface="Arial"/>
                    <a:cs typeface="Arial"/>
                    <a:sym typeface="Arial"/>
                  </a:rPr>
                  <a:t> GPS; sai số ngang phụ thuộc góc nghiêng drone </a:t>
                </a:r>
                <a14:m>
                  <m:oMath xmlns:m="http://schemas.openxmlformats.org/officeDocument/2006/math">
                    <m:r>
                      <a:rPr lang="en-US" sz="1575" b="0" i="1" smtClean="0">
                        <a:solidFill>
                          <a:srgbClr val="404040"/>
                        </a:solidFill>
                        <a:latin typeface="Cambria Math" panose="02040503050406030204" pitchFamily="18" charset="0"/>
                        <a:ea typeface="Arial"/>
                        <a:cs typeface="Arial"/>
                        <a:sym typeface="Arial"/>
                      </a:rPr>
                      <m:t>(</m:t>
                    </m:r>
                    <m:sSub>
                      <m:sSubPr>
                        <m:ctrlPr>
                          <a:rPr lang="en-US" sz="1575" b="0" i="1" smtClean="0">
                            <a:solidFill>
                              <a:srgbClr val="404040"/>
                            </a:solidFill>
                            <a:latin typeface="Cambria Math" panose="02040503050406030204" pitchFamily="18" charset="0"/>
                            <a:ea typeface="Arial"/>
                            <a:cs typeface="Arial"/>
                            <a:sym typeface="Arial"/>
                          </a:rPr>
                        </m:ctrlPr>
                      </m:sSubPr>
                      <m:e>
                        <m:r>
                          <a:rPr lang="en-US" sz="1575" b="0" i="1" smtClean="0">
                            <a:solidFill>
                              <a:srgbClr val="404040"/>
                            </a:solidFill>
                            <a:latin typeface="Cambria Math" panose="02040503050406030204" pitchFamily="18" charset="0"/>
                            <a:ea typeface="Arial"/>
                            <a:cs typeface="Arial"/>
                            <a:sym typeface="Arial"/>
                          </a:rPr>
                          <m:t>𝑃</m:t>
                        </m:r>
                      </m:e>
                      <m:sub>
                        <m:r>
                          <a:rPr lang="en-US" sz="1575" b="0" i="1" smtClean="0">
                            <a:solidFill>
                              <a:srgbClr val="404040"/>
                            </a:solidFill>
                            <a:latin typeface="Cambria Math" panose="02040503050406030204" pitchFamily="18" charset="0"/>
                            <a:ea typeface="Arial"/>
                            <a:cs typeface="Arial"/>
                            <a:sym typeface="Arial"/>
                          </a:rPr>
                          <m:t>𝑎𝑡𝑡</m:t>
                        </m:r>
                      </m:sub>
                    </m:sSub>
                    <m:r>
                      <a:rPr lang="en-US" sz="1575" b="0" i="1" smtClean="0">
                        <a:solidFill>
                          <a:srgbClr val="404040"/>
                        </a:solidFill>
                        <a:latin typeface="Cambria Math" panose="02040503050406030204" pitchFamily="18" charset="0"/>
                        <a:ea typeface="Arial"/>
                        <a:cs typeface="Arial"/>
                        <a:sym typeface="Arial"/>
                      </a:rPr>
                      <m:t>)</m:t>
                    </m:r>
                  </m:oMath>
                </a14:m>
                <a:r>
                  <a:rPr lang="en-US" sz="1575">
                    <a:solidFill>
                      <a:srgbClr val="404040"/>
                    </a:solidFill>
                    <a:latin typeface="Arial"/>
                    <a:ea typeface="Arial"/>
                    <a:cs typeface="Arial"/>
                    <a:sym typeface="Arial"/>
                  </a:rPr>
                  <a:t>, độ cao ước lượng (</a:t>
                </a:r>
                <a14:m>
                  <m:oMath xmlns:m="http://schemas.openxmlformats.org/officeDocument/2006/math">
                    <m:sSubSup>
                      <m:sSubSupPr>
                        <m:ctrlPr>
                          <a:rPr lang="en-US" sz="1575" b="0" i="1" smtClean="0">
                            <a:solidFill>
                              <a:srgbClr val="404040"/>
                            </a:solidFill>
                            <a:latin typeface="Cambria Math" panose="02040503050406030204" pitchFamily="18" charset="0"/>
                            <a:ea typeface="Arial"/>
                            <a:cs typeface="Arial"/>
                            <a:sym typeface="Arial"/>
                          </a:rPr>
                        </m:ctrlPr>
                      </m:sSubSupPr>
                      <m:e>
                        <m:r>
                          <a:rPr lang="en-US" sz="1575" b="0" i="1" smtClean="0">
                            <a:solidFill>
                              <a:srgbClr val="404040"/>
                            </a:solidFill>
                            <a:latin typeface="Cambria Math" panose="02040503050406030204" pitchFamily="18" charset="0"/>
                            <a:ea typeface="Arial"/>
                            <a:cs typeface="Arial"/>
                            <a:sym typeface="Arial"/>
                          </a:rPr>
                          <m:t>𝜎</m:t>
                        </m:r>
                      </m:e>
                      <m:sub>
                        <m:r>
                          <a:rPr lang="en-US" sz="1575" b="0" i="1" smtClean="0">
                            <a:solidFill>
                              <a:srgbClr val="404040"/>
                            </a:solidFill>
                            <a:latin typeface="Cambria Math" panose="02040503050406030204" pitchFamily="18" charset="0"/>
                            <a:ea typeface="Arial"/>
                            <a:cs typeface="Arial"/>
                            <a:sym typeface="Arial"/>
                          </a:rPr>
                          <m:t>ℎ</m:t>
                        </m:r>
                      </m:sub>
                      <m:sup>
                        <m:r>
                          <a:rPr lang="en-US" sz="1575" b="0" i="1" smtClean="0">
                            <a:solidFill>
                              <a:srgbClr val="404040"/>
                            </a:solidFill>
                            <a:latin typeface="Cambria Math" panose="02040503050406030204" pitchFamily="18" charset="0"/>
                            <a:ea typeface="Arial"/>
                            <a:cs typeface="Arial"/>
                            <a:sym typeface="Arial"/>
                          </a:rPr>
                          <m:t>2</m:t>
                        </m:r>
                      </m:sup>
                    </m:sSubSup>
                  </m:oMath>
                </a14:m>
                <a:r>
                  <a:rPr lang="en-US" sz="1575">
                    <a:solidFill>
                      <a:srgbClr val="404040"/>
                    </a:solidFill>
                    <a:latin typeface="Arial"/>
                    <a:ea typeface="Arial"/>
                    <a:cs typeface="Arial"/>
                    <a:sym typeface="Arial"/>
                  </a:rPr>
                  <a:t>) </a:t>
                </a:r>
              </a:p>
            </p:txBody>
          </p:sp>
        </mc:Choice>
        <mc:Fallback xmlns="">
          <p:sp>
            <p:nvSpPr>
              <p:cNvPr id="107" name="TextBox 107"/>
              <p:cNvSpPr txBox="1">
                <a:spLocks noRot="1" noChangeAspect="1" noMove="1" noResize="1" noEditPoints="1" noAdjustHandles="1" noChangeArrowheads="1" noChangeShapeType="1" noTextEdit="1"/>
              </p:cNvSpPr>
              <p:nvPr/>
            </p:nvSpPr>
            <p:spPr>
              <a:xfrm>
                <a:off x="8334756" y="7621143"/>
                <a:ext cx="8814816" cy="247953"/>
              </a:xfrm>
              <a:prstGeom prst="rect">
                <a:avLst/>
              </a:prstGeom>
              <a:blipFill>
                <a:blip r:embed="rId16"/>
                <a:stretch>
                  <a:fillRect l="-1383" t="-29268" b="-43902"/>
                </a:stretch>
              </a:blipFill>
            </p:spPr>
            <p:txBody>
              <a:bodyPr/>
              <a:lstStyle/>
              <a:p>
                <a:r>
                  <a:rPr lang="en-US">
                    <a:noFill/>
                  </a:rPr>
                  <a:t> </a:t>
                </a:r>
              </a:p>
            </p:txBody>
          </p:sp>
        </mc:Fallback>
      </mc:AlternateContent>
      <p:grpSp>
        <p:nvGrpSpPr>
          <p:cNvPr id="108" name="Group 108"/>
          <p:cNvGrpSpPr/>
          <p:nvPr/>
        </p:nvGrpSpPr>
        <p:grpSpPr>
          <a:xfrm>
            <a:off x="8016716" y="8222456"/>
            <a:ext cx="3031808" cy="1193864"/>
            <a:chOff x="0" y="0"/>
            <a:chExt cx="4042410" cy="1591818"/>
          </a:xfrm>
        </p:grpSpPr>
        <p:sp>
          <p:nvSpPr>
            <p:cNvPr id="109" name="Freeform 109"/>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0" name="Group 110"/>
          <p:cNvGrpSpPr/>
          <p:nvPr/>
        </p:nvGrpSpPr>
        <p:grpSpPr>
          <a:xfrm>
            <a:off x="8023860" y="8394192"/>
            <a:ext cx="68580" cy="850392"/>
            <a:chOff x="0" y="0"/>
            <a:chExt cx="91440" cy="1133856"/>
          </a:xfrm>
        </p:grpSpPr>
        <p:sp>
          <p:nvSpPr>
            <p:cNvPr id="111" name="Freeform 111"/>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DB3038"/>
            </a:solidFill>
          </p:spPr>
          <p:txBody>
            <a:bodyPr/>
            <a:lstStyle/>
            <a:p>
              <a:endParaRPr lang="en-US"/>
            </a:p>
          </p:txBody>
        </p:sp>
      </p:grpSp>
      <p:grpSp>
        <p:nvGrpSpPr>
          <p:cNvPr id="112" name="Group 112"/>
          <p:cNvGrpSpPr/>
          <p:nvPr/>
        </p:nvGrpSpPr>
        <p:grpSpPr>
          <a:xfrm>
            <a:off x="8188452" y="8311896"/>
            <a:ext cx="2743200" cy="585034"/>
            <a:chOff x="0" y="0"/>
            <a:chExt cx="3657600" cy="780045"/>
          </a:xfrm>
        </p:grpSpPr>
        <p:sp>
          <p:nvSpPr>
            <p:cNvPr id="113" name="Freeform 113"/>
            <p:cNvSpPr/>
            <p:nvPr/>
          </p:nvSpPr>
          <p:spPr>
            <a:xfrm>
              <a:off x="0" y="0"/>
              <a:ext cx="3657598" cy="780045"/>
            </a:xfrm>
            <a:custGeom>
              <a:avLst/>
              <a:gdLst/>
              <a:ahLst/>
              <a:cxnLst/>
              <a:rect l="l" t="t" r="r" b="b"/>
              <a:pathLst>
                <a:path w="3657598" h="780045">
                  <a:moveTo>
                    <a:pt x="0" y="0"/>
                  </a:moveTo>
                  <a:lnTo>
                    <a:pt x="3657598" y="0"/>
                  </a:lnTo>
                  <a:lnTo>
                    <a:pt x="3657598" y="780045"/>
                  </a:lnTo>
                  <a:lnTo>
                    <a:pt x="0" y="780045"/>
                  </a:lnTo>
                  <a:close/>
                </a:path>
              </a:pathLst>
            </a:custGeom>
            <a:blipFill>
              <a:blip r:embed="rId4">
                <a:alphaModFix amt="0"/>
              </a:blip>
              <a:stretch>
                <a:fillRect t="-52696" b="-30032"/>
              </a:stretch>
            </a:blipFill>
          </p:spPr>
          <p:txBody>
            <a:bodyPr/>
            <a:lstStyle/>
            <a:p>
              <a:endParaRPr lang="en-US"/>
            </a:p>
          </p:txBody>
        </p:sp>
        <p:sp>
          <p:nvSpPr>
            <p:cNvPr id="114" name="TextBox 114"/>
            <p:cNvSpPr txBox="1"/>
            <p:nvPr/>
          </p:nvSpPr>
          <p:spPr>
            <a:xfrm>
              <a:off x="0" y="-19050"/>
              <a:ext cx="3657600" cy="799095"/>
            </a:xfrm>
            <a:prstGeom prst="rect">
              <a:avLst/>
            </a:prstGeom>
          </p:spPr>
          <p:txBody>
            <a:bodyPr lIns="0" tIns="0" rIns="0" bIns="0" rtlCol="0" anchor="ctr"/>
            <a:lstStyle/>
            <a:p>
              <a:pPr algn="l">
                <a:lnSpc>
                  <a:spcPts val="3419"/>
                </a:lnSpc>
              </a:pPr>
              <a:r>
                <a:rPr lang="en-US" sz="2850" b="1">
                  <a:solidFill>
                    <a:srgbClr val="DB3038"/>
                  </a:solidFill>
                  <a:latin typeface="Arial Bold"/>
                  <a:ea typeface="Arial Bold"/>
                  <a:cs typeface="Arial Bold"/>
                  <a:sym typeface="Arial Bold"/>
                </a:rPr>
                <a:t>0.5 → 0.1 m</a:t>
              </a:r>
            </a:p>
          </p:txBody>
        </p:sp>
      </p:grpSp>
      <p:sp>
        <p:nvSpPr>
          <p:cNvPr id="115" name="TextBox 115"/>
          <p:cNvSpPr txBox="1"/>
          <p:nvPr/>
        </p:nvSpPr>
        <p:spPr>
          <a:xfrm>
            <a:off x="8225028"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Giảm thiểu sai số GPS</a:t>
            </a:r>
          </a:p>
        </p:txBody>
      </p:sp>
      <p:grpSp>
        <p:nvGrpSpPr>
          <p:cNvPr id="116" name="Group 116"/>
          <p:cNvGrpSpPr/>
          <p:nvPr/>
        </p:nvGrpSpPr>
        <p:grpSpPr>
          <a:xfrm>
            <a:off x="11226260" y="8222456"/>
            <a:ext cx="3031808" cy="1193864"/>
            <a:chOff x="0" y="0"/>
            <a:chExt cx="4042410" cy="1591818"/>
          </a:xfrm>
        </p:grpSpPr>
        <p:sp>
          <p:nvSpPr>
            <p:cNvPr id="117" name="Freeform 117"/>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8" name="Group 118"/>
          <p:cNvGrpSpPr/>
          <p:nvPr/>
        </p:nvGrpSpPr>
        <p:grpSpPr>
          <a:xfrm>
            <a:off x="11233404" y="8394192"/>
            <a:ext cx="68580" cy="850392"/>
            <a:chOff x="0" y="0"/>
            <a:chExt cx="91440" cy="1133856"/>
          </a:xfrm>
        </p:grpSpPr>
        <p:sp>
          <p:nvSpPr>
            <p:cNvPr id="119" name="Freeform 119"/>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595959"/>
            </a:solidFill>
          </p:spPr>
          <p:txBody>
            <a:bodyPr/>
            <a:lstStyle/>
            <a:p>
              <a:endParaRPr lang="en-US"/>
            </a:p>
          </p:txBody>
        </p:sp>
      </p:grpSp>
      <p:grpSp>
        <p:nvGrpSpPr>
          <p:cNvPr id="120" name="Group 120"/>
          <p:cNvGrpSpPr/>
          <p:nvPr/>
        </p:nvGrpSpPr>
        <p:grpSpPr>
          <a:xfrm>
            <a:off x="11397996" y="8311896"/>
            <a:ext cx="2743200" cy="452438"/>
            <a:chOff x="0" y="0"/>
            <a:chExt cx="3657600" cy="603250"/>
          </a:xfrm>
        </p:grpSpPr>
        <p:sp>
          <p:nvSpPr>
            <p:cNvPr id="121" name="Freeform 121"/>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mc:AlternateContent xmlns:mc="http://schemas.openxmlformats.org/markup-compatibility/2006" xmlns:a14="http://schemas.microsoft.com/office/drawing/2010/main">
          <mc:Choice Requires="a14">
            <p:sp>
              <p:nvSpPr>
                <p:cNvPr id="122" name="TextBox 122"/>
                <p:cNvSpPr txBox="1"/>
                <p:nvPr/>
              </p:nvSpPr>
              <p:spPr>
                <a:xfrm>
                  <a:off x="0" y="-19050"/>
                  <a:ext cx="3657600" cy="622300"/>
                </a:xfrm>
                <a:prstGeom prst="rect">
                  <a:avLst/>
                </a:prstGeom>
              </p:spPr>
              <p:txBody>
                <a:bodyPr lIns="0" tIns="0" rIns="0" bIns="0" rtlCol="0" anchor="ctr"/>
                <a:lstStyle/>
                <a:p>
                  <a:pPr algn="l">
                    <a:lnSpc>
                      <a:spcPts val="3419"/>
                    </a:lnSpc>
                  </a:pPr>
                  <a14:m>
                    <m:oMathPara xmlns:m="http://schemas.openxmlformats.org/officeDocument/2006/math">
                      <m:oMathParaPr>
                        <m:jc m:val="left"/>
                      </m:oMathParaPr>
                      <m:oMath>
                        <m:r>
                          <a:rPr lang="en-US" sz="2850" b="1" i="1" smtClean="0">
                            <a:solidFill>
                              <a:srgbClr val="595959"/>
                            </a:solidFill>
                            <a:latin typeface="Cambria Math" panose="02040503050406030204" pitchFamily="18" charset="0"/>
                            <a:ea typeface="Arial Bold"/>
                            <a:cs typeface="Arial Bold"/>
                            <a:sym typeface="Arial Bold"/>
                          </a:rPr>
                          <m:t>𝝆</m:t>
                        </m:r>
                        <m:r>
                          <a:rPr lang="en-US" sz="2850" b="1" i="1" smtClean="0">
                            <a:solidFill>
                              <a:srgbClr val="595959"/>
                            </a:solidFill>
                            <a:latin typeface="Cambria Math" panose="02040503050406030204" pitchFamily="18" charset="0"/>
                            <a:ea typeface="Arial Bold"/>
                            <a:cs typeface="Arial Bold"/>
                            <a:sym typeface="Arial Bold"/>
                          </a:rPr>
                          <m:t>=</m:t>
                        </m:r>
                        <m:r>
                          <a:rPr lang="en-US" sz="2850" b="1" i="1" smtClean="0">
                            <a:solidFill>
                              <a:srgbClr val="595959"/>
                            </a:solidFill>
                            <a:latin typeface="Cambria Math" panose="02040503050406030204" pitchFamily="18" charset="0"/>
                            <a:ea typeface="Arial Bold"/>
                            <a:cs typeface="Arial Bold"/>
                            <a:sym typeface="Arial Bold"/>
                          </a:rPr>
                          <m:t>𝒉</m:t>
                        </m:r>
                        <m:r>
                          <a:rPr lang="en-US" sz="2850" b="1" i="1" smtClean="0">
                            <a:solidFill>
                              <a:srgbClr val="595959"/>
                            </a:solidFill>
                            <a:latin typeface="Cambria Math" panose="02040503050406030204" pitchFamily="18" charset="0"/>
                            <a:ea typeface="Arial Bold"/>
                            <a:cs typeface="Arial Bold"/>
                            <a:sym typeface="Arial Bold"/>
                          </a:rPr>
                          <m:t>/|</m:t>
                        </m:r>
                        <m:sSub>
                          <m:sSubPr>
                            <m:ctrlPr>
                              <a:rPr lang="en-US" sz="2850" b="1" i="1" smtClean="0">
                                <a:solidFill>
                                  <a:srgbClr val="595959"/>
                                </a:solidFill>
                                <a:latin typeface="Cambria Math" panose="02040503050406030204" pitchFamily="18" charset="0"/>
                                <a:ea typeface="Arial Bold"/>
                                <a:cs typeface="Arial Bold"/>
                                <a:sym typeface="Arial Bold"/>
                              </a:rPr>
                            </m:ctrlPr>
                          </m:sSubPr>
                          <m:e>
                            <m:r>
                              <a:rPr lang="en-US" sz="2850" b="1" i="1" smtClean="0">
                                <a:solidFill>
                                  <a:srgbClr val="595959"/>
                                </a:solidFill>
                                <a:latin typeface="Cambria Math" panose="02040503050406030204" pitchFamily="18" charset="0"/>
                                <a:ea typeface="Arial Bold"/>
                                <a:cs typeface="Arial Bold"/>
                                <a:sym typeface="Arial Bold"/>
                              </a:rPr>
                              <m:t>𝒖</m:t>
                            </m:r>
                          </m:e>
                          <m:sub>
                            <m:r>
                              <a:rPr lang="en-US" sz="2850" b="1" i="1" smtClean="0">
                                <a:solidFill>
                                  <a:srgbClr val="595959"/>
                                </a:solidFill>
                                <a:latin typeface="Cambria Math" panose="02040503050406030204" pitchFamily="18" charset="0"/>
                                <a:ea typeface="Arial Bold"/>
                                <a:cs typeface="Arial Bold"/>
                                <a:sym typeface="Arial Bold"/>
                              </a:rPr>
                              <m:t>𝒏𝒛</m:t>
                            </m:r>
                          </m:sub>
                        </m:sSub>
                        <m:r>
                          <a:rPr lang="en-US" sz="2850" b="1" i="1" smtClean="0">
                            <a:solidFill>
                              <a:srgbClr val="595959"/>
                            </a:solidFill>
                            <a:latin typeface="Cambria Math" panose="02040503050406030204" pitchFamily="18" charset="0"/>
                            <a:ea typeface="Arial Bold"/>
                            <a:cs typeface="Arial Bold"/>
                            <a:sym typeface="Arial Bold"/>
                          </a:rPr>
                          <m:t>|</m:t>
                        </m:r>
                      </m:oMath>
                    </m:oMathPara>
                  </a14:m>
                  <a:endParaRPr lang="en-US" sz="2850" b="1">
                    <a:solidFill>
                      <a:srgbClr val="595959"/>
                    </a:solidFill>
                    <a:latin typeface="Arial Bold"/>
                    <a:ea typeface="Arial Bold"/>
                    <a:cs typeface="Arial Bold"/>
                    <a:sym typeface="Arial Bold"/>
                  </a:endParaRPr>
                </a:p>
              </p:txBody>
            </p:sp>
          </mc:Choice>
          <mc:Fallback xmlns="">
            <p:sp>
              <p:nvSpPr>
                <p:cNvPr id="122" name="TextBox 122"/>
                <p:cNvSpPr txBox="1">
                  <a:spLocks noRot="1" noChangeAspect="1" noMove="1" noResize="1" noEditPoints="1" noAdjustHandles="1" noChangeArrowheads="1" noChangeShapeType="1" noTextEdit="1"/>
                </p:cNvSpPr>
                <p:nvPr/>
              </p:nvSpPr>
              <p:spPr>
                <a:xfrm>
                  <a:off x="0" y="-19050"/>
                  <a:ext cx="3657600" cy="622300"/>
                </a:xfrm>
                <a:prstGeom prst="rect">
                  <a:avLst/>
                </a:prstGeom>
                <a:blipFill>
                  <a:blip r:embed="rId17"/>
                  <a:stretch>
                    <a:fillRect/>
                  </a:stretch>
                </a:blipFill>
              </p:spPr>
              <p:txBody>
                <a:bodyPr/>
                <a:lstStyle/>
                <a:p>
                  <a:r>
                    <a:rPr lang="en-US">
                      <a:noFill/>
                    </a:rPr>
                    <a:t> </a:t>
                  </a:r>
                </a:p>
              </p:txBody>
            </p:sp>
          </mc:Fallback>
        </mc:AlternateContent>
      </p:grpSp>
      <p:sp>
        <p:nvSpPr>
          <p:cNvPr id="123" name="TextBox 123"/>
          <p:cNvSpPr txBox="1"/>
          <p:nvPr/>
        </p:nvSpPr>
        <p:spPr>
          <a:xfrm>
            <a:off x="11434572"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Khoảng cách tia nhìn</a:t>
            </a:r>
          </a:p>
        </p:txBody>
      </p:sp>
      <p:sp>
        <p:nvSpPr>
          <p:cNvPr id="9" name="Slide Number Placeholder 8">
            <a:extLst>
              <a:ext uri="{FF2B5EF4-FFF2-40B4-BE49-F238E27FC236}">
                <a16:creationId xmlns:a16="http://schemas.microsoft.com/office/drawing/2014/main" id="{3F5AE526-3B73-DC43-373A-CCF1A026E675}"/>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15" name="TextBox 20">
            <a:extLst>
              <a:ext uri="{FF2B5EF4-FFF2-40B4-BE49-F238E27FC236}">
                <a16:creationId xmlns:a16="http://schemas.microsoft.com/office/drawing/2014/main" id="{F39CC299-4E08-4D4C-DFD4-862AC8475195}"/>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3171510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384810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p>
          </p:txBody>
        </p:sp>
      </p:grpSp>
      <p:grpSp>
        <p:nvGrpSpPr>
          <p:cNvPr id="5" name="Group 5"/>
          <p:cNvGrpSpPr/>
          <p:nvPr/>
        </p:nvGrpSpPr>
        <p:grpSpPr>
          <a:xfrm>
            <a:off x="0" y="9791700"/>
            <a:ext cx="15704172" cy="107156"/>
            <a:chOff x="0" y="0"/>
            <a:chExt cx="20938896" cy="142875"/>
          </a:xfrm>
        </p:grpSpPr>
        <p:sp>
          <p:nvSpPr>
            <p:cNvPr id="6" name="Freeform 6"/>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7" name="Group 7"/>
          <p:cNvGrpSpPr/>
          <p:nvPr/>
        </p:nvGrpSpPr>
        <p:grpSpPr>
          <a:xfrm>
            <a:off x="16002000" y="9560795"/>
            <a:ext cx="1988172" cy="688105"/>
            <a:chOff x="0" y="0"/>
            <a:chExt cx="2650896" cy="917473"/>
          </a:xfrm>
        </p:grpSpPr>
        <p:sp>
          <p:nvSpPr>
            <p:cNvPr id="8" name="Freeform 8"/>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grpSp>
        <p:nvGrpSpPr>
          <p:cNvPr id="11" name="Group 11"/>
          <p:cNvGrpSpPr/>
          <p:nvPr/>
        </p:nvGrpSpPr>
        <p:grpSpPr>
          <a:xfrm>
            <a:off x="-19050" y="-38100"/>
            <a:ext cx="18326100" cy="1371324"/>
            <a:chOff x="0" y="0"/>
            <a:chExt cx="24434800" cy="1828432"/>
          </a:xfrm>
        </p:grpSpPr>
        <p:sp>
          <p:nvSpPr>
            <p:cNvPr id="12" name="Freeform 12"/>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13" name="Group 13"/>
          <p:cNvGrpSpPr/>
          <p:nvPr/>
        </p:nvGrpSpPr>
        <p:grpSpPr>
          <a:xfrm>
            <a:off x="29594" y="0"/>
            <a:ext cx="9465469" cy="1112891"/>
            <a:chOff x="0" y="0"/>
            <a:chExt cx="12620625" cy="1483855"/>
          </a:xfrm>
        </p:grpSpPr>
        <p:sp>
          <p:nvSpPr>
            <p:cNvPr id="14" name="Freeform 14"/>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16" name="Freeform 16"/>
          <p:cNvSpPr/>
          <p:nvPr/>
        </p:nvSpPr>
        <p:spPr>
          <a:xfrm>
            <a:off x="1799377" y="285950"/>
            <a:ext cx="7109766" cy="566978"/>
          </a:xfrm>
          <a:custGeom>
            <a:avLst/>
            <a:gdLst/>
            <a:ahLst/>
            <a:cxnLst/>
            <a:rect l="l" t="t" r="r" b="b"/>
            <a:pathLst>
              <a:path w="9479687" h="755971">
                <a:moveTo>
                  <a:pt x="0" y="0"/>
                </a:moveTo>
                <a:lnTo>
                  <a:pt x="9479687" y="0"/>
                </a:lnTo>
                <a:lnTo>
                  <a:pt x="9479687" y="755971"/>
                </a:lnTo>
                <a:lnTo>
                  <a:pt x="0" y="755971"/>
                </a:lnTo>
                <a:close/>
              </a:path>
            </a:pathLst>
          </a:custGeom>
          <a:blipFill>
            <a:blip r:embed="rId4">
              <a:alphaModFix amt="0"/>
            </a:blip>
            <a:stretch>
              <a:fillRect t="-194337" b="-194337"/>
            </a:stretch>
          </a:blipFill>
        </p:spPr>
        <p:txBody>
          <a:bodyPr/>
          <a:lstStyle/>
          <a:p>
            <a:endParaRPr lang="en-US"/>
          </a:p>
        </p:txBody>
      </p:sp>
      <p:grpSp>
        <p:nvGrpSpPr>
          <p:cNvPr id="18" name="Group 18"/>
          <p:cNvGrpSpPr/>
          <p:nvPr/>
        </p:nvGrpSpPr>
        <p:grpSpPr>
          <a:xfrm>
            <a:off x="29594" y="0"/>
            <a:ext cx="1612373" cy="1112891"/>
            <a:chOff x="0" y="0"/>
            <a:chExt cx="2149831" cy="1483855"/>
          </a:xfrm>
        </p:grpSpPr>
        <p:sp>
          <p:nvSpPr>
            <p:cNvPr id="19" name="Freeform 19"/>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20" name="TextBox 20"/>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21" name="Group 21"/>
          <p:cNvGrpSpPr/>
          <p:nvPr/>
        </p:nvGrpSpPr>
        <p:grpSpPr>
          <a:xfrm>
            <a:off x="457200" y="1402690"/>
            <a:ext cx="17439932" cy="692496"/>
            <a:chOff x="0" y="0"/>
            <a:chExt cx="23253243" cy="923328"/>
          </a:xfrm>
        </p:grpSpPr>
        <p:sp>
          <p:nvSpPr>
            <p:cNvPr id="22" name="Freeform 2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23" name="TextBox 2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DẪN ĐƯỜNG SMC</a:t>
              </a:r>
            </a:p>
          </p:txBody>
        </p:sp>
      </p:grpSp>
      <p:sp>
        <p:nvSpPr>
          <p:cNvPr id="55" name="TextBox 55"/>
          <p:cNvSpPr txBox="1"/>
          <p:nvPr/>
        </p:nvSpPr>
        <p:spPr>
          <a:xfrm>
            <a:off x="3977640" y="5746433"/>
            <a:ext cx="3360420" cy="425768"/>
          </a:xfrm>
          <a:prstGeom prst="rect">
            <a:avLst/>
          </a:prstGeom>
        </p:spPr>
        <p:txBody>
          <a:bodyPr lIns="50800" tIns="50800" rIns="50800" bIns="50800" rtlCol="0" anchor="ctr"/>
          <a:lstStyle/>
          <a:p>
            <a:pPr algn="ctr">
              <a:lnSpc>
                <a:spcPts val="1709"/>
              </a:lnSpc>
            </a:pPr>
            <a:r>
              <a:rPr lang="en-US" sz="1425" b="1">
                <a:solidFill>
                  <a:srgbClr val="FFFFFF"/>
                </a:solidFill>
                <a:latin typeface="Arial Bold"/>
                <a:ea typeface="Arial Bold"/>
                <a:cs typeface="Arial Bold"/>
                <a:sym typeface="Arial Bold"/>
              </a:rPr>
              <a:t>LAD / FINAL DESCENT</a:t>
            </a:r>
          </a:p>
        </p:txBody>
      </p:sp>
      <p:grpSp>
        <p:nvGrpSpPr>
          <p:cNvPr id="61" name="Group 61"/>
          <p:cNvGrpSpPr/>
          <p:nvPr/>
        </p:nvGrpSpPr>
        <p:grpSpPr>
          <a:xfrm>
            <a:off x="8016716" y="6241256"/>
            <a:ext cx="9450896" cy="1797367"/>
            <a:chOff x="0" y="0"/>
            <a:chExt cx="12601194" cy="2396490"/>
          </a:xfrm>
        </p:grpSpPr>
        <p:sp>
          <p:nvSpPr>
            <p:cNvPr id="62" name="Freeform 62"/>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63" name="Group 63"/>
          <p:cNvGrpSpPr/>
          <p:nvPr/>
        </p:nvGrpSpPr>
        <p:grpSpPr>
          <a:xfrm>
            <a:off x="8298180" y="6248400"/>
            <a:ext cx="960120" cy="68580"/>
            <a:chOff x="0" y="0"/>
            <a:chExt cx="1280160" cy="91440"/>
          </a:xfrm>
        </p:grpSpPr>
        <p:sp>
          <p:nvSpPr>
            <p:cNvPr id="64" name="Freeform 64"/>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65" name="Group 65"/>
          <p:cNvGrpSpPr/>
          <p:nvPr/>
        </p:nvGrpSpPr>
        <p:grpSpPr>
          <a:xfrm>
            <a:off x="8298180" y="6481572"/>
            <a:ext cx="918972" cy="329184"/>
            <a:chOff x="0" y="0"/>
            <a:chExt cx="1225296" cy="438912"/>
          </a:xfrm>
        </p:grpSpPr>
        <p:sp>
          <p:nvSpPr>
            <p:cNvPr id="66" name="Freeform 66"/>
            <p:cNvSpPr/>
            <p:nvPr/>
          </p:nvSpPr>
          <p:spPr>
            <a:xfrm>
              <a:off x="0" y="0"/>
              <a:ext cx="1225296" cy="438912"/>
            </a:xfrm>
            <a:custGeom>
              <a:avLst/>
              <a:gdLst/>
              <a:ahLst/>
              <a:cxnLst/>
              <a:rect l="l" t="t" r="r" b="b"/>
              <a:pathLst>
                <a:path w="1225296" h="438912">
                  <a:moveTo>
                    <a:pt x="0" y="219456"/>
                  </a:moveTo>
                  <a:cubicBezTo>
                    <a:pt x="0" y="98298"/>
                    <a:pt x="98298" y="0"/>
                    <a:pt x="219456" y="0"/>
                  </a:cubicBezTo>
                  <a:lnTo>
                    <a:pt x="1005840" y="0"/>
                  </a:lnTo>
                  <a:cubicBezTo>
                    <a:pt x="1126998" y="0"/>
                    <a:pt x="1225296" y="98298"/>
                    <a:pt x="1225296" y="219456"/>
                  </a:cubicBezTo>
                  <a:cubicBezTo>
                    <a:pt x="1225296" y="340614"/>
                    <a:pt x="1126998" y="438912"/>
                    <a:pt x="1005840"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67" name="TextBox 67"/>
            <p:cNvSpPr txBox="1"/>
            <p:nvPr/>
          </p:nvSpPr>
          <p:spPr>
            <a:xfrm>
              <a:off x="0" y="-19050"/>
              <a:ext cx="1225296"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SMC</a:t>
              </a:r>
            </a:p>
          </p:txBody>
        </p:sp>
      </p:grpSp>
      <p:grpSp>
        <p:nvGrpSpPr>
          <p:cNvPr id="68" name="Group 68"/>
          <p:cNvGrpSpPr/>
          <p:nvPr/>
        </p:nvGrpSpPr>
        <p:grpSpPr>
          <a:xfrm>
            <a:off x="9491472" y="6440424"/>
            <a:ext cx="7146036" cy="411480"/>
            <a:chOff x="0" y="0"/>
            <a:chExt cx="9528048" cy="548640"/>
          </a:xfrm>
        </p:grpSpPr>
        <p:sp>
          <p:nvSpPr>
            <p:cNvPr id="69" name="Freeform 69"/>
            <p:cNvSpPr/>
            <p:nvPr/>
          </p:nvSpPr>
          <p:spPr>
            <a:xfrm>
              <a:off x="0" y="0"/>
              <a:ext cx="9528048" cy="548640"/>
            </a:xfrm>
            <a:custGeom>
              <a:avLst/>
              <a:gdLst/>
              <a:ahLst/>
              <a:cxnLst/>
              <a:rect l="l" t="t" r="r" b="b"/>
              <a:pathLst>
                <a:path w="9528048" h="548640">
                  <a:moveTo>
                    <a:pt x="0" y="0"/>
                  </a:moveTo>
                  <a:lnTo>
                    <a:pt x="9528048" y="0"/>
                  </a:lnTo>
                  <a:lnTo>
                    <a:pt x="9528048" y="548640"/>
                  </a:lnTo>
                  <a:lnTo>
                    <a:pt x="0" y="548640"/>
                  </a:lnTo>
                  <a:close/>
                </a:path>
              </a:pathLst>
            </a:custGeom>
            <a:blipFill>
              <a:blip r:embed="rId4">
                <a:alphaModFix amt="0"/>
              </a:blip>
              <a:stretch>
                <a:fillRect t="-288390" b="-288390"/>
              </a:stretch>
            </a:blipFill>
          </p:spPr>
          <p:txBody>
            <a:bodyPr/>
            <a:lstStyle/>
            <a:p>
              <a:endParaRPr lang="en-US"/>
            </a:p>
          </p:txBody>
        </p:sp>
        <p:sp>
          <p:nvSpPr>
            <p:cNvPr id="70" name="TextBox 70"/>
            <p:cNvSpPr txBox="1"/>
            <p:nvPr/>
          </p:nvSpPr>
          <p:spPr>
            <a:xfrm>
              <a:off x="0" y="-28575"/>
              <a:ext cx="9528048" cy="577215"/>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Sliding Surface</a:t>
              </a:r>
            </a:p>
          </p:txBody>
        </p:sp>
      </p:grpSp>
      <p:grpSp>
        <p:nvGrpSpPr>
          <p:cNvPr id="71" name="Group 71"/>
          <p:cNvGrpSpPr/>
          <p:nvPr/>
        </p:nvGrpSpPr>
        <p:grpSpPr>
          <a:xfrm>
            <a:off x="8291036" y="6896100"/>
            <a:ext cx="8902256" cy="997744"/>
            <a:chOff x="0" y="0"/>
            <a:chExt cx="11869674" cy="823722"/>
          </a:xfrm>
        </p:grpSpPr>
        <p:sp>
          <p:nvSpPr>
            <p:cNvPr id="72" name="Freeform 72"/>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endParaRPr lang="en-US"/>
            </a:p>
          </p:txBody>
        </p:sp>
      </p:grpSp>
      <p:grpSp>
        <p:nvGrpSpPr>
          <p:cNvPr id="109" name="Group 109"/>
          <p:cNvGrpSpPr/>
          <p:nvPr/>
        </p:nvGrpSpPr>
        <p:grpSpPr>
          <a:xfrm>
            <a:off x="8016716" y="8222456"/>
            <a:ext cx="3031808" cy="1193864"/>
            <a:chOff x="0" y="0"/>
            <a:chExt cx="4042410" cy="1591818"/>
          </a:xfrm>
        </p:grpSpPr>
        <p:sp>
          <p:nvSpPr>
            <p:cNvPr id="110" name="Freeform 110"/>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1" name="Group 111"/>
          <p:cNvGrpSpPr/>
          <p:nvPr/>
        </p:nvGrpSpPr>
        <p:grpSpPr>
          <a:xfrm>
            <a:off x="8023860" y="8394192"/>
            <a:ext cx="68580" cy="850392"/>
            <a:chOff x="0" y="0"/>
            <a:chExt cx="91440" cy="1133856"/>
          </a:xfrm>
        </p:grpSpPr>
        <p:sp>
          <p:nvSpPr>
            <p:cNvPr id="112" name="Freeform 112"/>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595959"/>
            </a:solidFill>
          </p:spPr>
          <p:txBody>
            <a:bodyPr/>
            <a:lstStyle/>
            <a:p>
              <a:endParaRPr lang="en-US"/>
            </a:p>
          </p:txBody>
        </p:sp>
      </p:grpSp>
      <p:grpSp>
        <p:nvGrpSpPr>
          <p:cNvPr id="113" name="Group 113"/>
          <p:cNvGrpSpPr/>
          <p:nvPr/>
        </p:nvGrpSpPr>
        <p:grpSpPr>
          <a:xfrm>
            <a:off x="8188452" y="8311896"/>
            <a:ext cx="2743200" cy="452438"/>
            <a:chOff x="0" y="0"/>
            <a:chExt cx="3657600" cy="603250"/>
          </a:xfrm>
        </p:grpSpPr>
        <p:sp>
          <p:nvSpPr>
            <p:cNvPr id="114" name="Freeform 114"/>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15" name="TextBox 115"/>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595959"/>
                  </a:solidFill>
                  <a:latin typeface="Arial Bold"/>
                  <a:ea typeface="Arial Bold"/>
                  <a:cs typeface="Arial Bold"/>
                  <a:sym typeface="Arial Bold"/>
                </a:rPr>
                <a:t>45°</a:t>
              </a:r>
            </a:p>
          </p:txBody>
        </p:sp>
      </p:grpSp>
      <p:sp>
        <p:nvSpPr>
          <p:cNvPr id="116" name="TextBox 116"/>
          <p:cNvSpPr txBox="1"/>
          <p:nvPr/>
        </p:nvSpPr>
        <p:spPr>
          <a:xfrm>
            <a:off x="8225028" y="8763572"/>
            <a:ext cx="2670048" cy="572452"/>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góc dốc trượt</a:t>
            </a:r>
          </a:p>
        </p:txBody>
      </p:sp>
      <p:grpSp>
        <p:nvGrpSpPr>
          <p:cNvPr id="117" name="Group 117"/>
          <p:cNvGrpSpPr/>
          <p:nvPr/>
        </p:nvGrpSpPr>
        <p:grpSpPr>
          <a:xfrm>
            <a:off x="11226260" y="8222456"/>
            <a:ext cx="3031808" cy="1193864"/>
            <a:chOff x="0" y="0"/>
            <a:chExt cx="4042410" cy="1591818"/>
          </a:xfrm>
        </p:grpSpPr>
        <p:sp>
          <p:nvSpPr>
            <p:cNvPr id="118" name="Freeform 118"/>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19" name="Group 119"/>
          <p:cNvGrpSpPr/>
          <p:nvPr/>
        </p:nvGrpSpPr>
        <p:grpSpPr>
          <a:xfrm>
            <a:off x="11233404" y="8394192"/>
            <a:ext cx="68580" cy="850392"/>
            <a:chOff x="0" y="0"/>
            <a:chExt cx="91440" cy="1133856"/>
          </a:xfrm>
        </p:grpSpPr>
        <p:sp>
          <p:nvSpPr>
            <p:cNvPr id="120" name="Freeform 120"/>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DB3038"/>
            </a:solidFill>
          </p:spPr>
          <p:txBody>
            <a:bodyPr/>
            <a:lstStyle/>
            <a:p>
              <a:endParaRPr lang="en-US"/>
            </a:p>
          </p:txBody>
        </p:sp>
      </p:grpSp>
      <p:grpSp>
        <p:nvGrpSpPr>
          <p:cNvPr id="121" name="Group 121"/>
          <p:cNvGrpSpPr/>
          <p:nvPr/>
        </p:nvGrpSpPr>
        <p:grpSpPr>
          <a:xfrm>
            <a:off x="11397996" y="8311896"/>
            <a:ext cx="2743200" cy="452438"/>
            <a:chOff x="0" y="0"/>
            <a:chExt cx="3657600" cy="603250"/>
          </a:xfrm>
        </p:grpSpPr>
        <p:sp>
          <p:nvSpPr>
            <p:cNvPr id="122" name="Freeform 122"/>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23" name="TextBox 123"/>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DB3038"/>
                  </a:solidFill>
                  <a:latin typeface="Arial Bold"/>
                  <a:ea typeface="Arial Bold"/>
                  <a:cs typeface="Arial Bold"/>
                  <a:sym typeface="Arial Bold"/>
                </a:rPr>
                <a:t>−85°</a:t>
              </a:r>
            </a:p>
          </p:txBody>
        </p:sp>
      </p:grpSp>
      <p:sp>
        <p:nvSpPr>
          <p:cNvPr id="124" name="TextBox 124"/>
          <p:cNvSpPr txBox="1"/>
          <p:nvPr/>
        </p:nvSpPr>
        <p:spPr>
          <a:xfrm>
            <a:off x="11434572" y="8763572"/>
            <a:ext cx="2670048" cy="218008"/>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góc gập của gimbal</a:t>
            </a:r>
          </a:p>
        </p:txBody>
      </p:sp>
      <p:grpSp>
        <p:nvGrpSpPr>
          <p:cNvPr id="125" name="Group 125"/>
          <p:cNvGrpSpPr/>
          <p:nvPr/>
        </p:nvGrpSpPr>
        <p:grpSpPr>
          <a:xfrm>
            <a:off x="14435804" y="8222456"/>
            <a:ext cx="3031808" cy="1193864"/>
            <a:chOff x="0" y="0"/>
            <a:chExt cx="4042410" cy="1591818"/>
          </a:xfrm>
        </p:grpSpPr>
        <p:sp>
          <p:nvSpPr>
            <p:cNvPr id="126" name="Freeform 126"/>
            <p:cNvSpPr/>
            <p:nvPr/>
          </p:nvSpPr>
          <p:spPr>
            <a:xfrm>
              <a:off x="0" y="0"/>
              <a:ext cx="4042410" cy="1591818"/>
            </a:xfrm>
            <a:custGeom>
              <a:avLst/>
              <a:gdLst/>
              <a:ahLst/>
              <a:cxnLst/>
              <a:rect l="l" t="t" r="r" b="b"/>
              <a:pathLst>
                <a:path w="4042410" h="1591818">
                  <a:moveTo>
                    <a:pt x="0" y="222123"/>
                  </a:moveTo>
                  <a:cubicBezTo>
                    <a:pt x="0" y="99441"/>
                    <a:pt x="99441" y="0"/>
                    <a:pt x="222123" y="0"/>
                  </a:cubicBezTo>
                  <a:lnTo>
                    <a:pt x="3820287" y="0"/>
                  </a:lnTo>
                  <a:cubicBezTo>
                    <a:pt x="3942969" y="0"/>
                    <a:pt x="4042410" y="99441"/>
                    <a:pt x="4042410" y="222123"/>
                  </a:cubicBezTo>
                  <a:lnTo>
                    <a:pt x="4042410" y="1369695"/>
                  </a:lnTo>
                  <a:cubicBezTo>
                    <a:pt x="4042410" y="1492377"/>
                    <a:pt x="3942969" y="1591818"/>
                    <a:pt x="3820287" y="1591818"/>
                  </a:cubicBezTo>
                  <a:lnTo>
                    <a:pt x="222123" y="1591818"/>
                  </a:lnTo>
                  <a:cubicBezTo>
                    <a:pt x="99441" y="1591818"/>
                    <a:pt x="0" y="1492377"/>
                    <a:pt x="0" y="1369695"/>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27" name="Group 127"/>
          <p:cNvGrpSpPr/>
          <p:nvPr/>
        </p:nvGrpSpPr>
        <p:grpSpPr>
          <a:xfrm>
            <a:off x="14442948" y="8394192"/>
            <a:ext cx="68580" cy="850392"/>
            <a:chOff x="0" y="0"/>
            <a:chExt cx="91440" cy="1133856"/>
          </a:xfrm>
        </p:grpSpPr>
        <p:sp>
          <p:nvSpPr>
            <p:cNvPr id="128" name="Freeform 128"/>
            <p:cNvSpPr/>
            <p:nvPr/>
          </p:nvSpPr>
          <p:spPr>
            <a:xfrm>
              <a:off x="0" y="0"/>
              <a:ext cx="91440" cy="1133856"/>
            </a:xfrm>
            <a:custGeom>
              <a:avLst/>
              <a:gdLst/>
              <a:ahLst/>
              <a:cxnLst/>
              <a:rect l="l" t="t" r="r" b="b"/>
              <a:pathLst>
                <a:path w="91440" h="1133856">
                  <a:moveTo>
                    <a:pt x="0" y="0"/>
                  </a:moveTo>
                  <a:lnTo>
                    <a:pt x="91440" y="0"/>
                  </a:lnTo>
                  <a:lnTo>
                    <a:pt x="91440" y="1133856"/>
                  </a:lnTo>
                  <a:lnTo>
                    <a:pt x="0" y="1133856"/>
                  </a:lnTo>
                  <a:close/>
                </a:path>
              </a:pathLst>
            </a:custGeom>
            <a:solidFill>
              <a:srgbClr val="2E7D32"/>
            </a:solidFill>
          </p:spPr>
          <p:txBody>
            <a:bodyPr/>
            <a:lstStyle/>
            <a:p>
              <a:endParaRPr lang="en-US"/>
            </a:p>
          </p:txBody>
        </p:sp>
      </p:grpSp>
      <p:grpSp>
        <p:nvGrpSpPr>
          <p:cNvPr id="129" name="Group 129"/>
          <p:cNvGrpSpPr/>
          <p:nvPr/>
        </p:nvGrpSpPr>
        <p:grpSpPr>
          <a:xfrm>
            <a:off x="14607540" y="8311896"/>
            <a:ext cx="2743200" cy="452438"/>
            <a:chOff x="0" y="0"/>
            <a:chExt cx="3657600" cy="603250"/>
          </a:xfrm>
        </p:grpSpPr>
        <p:sp>
          <p:nvSpPr>
            <p:cNvPr id="130" name="Freeform 130"/>
            <p:cNvSpPr/>
            <p:nvPr/>
          </p:nvSpPr>
          <p:spPr>
            <a:xfrm>
              <a:off x="0" y="0"/>
              <a:ext cx="3657598" cy="603250"/>
            </a:xfrm>
            <a:custGeom>
              <a:avLst/>
              <a:gdLst/>
              <a:ahLst/>
              <a:cxnLst/>
              <a:rect l="l" t="t" r="r" b="b"/>
              <a:pathLst>
                <a:path w="3657598" h="603250">
                  <a:moveTo>
                    <a:pt x="0" y="0"/>
                  </a:moveTo>
                  <a:lnTo>
                    <a:pt x="3657598" y="0"/>
                  </a:lnTo>
                  <a:lnTo>
                    <a:pt x="3657598" y="603250"/>
                  </a:lnTo>
                  <a:lnTo>
                    <a:pt x="0" y="603250"/>
                  </a:lnTo>
                  <a:close/>
                </a:path>
              </a:pathLst>
            </a:custGeom>
            <a:blipFill>
              <a:blip r:embed="rId4">
                <a:alphaModFix amt="0"/>
              </a:blip>
              <a:stretch>
                <a:fillRect t="-68140" b="-68140"/>
              </a:stretch>
            </a:blipFill>
          </p:spPr>
          <p:txBody>
            <a:bodyPr/>
            <a:lstStyle/>
            <a:p>
              <a:endParaRPr lang="en-US"/>
            </a:p>
          </p:txBody>
        </p:sp>
        <p:sp>
          <p:nvSpPr>
            <p:cNvPr id="131" name="TextBox 131"/>
            <p:cNvSpPr txBox="1"/>
            <p:nvPr/>
          </p:nvSpPr>
          <p:spPr>
            <a:xfrm>
              <a:off x="0" y="-19050"/>
              <a:ext cx="3657600" cy="622300"/>
            </a:xfrm>
            <a:prstGeom prst="rect">
              <a:avLst/>
            </a:prstGeom>
          </p:spPr>
          <p:txBody>
            <a:bodyPr lIns="0" tIns="0" rIns="0" bIns="0" rtlCol="0" anchor="ctr"/>
            <a:lstStyle/>
            <a:p>
              <a:pPr algn="l">
                <a:lnSpc>
                  <a:spcPts val="3419"/>
                </a:lnSpc>
              </a:pPr>
              <a:r>
                <a:rPr lang="en-US" sz="2850" b="1">
                  <a:solidFill>
                    <a:srgbClr val="2E7D32"/>
                  </a:solidFill>
                  <a:latin typeface="Arial Bold"/>
                  <a:ea typeface="Arial Bold"/>
                  <a:cs typeface="Arial Bold"/>
                  <a:sym typeface="Arial Bold"/>
                </a:rPr>
                <a:t>0.35 s</a:t>
              </a:r>
            </a:p>
          </p:txBody>
        </p:sp>
      </p:grpSp>
      <p:sp>
        <p:nvSpPr>
          <p:cNvPr id="132" name="TextBox 132"/>
          <p:cNvSpPr txBox="1"/>
          <p:nvPr/>
        </p:nvSpPr>
        <p:spPr>
          <a:xfrm>
            <a:off x="14644116" y="8763572"/>
            <a:ext cx="2670048" cy="572452"/>
          </a:xfrm>
          <a:prstGeom prst="rect">
            <a:avLst/>
          </a:prstGeom>
        </p:spPr>
        <p:txBody>
          <a:bodyPr lIns="0" tIns="0" rIns="0" bIns="0" rtlCol="0" anchor="t">
            <a:spAutoFit/>
          </a:bodyPr>
          <a:lstStyle/>
          <a:p>
            <a:pPr algn="l">
              <a:lnSpc>
                <a:spcPts val="1709"/>
              </a:lnSpc>
            </a:pPr>
            <a:r>
              <a:rPr lang="en-US" sz="1425">
                <a:solidFill>
                  <a:srgbClr val="404040"/>
                </a:solidFill>
                <a:latin typeface="Arial"/>
                <a:ea typeface="Arial"/>
                <a:cs typeface="Arial"/>
                <a:sym typeface="Arial"/>
              </a:rPr>
              <a:t>chốt tiếp đất</a:t>
            </a:r>
          </a:p>
        </p:txBody>
      </p:sp>
      <p:grpSp>
        <p:nvGrpSpPr>
          <p:cNvPr id="10" name="Group 25">
            <a:extLst>
              <a:ext uri="{FF2B5EF4-FFF2-40B4-BE49-F238E27FC236}">
                <a16:creationId xmlns:a16="http://schemas.microsoft.com/office/drawing/2014/main" id="{D35D8A6B-6683-2092-70A5-B3955B0BAEDA}"/>
              </a:ext>
            </a:extLst>
          </p:cNvPr>
          <p:cNvGrpSpPr/>
          <p:nvPr/>
        </p:nvGrpSpPr>
        <p:grpSpPr>
          <a:xfrm>
            <a:off x="870108" y="2419621"/>
            <a:ext cx="6872288" cy="7009447"/>
            <a:chOff x="0" y="0"/>
            <a:chExt cx="9163050" cy="9345930"/>
          </a:xfrm>
        </p:grpSpPr>
        <p:sp>
          <p:nvSpPr>
            <p:cNvPr id="24" name="Freeform 26">
              <a:extLst>
                <a:ext uri="{FF2B5EF4-FFF2-40B4-BE49-F238E27FC236}">
                  <a16:creationId xmlns:a16="http://schemas.microsoft.com/office/drawing/2014/main" id="{501B3BB8-1821-3F86-B5AD-F98A454D6666}"/>
                </a:ext>
              </a:extLst>
            </p:cNvPr>
            <p:cNvSpPr/>
            <p:nvPr/>
          </p:nvSpPr>
          <p:spPr>
            <a:xfrm>
              <a:off x="0" y="0"/>
              <a:ext cx="9163050" cy="9345930"/>
            </a:xfrm>
            <a:custGeom>
              <a:avLst/>
              <a:gdLst/>
              <a:ahLst/>
              <a:cxnLst/>
              <a:rect l="l" t="t" r="r" b="b"/>
              <a:pathLst>
                <a:path w="9163050" h="9345930">
                  <a:moveTo>
                    <a:pt x="0" y="219964"/>
                  </a:moveTo>
                  <a:cubicBezTo>
                    <a:pt x="0" y="98425"/>
                    <a:pt x="98425" y="0"/>
                    <a:pt x="219964" y="0"/>
                  </a:cubicBezTo>
                  <a:lnTo>
                    <a:pt x="8943086" y="0"/>
                  </a:lnTo>
                  <a:cubicBezTo>
                    <a:pt x="9064498" y="0"/>
                    <a:pt x="9163050" y="98425"/>
                    <a:pt x="9163050" y="219964"/>
                  </a:cubicBezTo>
                  <a:lnTo>
                    <a:pt x="9163050" y="9125966"/>
                  </a:lnTo>
                  <a:cubicBezTo>
                    <a:pt x="9163050" y="9247378"/>
                    <a:pt x="9064625" y="9345930"/>
                    <a:pt x="8943086" y="9345930"/>
                  </a:cubicBezTo>
                  <a:lnTo>
                    <a:pt x="219964" y="9345930"/>
                  </a:lnTo>
                  <a:cubicBezTo>
                    <a:pt x="98425" y="9345930"/>
                    <a:pt x="0" y="9247505"/>
                    <a:pt x="0" y="9125966"/>
                  </a:cubicBezTo>
                  <a:close/>
                </a:path>
              </a:pathLst>
            </a:custGeom>
            <a:solidFill>
              <a:srgbClr val="F2F2F2"/>
            </a:solidFill>
            <a:ln w="14288" cap="sq">
              <a:solidFill>
                <a:srgbClr val="D9D9D9"/>
              </a:solidFill>
              <a:prstDash val="solid"/>
              <a:miter/>
            </a:ln>
          </p:spPr>
          <p:txBody>
            <a:bodyPr/>
            <a:lstStyle/>
            <a:p>
              <a:endParaRPr lang="en-US"/>
            </a:p>
          </p:txBody>
        </p:sp>
      </p:grpSp>
      <p:pic>
        <p:nvPicPr>
          <p:cNvPr id="133" name="Picture 132">
            <a:extLst>
              <a:ext uri="{FF2B5EF4-FFF2-40B4-BE49-F238E27FC236}">
                <a16:creationId xmlns:a16="http://schemas.microsoft.com/office/drawing/2014/main" id="{DB241E58-43C0-69D5-501C-19E71BE2DF7D}"/>
              </a:ext>
            </a:extLst>
          </p:cNvPr>
          <p:cNvPicPr>
            <a:picLocks noChangeAspect="1"/>
          </p:cNvPicPr>
          <p:nvPr/>
        </p:nvPicPr>
        <p:blipFill>
          <a:blip r:embed="rId5"/>
          <a:srcRect/>
          <a:stretch>
            <a:fillRect/>
          </a:stretch>
        </p:blipFill>
        <p:spPr>
          <a:xfrm>
            <a:off x="741058" y="3003804"/>
            <a:ext cx="7316985" cy="5356861"/>
          </a:xfrm>
          <a:prstGeom prst="rect">
            <a:avLst/>
          </a:prstGeom>
        </p:spPr>
      </p:pic>
      <p:sp>
        <p:nvSpPr>
          <p:cNvPr id="138" name="TextBox 137">
            <a:extLst>
              <a:ext uri="{FF2B5EF4-FFF2-40B4-BE49-F238E27FC236}">
                <a16:creationId xmlns:a16="http://schemas.microsoft.com/office/drawing/2014/main" id="{4430B5D1-E412-790D-E238-4D9B19F0AB50}"/>
              </a:ext>
            </a:extLst>
          </p:cNvPr>
          <p:cNvSpPr txBox="1"/>
          <p:nvPr/>
        </p:nvSpPr>
        <p:spPr>
          <a:xfrm>
            <a:off x="5975068" y="6720386"/>
            <a:ext cx="719922" cy="369332"/>
          </a:xfrm>
          <a:prstGeom prst="rect">
            <a:avLst/>
          </a:prstGeom>
          <a:effectLst>
            <a:softEdge rad="12700"/>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a:t>Hpad</a:t>
            </a:r>
          </a:p>
        </p:txBody>
      </p:sp>
      <p:grpSp>
        <p:nvGrpSpPr>
          <p:cNvPr id="139" name="Group 61">
            <a:extLst>
              <a:ext uri="{FF2B5EF4-FFF2-40B4-BE49-F238E27FC236}">
                <a16:creationId xmlns:a16="http://schemas.microsoft.com/office/drawing/2014/main" id="{637AA088-084E-AA0A-F40F-80DA312F804E}"/>
              </a:ext>
            </a:extLst>
          </p:cNvPr>
          <p:cNvGrpSpPr/>
          <p:nvPr/>
        </p:nvGrpSpPr>
        <p:grpSpPr>
          <a:xfrm>
            <a:off x="8016716" y="2393156"/>
            <a:ext cx="5163170" cy="3671888"/>
            <a:chOff x="0" y="0"/>
            <a:chExt cx="12601194" cy="2396490"/>
          </a:xfrm>
        </p:grpSpPr>
        <p:sp>
          <p:nvSpPr>
            <p:cNvPr id="140" name="Freeform 62">
              <a:extLst>
                <a:ext uri="{FF2B5EF4-FFF2-40B4-BE49-F238E27FC236}">
                  <a16:creationId xmlns:a16="http://schemas.microsoft.com/office/drawing/2014/main" id="{63F27EDF-3B39-2EA0-4846-F78B081C7D0A}"/>
                </a:ext>
              </a:extLst>
            </p:cNvPr>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41" name="Group 68">
            <a:extLst>
              <a:ext uri="{FF2B5EF4-FFF2-40B4-BE49-F238E27FC236}">
                <a16:creationId xmlns:a16="http://schemas.microsoft.com/office/drawing/2014/main" id="{DEBD2726-4F05-CA00-D0AF-F51CBC9153FA}"/>
              </a:ext>
            </a:extLst>
          </p:cNvPr>
          <p:cNvGrpSpPr/>
          <p:nvPr/>
        </p:nvGrpSpPr>
        <p:grpSpPr>
          <a:xfrm>
            <a:off x="9532799" y="2552700"/>
            <a:ext cx="7182806" cy="451103"/>
            <a:chOff x="0" y="-52832"/>
            <a:chExt cx="9577074" cy="601472"/>
          </a:xfrm>
        </p:grpSpPr>
        <p:sp>
          <p:nvSpPr>
            <p:cNvPr id="142" name="Freeform 69">
              <a:extLst>
                <a:ext uri="{FF2B5EF4-FFF2-40B4-BE49-F238E27FC236}">
                  <a16:creationId xmlns:a16="http://schemas.microsoft.com/office/drawing/2014/main" id="{AD3DC4C4-C00F-B079-B943-11B11BB5E580}"/>
                </a:ext>
              </a:extLst>
            </p:cNvPr>
            <p:cNvSpPr/>
            <p:nvPr/>
          </p:nvSpPr>
          <p:spPr>
            <a:xfrm>
              <a:off x="0" y="0"/>
              <a:ext cx="9528048" cy="548640"/>
            </a:xfrm>
            <a:custGeom>
              <a:avLst/>
              <a:gdLst/>
              <a:ahLst/>
              <a:cxnLst/>
              <a:rect l="l" t="t" r="r" b="b"/>
              <a:pathLst>
                <a:path w="9528048" h="548640">
                  <a:moveTo>
                    <a:pt x="0" y="0"/>
                  </a:moveTo>
                  <a:lnTo>
                    <a:pt x="9528048" y="0"/>
                  </a:lnTo>
                  <a:lnTo>
                    <a:pt x="9528048" y="548640"/>
                  </a:lnTo>
                  <a:lnTo>
                    <a:pt x="0" y="548640"/>
                  </a:lnTo>
                  <a:close/>
                </a:path>
              </a:pathLst>
            </a:custGeom>
            <a:blipFill>
              <a:blip r:embed="rId4">
                <a:alphaModFix amt="0"/>
              </a:blip>
              <a:stretch>
                <a:fillRect t="-288390" b="-288390"/>
              </a:stretch>
            </a:blipFill>
          </p:spPr>
          <p:txBody>
            <a:bodyPr/>
            <a:lstStyle/>
            <a:p>
              <a:endParaRPr lang="en-US"/>
            </a:p>
          </p:txBody>
        </p:sp>
        <p:sp>
          <p:nvSpPr>
            <p:cNvPr id="143" name="TextBox 70">
              <a:extLst>
                <a:ext uri="{FF2B5EF4-FFF2-40B4-BE49-F238E27FC236}">
                  <a16:creationId xmlns:a16="http://schemas.microsoft.com/office/drawing/2014/main" id="{AEB1A8CB-A216-BBAA-7CE9-91EF04C79489}"/>
                </a:ext>
              </a:extLst>
            </p:cNvPr>
            <p:cNvSpPr txBox="1"/>
            <p:nvPr/>
          </p:nvSpPr>
          <p:spPr>
            <a:xfrm>
              <a:off x="49027" y="-52832"/>
              <a:ext cx="9528047" cy="577215"/>
            </a:xfrm>
            <a:prstGeom prst="rect">
              <a:avLst/>
            </a:prstGeom>
          </p:spPr>
          <p:txBody>
            <a:bodyPr lIns="0" tIns="0" rIns="0" bIns="0" rtlCol="0" anchor="ctr"/>
            <a:lstStyle/>
            <a:p>
              <a:pPr algn="l">
                <a:lnSpc>
                  <a:spcPts val="2250"/>
                </a:lnSpc>
              </a:pPr>
              <a:r>
                <a:rPr lang="vi-VN" sz="1875" b="1">
                  <a:solidFill>
                    <a:srgbClr val="262626"/>
                  </a:solidFill>
                  <a:latin typeface="Arial Bold"/>
                  <a:ea typeface="Arial Bold"/>
                  <a:cs typeface="Arial Bold"/>
                  <a:sym typeface="Arial Bold"/>
                </a:rPr>
                <a:t>Nonlinear Kinematic Model</a:t>
              </a:r>
              <a:endParaRPr lang="en-US" sz="1875" b="1">
                <a:solidFill>
                  <a:srgbClr val="262626"/>
                </a:solidFill>
                <a:latin typeface="Arial Bold"/>
                <a:ea typeface="Arial Bold"/>
                <a:cs typeface="Arial Bold"/>
                <a:sym typeface="Arial Bold"/>
              </a:endParaRPr>
            </a:p>
          </p:txBody>
        </p:sp>
      </p:grpSp>
      <p:pic>
        <p:nvPicPr>
          <p:cNvPr id="144" name="Picture 143">
            <a:extLst>
              <a:ext uri="{FF2B5EF4-FFF2-40B4-BE49-F238E27FC236}">
                <a16:creationId xmlns:a16="http://schemas.microsoft.com/office/drawing/2014/main" id="{F6D02FA7-A430-9F76-21F6-20753B3B476A}"/>
              </a:ext>
            </a:extLst>
          </p:cNvPr>
          <p:cNvPicPr>
            <a:picLocks noChangeAspect="1"/>
          </p:cNvPicPr>
          <p:nvPr/>
        </p:nvPicPr>
        <p:blipFill>
          <a:blip r:embed="rId6"/>
          <a:stretch>
            <a:fillRect/>
          </a:stretch>
        </p:blipFill>
        <p:spPr>
          <a:xfrm>
            <a:off x="8202481" y="3214560"/>
            <a:ext cx="4804500" cy="2447575"/>
          </a:xfrm>
          <a:prstGeom prst="rect">
            <a:avLst/>
          </a:prstGeom>
        </p:spPr>
      </p:pic>
      <p:grpSp>
        <p:nvGrpSpPr>
          <p:cNvPr id="145" name="Group 65">
            <a:extLst>
              <a:ext uri="{FF2B5EF4-FFF2-40B4-BE49-F238E27FC236}">
                <a16:creationId xmlns:a16="http://schemas.microsoft.com/office/drawing/2014/main" id="{1964A2C7-3CAC-5DAF-F047-F6B18EA7C47D}"/>
              </a:ext>
            </a:extLst>
          </p:cNvPr>
          <p:cNvGrpSpPr/>
          <p:nvPr/>
        </p:nvGrpSpPr>
        <p:grpSpPr>
          <a:xfrm>
            <a:off x="8364189" y="2607820"/>
            <a:ext cx="918972" cy="329184"/>
            <a:chOff x="0" y="0"/>
            <a:chExt cx="1225296" cy="438912"/>
          </a:xfrm>
        </p:grpSpPr>
        <p:sp>
          <p:nvSpPr>
            <p:cNvPr id="146" name="Freeform 66">
              <a:extLst>
                <a:ext uri="{FF2B5EF4-FFF2-40B4-BE49-F238E27FC236}">
                  <a16:creationId xmlns:a16="http://schemas.microsoft.com/office/drawing/2014/main" id="{A74170E5-1F32-DAEB-6F07-B743F724F17D}"/>
                </a:ext>
              </a:extLst>
            </p:cNvPr>
            <p:cNvSpPr/>
            <p:nvPr/>
          </p:nvSpPr>
          <p:spPr>
            <a:xfrm>
              <a:off x="0" y="0"/>
              <a:ext cx="1225296" cy="438912"/>
            </a:xfrm>
            <a:custGeom>
              <a:avLst/>
              <a:gdLst/>
              <a:ahLst/>
              <a:cxnLst/>
              <a:rect l="l" t="t" r="r" b="b"/>
              <a:pathLst>
                <a:path w="1225296" h="438912">
                  <a:moveTo>
                    <a:pt x="0" y="219456"/>
                  </a:moveTo>
                  <a:cubicBezTo>
                    <a:pt x="0" y="98298"/>
                    <a:pt x="98298" y="0"/>
                    <a:pt x="219456" y="0"/>
                  </a:cubicBezTo>
                  <a:lnTo>
                    <a:pt x="1005840" y="0"/>
                  </a:lnTo>
                  <a:cubicBezTo>
                    <a:pt x="1126998" y="0"/>
                    <a:pt x="1225296" y="98298"/>
                    <a:pt x="1225296" y="219456"/>
                  </a:cubicBezTo>
                  <a:cubicBezTo>
                    <a:pt x="1225296" y="340614"/>
                    <a:pt x="1126998" y="438912"/>
                    <a:pt x="1005840"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147" name="TextBox 67">
              <a:extLst>
                <a:ext uri="{FF2B5EF4-FFF2-40B4-BE49-F238E27FC236}">
                  <a16:creationId xmlns:a16="http://schemas.microsoft.com/office/drawing/2014/main" id="{2E4C450A-AB87-44F8-559D-4BE61146A371}"/>
                </a:ext>
              </a:extLst>
            </p:cNvPr>
            <p:cNvSpPr txBox="1"/>
            <p:nvPr/>
          </p:nvSpPr>
          <p:spPr>
            <a:xfrm>
              <a:off x="0" y="-19050"/>
              <a:ext cx="1225296"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Model</a:t>
              </a:r>
            </a:p>
          </p:txBody>
        </p:sp>
      </p:grpSp>
      <p:grpSp>
        <p:nvGrpSpPr>
          <p:cNvPr id="148" name="Group 63">
            <a:extLst>
              <a:ext uri="{FF2B5EF4-FFF2-40B4-BE49-F238E27FC236}">
                <a16:creationId xmlns:a16="http://schemas.microsoft.com/office/drawing/2014/main" id="{A51E9FA4-20DC-188F-C3BE-A90A5FB86047}"/>
              </a:ext>
            </a:extLst>
          </p:cNvPr>
          <p:cNvGrpSpPr/>
          <p:nvPr/>
        </p:nvGrpSpPr>
        <p:grpSpPr>
          <a:xfrm>
            <a:off x="8323041" y="2390091"/>
            <a:ext cx="960120" cy="68580"/>
            <a:chOff x="0" y="0"/>
            <a:chExt cx="1280160" cy="91440"/>
          </a:xfrm>
        </p:grpSpPr>
        <p:sp>
          <p:nvSpPr>
            <p:cNvPr id="149" name="Freeform 64">
              <a:extLst>
                <a:ext uri="{FF2B5EF4-FFF2-40B4-BE49-F238E27FC236}">
                  <a16:creationId xmlns:a16="http://schemas.microsoft.com/office/drawing/2014/main" id="{0F7CC65D-DF24-7151-29F5-454CD4B6CFD9}"/>
                </a:ext>
              </a:extLst>
            </p:cNvPr>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grpSp>
        <p:nvGrpSpPr>
          <p:cNvPr id="150" name="Group 61">
            <a:extLst>
              <a:ext uri="{FF2B5EF4-FFF2-40B4-BE49-F238E27FC236}">
                <a16:creationId xmlns:a16="http://schemas.microsoft.com/office/drawing/2014/main" id="{9D7282EE-B575-B466-25FE-08668164D4D3}"/>
              </a:ext>
            </a:extLst>
          </p:cNvPr>
          <p:cNvGrpSpPr/>
          <p:nvPr/>
        </p:nvGrpSpPr>
        <p:grpSpPr>
          <a:xfrm>
            <a:off x="13313879" y="2385392"/>
            <a:ext cx="4153733" cy="3705560"/>
            <a:chOff x="0" y="0"/>
            <a:chExt cx="12601194" cy="2396490"/>
          </a:xfrm>
        </p:grpSpPr>
        <p:sp>
          <p:nvSpPr>
            <p:cNvPr id="151" name="Freeform 62">
              <a:extLst>
                <a:ext uri="{FF2B5EF4-FFF2-40B4-BE49-F238E27FC236}">
                  <a16:creationId xmlns:a16="http://schemas.microsoft.com/office/drawing/2014/main" id="{DAEEFE07-2EC6-E985-EF5C-87698E089D11}"/>
                </a:ext>
              </a:extLst>
            </p:cNvPr>
            <p:cNvSpPr/>
            <p:nvPr/>
          </p:nvSpPr>
          <p:spPr>
            <a:xfrm>
              <a:off x="0" y="0"/>
              <a:ext cx="12601194" cy="2396490"/>
            </a:xfrm>
            <a:custGeom>
              <a:avLst/>
              <a:gdLst/>
              <a:ahLst/>
              <a:cxnLst/>
              <a:rect l="l" t="t" r="r" b="b"/>
              <a:pathLst>
                <a:path w="12601194" h="2396490">
                  <a:moveTo>
                    <a:pt x="0" y="221234"/>
                  </a:moveTo>
                  <a:cubicBezTo>
                    <a:pt x="0" y="99060"/>
                    <a:pt x="99060" y="0"/>
                    <a:pt x="221234" y="0"/>
                  </a:cubicBezTo>
                  <a:lnTo>
                    <a:pt x="12379960" y="0"/>
                  </a:lnTo>
                  <a:cubicBezTo>
                    <a:pt x="12502134" y="0"/>
                    <a:pt x="12601194" y="99060"/>
                    <a:pt x="12601194" y="221234"/>
                  </a:cubicBezTo>
                  <a:lnTo>
                    <a:pt x="12601194" y="2175256"/>
                  </a:lnTo>
                  <a:cubicBezTo>
                    <a:pt x="12601194" y="2297430"/>
                    <a:pt x="12502134" y="2396490"/>
                    <a:pt x="12379960" y="2396490"/>
                  </a:cubicBezTo>
                  <a:lnTo>
                    <a:pt x="221234" y="2396490"/>
                  </a:lnTo>
                  <a:cubicBezTo>
                    <a:pt x="99060" y="2396490"/>
                    <a:pt x="0" y="2297430"/>
                    <a:pt x="0" y="2175256"/>
                  </a:cubicBezTo>
                  <a:close/>
                </a:path>
              </a:pathLst>
            </a:custGeom>
            <a:solidFill>
              <a:srgbClr val="F2F2F2"/>
            </a:solidFill>
            <a:ln w="14288" cap="sq">
              <a:solidFill>
                <a:srgbClr val="D9D9D9"/>
              </a:solidFill>
              <a:prstDash val="solid"/>
              <a:miter/>
            </a:ln>
          </p:spPr>
          <p:txBody>
            <a:bodyPr/>
            <a:lstStyle/>
            <a:p>
              <a:endParaRPr lang="en-US"/>
            </a:p>
          </p:txBody>
        </p:sp>
      </p:grpSp>
      <p:grpSp>
        <p:nvGrpSpPr>
          <p:cNvPr id="152" name="Group 71">
            <a:extLst>
              <a:ext uri="{FF2B5EF4-FFF2-40B4-BE49-F238E27FC236}">
                <a16:creationId xmlns:a16="http://schemas.microsoft.com/office/drawing/2014/main" id="{ACBB6CF7-D7AE-E19D-85B7-F71CD24AF874}"/>
              </a:ext>
            </a:extLst>
          </p:cNvPr>
          <p:cNvGrpSpPr/>
          <p:nvPr/>
        </p:nvGrpSpPr>
        <p:grpSpPr>
          <a:xfrm>
            <a:off x="13432137" y="3077593"/>
            <a:ext cx="3918602" cy="1769474"/>
            <a:chOff x="0" y="0"/>
            <a:chExt cx="11869674" cy="823722"/>
          </a:xfrm>
        </p:grpSpPr>
        <mc:AlternateContent xmlns:mc="http://schemas.openxmlformats.org/markup-compatibility/2006" xmlns:a14="http://schemas.microsoft.com/office/drawing/2010/main">
          <mc:Choice Requires="a14">
            <p:sp>
              <p:nvSpPr>
                <p:cNvPr id="153" name="Freeform 72">
                  <a:extLst>
                    <a:ext uri="{FF2B5EF4-FFF2-40B4-BE49-F238E27FC236}">
                      <a16:creationId xmlns:a16="http://schemas.microsoft.com/office/drawing/2014/main" id="{F918FA4E-098B-91A7-6F54-07BA4168D50C}"/>
                    </a:ext>
                  </a:extLst>
                </p:cNvPr>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solidFill>
                  <a:srgbClr val="FFFFFF"/>
                </a:solidFill>
                <a:ln w="14288" cap="sq">
                  <a:solidFill>
                    <a:srgbClr val="D9D9D9"/>
                  </a:solidFill>
                  <a:prstDash val="solid"/>
                  <a:miter/>
                </a:ln>
              </p:spPr>
              <p:txBody>
                <a:bodyPr/>
                <a:lstStyle/>
                <a:p>
                  <a:pPr/>
                  <a14:m>
                    <m:oMathPara xmlns:m="http://schemas.openxmlformats.org/officeDocument/2006/math">
                      <m:oMath>
                        <m:sSub>
                          <m:sSubPr>
                            <m:ctrlPr>
                              <a:rPr lang="en-US" i="1">
                                <a:solidFill>
                                  <a:srgbClr val="B3222A"/>
                                </a:solidFill>
                                <a:latin typeface="Cambria Math" panose="02040503050406030204" pitchFamily="18" charset="0"/>
                                <a:cs typeface="Arial"/>
                                <a:sym typeface="Arial"/>
                              </a:rPr>
                            </m:ctrlPr>
                          </m:sSubPr>
                          <m:e>
                            <m:acc>
                              <m:accPr>
                                <m:chr m:val="̇"/>
                                <m:ctrlPr>
                                  <a:rPr lang="en-US" i="1">
                                    <a:solidFill>
                                      <a:srgbClr val="B3222A"/>
                                    </a:solidFill>
                                    <a:latin typeface="Cambria Math" panose="02040503050406030204" pitchFamily="18" charset="0"/>
                                    <a:cs typeface="Arial"/>
                                    <a:sym typeface="Arial"/>
                                  </a:rPr>
                                </m:ctrlPr>
                              </m:accPr>
                              <m:e>
                                <m:r>
                                  <a:rPr lang="en-US" i="1">
                                    <a:solidFill>
                                      <a:srgbClr val="B3222A"/>
                                    </a:solidFill>
                                    <a:latin typeface="Cambria Math" panose="02040503050406030204" pitchFamily="18" charset="0"/>
                                    <a:cs typeface="Arial"/>
                                    <a:sym typeface="Arial"/>
                                  </a:rPr>
                                  <m:t>𝑆</m:t>
                                </m:r>
                              </m:e>
                            </m:acc>
                          </m:e>
                          <m:sub>
                            <m:r>
                              <a:rPr lang="en-US" i="1">
                                <a:solidFill>
                                  <a:srgbClr val="B3222A"/>
                                </a:solidFill>
                                <a:latin typeface="Cambria Math" panose="02040503050406030204" pitchFamily="18" charset="0"/>
                                <a:cs typeface="Arial"/>
                                <a:sym typeface="Arial"/>
                              </a:rPr>
                              <m:t>𝑖</m:t>
                            </m:r>
                          </m:sub>
                        </m:sSub>
                        <m:r>
                          <a:rPr lang="en-US" i="1">
                            <a:solidFill>
                              <a:srgbClr val="B3222A"/>
                            </a:solidFill>
                            <a:latin typeface="Cambria Math" panose="02040503050406030204" pitchFamily="18" charset="0"/>
                            <a:cs typeface="Arial"/>
                            <a:sym typeface="Arial"/>
                          </a:rPr>
                          <m:t>=−</m:t>
                        </m:r>
                        <m:sSub>
                          <m:sSubPr>
                            <m:ctrlPr>
                              <a:rPr lang="en-US" i="1">
                                <a:solidFill>
                                  <a:srgbClr val="B3222A"/>
                                </a:solidFill>
                                <a:latin typeface="Cambria Math" panose="02040503050406030204" pitchFamily="18" charset="0"/>
                                <a:cs typeface="Arial"/>
                                <a:sym typeface="Arial"/>
                              </a:rPr>
                            </m:ctrlPr>
                          </m:sSubPr>
                          <m:e>
                            <m:r>
                              <a:rPr lang="en-US" i="1">
                                <a:solidFill>
                                  <a:srgbClr val="B3222A"/>
                                </a:solidFill>
                                <a:latin typeface="Cambria Math" panose="02040503050406030204" pitchFamily="18" charset="0"/>
                                <a:cs typeface="Arial"/>
                                <a:sym typeface="Arial"/>
                              </a:rPr>
                              <m:t>𝑘</m:t>
                            </m:r>
                          </m:e>
                          <m:sub>
                            <m:r>
                              <a:rPr lang="en-US" i="1">
                                <a:solidFill>
                                  <a:srgbClr val="B3222A"/>
                                </a:solidFill>
                                <a:latin typeface="Cambria Math" panose="02040503050406030204" pitchFamily="18" charset="0"/>
                                <a:cs typeface="Arial"/>
                                <a:sym typeface="Arial"/>
                              </a:rPr>
                              <m:t>𝑖</m:t>
                            </m:r>
                          </m:sub>
                        </m:sSub>
                        <m:r>
                          <a:rPr lang="en-US" i="1">
                            <a:solidFill>
                              <a:srgbClr val="B3222A"/>
                            </a:solidFill>
                            <a:latin typeface="Cambria Math" panose="02040503050406030204" pitchFamily="18" charset="0"/>
                            <a:cs typeface="Arial"/>
                            <a:sym typeface="Arial"/>
                          </a:rPr>
                          <m:t>.</m:t>
                        </m:r>
                        <m:sSup>
                          <m:sSupPr>
                            <m:ctrlPr>
                              <a:rPr lang="en-US" i="1">
                                <a:solidFill>
                                  <a:srgbClr val="B3222A"/>
                                </a:solidFill>
                                <a:latin typeface="Cambria Math" panose="02040503050406030204" pitchFamily="18" charset="0"/>
                                <a:cs typeface="Arial"/>
                                <a:sym typeface="Arial"/>
                              </a:rPr>
                            </m:ctrlPr>
                          </m:sSupPr>
                          <m:e>
                            <m:d>
                              <m:dPr>
                                <m:begChr m:val="|"/>
                                <m:endChr m:val="|"/>
                                <m:ctrlPr>
                                  <a:rPr lang="en-US" i="1">
                                    <a:solidFill>
                                      <a:srgbClr val="B3222A"/>
                                    </a:solidFill>
                                    <a:latin typeface="Cambria Math" panose="02040503050406030204" pitchFamily="18" charset="0"/>
                                    <a:cs typeface="Arial"/>
                                    <a:sym typeface="Arial"/>
                                  </a:rPr>
                                </m:ctrlPr>
                              </m:dPr>
                              <m:e>
                                <m:sSub>
                                  <m:sSubPr>
                                    <m:ctrlPr>
                                      <a:rPr lang="en-US" i="1">
                                        <a:solidFill>
                                          <a:srgbClr val="B3222A"/>
                                        </a:solidFill>
                                        <a:latin typeface="Cambria Math" panose="02040503050406030204" pitchFamily="18" charset="0"/>
                                        <a:cs typeface="Arial"/>
                                        <a:sym typeface="Arial"/>
                                      </a:rPr>
                                    </m:ctrlPr>
                                  </m:sSubPr>
                                  <m:e>
                                    <m:r>
                                      <a:rPr lang="en-US" i="1">
                                        <a:solidFill>
                                          <a:srgbClr val="B3222A"/>
                                        </a:solidFill>
                                        <a:latin typeface="Cambria Math" panose="02040503050406030204" pitchFamily="18" charset="0"/>
                                        <a:cs typeface="Arial"/>
                                        <a:sym typeface="Arial"/>
                                      </a:rPr>
                                      <m:t>𝑆</m:t>
                                    </m:r>
                                  </m:e>
                                  <m:sub>
                                    <m:r>
                                      <a:rPr lang="en-US" i="1">
                                        <a:solidFill>
                                          <a:srgbClr val="B3222A"/>
                                        </a:solidFill>
                                        <a:latin typeface="Cambria Math" panose="02040503050406030204" pitchFamily="18" charset="0"/>
                                        <a:cs typeface="Arial"/>
                                        <a:sym typeface="Arial"/>
                                      </a:rPr>
                                      <m:t>𝑖</m:t>
                                    </m:r>
                                  </m:sub>
                                </m:sSub>
                              </m:e>
                            </m:d>
                          </m:e>
                          <m:sup>
                            <m:f>
                              <m:fPr>
                                <m:ctrlPr>
                                  <a:rPr lang="en-US" i="1">
                                    <a:solidFill>
                                      <a:srgbClr val="B3222A"/>
                                    </a:solidFill>
                                    <a:latin typeface="Cambria Math" panose="02040503050406030204" pitchFamily="18" charset="0"/>
                                    <a:cs typeface="Arial"/>
                                    <a:sym typeface="Arial"/>
                                  </a:rPr>
                                </m:ctrlPr>
                              </m:fPr>
                              <m:num>
                                <m:r>
                                  <a:rPr lang="en-US" i="1">
                                    <a:solidFill>
                                      <a:srgbClr val="B3222A"/>
                                    </a:solidFill>
                                    <a:latin typeface="Cambria Math" panose="02040503050406030204" pitchFamily="18" charset="0"/>
                                    <a:cs typeface="Arial"/>
                                    <a:sym typeface="Arial"/>
                                  </a:rPr>
                                  <m:t>𝑛</m:t>
                                </m:r>
                              </m:num>
                              <m:den>
                                <m:r>
                                  <a:rPr lang="en-US" i="1">
                                    <a:solidFill>
                                      <a:srgbClr val="B3222A"/>
                                    </a:solidFill>
                                    <a:latin typeface="Cambria Math" panose="02040503050406030204" pitchFamily="18" charset="0"/>
                                    <a:cs typeface="Arial"/>
                                    <a:sym typeface="Arial"/>
                                  </a:rPr>
                                  <m:t>𝑚</m:t>
                                </m:r>
                              </m:den>
                            </m:f>
                          </m:sup>
                        </m:sSup>
                        <m:r>
                          <a:rPr lang="en-US" i="1">
                            <a:solidFill>
                              <a:srgbClr val="B3222A"/>
                            </a:solidFill>
                            <a:latin typeface="Cambria Math" panose="02040503050406030204" pitchFamily="18" charset="0"/>
                            <a:cs typeface="Arial"/>
                            <a:sym typeface="Arial"/>
                          </a:rPr>
                          <m:t> .</m:t>
                        </m:r>
                        <m:r>
                          <a:rPr lang="en-US" i="1">
                            <a:solidFill>
                              <a:srgbClr val="B3222A"/>
                            </a:solidFill>
                            <a:latin typeface="Cambria Math" panose="02040503050406030204" pitchFamily="18" charset="0"/>
                            <a:cs typeface="Arial"/>
                            <a:sym typeface="Arial"/>
                          </a:rPr>
                          <m:t>𝑠𝑎𝑡</m:t>
                        </m:r>
                        <m:r>
                          <a:rPr lang="en-US" i="1">
                            <a:solidFill>
                              <a:srgbClr val="B3222A"/>
                            </a:solidFill>
                            <a:latin typeface="Cambria Math" panose="02040503050406030204" pitchFamily="18" charset="0"/>
                            <a:cs typeface="Arial"/>
                            <a:sym typeface="Arial"/>
                          </a:rPr>
                          <m:t>(</m:t>
                        </m:r>
                        <m:r>
                          <a:rPr lang="en-US" i="1">
                            <a:solidFill>
                              <a:srgbClr val="B3222A"/>
                            </a:solidFill>
                            <a:latin typeface="Cambria Math" panose="02040503050406030204" pitchFamily="18" charset="0"/>
                            <a:cs typeface="Arial"/>
                            <a:sym typeface="Arial"/>
                          </a:rPr>
                          <m:t>𝑆</m:t>
                        </m:r>
                        <m:r>
                          <a:rPr lang="en-US" i="1">
                            <a:solidFill>
                              <a:srgbClr val="B3222A"/>
                            </a:solidFill>
                            <a:latin typeface="Cambria Math" panose="02040503050406030204" pitchFamily="18" charset="0"/>
                            <a:cs typeface="Arial"/>
                            <a:sym typeface="Arial"/>
                          </a:rPr>
                          <m:t>)   .    </m:t>
                        </m:r>
                        <m:r>
                          <a:rPr lang="en-US" i="1">
                            <a:solidFill>
                              <a:srgbClr val="B3222A"/>
                            </a:solidFill>
                            <a:latin typeface="Cambria Math" panose="02040503050406030204" pitchFamily="18" charset="0"/>
                            <a:cs typeface="Arial"/>
                            <a:sym typeface="Arial"/>
                          </a:rPr>
                          <m:t>𝑖</m:t>
                        </m:r>
                        <m:r>
                          <a:rPr lang="en-US" i="1">
                            <a:solidFill>
                              <a:srgbClr val="B3222A"/>
                            </a:solidFill>
                            <a:latin typeface="Cambria Math" panose="02040503050406030204" pitchFamily="18" charset="0"/>
                            <a:cs typeface="Arial"/>
                            <a:sym typeface="Arial"/>
                          </a:rPr>
                          <m:t>=1,2,3</m:t>
                        </m:r>
                      </m:oMath>
                    </m:oMathPara>
                  </a14:m>
                  <a:endParaRPr lang="en-US"/>
                </a:p>
              </p:txBody>
            </p:sp>
          </mc:Choice>
          <mc:Fallback xmlns="">
            <p:sp>
              <p:nvSpPr>
                <p:cNvPr id="153" name="Freeform 72">
                  <a:extLst>
                    <a:ext uri="{FF2B5EF4-FFF2-40B4-BE49-F238E27FC236}">
                      <a16:creationId xmlns:a16="http://schemas.microsoft.com/office/drawing/2014/main" id="{F918FA4E-098B-91A7-6F54-07BA4168D50C}"/>
                    </a:ext>
                  </a:extLst>
                </p:cNvPr>
                <p:cNvSpPr>
                  <a:spLocks noRot="1" noChangeAspect="1" noMove="1" noResize="1" noEditPoints="1" noAdjustHandles="1" noChangeArrowheads="1" noChangeShapeType="1" noTextEdit="1"/>
                </p:cNvSpPr>
                <p:nvPr/>
              </p:nvSpPr>
              <p:spPr>
                <a:xfrm>
                  <a:off x="0" y="0"/>
                  <a:ext cx="11869674" cy="823722"/>
                </a:xfrm>
                <a:custGeom>
                  <a:avLst/>
                  <a:gdLst/>
                  <a:ahLst/>
                  <a:cxnLst/>
                  <a:rect l="l" t="t" r="r" b="b"/>
                  <a:pathLst>
                    <a:path w="11869674" h="823722">
                      <a:moveTo>
                        <a:pt x="0" y="131064"/>
                      </a:moveTo>
                      <a:cubicBezTo>
                        <a:pt x="0" y="58674"/>
                        <a:pt x="58674" y="0"/>
                        <a:pt x="131064" y="0"/>
                      </a:cubicBezTo>
                      <a:lnTo>
                        <a:pt x="11738610" y="0"/>
                      </a:lnTo>
                      <a:cubicBezTo>
                        <a:pt x="11811000" y="0"/>
                        <a:pt x="11869674" y="58674"/>
                        <a:pt x="11869674" y="131064"/>
                      </a:cubicBezTo>
                      <a:lnTo>
                        <a:pt x="11869674" y="692658"/>
                      </a:lnTo>
                      <a:cubicBezTo>
                        <a:pt x="11869674" y="765048"/>
                        <a:pt x="11811000" y="823722"/>
                        <a:pt x="11738610" y="823722"/>
                      </a:cubicBezTo>
                      <a:lnTo>
                        <a:pt x="131064" y="823722"/>
                      </a:lnTo>
                      <a:cubicBezTo>
                        <a:pt x="58674" y="823722"/>
                        <a:pt x="0" y="765048"/>
                        <a:pt x="0" y="692658"/>
                      </a:cubicBezTo>
                      <a:close/>
                    </a:path>
                  </a:pathLst>
                </a:custGeom>
                <a:blipFill>
                  <a:blip r:embed="rId7"/>
                  <a:stretch>
                    <a:fillRect/>
                  </a:stretch>
                </a:blipFill>
                <a:ln w="14288" cap="sq">
                  <a:solidFill>
                    <a:srgbClr val="D9D9D9"/>
                  </a:solidFill>
                  <a:prstDash val="solid"/>
                  <a:miter/>
                </a:ln>
              </p:spPr>
              <p:txBody>
                <a:bodyPr/>
                <a:lstStyle/>
                <a:p>
                  <a:r>
                    <a:rPr lang="en-US">
                      <a:noFill/>
                    </a:rPr>
                    <a:t> </a:t>
                  </a:r>
                </a:p>
              </p:txBody>
            </p:sp>
          </mc:Fallback>
        </mc:AlternateContent>
      </p:grpSp>
      <p:sp>
        <p:nvSpPr>
          <p:cNvPr id="155" name="TextBox 70">
            <a:extLst>
              <a:ext uri="{FF2B5EF4-FFF2-40B4-BE49-F238E27FC236}">
                <a16:creationId xmlns:a16="http://schemas.microsoft.com/office/drawing/2014/main" id="{AA44B54A-B2B8-28E0-96E7-D8AA47606DEB}"/>
              </a:ext>
            </a:extLst>
          </p:cNvPr>
          <p:cNvSpPr txBox="1"/>
          <p:nvPr/>
        </p:nvSpPr>
        <p:spPr>
          <a:xfrm>
            <a:off x="14852142" y="2508504"/>
            <a:ext cx="7146036" cy="432911"/>
          </a:xfrm>
          <a:prstGeom prst="rect">
            <a:avLst/>
          </a:prstGeom>
        </p:spPr>
        <p:txBody>
          <a:bodyPr lIns="0" tIns="0" rIns="0" bIns="0" rtlCol="0" anchor="ctr"/>
          <a:lstStyle/>
          <a:p>
            <a:pPr algn="l">
              <a:lnSpc>
                <a:spcPts val="2250"/>
              </a:lnSpc>
            </a:pPr>
            <a:r>
              <a:rPr lang="en-US" sz="1875" b="1">
                <a:solidFill>
                  <a:srgbClr val="262626"/>
                </a:solidFill>
                <a:latin typeface="Arial Bold"/>
                <a:ea typeface="Arial Bold"/>
                <a:cs typeface="Arial Bold"/>
                <a:sym typeface="Arial Bold"/>
              </a:rPr>
              <a:t>Power Reaching Law</a:t>
            </a:r>
          </a:p>
        </p:txBody>
      </p:sp>
      <p:grpSp>
        <p:nvGrpSpPr>
          <p:cNvPr id="165" name="Group 63">
            <a:extLst>
              <a:ext uri="{FF2B5EF4-FFF2-40B4-BE49-F238E27FC236}">
                <a16:creationId xmlns:a16="http://schemas.microsoft.com/office/drawing/2014/main" id="{DACF0660-5251-DEF1-7F14-E010F09E6A21}"/>
              </a:ext>
            </a:extLst>
          </p:cNvPr>
          <p:cNvGrpSpPr/>
          <p:nvPr/>
        </p:nvGrpSpPr>
        <p:grpSpPr>
          <a:xfrm>
            <a:off x="13475684" y="2385331"/>
            <a:ext cx="960120" cy="68580"/>
            <a:chOff x="0" y="0"/>
            <a:chExt cx="1280160" cy="91440"/>
          </a:xfrm>
        </p:grpSpPr>
        <p:sp>
          <p:nvSpPr>
            <p:cNvPr id="166" name="Freeform 64">
              <a:extLst>
                <a:ext uri="{FF2B5EF4-FFF2-40B4-BE49-F238E27FC236}">
                  <a16:creationId xmlns:a16="http://schemas.microsoft.com/office/drawing/2014/main" id="{7397AF2C-A910-A067-72A7-B7521389EBF4}"/>
                </a:ext>
              </a:extLst>
            </p:cNvPr>
            <p:cNvSpPr/>
            <p:nvPr/>
          </p:nvSpPr>
          <p:spPr>
            <a:xfrm>
              <a:off x="0" y="0"/>
              <a:ext cx="1280160" cy="91440"/>
            </a:xfrm>
            <a:custGeom>
              <a:avLst/>
              <a:gdLst/>
              <a:ahLst/>
              <a:cxnLst/>
              <a:rect l="l" t="t" r="r" b="b"/>
              <a:pathLst>
                <a:path w="1280160" h="91440">
                  <a:moveTo>
                    <a:pt x="0" y="0"/>
                  </a:moveTo>
                  <a:lnTo>
                    <a:pt x="1280160" y="0"/>
                  </a:lnTo>
                  <a:lnTo>
                    <a:pt x="1280160" y="91440"/>
                  </a:lnTo>
                  <a:lnTo>
                    <a:pt x="0" y="91440"/>
                  </a:lnTo>
                  <a:close/>
                </a:path>
              </a:pathLst>
            </a:custGeom>
            <a:solidFill>
              <a:srgbClr val="DB3038"/>
            </a:solidFill>
          </p:spPr>
          <p:txBody>
            <a:bodyPr/>
            <a:lstStyle/>
            <a:p>
              <a:endParaRPr lang="en-US"/>
            </a:p>
          </p:txBody>
        </p:sp>
      </p:grpSp>
      <p:pic>
        <p:nvPicPr>
          <p:cNvPr id="168" name="Picture 167">
            <a:extLst>
              <a:ext uri="{FF2B5EF4-FFF2-40B4-BE49-F238E27FC236}">
                <a16:creationId xmlns:a16="http://schemas.microsoft.com/office/drawing/2014/main" id="{673E81B5-191B-B1EB-8E9C-FA992C3724BB}"/>
              </a:ext>
            </a:extLst>
          </p:cNvPr>
          <p:cNvPicPr>
            <a:picLocks noChangeAspect="1"/>
          </p:cNvPicPr>
          <p:nvPr/>
        </p:nvPicPr>
        <p:blipFill>
          <a:blip r:embed="rId8"/>
          <a:stretch>
            <a:fillRect/>
          </a:stretch>
        </p:blipFill>
        <p:spPr>
          <a:xfrm>
            <a:off x="9532620" y="6912356"/>
            <a:ext cx="6697899" cy="921405"/>
          </a:xfrm>
          <a:prstGeom prst="rect">
            <a:avLst/>
          </a:prstGeom>
        </p:spPr>
      </p:pic>
      <p:grpSp>
        <p:nvGrpSpPr>
          <p:cNvPr id="169" name="Group 65">
            <a:extLst>
              <a:ext uri="{FF2B5EF4-FFF2-40B4-BE49-F238E27FC236}">
                <a16:creationId xmlns:a16="http://schemas.microsoft.com/office/drawing/2014/main" id="{D9EA1032-4B5E-FDA5-9130-90E14001F0F0}"/>
              </a:ext>
            </a:extLst>
          </p:cNvPr>
          <p:cNvGrpSpPr/>
          <p:nvPr/>
        </p:nvGrpSpPr>
        <p:grpSpPr>
          <a:xfrm>
            <a:off x="13536753" y="2607820"/>
            <a:ext cx="918972" cy="329184"/>
            <a:chOff x="0" y="0"/>
            <a:chExt cx="1225296" cy="438912"/>
          </a:xfrm>
        </p:grpSpPr>
        <p:sp>
          <p:nvSpPr>
            <p:cNvPr id="170" name="Freeform 66">
              <a:extLst>
                <a:ext uri="{FF2B5EF4-FFF2-40B4-BE49-F238E27FC236}">
                  <a16:creationId xmlns:a16="http://schemas.microsoft.com/office/drawing/2014/main" id="{05553BC5-9ADC-31E7-0E7D-5143548A5BB9}"/>
                </a:ext>
              </a:extLst>
            </p:cNvPr>
            <p:cNvSpPr/>
            <p:nvPr/>
          </p:nvSpPr>
          <p:spPr>
            <a:xfrm>
              <a:off x="0" y="0"/>
              <a:ext cx="1225296" cy="438912"/>
            </a:xfrm>
            <a:custGeom>
              <a:avLst/>
              <a:gdLst/>
              <a:ahLst/>
              <a:cxnLst/>
              <a:rect l="l" t="t" r="r" b="b"/>
              <a:pathLst>
                <a:path w="1225296" h="438912">
                  <a:moveTo>
                    <a:pt x="0" y="219456"/>
                  </a:moveTo>
                  <a:cubicBezTo>
                    <a:pt x="0" y="98298"/>
                    <a:pt x="98298" y="0"/>
                    <a:pt x="219456" y="0"/>
                  </a:cubicBezTo>
                  <a:lnTo>
                    <a:pt x="1005840" y="0"/>
                  </a:lnTo>
                  <a:cubicBezTo>
                    <a:pt x="1126998" y="0"/>
                    <a:pt x="1225296" y="98298"/>
                    <a:pt x="1225296" y="219456"/>
                  </a:cubicBezTo>
                  <a:cubicBezTo>
                    <a:pt x="1225296" y="340614"/>
                    <a:pt x="1126998" y="438912"/>
                    <a:pt x="1005840" y="438912"/>
                  </a:cubicBezTo>
                  <a:lnTo>
                    <a:pt x="219456" y="438912"/>
                  </a:lnTo>
                  <a:cubicBezTo>
                    <a:pt x="98298" y="438912"/>
                    <a:pt x="0" y="340614"/>
                    <a:pt x="0" y="219456"/>
                  </a:cubicBezTo>
                  <a:close/>
                </a:path>
              </a:pathLst>
            </a:custGeom>
            <a:solidFill>
              <a:srgbClr val="DB3038"/>
            </a:solidFill>
          </p:spPr>
          <p:txBody>
            <a:bodyPr/>
            <a:lstStyle/>
            <a:p>
              <a:endParaRPr lang="en-US"/>
            </a:p>
          </p:txBody>
        </p:sp>
        <p:sp>
          <p:nvSpPr>
            <p:cNvPr id="171" name="TextBox 67">
              <a:extLst>
                <a:ext uri="{FF2B5EF4-FFF2-40B4-BE49-F238E27FC236}">
                  <a16:creationId xmlns:a16="http://schemas.microsoft.com/office/drawing/2014/main" id="{1FFC76A5-EF3A-CD88-4A5B-60E845970F9C}"/>
                </a:ext>
              </a:extLst>
            </p:cNvPr>
            <p:cNvSpPr txBox="1"/>
            <p:nvPr/>
          </p:nvSpPr>
          <p:spPr>
            <a:xfrm>
              <a:off x="0" y="-19050"/>
              <a:ext cx="1225296" cy="457962"/>
            </a:xfrm>
            <a:prstGeom prst="rect">
              <a:avLst/>
            </a:prstGeom>
          </p:spPr>
          <p:txBody>
            <a:bodyPr lIns="50800" tIns="50800" rIns="50800" bIns="50800" rtlCol="0" anchor="ctr"/>
            <a:lstStyle/>
            <a:p>
              <a:pPr algn="ctr">
                <a:lnSpc>
                  <a:spcPts val="1530"/>
                </a:lnSpc>
              </a:pPr>
              <a:r>
                <a:rPr lang="en-US" sz="1275" b="1">
                  <a:solidFill>
                    <a:srgbClr val="FFFFFF"/>
                  </a:solidFill>
                  <a:latin typeface="Arial Bold"/>
                  <a:ea typeface="Arial Bold"/>
                  <a:cs typeface="Arial Bold"/>
                  <a:sym typeface="Arial Bold"/>
                </a:rPr>
                <a:t>SMC</a:t>
              </a:r>
            </a:p>
          </p:txBody>
        </p:sp>
      </p:grpSp>
      <p:sp>
        <p:nvSpPr>
          <p:cNvPr id="173" name="TextBox 76">
            <a:extLst>
              <a:ext uri="{FF2B5EF4-FFF2-40B4-BE49-F238E27FC236}">
                <a16:creationId xmlns:a16="http://schemas.microsoft.com/office/drawing/2014/main" id="{95FCF191-AF51-85A0-D468-CAC7EF263498}"/>
              </a:ext>
            </a:extLst>
          </p:cNvPr>
          <p:cNvSpPr txBox="1"/>
          <p:nvPr/>
        </p:nvSpPr>
        <p:spPr>
          <a:xfrm>
            <a:off x="13500607" y="5121440"/>
            <a:ext cx="3256197" cy="472373"/>
          </a:xfrm>
          <a:prstGeom prst="rect">
            <a:avLst/>
          </a:prstGeom>
        </p:spPr>
        <p:txBody>
          <a:bodyPr wrap="square" lIns="0" tIns="0" rIns="0" bIns="0" rtlCol="0" anchor="t">
            <a:spAutoFit/>
          </a:bodyPr>
          <a:lstStyle/>
          <a:p>
            <a:pPr algn="l">
              <a:lnSpc>
                <a:spcPts val="1889"/>
              </a:lnSpc>
            </a:pPr>
            <a:r>
              <a:rPr lang="en-US" sz="1575">
                <a:solidFill>
                  <a:srgbClr val="404040"/>
                </a:solidFill>
                <a:latin typeface="Arial"/>
                <a:ea typeface="Arial"/>
                <a:cs typeface="Arial"/>
                <a:sym typeface="Arial"/>
              </a:rPr>
              <a:t>Hội tụ nhanh khi xa, mượt khi gần mặt trượt → không chattering.</a:t>
            </a:r>
          </a:p>
        </p:txBody>
      </p:sp>
      <p:sp>
        <p:nvSpPr>
          <p:cNvPr id="25" name="TextBox 20">
            <a:extLst>
              <a:ext uri="{FF2B5EF4-FFF2-40B4-BE49-F238E27FC236}">
                <a16:creationId xmlns:a16="http://schemas.microsoft.com/office/drawing/2014/main" id="{66BB9248-7A5E-7F67-33FD-9881D3A41839}"/>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2043017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7" name="Freeform 7"/>
          <p:cNvSpPr/>
          <p:nvPr/>
        </p:nvSpPr>
        <p:spPr>
          <a:xfrm>
            <a:off x="1799377" y="285950"/>
            <a:ext cx="7109766" cy="566978"/>
          </a:xfrm>
          <a:custGeom>
            <a:avLst/>
            <a:gdLst/>
            <a:ahLst/>
            <a:cxnLst/>
            <a:rect l="l" t="t" r="r" b="b"/>
            <a:pathLst>
              <a:path w="9479687" h="755971">
                <a:moveTo>
                  <a:pt x="0" y="0"/>
                </a:moveTo>
                <a:lnTo>
                  <a:pt x="9479687" y="0"/>
                </a:lnTo>
                <a:lnTo>
                  <a:pt x="9479687" y="755971"/>
                </a:lnTo>
                <a:lnTo>
                  <a:pt x="0" y="755971"/>
                </a:lnTo>
                <a:close/>
              </a:path>
            </a:pathLst>
          </a:custGeom>
          <a:blipFill>
            <a:blip r:embed="rId2">
              <a:alphaModFix amt="0"/>
            </a:blip>
            <a:stretch>
              <a:fillRect t="-194337" b="-194337"/>
            </a:stretch>
          </a:blipFill>
        </p:spPr>
        <p:txBody>
          <a:bodyPr/>
          <a:lstStyle/>
          <a:p>
            <a:endParaRPr lang="en-US"/>
          </a:p>
        </p:txBody>
      </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grpSp>
        <p:nvGrpSpPr>
          <p:cNvPr id="11" name="Group 11"/>
          <p:cNvGrpSpPr/>
          <p:nvPr/>
        </p:nvGrpSpPr>
        <p:grpSpPr>
          <a:xfrm>
            <a:off x="457200" y="1402690"/>
            <a:ext cx="17439932" cy="692496"/>
            <a:chOff x="0" y="0"/>
            <a:chExt cx="23253243" cy="923328"/>
          </a:xfrm>
        </p:grpSpPr>
        <p:sp>
          <p:nvSpPr>
            <p:cNvPr id="12" name="Freeform 12"/>
            <p:cNvSpPr/>
            <p:nvPr/>
          </p:nvSpPr>
          <p:spPr>
            <a:xfrm>
              <a:off x="0" y="0"/>
              <a:ext cx="23253192" cy="923290"/>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3" name="TextBox 13"/>
            <p:cNvSpPr txBox="1"/>
            <p:nvPr/>
          </p:nvSpPr>
          <p:spPr>
            <a:xfrm>
              <a:off x="0" y="-19050"/>
              <a:ext cx="23253243" cy="942378"/>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GNRON VÀ OSCILLATION</a:t>
              </a:r>
            </a:p>
          </p:txBody>
        </p:sp>
      </p:grpSp>
      <p:sp>
        <p:nvSpPr>
          <p:cNvPr id="14" name="Freeform 14"/>
          <p:cNvSpPr/>
          <p:nvPr/>
        </p:nvSpPr>
        <p:spPr>
          <a:xfrm>
            <a:off x="5715000" y="2071345"/>
            <a:ext cx="7026443" cy="6812965"/>
          </a:xfrm>
          <a:custGeom>
            <a:avLst/>
            <a:gdLst/>
            <a:ahLst/>
            <a:cxnLst/>
            <a:rect l="l" t="t" r="r" b="b"/>
            <a:pathLst>
              <a:path w="7664603" h="7386761">
                <a:moveTo>
                  <a:pt x="0" y="0"/>
                </a:moveTo>
                <a:lnTo>
                  <a:pt x="7664603" y="0"/>
                </a:lnTo>
                <a:lnTo>
                  <a:pt x="7664603" y="7386761"/>
                </a:lnTo>
                <a:lnTo>
                  <a:pt x="0" y="7386761"/>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grpSp>
        <p:nvGrpSpPr>
          <p:cNvPr id="17" name="Group 5">
            <a:extLst>
              <a:ext uri="{FF2B5EF4-FFF2-40B4-BE49-F238E27FC236}">
                <a16:creationId xmlns:a16="http://schemas.microsoft.com/office/drawing/2014/main" id="{A4285A84-388E-823C-4389-B01C50C9F9F2}"/>
              </a:ext>
            </a:extLst>
          </p:cNvPr>
          <p:cNvGrpSpPr/>
          <p:nvPr/>
        </p:nvGrpSpPr>
        <p:grpSpPr>
          <a:xfrm>
            <a:off x="0" y="9745595"/>
            <a:ext cx="15704172" cy="107156"/>
            <a:chOff x="0" y="0"/>
            <a:chExt cx="20938896" cy="142875"/>
          </a:xfrm>
        </p:grpSpPr>
        <p:sp>
          <p:nvSpPr>
            <p:cNvPr id="18" name="Freeform 6">
              <a:extLst>
                <a:ext uri="{FF2B5EF4-FFF2-40B4-BE49-F238E27FC236}">
                  <a16:creationId xmlns:a16="http://schemas.microsoft.com/office/drawing/2014/main" id="{5EA19AD5-3C27-79EA-ADFB-1F8827354E67}"/>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19" name="Group 7">
            <a:extLst>
              <a:ext uri="{FF2B5EF4-FFF2-40B4-BE49-F238E27FC236}">
                <a16:creationId xmlns:a16="http://schemas.microsoft.com/office/drawing/2014/main" id="{F8B6003A-DF11-41B6-18D0-C58ECFCEF458}"/>
              </a:ext>
            </a:extLst>
          </p:cNvPr>
          <p:cNvGrpSpPr/>
          <p:nvPr/>
        </p:nvGrpSpPr>
        <p:grpSpPr>
          <a:xfrm>
            <a:off x="16086906" y="9493508"/>
            <a:ext cx="1988172" cy="688105"/>
            <a:chOff x="0" y="0"/>
            <a:chExt cx="2650896" cy="917473"/>
          </a:xfrm>
        </p:grpSpPr>
        <p:sp>
          <p:nvSpPr>
            <p:cNvPr id="20" name="Freeform 8">
              <a:extLst>
                <a:ext uri="{FF2B5EF4-FFF2-40B4-BE49-F238E27FC236}">
                  <a16:creationId xmlns:a16="http://schemas.microsoft.com/office/drawing/2014/main" id="{6F030078-F9B4-518D-8B93-28BBC7728380}"/>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sp>
        <p:nvSpPr>
          <p:cNvPr id="22" name="TextBox 21">
            <a:extLst>
              <a:ext uri="{FF2B5EF4-FFF2-40B4-BE49-F238E27FC236}">
                <a16:creationId xmlns:a16="http://schemas.microsoft.com/office/drawing/2014/main" id="{990F7425-BB2B-7F9A-8578-148016B36353}"/>
              </a:ext>
            </a:extLst>
          </p:cNvPr>
          <p:cNvSpPr txBox="1"/>
          <p:nvPr/>
        </p:nvSpPr>
        <p:spPr>
          <a:xfrm>
            <a:off x="6281547" y="9041368"/>
            <a:ext cx="5791200" cy="646331"/>
          </a:xfrm>
          <a:prstGeom prst="rect">
            <a:avLst/>
          </a:prstGeom>
          <a:noFill/>
        </p:spPr>
        <p:txBody>
          <a:bodyPr wrap="square" rtlCol="0">
            <a:spAutoFit/>
          </a:bodyPr>
          <a:lstStyle/>
          <a:p>
            <a:pPr algn="ctr"/>
            <a:r>
              <a:rPr lang="en-US" i="1"/>
              <a:t>Hình 3: Quỹ đạo của UAV trong trường hợp Target nằm trong vùng ảnh hưởng của vật cản</a:t>
            </a:r>
          </a:p>
        </p:txBody>
      </p:sp>
      <p:sp>
        <p:nvSpPr>
          <p:cNvPr id="21" name="TextBox 20">
            <a:extLst>
              <a:ext uri="{FF2B5EF4-FFF2-40B4-BE49-F238E27FC236}">
                <a16:creationId xmlns:a16="http://schemas.microsoft.com/office/drawing/2014/main" id="{97C06831-5A5A-96AB-32F8-12DA81ADE300}"/>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3831061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7" name="Freeform 7"/>
          <p:cNvSpPr/>
          <p:nvPr/>
        </p:nvSpPr>
        <p:spPr>
          <a:xfrm>
            <a:off x="1799377" y="285950"/>
            <a:ext cx="7109766" cy="566978"/>
          </a:xfrm>
          <a:custGeom>
            <a:avLst/>
            <a:gdLst/>
            <a:ahLst/>
            <a:cxnLst/>
            <a:rect l="l" t="t" r="r" b="b"/>
            <a:pathLst>
              <a:path w="9479687" h="755971">
                <a:moveTo>
                  <a:pt x="0" y="0"/>
                </a:moveTo>
                <a:lnTo>
                  <a:pt x="9479687" y="0"/>
                </a:lnTo>
                <a:lnTo>
                  <a:pt x="9479687" y="755971"/>
                </a:lnTo>
                <a:lnTo>
                  <a:pt x="0" y="755971"/>
                </a:lnTo>
                <a:close/>
              </a:path>
            </a:pathLst>
          </a:custGeom>
          <a:blipFill>
            <a:blip r:embed="rId2">
              <a:alphaModFix amt="0"/>
            </a:blip>
            <a:stretch>
              <a:fillRect t="-194337" b="-194337"/>
            </a:stretch>
          </a:blipFill>
        </p:spPr>
        <p:txBody>
          <a:bodyPr/>
          <a:lstStyle/>
          <a:p>
            <a:endParaRPr lang="en-US"/>
          </a:p>
        </p:txBody>
      </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14" name="Freeform 14"/>
          <p:cNvSpPr/>
          <p:nvPr/>
        </p:nvSpPr>
        <p:spPr>
          <a:xfrm>
            <a:off x="9601201" y="2149047"/>
            <a:ext cx="7561123" cy="6743809"/>
          </a:xfrm>
          <a:custGeom>
            <a:avLst/>
            <a:gdLst/>
            <a:ahLst/>
            <a:cxnLst/>
            <a:rect l="l" t="t" r="r" b="b"/>
            <a:pathLst>
              <a:path w="8018325" h="7196413">
                <a:moveTo>
                  <a:pt x="0" y="0"/>
                </a:moveTo>
                <a:lnTo>
                  <a:pt x="8018325" y="0"/>
                </a:lnTo>
                <a:lnTo>
                  <a:pt x="8018325" y="7196413"/>
                </a:lnTo>
                <a:lnTo>
                  <a:pt x="0" y="7196413"/>
                </a:lnTo>
                <a:lnTo>
                  <a:pt x="0" y="0"/>
                </a:lnTo>
                <a:close/>
              </a:path>
            </a:pathLst>
          </a:custGeom>
          <a:blipFill>
            <a:blip r:embed="rId3"/>
            <a:stretch>
              <a:fillRect t="-301" b="-301"/>
            </a:stretch>
          </a:blipFill>
        </p:spPr>
        <p:txBody>
          <a:bodyPr/>
          <a:lstStyle/>
          <a:p>
            <a:endParaRPr lang="en-US"/>
          </a:p>
        </p:txBody>
      </p:sp>
      <p:sp>
        <p:nvSpPr>
          <p:cNvPr id="15" name="Freeform 15"/>
          <p:cNvSpPr/>
          <p:nvPr/>
        </p:nvSpPr>
        <p:spPr>
          <a:xfrm>
            <a:off x="1125675" y="2235215"/>
            <a:ext cx="6825182" cy="6657641"/>
          </a:xfrm>
          <a:custGeom>
            <a:avLst/>
            <a:gdLst/>
            <a:ahLst/>
            <a:cxnLst/>
            <a:rect l="l" t="t" r="r" b="b"/>
            <a:pathLst>
              <a:path w="7918509" h="7202544">
                <a:moveTo>
                  <a:pt x="0" y="0"/>
                </a:moveTo>
                <a:lnTo>
                  <a:pt x="7918509" y="0"/>
                </a:lnTo>
                <a:lnTo>
                  <a:pt x="7918509" y="7202544"/>
                </a:lnTo>
                <a:lnTo>
                  <a:pt x="0" y="7202544"/>
                </a:lnTo>
                <a:lnTo>
                  <a:pt x="0" y="0"/>
                </a:lnTo>
                <a:close/>
              </a:path>
            </a:pathLst>
          </a:custGeom>
          <a:blipFill>
            <a:blip r:embed="rId4"/>
            <a:stretch>
              <a:fillRect/>
            </a:stretch>
          </a:blipFill>
        </p:spPr>
        <p:txBody>
          <a:bodyPr/>
          <a:lstStyle/>
          <a:p>
            <a:endParaRPr lang="en-US"/>
          </a:p>
        </p:txBody>
      </p:sp>
      <p:sp>
        <p:nvSpPr>
          <p:cNvPr id="16" name="TextBox 16"/>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19" name="TextBox 13">
            <a:extLst>
              <a:ext uri="{FF2B5EF4-FFF2-40B4-BE49-F238E27FC236}">
                <a16:creationId xmlns:a16="http://schemas.microsoft.com/office/drawing/2014/main" id="{8F95B44F-5F30-CFD8-88DB-1E2CC9F79323}"/>
              </a:ext>
            </a:extLst>
          </p:cNvPr>
          <p:cNvSpPr txBox="1"/>
          <p:nvPr/>
        </p:nvSpPr>
        <p:spPr>
          <a:xfrm>
            <a:off x="457200" y="1388403"/>
            <a:ext cx="17439932" cy="706784"/>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GNRON VÀ OSCILLATION</a:t>
            </a:r>
          </a:p>
        </p:txBody>
      </p:sp>
      <p:grpSp>
        <p:nvGrpSpPr>
          <p:cNvPr id="20" name="Group 5">
            <a:extLst>
              <a:ext uri="{FF2B5EF4-FFF2-40B4-BE49-F238E27FC236}">
                <a16:creationId xmlns:a16="http://schemas.microsoft.com/office/drawing/2014/main" id="{A2E12D15-7443-DFD7-2AF3-C279328ECA1F}"/>
              </a:ext>
            </a:extLst>
          </p:cNvPr>
          <p:cNvGrpSpPr/>
          <p:nvPr/>
        </p:nvGrpSpPr>
        <p:grpSpPr>
          <a:xfrm>
            <a:off x="0" y="9745595"/>
            <a:ext cx="15704172" cy="107156"/>
            <a:chOff x="0" y="0"/>
            <a:chExt cx="20938896" cy="142875"/>
          </a:xfrm>
        </p:grpSpPr>
        <p:sp>
          <p:nvSpPr>
            <p:cNvPr id="21" name="Freeform 6">
              <a:extLst>
                <a:ext uri="{FF2B5EF4-FFF2-40B4-BE49-F238E27FC236}">
                  <a16:creationId xmlns:a16="http://schemas.microsoft.com/office/drawing/2014/main" id="{E1FF487A-C2B3-4938-3451-40A4A6EFAAD5}"/>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22" name="Group 7">
            <a:extLst>
              <a:ext uri="{FF2B5EF4-FFF2-40B4-BE49-F238E27FC236}">
                <a16:creationId xmlns:a16="http://schemas.microsoft.com/office/drawing/2014/main" id="{621551AB-D7C2-5553-7480-F158DD985DF6}"/>
              </a:ext>
            </a:extLst>
          </p:cNvPr>
          <p:cNvGrpSpPr/>
          <p:nvPr/>
        </p:nvGrpSpPr>
        <p:grpSpPr>
          <a:xfrm>
            <a:off x="16086906" y="9493508"/>
            <a:ext cx="1988172" cy="688105"/>
            <a:chOff x="0" y="0"/>
            <a:chExt cx="2650896" cy="917473"/>
          </a:xfrm>
        </p:grpSpPr>
        <p:sp>
          <p:nvSpPr>
            <p:cNvPr id="23" name="Freeform 8">
              <a:extLst>
                <a:ext uri="{FF2B5EF4-FFF2-40B4-BE49-F238E27FC236}">
                  <a16:creationId xmlns:a16="http://schemas.microsoft.com/office/drawing/2014/main" id="{0518EB6A-E011-D8AE-38D1-5E1EFF750DA3}"/>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5"/>
              <a:stretch>
                <a:fillRect l="-183" r="-185" b="-2"/>
              </a:stretch>
            </a:blipFill>
          </p:spPr>
          <p:txBody>
            <a:bodyPr/>
            <a:lstStyle/>
            <a:p>
              <a:endParaRPr lang="en-US"/>
            </a:p>
          </p:txBody>
        </p:sp>
      </p:grpSp>
      <p:sp>
        <p:nvSpPr>
          <p:cNvPr id="13" name="TextBox 12">
            <a:extLst>
              <a:ext uri="{FF2B5EF4-FFF2-40B4-BE49-F238E27FC236}">
                <a16:creationId xmlns:a16="http://schemas.microsoft.com/office/drawing/2014/main" id="{CC6A0EDD-90A3-D277-2361-8A590794E160}"/>
              </a:ext>
            </a:extLst>
          </p:cNvPr>
          <p:cNvSpPr txBox="1"/>
          <p:nvPr/>
        </p:nvSpPr>
        <p:spPr>
          <a:xfrm>
            <a:off x="1866728" y="8992977"/>
            <a:ext cx="5791200" cy="369332"/>
          </a:xfrm>
          <a:prstGeom prst="rect">
            <a:avLst/>
          </a:prstGeom>
          <a:noFill/>
        </p:spPr>
        <p:txBody>
          <a:bodyPr wrap="square" rtlCol="0">
            <a:spAutoFit/>
          </a:bodyPr>
          <a:lstStyle/>
          <a:p>
            <a:pPr algn="ctr"/>
            <a:r>
              <a:rPr lang="en-US" i="1"/>
              <a:t>Hình 4: Các góc trạng thái của UAV</a:t>
            </a:r>
          </a:p>
        </p:txBody>
      </p:sp>
      <p:sp>
        <p:nvSpPr>
          <p:cNvPr id="18" name="TextBox 17">
            <a:extLst>
              <a:ext uri="{FF2B5EF4-FFF2-40B4-BE49-F238E27FC236}">
                <a16:creationId xmlns:a16="http://schemas.microsoft.com/office/drawing/2014/main" id="{027E7393-2F46-7004-06A6-8086ACE995A5}"/>
              </a:ext>
            </a:extLst>
          </p:cNvPr>
          <p:cNvSpPr txBox="1"/>
          <p:nvPr/>
        </p:nvSpPr>
        <p:spPr>
          <a:xfrm>
            <a:off x="10433094" y="9032883"/>
            <a:ext cx="5791200" cy="369332"/>
          </a:xfrm>
          <a:prstGeom prst="rect">
            <a:avLst/>
          </a:prstGeom>
          <a:noFill/>
        </p:spPr>
        <p:txBody>
          <a:bodyPr wrap="square" rtlCol="0">
            <a:spAutoFit/>
          </a:bodyPr>
          <a:lstStyle/>
          <a:p>
            <a:pPr algn="ctr"/>
            <a:r>
              <a:rPr lang="en-US" i="1"/>
              <a:t>Hình 5: Vận tốc của UAV</a:t>
            </a:r>
          </a:p>
        </p:txBody>
      </p:sp>
      <p:sp>
        <p:nvSpPr>
          <p:cNvPr id="12" name="TextBox 20">
            <a:extLst>
              <a:ext uri="{FF2B5EF4-FFF2-40B4-BE49-F238E27FC236}">
                <a16:creationId xmlns:a16="http://schemas.microsoft.com/office/drawing/2014/main" id="{460CC7BC-7992-6BC2-67DD-A53C73FDEACD}"/>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67908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12" name="Freeform 12"/>
          <p:cNvSpPr/>
          <p:nvPr/>
        </p:nvSpPr>
        <p:spPr>
          <a:xfrm>
            <a:off x="457200" y="1402690"/>
            <a:ext cx="17439894" cy="692468"/>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4" name="Freeform 14"/>
          <p:cNvSpPr/>
          <p:nvPr/>
        </p:nvSpPr>
        <p:spPr>
          <a:xfrm>
            <a:off x="1130488" y="2247900"/>
            <a:ext cx="8364575" cy="6630658"/>
          </a:xfrm>
          <a:custGeom>
            <a:avLst/>
            <a:gdLst/>
            <a:ahLst/>
            <a:cxnLst/>
            <a:rect l="l" t="t" r="r" b="b"/>
            <a:pathLst>
              <a:path w="9548142" h="7212826">
                <a:moveTo>
                  <a:pt x="0" y="0"/>
                </a:moveTo>
                <a:lnTo>
                  <a:pt x="9548142" y="0"/>
                </a:lnTo>
                <a:lnTo>
                  <a:pt x="9548142" y="7212826"/>
                </a:lnTo>
                <a:lnTo>
                  <a:pt x="0" y="7212826"/>
                </a:lnTo>
                <a:lnTo>
                  <a:pt x="0" y="0"/>
                </a:lnTo>
                <a:close/>
              </a:path>
            </a:pathLst>
          </a:custGeom>
          <a:blipFill>
            <a:blip r:embed="rId2"/>
            <a:stretch>
              <a:fillRect/>
            </a:stretch>
          </a:blipFill>
        </p:spPr>
        <p:txBody>
          <a:bodyPr/>
          <a:lstStyle/>
          <a:p>
            <a:endParaRPr lang="en-US"/>
          </a:p>
        </p:txBody>
      </p:sp>
      <p:sp>
        <p:nvSpPr>
          <p:cNvPr id="15" name="Freeform 15"/>
          <p:cNvSpPr/>
          <p:nvPr/>
        </p:nvSpPr>
        <p:spPr>
          <a:xfrm>
            <a:off x="9982200" y="2273680"/>
            <a:ext cx="8144013" cy="6783058"/>
          </a:xfrm>
          <a:custGeom>
            <a:avLst/>
            <a:gdLst/>
            <a:ahLst/>
            <a:cxnLst/>
            <a:rect l="l" t="t" r="r" b="b"/>
            <a:pathLst>
              <a:path w="8144013" h="6783058">
                <a:moveTo>
                  <a:pt x="0" y="0"/>
                </a:moveTo>
                <a:lnTo>
                  <a:pt x="8144013" y="0"/>
                </a:lnTo>
                <a:lnTo>
                  <a:pt x="8144013" y="6783058"/>
                </a:lnTo>
                <a:lnTo>
                  <a:pt x="0" y="6783058"/>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19" name="TextBox 13">
            <a:extLst>
              <a:ext uri="{FF2B5EF4-FFF2-40B4-BE49-F238E27FC236}">
                <a16:creationId xmlns:a16="http://schemas.microsoft.com/office/drawing/2014/main" id="{1357919C-5FDD-19B6-BFD2-3B9B534EF34A}"/>
              </a:ext>
            </a:extLst>
          </p:cNvPr>
          <p:cNvSpPr txBox="1"/>
          <p:nvPr/>
        </p:nvSpPr>
        <p:spPr>
          <a:xfrm>
            <a:off x="457200" y="1388403"/>
            <a:ext cx="17439932" cy="706784"/>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LOCAL MINIMA </a:t>
            </a:r>
          </a:p>
        </p:txBody>
      </p:sp>
      <p:grpSp>
        <p:nvGrpSpPr>
          <p:cNvPr id="20" name="Group 5">
            <a:extLst>
              <a:ext uri="{FF2B5EF4-FFF2-40B4-BE49-F238E27FC236}">
                <a16:creationId xmlns:a16="http://schemas.microsoft.com/office/drawing/2014/main" id="{D62436AF-75F3-0C69-7808-89035F219F6D}"/>
              </a:ext>
            </a:extLst>
          </p:cNvPr>
          <p:cNvGrpSpPr/>
          <p:nvPr/>
        </p:nvGrpSpPr>
        <p:grpSpPr>
          <a:xfrm>
            <a:off x="0" y="9745595"/>
            <a:ext cx="15704172" cy="107156"/>
            <a:chOff x="0" y="0"/>
            <a:chExt cx="20938896" cy="142875"/>
          </a:xfrm>
        </p:grpSpPr>
        <p:sp>
          <p:nvSpPr>
            <p:cNvPr id="21" name="Freeform 6">
              <a:extLst>
                <a:ext uri="{FF2B5EF4-FFF2-40B4-BE49-F238E27FC236}">
                  <a16:creationId xmlns:a16="http://schemas.microsoft.com/office/drawing/2014/main" id="{5821179D-F32D-B526-CBD9-1F64DB10DD7D}"/>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22" name="Group 7">
            <a:extLst>
              <a:ext uri="{FF2B5EF4-FFF2-40B4-BE49-F238E27FC236}">
                <a16:creationId xmlns:a16="http://schemas.microsoft.com/office/drawing/2014/main" id="{F5CEE479-4BF2-7487-CC16-0C273000ADB7}"/>
              </a:ext>
            </a:extLst>
          </p:cNvPr>
          <p:cNvGrpSpPr/>
          <p:nvPr/>
        </p:nvGrpSpPr>
        <p:grpSpPr>
          <a:xfrm>
            <a:off x="16086906" y="9493508"/>
            <a:ext cx="1988172" cy="688105"/>
            <a:chOff x="0" y="0"/>
            <a:chExt cx="2650896" cy="917473"/>
          </a:xfrm>
        </p:grpSpPr>
        <p:sp>
          <p:nvSpPr>
            <p:cNvPr id="23" name="Freeform 8">
              <a:extLst>
                <a:ext uri="{FF2B5EF4-FFF2-40B4-BE49-F238E27FC236}">
                  <a16:creationId xmlns:a16="http://schemas.microsoft.com/office/drawing/2014/main" id="{9A734907-8D99-37F1-0CB9-D3341BBCF396}"/>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sp>
        <p:nvSpPr>
          <p:cNvPr id="17" name="TextBox 16">
            <a:extLst>
              <a:ext uri="{FF2B5EF4-FFF2-40B4-BE49-F238E27FC236}">
                <a16:creationId xmlns:a16="http://schemas.microsoft.com/office/drawing/2014/main" id="{5B65273A-75A0-F37E-71DF-AF6988953AC9}"/>
              </a:ext>
            </a:extLst>
          </p:cNvPr>
          <p:cNvSpPr txBox="1"/>
          <p:nvPr/>
        </p:nvSpPr>
        <p:spPr>
          <a:xfrm>
            <a:off x="7086600" y="9143676"/>
            <a:ext cx="5791200" cy="369332"/>
          </a:xfrm>
          <a:prstGeom prst="rect">
            <a:avLst/>
          </a:prstGeom>
          <a:noFill/>
        </p:spPr>
        <p:txBody>
          <a:bodyPr wrap="square" rtlCol="0">
            <a:spAutoFit/>
          </a:bodyPr>
          <a:lstStyle/>
          <a:p>
            <a:pPr algn="ctr"/>
            <a:r>
              <a:rPr lang="en-US" i="1"/>
              <a:t>Hình 6: Quỹ đạo của UAV trong trường hợp Local Minima</a:t>
            </a:r>
          </a:p>
        </p:txBody>
      </p:sp>
      <p:sp>
        <p:nvSpPr>
          <p:cNvPr id="24" name="TextBox 20">
            <a:extLst>
              <a:ext uri="{FF2B5EF4-FFF2-40B4-BE49-F238E27FC236}">
                <a16:creationId xmlns:a16="http://schemas.microsoft.com/office/drawing/2014/main" id="{F13F6152-E3CC-847D-89D2-3F376FEAB04E}"/>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909662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38100"/>
            <a:ext cx="18326100" cy="1371324"/>
            <a:chOff x="0" y="0"/>
            <a:chExt cx="24434800" cy="1828432"/>
          </a:xfrm>
        </p:grpSpPr>
        <p:sp>
          <p:nvSpPr>
            <p:cNvPr id="3" name="Freeform 3"/>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p:cNvGrpSpPr/>
          <p:nvPr/>
        </p:nvGrpSpPr>
        <p:grpSpPr>
          <a:xfrm>
            <a:off x="29594" y="0"/>
            <a:ext cx="9465469" cy="1112891"/>
            <a:chOff x="0" y="0"/>
            <a:chExt cx="12620625" cy="1483855"/>
          </a:xfrm>
        </p:grpSpPr>
        <p:sp>
          <p:nvSpPr>
            <p:cNvPr id="5" name="Freeform 5"/>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grpSp>
        <p:nvGrpSpPr>
          <p:cNvPr id="9" name="Group 9"/>
          <p:cNvGrpSpPr/>
          <p:nvPr/>
        </p:nvGrpSpPr>
        <p:grpSpPr>
          <a:xfrm>
            <a:off x="29594" y="0"/>
            <a:ext cx="1612373" cy="1112891"/>
            <a:chOff x="0" y="0"/>
            <a:chExt cx="2149831" cy="1483855"/>
          </a:xfrm>
        </p:grpSpPr>
        <p:sp>
          <p:nvSpPr>
            <p:cNvPr id="10" name="Freeform 10"/>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12" name="Freeform 12"/>
          <p:cNvSpPr/>
          <p:nvPr/>
        </p:nvSpPr>
        <p:spPr>
          <a:xfrm>
            <a:off x="457200" y="1402690"/>
            <a:ext cx="17439894" cy="692468"/>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4" name="Freeform 14"/>
          <p:cNvSpPr/>
          <p:nvPr/>
        </p:nvSpPr>
        <p:spPr>
          <a:xfrm>
            <a:off x="9296400" y="2161862"/>
            <a:ext cx="7812072" cy="6736736"/>
          </a:xfrm>
          <a:custGeom>
            <a:avLst/>
            <a:gdLst/>
            <a:ahLst/>
            <a:cxnLst/>
            <a:rect l="l" t="t" r="r" b="b"/>
            <a:pathLst>
              <a:path w="8492005" h="7667573">
                <a:moveTo>
                  <a:pt x="0" y="0"/>
                </a:moveTo>
                <a:lnTo>
                  <a:pt x="8492005" y="0"/>
                </a:lnTo>
                <a:lnTo>
                  <a:pt x="8492005" y="7667573"/>
                </a:lnTo>
                <a:lnTo>
                  <a:pt x="0" y="7667573"/>
                </a:lnTo>
                <a:lnTo>
                  <a:pt x="0" y="0"/>
                </a:lnTo>
                <a:close/>
              </a:path>
            </a:pathLst>
          </a:custGeom>
          <a:blipFill>
            <a:blip r:embed="rId2"/>
            <a:stretch>
              <a:fillRect/>
            </a:stretch>
          </a:blipFill>
        </p:spPr>
        <p:txBody>
          <a:bodyPr/>
          <a:lstStyle/>
          <a:p>
            <a:endParaRPr lang="en-US"/>
          </a:p>
        </p:txBody>
      </p:sp>
      <p:sp>
        <p:nvSpPr>
          <p:cNvPr id="15" name="Freeform 15"/>
          <p:cNvSpPr/>
          <p:nvPr/>
        </p:nvSpPr>
        <p:spPr>
          <a:xfrm>
            <a:off x="1143000" y="2203463"/>
            <a:ext cx="6899550" cy="6680847"/>
          </a:xfrm>
          <a:custGeom>
            <a:avLst/>
            <a:gdLst/>
            <a:ahLst/>
            <a:cxnLst/>
            <a:rect l="l" t="t" r="r" b="b"/>
            <a:pathLst>
              <a:path w="8434694" h="7672057">
                <a:moveTo>
                  <a:pt x="0" y="0"/>
                </a:moveTo>
                <a:lnTo>
                  <a:pt x="8434694" y="0"/>
                </a:lnTo>
                <a:lnTo>
                  <a:pt x="8434694" y="7672057"/>
                </a:lnTo>
                <a:lnTo>
                  <a:pt x="0" y="7672057"/>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19" name="TextBox 13">
            <a:extLst>
              <a:ext uri="{FF2B5EF4-FFF2-40B4-BE49-F238E27FC236}">
                <a16:creationId xmlns:a16="http://schemas.microsoft.com/office/drawing/2014/main" id="{743CE141-C963-60EF-0088-1A4F90996568}"/>
              </a:ext>
            </a:extLst>
          </p:cNvPr>
          <p:cNvSpPr txBox="1"/>
          <p:nvPr/>
        </p:nvSpPr>
        <p:spPr>
          <a:xfrm>
            <a:off x="457200" y="1388403"/>
            <a:ext cx="17439932" cy="706784"/>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LOCAL MINIMA </a:t>
            </a:r>
          </a:p>
        </p:txBody>
      </p:sp>
      <p:grpSp>
        <p:nvGrpSpPr>
          <p:cNvPr id="20" name="Group 5">
            <a:extLst>
              <a:ext uri="{FF2B5EF4-FFF2-40B4-BE49-F238E27FC236}">
                <a16:creationId xmlns:a16="http://schemas.microsoft.com/office/drawing/2014/main" id="{54873414-C9FF-36C4-62B3-5BC977C67541}"/>
              </a:ext>
            </a:extLst>
          </p:cNvPr>
          <p:cNvGrpSpPr/>
          <p:nvPr/>
        </p:nvGrpSpPr>
        <p:grpSpPr>
          <a:xfrm>
            <a:off x="0" y="9745595"/>
            <a:ext cx="15704172" cy="107156"/>
            <a:chOff x="0" y="0"/>
            <a:chExt cx="20938896" cy="142875"/>
          </a:xfrm>
        </p:grpSpPr>
        <p:sp>
          <p:nvSpPr>
            <p:cNvPr id="21" name="Freeform 6">
              <a:extLst>
                <a:ext uri="{FF2B5EF4-FFF2-40B4-BE49-F238E27FC236}">
                  <a16:creationId xmlns:a16="http://schemas.microsoft.com/office/drawing/2014/main" id="{3B8F2522-1F8D-4386-49CC-4E596EB793FE}"/>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22" name="Group 7">
            <a:extLst>
              <a:ext uri="{FF2B5EF4-FFF2-40B4-BE49-F238E27FC236}">
                <a16:creationId xmlns:a16="http://schemas.microsoft.com/office/drawing/2014/main" id="{36177CC7-315E-F319-B418-0A73E1AED6BC}"/>
              </a:ext>
            </a:extLst>
          </p:cNvPr>
          <p:cNvGrpSpPr/>
          <p:nvPr/>
        </p:nvGrpSpPr>
        <p:grpSpPr>
          <a:xfrm>
            <a:off x="16086906" y="9493508"/>
            <a:ext cx="1988172" cy="688105"/>
            <a:chOff x="0" y="0"/>
            <a:chExt cx="2650896" cy="917473"/>
          </a:xfrm>
        </p:grpSpPr>
        <p:sp>
          <p:nvSpPr>
            <p:cNvPr id="23" name="Freeform 8">
              <a:extLst>
                <a:ext uri="{FF2B5EF4-FFF2-40B4-BE49-F238E27FC236}">
                  <a16:creationId xmlns:a16="http://schemas.microsoft.com/office/drawing/2014/main" id="{5587F350-A127-16A7-4C2C-E576A4E3F8B6}"/>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sp>
        <p:nvSpPr>
          <p:cNvPr id="17" name="TextBox 16">
            <a:extLst>
              <a:ext uri="{FF2B5EF4-FFF2-40B4-BE49-F238E27FC236}">
                <a16:creationId xmlns:a16="http://schemas.microsoft.com/office/drawing/2014/main" id="{795075F2-6B18-3E70-D20D-50F0372F399F}"/>
              </a:ext>
            </a:extLst>
          </p:cNvPr>
          <p:cNvSpPr txBox="1"/>
          <p:nvPr/>
        </p:nvSpPr>
        <p:spPr>
          <a:xfrm>
            <a:off x="1866728" y="9029700"/>
            <a:ext cx="5791200" cy="646331"/>
          </a:xfrm>
          <a:prstGeom prst="rect">
            <a:avLst/>
          </a:prstGeom>
          <a:noFill/>
        </p:spPr>
        <p:txBody>
          <a:bodyPr wrap="square" rtlCol="0">
            <a:spAutoFit/>
          </a:bodyPr>
          <a:lstStyle/>
          <a:p>
            <a:pPr algn="ctr"/>
            <a:r>
              <a:rPr lang="en-US" i="1"/>
              <a:t>Hình 7: Các góc trạng thái của UAV trong trường hợp Local Minima</a:t>
            </a:r>
          </a:p>
        </p:txBody>
      </p:sp>
      <p:sp>
        <p:nvSpPr>
          <p:cNvPr id="24" name="TextBox 23">
            <a:extLst>
              <a:ext uri="{FF2B5EF4-FFF2-40B4-BE49-F238E27FC236}">
                <a16:creationId xmlns:a16="http://schemas.microsoft.com/office/drawing/2014/main" id="{3A403900-B82E-D898-F607-CB6DFE9BE50D}"/>
              </a:ext>
            </a:extLst>
          </p:cNvPr>
          <p:cNvSpPr txBox="1"/>
          <p:nvPr/>
        </p:nvSpPr>
        <p:spPr>
          <a:xfrm>
            <a:off x="10651995" y="9031277"/>
            <a:ext cx="5791200" cy="369332"/>
          </a:xfrm>
          <a:prstGeom prst="rect">
            <a:avLst/>
          </a:prstGeom>
          <a:noFill/>
        </p:spPr>
        <p:txBody>
          <a:bodyPr wrap="square" rtlCol="0">
            <a:spAutoFit/>
          </a:bodyPr>
          <a:lstStyle/>
          <a:p>
            <a:pPr algn="ctr"/>
            <a:r>
              <a:rPr lang="en-US" i="1"/>
              <a:t>Hình 8: Vận tốc của UAV trong trường hợp Local Minima</a:t>
            </a:r>
          </a:p>
        </p:txBody>
      </p:sp>
      <p:sp>
        <p:nvSpPr>
          <p:cNvPr id="13" name="TextBox 20">
            <a:extLst>
              <a:ext uri="{FF2B5EF4-FFF2-40B4-BE49-F238E27FC236}">
                <a16:creationId xmlns:a16="http://schemas.microsoft.com/office/drawing/2014/main" id="{649DCFD2-80F7-C477-D966-EE52DC3E2B6C}"/>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370208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D1DB-5225-773D-69E6-901758945E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E10F1C1-E708-0DE3-B50E-5CB6D77151CF}"/>
              </a:ext>
            </a:extLst>
          </p:cNvPr>
          <p:cNvGrpSpPr/>
          <p:nvPr/>
        </p:nvGrpSpPr>
        <p:grpSpPr>
          <a:xfrm>
            <a:off x="-19050" y="-38100"/>
            <a:ext cx="18326100" cy="1371324"/>
            <a:chOff x="0" y="0"/>
            <a:chExt cx="24434800" cy="1828432"/>
          </a:xfrm>
        </p:grpSpPr>
        <p:sp>
          <p:nvSpPr>
            <p:cNvPr id="3" name="Freeform 3">
              <a:extLst>
                <a:ext uri="{FF2B5EF4-FFF2-40B4-BE49-F238E27FC236}">
                  <a16:creationId xmlns:a16="http://schemas.microsoft.com/office/drawing/2014/main" id="{E625927D-FAAA-8C68-2F14-ECD2091E5159}"/>
                </a:ext>
              </a:extLst>
            </p:cNvPr>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a:extLst>
              <a:ext uri="{FF2B5EF4-FFF2-40B4-BE49-F238E27FC236}">
                <a16:creationId xmlns:a16="http://schemas.microsoft.com/office/drawing/2014/main" id="{C9D8546C-994A-08FD-4F3C-9542E27265F3}"/>
              </a:ext>
            </a:extLst>
          </p:cNvPr>
          <p:cNvGrpSpPr/>
          <p:nvPr/>
        </p:nvGrpSpPr>
        <p:grpSpPr>
          <a:xfrm>
            <a:off x="29594" y="0"/>
            <a:ext cx="9465469" cy="1112891"/>
            <a:chOff x="0" y="0"/>
            <a:chExt cx="12620625" cy="1483855"/>
          </a:xfrm>
        </p:grpSpPr>
        <p:sp>
          <p:nvSpPr>
            <p:cNvPr id="5" name="Freeform 5">
              <a:extLst>
                <a:ext uri="{FF2B5EF4-FFF2-40B4-BE49-F238E27FC236}">
                  <a16:creationId xmlns:a16="http://schemas.microsoft.com/office/drawing/2014/main" id="{035F5282-0C49-7439-E1C2-667B833B1E12}"/>
                </a:ext>
              </a:extLst>
            </p:cNvPr>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7" name="Freeform 7">
            <a:extLst>
              <a:ext uri="{FF2B5EF4-FFF2-40B4-BE49-F238E27FC236}">
                <a16:creationId xmlns:a16="http://schemas.microsoft.com/office/drawing/2014/main" id="{1D7F8B71-E2B3-78E9-B699-35C9FFBCE9F9}"/>
              </a:ext>
            </a:extLst>
          </p:cNvPr>
          <p:cNvSpPr/>
          <p:nvPr/>
        </p:nvSpPr>
        <p:spPr>
          <a:xfrm>
            <a:off x="1799377" y="285950"/>
            <a:ext cx="7109766" cy="566978"/>
          </a:xfrm>
          <a:custGeom>
            <a:avLst/>
            <a:gdLst/>
            <a:ahLst/>
            <a:cxnLst/>
            <a:rect l="l" t="t" r="r" b="b"/>
            <a:pathLst>
              <a:path w="9479687" h="755971">
                <a:moveTo>
                  <a:pt x="0" y="0"/>
                </a:moveTo>
                <a:lnTo>
                  <a:pt x="9479687" y="0"/>
                </a:lnTo>
                <a:lnTo>
                  <a:pt x="9479687" y="755971"/>
                </a:lnTo>
                <a:lnTo>
                  <a:pt x="0" y="755971"/>
                </a:lnTo>
                <a:close/>
              </a:path>
            </a:pathLst>
          </a:custGeom>
          <a:blipFill>
            <a:blip r:embed="rId2">
              <a:alphaModFix amt="0"/>
            </a:blip>
            <a:stretch>
              <a:fillRect t="-194337" b="-194337"/>
            </a:stretch>
          </a:blipFill>
        </p:spPr>
        <p:txBody>
          <a:bodyPr/>
          <a:lstStyle/>
          <a:p>
            <a:endParaRPr lang="en-US"/>
          </a:p>
        </p:txBody>
      </p:sp>
      <p:grpSp>
        <p:nvGrpSpPr>
          <p:cNvPr id="9" name="Group 9">
            <a:extLst>
              <a:ext uri="{FF2B5EF4-FFF2-40B4-BE49-F238E27FC236}">
                <a16:creationId xmlns:a16="http://schemas.microsoft.com/office/drawing/2014/main" id="{91842F7B-5320-3E53-9FBB-D860F363BF9E}"/>
              </a:ext>
            </a:extLst>
          </p:cNvPr>
          <p:cNvGrpSpPr/>
          <p:nvPr/>
        </p:nvGrpSpPr>
        <p:grpSpPr>
          <a:xfrm>
            <a:off x="29594" y="0"/>
            <a:ext cx="1612373" cy="1112891"/>
            <a:chOff x="0" y="0"/>
            <a:chExt cx="2149831" cy="1483855"/>
          </a:xfrm>
        </p:grpSpPr>
        <p:sp>
          <p:nvSpPr>
            <p:cNvPr id="10" name="Freeform 10">
              <a:extLst>
                <a:ext uri="{FF2B5EF4-FFF2-40B4-BE49-F238E27FC236}">
                  <a16:creationId xmlns:a16="http://schemas.microsoft.com/office/drawing/2014/main" id="{055D067C-FF19-110A-2D2D-A8ED5B5C3C5E}"/>
                </a:ext>
              </a:extLst>
            </p:cNvPr>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12" name="Freeform 12">
            <a:extLst>
              <a:ext uri="{FF2B5EF4-FFF2-40B4-BE49-F238E27FC236}">
                <a16:creationId xmlns:a16="http://schemas.microsoft.com/office/drawing/2014/main" id="{4AD78465-25D3-4169-1439-8198B016871A}"/>
              </a:ext>
            </a:extLst>
          </p:cNvPr>
          <p:cNvSpPr/>
          <p:nvPr/>
        </p:nvSpPr>
        <p:spPr>
          <a:xfrm>
            <a:off x="457200" y="1402690"/>
            <a:ext cx="17439894" cy="692468"/>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6" name="TextBox 16">
            <a:extLst>
              <a:ext uri="{FF2B5EF4-FFF2-40B4-BE49-F238E27FC236}">
                <a16:creationId xmlns:a16="http://schemas.microsoft.com/office/drawing/2014/main" id="{A4B51E24-703C-08C8-9CD6-F99C5A3A16C6}"/>
              </a:ext>
            </a:extLst>
          </p:cNvPr>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19" name="TextBox 13">
            <a:extLst>
              <a:ext uri="{FF2B5EF4-FFF2-40B4-BE49-F238E27FC236}">
                <a16:creationId xmlns:a16="http://schemas.microsoft.com/office/drawing/2014/main" id="{A1CCB3E8-87A7-0C96-E332-53F2D54F37F4}"/>
              </a:ext>
            </a:extLst>
          </p:cNvPr>
          <p:cNvSpPr txBox="1"/>
          <p:nvPr/>
        </p:nvSpPr>
        <p:spPr>
          <a:xfrm>
            <a:off x="457200" y="1388403"/>
            <a:ext cx="17439932" cy="706784"/>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LANDING</a:t>
            </a:r>
          </a:p>
        </p:txBody>
      </p:sp>
      <p:pic>
        <p:nvPicPr>
          <p:cNvPr id="20" name="Picture 19">
            <a:extLst>
              <a:ext uri="{FF2B5EF4-FFF2-40B4-BE49-F238E27FC236}">
                <a16:creationId xmlns:a16="http://schemas.microsoft.com/office/drawing/2014/main" id="{706C0AA2-46FA-EE34-FB7E-4436D31EA2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 y="2644705"/>
            <a:ext cx="7772931" cy="4997590"/>
          </a:xfrm>
          <a:prstGeom prst="rect">
            <a:avLst/>
          </a:prstGeom>
        </p:spPr>
      </p:pic>
      <p:grpSp>
        <p:nvGrpSpPr>
          <p:cNvPr id="29" name="Group 5">
            <a:extLst>
              <a:ext uri="{FF2B5EF4-FFF2-40B4-BE49-F238E27FC236}">
                <a16:creationId xmlns:a16="http://schemas.microsoft.com/office/drawing/2014/main" id="{6F4A43A9-6DA8-8802-7FA9-33810C1B3471}"/>
              </a:ext>
            </a:extLst>
          </p:cNvPr>
          <p:cNvGrpSpPr/>
          <p:nvPr/>
        </p:nvGrpSpPr>
        <p:grpSpPr>
          <a:xfrm>
            <a:off x="0" y="9745595"/>
            <a:ext cx="15704172" cy="107156"/>
            <a:chOff x="0" y="0"/>
            <a:chExt cx="20938896" cy="142875"/>
          </a:xfrm>
        </p:grpSpPr>
        <p:sp>
          <p:nvSpPr>
            <p:cNvPr id="30" name="Freeform 6">
              <a:extLst>
                <a:ext uri="{FF2B5EF4-FFF2-40B4-BE49-F238E27FC236}">
                  <a16:creationId xmlns:a16="http://schemas.microsoft.com/office/drawing/2014/main" id="{C9F8F15B-19CC-C985-5CBA-963D92CB476B}"/>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31" name="Group 7">
            <a:extLst>
              <a:ext uri="{FF2B5EF4-FFF2-40B4-BE49-F238E27FC236}">
                <a16:creationId xmlns:a16="http://schemas.microsoft.com/office/drawing/2014/main" id="{F3B6FBF1-BA03-B4A4-3CBE-1DFE375239A7}"/>
              </a:ext>
            </a:extLst>
          </p:cNvPr>
          <p:cNvGrpSpPr/>
          <p:nvPr/>
        </p:nvGrpSpPr>
        <p:grpSpPr>
          <a:xfrm>
            <a:off x="16086906" y="9493508"/>
            <a:ext cx="1988172" cy="688105"/>
            <a:chOff x="0" y="0"/>
            <a:chExt cx="2650896" cy="917473"/>
          </a:xfrm>
        </p:grpSpPr>
        <p:sp>
          <p:nvSpPr>
            <p:cNvPr id="32" name="Freeform 8">
              <a:extLst>
                <a:ext uri="{FF2B5EF4-FFF2-40B4-BE49-F238E27FC236}">
                  <a16:creationId xmlns:a16="http://schemas.microsoft.com/office/drawing/2014/main" id="{472AB2DF-645E-D5DD-0E7A-C11A09BAB6BC}"/>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4"/>
              <a:stretch>
                <a:fillRect l="-183" r="-185" b="-2"/>
              </a:stretch>
            </a:blipFill>
          </p:spPr>
          <p:txBody>
            <a:bodyPr/>
            <a:lstStyle/>
            <a:p>
              <a:endParaRPr lang="en-US"/>
            </a:p>
          </p:txBody>
        </p:sp>
      </p:grpSp>
      <p:pic>
        <p:nvPicPr>
          <p:cNvPr id="21" name="Picture 20">
            <a:extLst>
              <a:ext uri="{FF2B5EF4-FFF2-40B4-BE49-F238E27FC236}">
                <a16:creationId xmlns:a16="http://schemas.microsoft.com/office/drawing/2014/main" id="{3EDD0228-DDC1-0E90-F404-D6A9B1F902C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34600" y="2563385"/>
            <a:ext cx="6487237" cy="5903802"/>
          </a:xfrm>
          <a:prstGeom prst="rect">
            <a:avLst/>
          </a:prstGeom>
        </p:spPr>
      </p:pic>
      <p:sp>
        <p:nvSpPr>
          <p:cNvPr id="23" name="TextBox 22">
            <a:extLst>
              <a:ext uri="{FF2B5EF4-FFF2-40B4-BE49-F238E27FC236}">
                <a16:creationId xmlns:a16="http://schemas.microsoft.com/office/drawing/2014/main" id="{8B5A44EA-668A-6D54-3FF3-9E8D7AF14FD0}"/>
              </a:ext>
            </a:extLst>
          </p:cNvPr>
          <p:cNvSpPr txBox="1"/>
          <p:nvPr/>
        </p:nvSpPr>
        <p:spPr>
          <a:xfrm>
            <a:off x="10651995" y="8648700"/>
            <a:ext cx="5791200" cy="369332"/>
          </a:xfrm>
          <a:prstGeom prst="rect">
            <a:avLst/>
          </a:prstGeom>
          <a:noFill/>
        </p:spPr>
        <p:txBody>
          <a:bodyPr wrap="square" rtlCol="0">
            <a:spAutoFit/>
          </a:bodyPr>
          <a:lstStyle/>
          <a:p>
            <a:pPr algn="ctr"/>
            <a:r>
              <a:rPr lang="en-US" i="1"/>
              <a:t>Hình 10: Mặt trượt</a:t>
            </a:r>
          </a:p>
        </p:txBody>
      </p:sp>
      <p:sp>
        <p:nvSpPr>
          <p:cNvPr id="25" name="TextBox 24">
            <a:extLst>
              <a:ext uri="{FF2B5EF4-FFF2-40B4-BE49-F238E27FC236}">
                <a16:creationId xmlns:a16="http://schemas.microsoft.com/office/drawing/2014/main" id="{CD64F273-8514-8F05-F6B8-BA0E2FBBD020}"/>
              </a:ext>
            </a:extLst>
          </p:cNvPr>
          <p:cNvSpPr txBox="1"/>
          <p:nvPr/>
        </p:nvSpPr>
        <p:spPr>
          <a:xfrm>
            <a:off x="1866728" y="8648700"/>
            <a:ext cx="6515272" cy="369332"/>
          </a:xfrm>
          <a:prstGeom prst="rect">
            <a:avLst/>
          </a:prstGeom>
          <a:noFill/>
        </p:spPr>
        <p:txBody>
          <a:bodyPr wrap="square" rtlCol="0">
            <a:spAutoFit/>
          </a:bodyPr>
          <a:lstStyle/>
          <a:p>
            <a:pPr algn="ctr"/>
            <a:r>
              <a:rPr lang="en-US" i="1"/>
              <a:t>Hình 9: Quỹ đạo hạ cánh của UAV </a:t>
            </a:r>
          </a:p>
        </p:txBody>
      </p:sp>
      <p:sp>
        <p:nvSpPr>
          <p:cNvPr id="13" name="TextBox 20">
            <a:extLst>
              <a:ext uri="{FF2B5EF4-FFF2-40B4-BE49-F238E27FC236}">
                <a16:creationId xmlns:a16="http://schemas.microsoft.com/office/drawing/2014/main" id="{77055276-F37F-6FA4-3EA5-6B1981102556}"/>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763383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4389E-9D7A-83FF-6E9E-65FAA92F57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7B04BE-A697-8972-1694-73789C142D70}"/>
              </a:ext>
            </a:extLst>
          </p:cNvPr>
          <p:cNvGrpSpPr/>
          <p:nvPr/>
        </p:nvGrpSpPr>
        <p:grpSpPr>
          <a:xfrm>
            <a:off x="-19050" y="-38100"/>
            <a:ext cx="18326100" cy="1371324"/>
            <a:chOff x="0" y="0"/>
            <a:chExt cx="24434800" cy="1828432"/>
          </a:xfrm>
        </p:grpSpPr>
        <p:sp>
          <p:nvSpPr>
            <p:cNvPr id="3" name="Freeform 3">
              <a:extLst>
                <a:ext uri="{FF2B5EF4-FFF2-40B4-BE49-F238E27FC236}">
                  <a16:creationId xmlns:a16="http://schemas.microsoft.com/office/drawing/2014/main" id="{73218098-B3A4-60CF-77A0-0601BAA0AFFB}"/>
                </a:ext>
              </a:extLst>
            </p:cNvPr>
            <p:cNvSpPr/>
            <p:nvPr/>
          </p:nvSpPr>
          <p:spPr>
            <a:xfrm>
              <a:off x="0" y="0"/>
              <a:ext cx="24434800" cy="1828419"/>
            </a:xfrm>
            <a:custGeom>
              <a:avLst/>
              <a:gdLst/>
              <a:ahLst/>
              <a:cxnLst/>
              <a:rect l="l" t="t" r="r" b="b"/>
              <a:pathLst>
                <a:path w="24434800" h="1828419">
                  <a:moveTo>
                    <a:pt x="0" y="0"/>
                  </a:moveTo>
                  <a:lnTo>
                    <a:pt x="24434800" y="0"/>
                  </a:lnTo>
                  <a:lnTo>
                    <a:pt x="24434800" y="1828419"/>
                  </a:lnTo>
                  <a:lnTo>
                    <a:pt x="0" y="1828419"/>
                  </a:lnTo>
                  <a:close/>
                </a:path>
              </a:pathLst>
            </a:custGeom>
            <a:solidFill>
              <a:srgbClr val="F0F0F0"/>
            </a:solidFill>
            <a:ln w="38100" cap="sq">
              <a:solidFill>
                <a:srgbClr val="E8E8E8"/>
              </a:solidFill>
              <a:prstDash val="solid"/>
              <a:miter/>
            </a:ln>
          </p:spPr>
          <p:txBody>
            <a:bodyPr/>
            <a:lstStyle/>
            <a:p>
              <a:endParaRPr lang="en-US"/>
            </a:p>
          </p:txBody>
        </p:sp>
      </p:grpSp>
      <p:grpSp>
        <p:nvGrpSpPr>
          <p:cNvPr id="4" name="Group 4">
            <a:extLst>
              <a:ext uri="{FF2B5EF4-FFF2-40B4-BE49-F238E27FC236}">
                <a16:creationId xmlns:a16="http://schemas.microsoft.com/office/drawing/2014/main" id="{CA3E2878-233D-3262-5011-4773DA8D6A48}"/>
              </a:ext>
            </a:extLst>
          </p:cNvPr>
          <p:cNvGrpSpPr/>
          <p:nvPr/>
        </p:nvGrpSpPr>
        <p:grpSpPr>
          <a:xfrm>
            <a:off x="29594" y="0"/>
            <a:ext cx="9465469" cy="1112891"/>
            <a:chOff x="0" y="0"/>
            <a:chExt cx="12620625" cy="1483855"/>
          </a:xfrm>
        </p:grpSpPr>
        <p:sp>
          <p:nvSpPr>
            <p:cNvPr id="5" name="Freeform 5">
              <a:extLst>
                <a:ext uri="{FF2B5EF4-FFF2-40B4-BE49-F238E27FC236}">
                  <a16:creationId xmlns:a16="http://schemas.microsoft.com/office/drawing/2014/main" id="{8AB15E72-77CA-30E7-9337-85C049FAA074}"/>
                </a:ext>
              </a:extLst>
            </p:cNvPr>
            <p:cNvSpPr/>
            <p:nvPr/>
          </p:nvSpPr>
          <p:spPr>
            <a:xfrm>
              <a:off x="0" y="0"/>
              <a:ext cx="12620625" cy="1483868"/>
            </a:xfrm>
            <a:custGeom>
              <a:avLst/>
              <a:gdLst/>
              <a:ahLst/>
              <a:cxnLst/>
              <a:rect l="l" t="t" r="r" b="b"/>
              <a:pathLst>
                <a:path w="12620625" h="1483868">
                  <a:moveTo>
                    <a:pt x="0" y="0"/>
                  </a:moveTo>
                  <a:lnTo>
                    <a:pt x="12620625" y="0"/>
                  </a:lnTo>
                  <a:lnTo>
                    <a:pt x="11577574" y="1483868"/>
                  </a:lnTo>
                  <a:lnTo>
                    <a:pt x="0" y="1483868"/>
                  </a:lnTo>
                  <a:lnTo>
                    <a:pt x="0" y="0"/>
                  </a:lnTo>
                  <a:close/>
                </a:path>
              </a:pathLst>
            </a:custGeom>
            <a:solidFill>
              <a:srgbClr val="595959"/>
            </a:solidFill>
          </p:spPr>
          <p:txBody>
            <a:bodyPr/>
            <a:lstStyle/>
            <a:p>
              <a:endParaRPr lang="en-US"/>
            </a:p>
          </p:txBody>
        </p:sp>
      </p:grpSp>
      <p:sp>
        <p:nvSpPr>
          <p:cNvPr id="7" name="Freeform 7">
            <a:extLst>
              <a:ext uri="{FF2B5EF4-FFF2-40B4-BE49-F238E27FC236}">
                <a16:creationId xmlns:a16="http://schemas.microsoft.com/office/drawing/2014/main" id="{B4035453-D8A5-BB05-C34A-0F21AA710D75}"/>
              </a:ext>
            </a:extLst>
          </p:cNvPr>
          <p:cNvSpPr/>
          <p:nvPr/>
        </p:nvSpPr>
        <p:spPr>
          <a:xfrm>
            <a:off x="1799377" y="285950"/>
            <a:ext cx="7109766" cy="566978"/>
          </a:xfrm>
          <a:custGeom>
            <a:avLst/>
            <a:gdLst/>
            <a:ahLst/>
            <a:cxnLst/>
            <a:rect l="l" t="t" r="r" b="b"/>
            <a:pathLst>
              <a:path w="9479687" h="755971">
                <a:moveTo>
                  <a:pt x="0" y="0"/>
                </a:moveTo>
                <a:lnTo>
                  <a:pt x="9479687" y="0"/>
                </a:lnTo>
                <a:lnTo>
                  <a:pt x="9479687" y="755971"/>
                </a:lnTo>
                <a:lnTo>
                  <a:pt x="0" y="755971"/>
                </a:lnTo>
                <a:close/>
              </a:path>
            </a:pathLst>
          </a:custGeom>
          <a:blipFill>
            <a:blip r:embed="rId2">
              <a:alphaModFix amt="0"/>
            </a:blip>
            <a:stretch>
              <a:fillRect t="-194337" b="-194337"/>
            </a:stretch>
          </a:blipFill>
        </p:spPr>
        <p:txBody>
          <a:bodyPr/>
          <a:lstStyle/>
          <a:p>
            <a:endParaRPr lang="en-US"/>
          </a:p>
        </p:txBody>
      </p:sp>
      <p:grpSp>
        <p:nvGrpSpPr>
          <p:cNvPr id="9" name="Group 9">
            <a:extLst>
              <a:ext uri="{FF2B5EF4-FFF2-40B4-BE49-F238E27FC236}">
                <a16:creationId xmlns:a16="http://schemas.microsoft.com/office/drawing/2014/main" id="{D0F43EB6-9FCB-0777-8A86-26DAB9B5180F}"/>
              </a:ext>
            </a:extLst>
          </p:cNvPr>
          <p:cNvGrpSpPr/>
          <p:nvPr/>
        </p:nvGrpSpPr>
        <p:grpSpPr>
          <a:xfrm>
            <a:off x="29594" y="0"/>
            <a:ext cx="1612373" cy="1112891"/>
            <a:chOff x="0" y="0"/>
            <a:chExt cx="2149831" cy="1483855"/>
          </a:xfrm>
        </p:grpSpPr>
        <p:sp>
          <p:nvSpPr>
            <p:cNvPr id="10" name="Freeform 10">
              <a:extLst>
                <a:ext uri="{FF2B5EF4-FFF2-40B4-BE49-F238E27FC236}">
                  <a16:creationId xmlns:a16="http://schemas.microsoft.com/office/drawing/2014/main" id="{7BA3CA87-F692-7449-9A0B-97146E6515B9}"/>
                </a:ext>
              </a:extLst>
            </p:cNvPr>
            <p:cNvSpPr/>
            <p:nvPr/>
          </p:nvSpPr>
          <p:spPr>
            <a:xfrm>
              <a:off x="0" y="0"/>
              <a:ext cx="2149856" cy="1483868"/>
            </a:xfrm>
            <a:custGeom>
              <a:avLst/>
              <a:gdLst/>
              <a:ahLst/>
              <a:cxnLst/>
              <a:rect l="l" t="t" r="r" b="b"/>
              <a:pathLst>
                <a:path w="2149856" h="1483868">
                  <a:moveTo>
                    <a:pt x="0" y="0"/>
                  </a:moveTo>
                  <a:lnTo>
                    <a:pt x="2149856" y="0"/>
                  </a:lnTo>
                  <a:lnTo>
                    <a:pt x="2149856" y="1483868"/>
                  </a:lnTo>
                  <a:lnTo>
                    <a:pt x="0" y="1483868"/>
                  </a:lnTo>
                  <a:close/>
                </a:path>
              </a:pathLst>
            </a:custGeom>
            <a:solidFill>
              <a:srgbClr val="DB3038"/>
            </a:solidFill>
          </p:spPr>
          <p:txBody>
            <a:bodyPr/>
            <a:lstStyle/>
            <a:p>
              <a:endParaRPr lang="en-US"/>
            </a:p>
          </p:txBody>
        </p:sp>
      </p:grpSp>
      <p:sp>
        <p:nvSpPr>
          <p:cNvPr id="12" name="Freeform 12">
            <a:extLst>
              <a:ext uri="{FF2B5EF4-FFF2-40B4-BE49-F238E27FC236}">
                <a16:creationId xmlns:a16="http://schemas.microsoft.com/office/drawing/2014/main" id="{179B0C2C-8804-2BDC-43AF-DB490022024E}"/>
              </a:ext>
            </a:extLst>
          </p:cNvPr>
          <p:cNvSpPr/>
          <p:nvPr/>
        </p:nvSpPr>
        <p:spPr>
          <a:xfrm>
            <a:off x="457200" y="1402690"/>
            <a:ext cx="17439894" cy="692468"/>
          </a:xfrm>
          <a:custGeom>
            <a:avLst/>
            <a:gdLst/>
            <a:ahLst/>
            <a:cxnLst/>
            <a:rect l="l" t="t" r="r" b="b"/>
            <a:pathLst>
              <a:path w="23253192" h="923290">
                <a:moveTo>
                  <a:pt x="0" y="0"/>
                </a:moveTo>
                <a:lnTo>
                  <a:pt x="23253192" y="0"/>
                </a:lnTo>
                <a:lnTo>
                  <a:pt x="23253192" y="923290"/>
                </a:lnTo>
                <a:lnTo>
                  <a:pt x="0" y="923290"/>
                </a:lnTo>
                <a:close/>
              </a:path>
            </a:pathLst>
          </a:custGeom>
          <a:solidFill>
            <a:srgbClr val="F2F2F2">
              <a:alpha val="63922"/>
            </a:srgbClr>
          </a:solidFill>
        </p:spPr>
        <p:txBody>
          <a:bodyPr/>
          <a:lstStyle/>
          <a:p>
            <a:endParaRPr lang="en-US"/>
          </a:p>
        </p:txBody>
      </p:sp>
      <p:sp>
        <p:nvSpPr>
          <p:cNvPr id="16" name="TextBox 16">
            <a:extLst>
              <a:ext uri="{FF2B5EF4-FFF2-40B4-BE49-F238E27FC236}">
                <a16:creationId xmlns:a16="http://schemas.microsoft.com/office/drawing/2014/main" id="{D8FBE805-E8F8-58BF-7680-4F4CDCCF1BCC}"/>
              </a:ext>
            </a:extLst>
          </p:cNvPr>
          <p:cNvSpPr txBox="1"/>
          <p:nvPr/>
        </p:nvSpPr>
        <p:spPr>
          <a:xfrm>
            <a:off x="264233" y="86192"/>
            <a:ext cx="1286294" cy="692497"/>
          </a:xfrm>
          <a:prstGeom prst="rect">
            <a:avLst/>
          </a:prstGeom>
        </p:spPr>
        <p:txBody>
          <a:bodyPr lIns="0" tIns="0" rIns="0" bIns="0" rtlCol="0" anchor="t">
            <a:spAutoFit/>
          </a:bodyPr>
          <a:lstStyle/>
          <a:p>
            <a:pPr algn="l">
              <a:lnSpc>
                <a:spcPts val="5400"/>
              </a:lnSpc>
            </a:pPr>
            <a:r>
              <a:rPr lang="en-US" sz="4500" b="1">
                <a:solidFill>
                  <a:srgbClr val="FFFFFF"/>
                </a:solidFill>
                <a:latin typeface="Bai Jamjuree Bold"/>
                <a:ea typeface="Bai Jamjuree Bold"/>
                <a:cs typeface="Bai Jamjuree Bold"/>
                <a:sym typeface="Bai Jamjuree Bold"/>
              </a:rPr>
              <a:t>06</a:t>
            </a:r>
          </a:p>
        </p:txBody>
      </p:sp>
      <p:sp>
        <p:nvSpPr>
          <p:cNvPr id="19" name="TextBox 13">
            <a:extLst>
              <a:ext uri="{FF2B5EF4-FFF2-40B4-BE49-F238E27FC236}">
                <a16:creationId xmlns:a16="http://schemas.microsoft.com/office/drawing/2014/main" id="{137BDB95-F6FD-78FC-7F17-9B87CF555E40}"/>
              </a:ext>
            </a:extLst>
          </p:cNvPr>
          <p:cNvSpPr txBox="1"/>
          <p:nvPr/>
        </p:nvSpPr>
        <p:spPr>
          <a:xfrm>
            <a:off x="457200" y="1388403"/>
            <a:ext cx="17439932" cy="706784"/>
          </a:xfrm>
          <a:prstGeom prst="rect">
            <a:avLst/>
          </a:prstGeom>
        </p:spPr>
        <p:txBody>
          <a:bodyPr lIns="50800" tIns="50800" rIns="50800" bIns="50800" rtlCol="0" anchor="t"/>
          <a:lstStyle/>
          <a:p>
            <a:pPr algn="just">
              <a:lnSpc>
                <a:spcPts val="3600"/>
              </a:lnSpc>
            </a:pPr>
            <a:r>
              <a:rPr lang="en-US" sz="3000" b="1">
                <a:solidFill>
                  <a:srgbClr val="000000"/>
                </a:solidFill>
                <a:latin typeface="Arial Bold"/>
                <a:ea typeface="Arial Bold"/>
                <a:cs typeface="Arial Bold"/>
                <a:sym typeface="Arial Bold"/>
              </a:rPr>
              <a:t>LANDING</a:t>
            </a:r>
          </a:p>
        </p:txBody>
      </p:sp>
      <p:grpSp>
        <p:nvGrpSpPr>
          <p:cNvPr id="29" name="Group 5">
            <a:extLst>
              <a:ext uri="{FF2B5EF4-FFF2-40B4-BE49-F238E27FC236}">
                <a16:creationId xmlns:a16="http://schemas.microsoft.com/office/drawing/2014/main" id="{13EF8E7A-1BBB-BF06-01F7-6CEDB5F06AAD}"/>
              </a:ext>
            </a:extLst>
          </p:cNvPr>
          <p:cNvGrpSpPr/>
          <p:nvPr/>
        </p:nvGrpSpPr>
        <p:grpSpPr>
          <a:xfrm>
            <a:off x="0" y="9745595"/>
            <a:ext cx="15704172" cy="107156"/>
            <a:chOff x="0" y="0"/>
            <a:chExt cx="20938896" cy="142875"/>
          </a:xfrm>
        </p:grpSpPr>
        <p:sp>
          <p:nvSpPr>
            <p:cNvPr id="30" name="Freeform 6">
              <a:extLst>
                <a:ext uri="{FF2B5EF4-FFF2-40B4-BE49-F238E27FC236}">
                  <a16:creationId xmlns:a16="http://schemas.microsoft.com/office/drawing/2014/main" id="{2EAD65BE-6EB5-9901-7F80-C11FF2867A02}"/>
                </a:ext>
              </a:extLst>
            </p:cNvPr>
            <p:cNvSpPr/>
            <p:nvPr/>
          </p:nvSpPr>
          <p:spPr>
            <a:xfrm>
              <a:off x="0" y="0"/>
              <a:ext cx="20938871" cy="142875"/>
            </a:xfrm>
            <a:custGeom>
              <a:avLst/>
              <a:gdLst/>
              <a:ahLst/>
              <a:cxnLst/>
              <a:rect l="l" t="t" r="r" b="b"/>
              <a:pathLst>
                <a:path w="20938871" h="142875">
                  <a:moveTo>
                    <a:pt x="0" y="0"/>
                  </a:moveTo>
                  <a:lnTo>
                    <a:pt x="20938871" y="0"/>
                  </a:lnTo>
                  <a:lnTo>
                    <a:pt x="20938871" y="142875"/>
                  </a:lnTo>
                  <a:lnTo>
                    <a:pt x="0" y="142875"/>
                  </a:lnTo>
                  <a:close/>
                </a:path>
              </a:pathLst>
            </a:custGeom>
            <a:solidFill>
              <a:srgbClr val="E91E38"/>
            </a:solidFill>
          </p:spPr>
          <p:txBody>
            <a:bodyPr/>
            <a:lstStyle/>
            <a:p>
              <a:endParaRPr lang="en-US"/>
            </a:p>
          </p:txBody>
        </p:sp>
      </p:grpSp>
      <p:grpSp>
        <p:nvGrpSpPr>
          <p:cNvPr id="31" name="Group 7">
            <a:extLst>
              <a:ext uri="{FF2B5EF4-FFF2-40B4-BE49-F238E27FC236}">
                <a16:creationId xmlns:a16="http://schemas.microsoft.com/office/drawing/2014/main" id="{FA6C6D5B-DA8A-64A6-FE2D-4CB41DC5906D}"/>
              </a:ext>
            </a:extLst>
          </p:cNvPr>
          <p:cNvGrpSpPr/>
          <p:nvPr/>
        </p:nvGrpSpPr>
        <p:grpSpPr>
          <a:xfrm>
            <a:off x="16086906" y="9493508"/>
            <a:ext cx="1988172" cy="688105"/>
            <a:chOff x="0" y="0"/>
            <a:chExt cx="2650896" cy="917473"/>
          </a:xfrm>
        </p:grpSpPr>
        <p:sp>
          <p:nvSpPr>
            <p:cNvPr id="32" name="Freeform 8">
              <a:extLst>
                <a:ext uri="{FF2B5EF4-FFF2-40B4-BE49-F238E27FC236}">
                  <a16:creationId xmlns:a16="http://schemas.microsoft.com/office/drawing/2014/main" id="{1767F90F-328D-E663-3198-62542A9428D6}"/>
                </a:ext>
              </a:extLst>
            </p:cNvPr>
            <p:cNvSpPr/>
            <p:nvPr/>
          </p:nvSpPr>
          <p:spPr>
            <a:xfrm>
              <a:off x="0" y="0"/>
              <a:ext cx="2650871" cy="917448"/>
            </a:xfrm>
            <a:custGeom>
              <a:avLst/>
              <a:gdLst/>
              <a:ahLst/>
              <a:cxnLst/>
              <a:rect l="l" t="t" r="r" b="b"/>
              <a:pathLst>
                <a:path w="2650871" h="917448">
                  <a:moveTo>
                    <a:pt x="0" y="0"/>
                  </a:moveTo>
                  <a:lnTo>
                    <a:pt x="2650871" y="0"/>
                  </a:lnTo>
                  <a:lnTo>
                    <a:pt x="2650871" y="917448"/>
                  </a:lnTo>
                  <a:lnTo>
                    <a:pt x="0" y="917448"/>
                  </a:lnTo>
                  <a:lnTo>
                    <a:pt x="0" y="0"/>
                  </a:lnTo>
                  <a:close/>
                </a:path>
              </a:pathLst>
            </a:custGeom>
            <a:blipFill>
              <a:blip r:embed="rId3"/>
              <a:stretch>
                <a:fillRect l="-183" r="-185" b="-2"/>
              </a:stretch>
            </a:blipFill>
          </p:spPr>
          <p:txBody>
            <a:bodyPr/>
            <a:lstStyle/>
            <a:p>
              <a:endParaRPr lang="en-US"/>
            </a:p>
          </p:txBody>
        </p:sp>
      </p:grpSp>
      <p:pic>
        <p:nvPicPr>
          <p:cNvPr id="14" name="Picture 13">
            <a:extLst>
              <a:ext uri="{FF2B5EF4-FFF2-40B4-BE49-F238E27FC236}">
                <a16:creationId xmlns:a16="http://schemas.microsoft.com/office/drawing/2014/main" id="{C78CE65B-897C-34A4-B9EF-C623AC8D1F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5723" y="2532815"/>
            <a:ext cx="6282814" cy="5660924"/>
          </a:xfrm>
          <a:prstGeom prst="rect">
            <a:avLst/>
          </a:prstGeom>
        </p:spPr>
      </p:pic>
      <p:pic>
        <p:nvPicPr>
          <p:cNvPr id="17" name="Picture 16">
            <a:extLst>
              <a:ext uri="{FF2B5EF4-FFF2-40B4-BE49-F238E27FC236}">
                <a16:creationId xmlns:a16="http://schemas.microsoft.com/office/drawing/2014/main" id="{08981DF9-77D5-BAAC-A16E-EC124A8664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57283" y="2534436"/>
            <a:ext cx="6329623" cy="5659303"/>
          </a:xfrm>
          <a:prstGeom prst="rect">
            <a:avLst/>
          </a:prstGeom>
        </p:spPr>
      </p:pic>
      <p:sp>
        <p:nvSpPr>
          <p:cNvPr id="15" name="TextBox 14">
            <a:extLst>
              <a:ext uri="{FF2B5EF4-FFF2-40B4-BE49-F238E27FC236}">
                <a16:creationId xmlns:a16="http://schemas.microsoft.com/office/drawing/2014/main" id="{66E92095-FDAC-9F5D-78BA-3C7B83AD34C2}"/>
              </a:ext>
            </a:extLst>
          </p:cNvPr>
          <p:cNvSpPr txBox="1"/>
          <p:nvPr/>
        </p:nvSpPr>
        <p:spPr>
          <a:xfrm>
            <a:off x="1866728" y="8648700"/>
            <a:ext cx="6515272" cy="369332"/>
          </a:xfrm>
          <a:prstGeom prst="rect">
            <a:avLst/>
          </a:prstGeom>
          <a:noFill/>
        </p:spPr>
        <p:txBody>
          <a:bodyPr wrap="square" rtlCol="0">
            <a:spAutoFit/>
          </a:bodyPr>
          <a:lstStyle/>
          <a:p>
            <a:pPr algn="ctr"/>
            <a:r>
              <a:rPr lang="en-US" i="1"/>
              <a:t>Hình 11: Các góc trạng thái của UAV khi hạ cánh </a:t>
            </a:r>
          </a:p>
        </p:txBody>
      </p:sp>
      <p:sp>
        <p:nvSpPr>
          <p:cNvPr id="22" name="TextBox 21">
            <a:extLst>
              <a:ext uri="{FF2B5EF4-FFF2-40B4-BE49-F238E27FC236}">
                <a16:creationId xmlns:a16="http://schemas.microsoft.com/office/drawing/2014/main" id="{4A104042-96E2-549A-6DC1-E2E8D7D8E8F1}"/>
              </a:ext>
            </a:extLst>
          </p:cNvPr>
          <p:cNvSpPr txBox="1"/>
          <p:nvPr/>
        </p:nvSpPr>
        <p:spPr>
          <a:xfrm>
            <a:off x="10651995" y="8648700"/>
            <a:ext cx="5791200" cy="369332"/>
          </a:xfrm>
          <a:prstGeom prst="rect">
            <a:avLst/>
          </a:prstGeom>
          <a:noFill/>
        </p:spPr>
        <p:txBody>
          <a:bodyPr wrap="square" rtlCol="0">
            <a:spAutoFit/>
          </a:bodyPr>
          <a:lstStyle/>
          <a:p>
            <a:pPr algn="ctr"/>
            <a:r>
              <a:rPr lang="en-US" i="1"/>
              <a:t>Hình 12: Vận tốc của UAV khi hạ cánh</a:t>
            </a:r>
          </a:p>
        </p:txBody>
      </p:sp>
      <p:sp>
        <p:nvSpPr>
          <p:cNvPr id="13" name="TextBox 20">
            <a:extLst>
              <a:ext uri="{FF2B5EF4-FFF2-40B4-BE49-F238E27FC236}">
                <a16:creationId xmlns:a16="http://schemas.microsoft.com/office/drawing/2014/main" id="{42A7905F-FCAE-6BA7-D3D9-9F675CCD049F}"/>
              </a:ext>
            </a:extLst>
          </p:cNvPr>
          <p:cNvSpPr txBox="1"/>
          <p:nvPr/>
        </p:nvSpPr>
        <p:spPr>
          <a:xfrm>
            <a:off x="1777213" y="218623"/>
            <a:ext cx="7109765" cy="651576"/>
          </a:xfrm>
          <a:prstGeom prst="rect">
            <a:avLst/>
          </a:prstGeom>
        </p:spPr>
        <p:txBody>
          <a:bodyPr lIns="0" tIns="0" rIns="0" bIns="0" rtlCol="0" anchor="ctr"/>
          <a:lstStyle/>
          <a:p>
            <a:pPr algn="l">
              <a:lnSpc>
                <a:spcPts val="2734"/>
              </a:lnSpc>
            </a:pPr>
            <a:r>
              <a:rPr lang="en-US" sz="3600" b="1">
                <a:solidFill>
                  <a:srgbClr val="FFFFFF"/>
                </a:solidFill>
                <a:latin typeface="Calibri (MS) Bold"/>
                <a:ea typeface="Calibri (MS) Bold"/>
                <a:cs typeface="Calibri (MS) Bold"/>
                <a:sym typeface="Calibri (MS) Bold"/>
              </a:rPr>
              <a:t>PHỤ LỤC</a:t>
            </a:r>
          </a:p>
        </p:txBody>
      </p:sp>
    </p:spTree>
    <p:extLst>
      <p:ext uri="{BB962C8B-B14F-4D97-AF65-F5344CB8AC3E}">
        <p14:creationId xmlns:p14="http://schemas.microsoft.com/office/powerpoint/2010/main" val="1081557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3622</Words>
  <Application>Microsoft Office PowerPoint</Application>
  <PresentationFormat>Custom</PresentationFormat>
  <Paragraphs>505</Paragraphs>
  <Slides>25</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vt:i4>
      </vt:variant>
    </vt:vector>
  </HeadingPairs>
  <TitlesOfParts>
    <vt:vector size="39" baseType="lpstr">
      <vt:lpstr>Calibri</vt:lpstr>
      <vt:lpstr>Bai Jamjuree Bold Italics</vt:lpstr>
      <vt:lpstr>Calibri (MS) Bold</vt:lpstr>
      <vt:lpstr>Arimo Bold</vt:lpstr>
      <vt:lpstr>Arial Italics</vt:lpstr>
      <vt:lpstr>Aptos</vt:lpstr>
      <vt:lpstr>Bai Jamjuree Bold</vt:lpstr>
      <vt:lpstr>Bai Jamjuree Italics</vt:lpstr>
      <vt:lpstr>Cambria Math</vt:lpstr>
      <vt:lpstr>Arial Bold</vt:lpstr>
      <vt:lpstr>Arial</vt:lpstr>
      <vt:lpstr>Bai Jamjuree</vt:lpstr>
      <vt:lpstr>Noto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Vision-APF_v2</dc:title>
  <cp:lastModifiedBy>Võ Bá Phạm Tuân</cp:lastModifiedBy>
  <cp:revision>22</cp:revision>
  <dcterms:created xsi:type="dcterms:W3CDTF">2006-08-16T00:00:00Z</dcterms:created>
  <dcterms:modified xsi:type="dcterms:W3CDTF">2026-10-15T23:21:54Z</dcterms:modified>
  <dc:identifier>DAHYCgFEQ8I</dc:identifier>
</cp:coreProperties>
</file>